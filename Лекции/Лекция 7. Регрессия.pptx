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8" r:id="rId2"/>
    <p:sldId id="331" r:id="rId3"/>
    <p:sldId id="333" r:id="rId4"/>
    <p:sldId id="345" r:id="rId5"/>
    <p:sldId id="346" r:id="rId6"/>
    <p:sldId id="344" r:id="rId7"/>
    <p:sldId id="347" r:id="rId8"/>
    <p:sldId id="348" r:id="rId9"/>
    <p:sldId id="349" r:id="rId10"/>
    <p:sldId id="350" r:id="rId11"/>
    <p:sldId id="357" r:id="rId12"/>
    <p:sldId id="358" r:id="rId13"/>
    <p:sldId id="359" r:id="rId14"/>
    <p:sldId id="360" r:id="rId15"/>
    <p:sldId id="361" r:id="rId16"/>
    <p:sldId id="364" r:id="rId17"/>
    <p:sldId id="355" r:id="rId18"/>
    <p:sldId id="352" r:id="rId19"/>
    <p:sldId id="365" r:id="rId20"/>
    <p:sldId id="353" r:id="rId21"/>
    <p:sldId id="366" r:id="rId22"/>
    <p:sldId id="354" r:id="rId23"/>
    <p:sldId id="356" r:id="rId24"/>
    <p:sldId id="367" r:id="rId25"/>
    <p:sldId id="362" r:id="rId26"/>
    <p:sldId id="363" r:id="rId2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B7DE"/>
    <a:srgbClr val="A9DD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4667" autoAdjust="0"/>
  </p:normalViewPr>
  <p:slideViewPr>
    <p:cSldViewPr snapToGrid="0">
      <p:cViewPr varScale="1">
        <p:scale>
          <a:sx n="53" d="100"/>
          <a:sy n="53" d="100"/>
        </p:scale>
        <p:origin x="29" y="29"/>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97C6D7-BF3B-42FC-91F0-99BFD321B0AA}" type="datetimeFigureOut">
              <a:rPr lang="ru-RU" smtClean="0"/>
              <a:t>18.10.2025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469BB3-D495-4F17-A4D7-5AE572FCE6CA}" type="slidenum">
              <a:rPr lang="ru-RU" smtClean="0"/>
              <a:t>‹#›</a:t>
            </a:fld>
            <a:endParaRPr lang="ru-RU"/>
          </a:p>
        </p:txBody>
      </p:sp>
    </p:spTree>
    <p:extLst>
      <p:ext uri="{BB962C8B-B14F-4D97-AF65-F5344CB8AC3E}">
        <p14:creationId xmlns:p14="http://schemas.microsoft.com/office/powerpoint/2010/main" val="163215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712B4C39-779B-456F-B6F7-709D0BC5EA86}" type="datetimeFigureOut">
              <a:rPr lang="ru-RU" smtClean="0"/>
              <a:t>18.10.2025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1617539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12B4C39-779B-456F-B6F7-709D0BC5EA86}" type="datetimeFigureOut">
              <a:rPr lang="ru-RU" smtClean="0"/>
              <a:t>18.10.2025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114116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712B4C39-779B-456F-B6F7-709D0BC5EA86}" type="datetimeFigureOut">
              <a:rPr lang="ru-RU" smtClean="0"/>
              <a:t>18.10.2025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690172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712B4C39-779B-456F-B6F7-709D0BC5EA86}" type="datetimeFigureOut">
              <a:rPr lang="ru-RU" smtClean="0"/>
              <a:t>18.10.2025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871953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712B4C39-779B-456F-B6F7-709D0BC5EA86}" type="datetimeFigureOut">
              <a:rPr lang="ru-RU" smtClean="0"/>
              <a:t>18.10.2025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248213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712B4C39-779B-456F-B6F7-709D0BC5EA86}" type="datetimeFigureOut">
              <a:rPr lang="ru-RU" smtClean="0"/>
              <a:t>18.10.2025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847643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712B4C39-779B-456F-B6F7-709D0BC5EA86}" type="datetimeFigureOut">
              <a:rPr lang="ru-RU" smtClean="0"/>
              <a:t>18.10.2025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3248426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712B4C39-779B-456F-B6F7-709D0BC5EA86}" type="datetimeFigureOut">
              <a:rPr lang="ru-RU" smtClean="0"/>
              <a:t>18.10.2025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311769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712B4C39-779B-456F-B6F7-709D0BC5EA86}" type="datetimeFigureOut">
              <a:rPr lang="ru-RU" smtClean="0"/>
              <a:t>18.10.2025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394333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12B4C39-779B-456F-B6F7-709D0BC5EA86}" type="datetimeFigureOut">
              <a:rPr lang="ru-RU" smtClean="0"/>
              <a:t>18.10.2025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3743647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12B4C39-779B-456F-B6F7-709D0BC5EA86}" type="datetimeFigureOut">
              <a:rPr lang="ru-RU" smtClean="0"/>
              <a:t>18.10.2025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28DAFC8-B654-4173-BA48-78DA0FDD1ECD}" type="slidenum">
              <a:rPr lang="ru-RU" smtClean="0"/>
              <a:t>‹#›</a:t>
            </a:fld>
            <a:endParaRPr lang="ru-RU"/>
          </a:p>
        </p:txBody>
      </p:sp>
    </p:spTree>
    <p:extLst>
      <p:ext uri="{BB962C8B-B14F-4D97-AF65-F5344CB8AC3E}">
        <p14:creationId xmlns:p14="http://schemas.microsoft.com/office/powerpoint/2010/main" val="242951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2B4C39-779B-456F-B6F7-709D0BC5EA86}" type="datetimeFigureOut">
              <a:rPr lang="ru-RU" smtClean="0"/>
              <a:t>18.10.2025</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DAFC8-B654-4173-BA48-78DA0FDD1ECD}" type="slidenum">
              <a:rPr lang="ru-RU" smtClean="0"/>
              <a:t>‹#›</a:t>
            </a:fld>
            <a:endParaRPr lang="ru-RU"/>
          </a:p>
        </p:txBody>
      </p:sp>
    </p:spTree>
    <p:extLst>
      <p:ext uri="{BB962C8B-B14F-4D97-AF65-F5344CB8AC3E}">
        <p14:creationId xmlns:p14="http://schemas.microsoft.com/office/powerpoint/2010/main" val="3507657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1111642">
            <a:off x="7442248" y="879012"/>
            <a:ext cx="5859056" cy="5658577"/>
          </a:xfrm>
          <a:custGeom>
            <a:avLst/>
            <a:gdLst/>
            <a:ahLst/>
            <a:cxnLst/>
            <a:rect l="l" t="t" r="r" b="b"/>
            <a:pathLst>
              <a:path w="10443683" h="8487866">
                <a:moveTo>
                  <a:pt x="0" y="0"/>
                </a:moveTo>
                <a:lnTo>
                  <a:pt x="10443683" y="0"/>
                </a:lnTo>
                <a:lnTo>
                  <a:pt x="10443683" y="8487866"/>
                </a:lnTo>
                <a:lnTo>
                  <a:pt x="0" y="8487866"/>
                </a:lnTo>
                <a:lnTo>
                  <a:pt x="0" y="0"/>
                </a:lnTo>
                <a:close/>
              </a:path>
            </a:pathLst>
          </a:custGeom>
          <a:blipFill>
            <a:blip r:embed="rId2">
              <a:alphaModFix amt="50000"/>
              <a:extLst>
                <a:ext uri="{96DAC541-7B7A-43D3-8B79-37D633B846F1}">
                  <asvg:svgBlip xmlns:asvg="http://schemas.microsoft.com/office/drawing/2016/SVG/main" r:embed="rId3"/>
                </a:ext>
              </a:extLst>
            </a:blip>
            <a:srcRect/>
            <a:stretch>
              <a:fillRect r="-18832"/>
            </a:stretch>
          </a:blipFill>
        </p:spPr>
      </p:sp>
      <p:sp>
        <p:nvSpPr>
          <p:cNvPr id="4" name="Freeform 4"/>
          <p:cNvSpPr/>
          <p:nvPr/>
        </p:nvSpPr>
        <p:spPr>
          <a:xfrm>
            <a:off x="2878961" y="6172200"/>
            <a:ext cx="6484879" cy="685800"/>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4">
              <a:extLst>
                <a:ext uri="{96DAC541-7B7A-43D3-8B79-37D633B846F1}">
                  <asvg:svgBlip xmlns:asvg="http://schemas.microsoft.com/office/drawing/2016/SVG/main" r:embed="rId5"/>
                </a:ext>
              </a:extLst>
            </a:blip>
            <a:srcRect/>
            <a:stretch>
              <a:fillRect b="-202028"/>
            </a:stretch>
          </a:blipFill>
        </p:spPr>
      </p:sp>
      <p:sp>
        <p:nvSpPr>
          <p:cNvPr id="5" name="TextBox 5"/>
          <p:cNvSpPr txBox="1"/>
          <p:nvPr/>
        </p:nvSpPr>
        <p:spPr>
          <a:xfrm>
            <a:off x="616540" y="976354"/>
            <a:ext cx="5696501" cy="3170099"/>
          </a:xfrm>
          <a:prstGeom prst="rect">
            <a:avLst/>
          </a:prstGeom>
        </p:spPr>
        <p:txBody>
          <a:bodyPr lIns="0" tIns="0" rIns="0" bIns="0" rtlCol="0" anchor="t">
            <a:spAutoFit/>
          </a:bodyPr>
          <a:lstStyle/>
          <a:p>
            <a:r>
              <a:rPr lang="ru-RU" sz="5400" dirty="0">
                <a:solidFill>
                  <a:srgbClr val="004AAD"/>
                </a:solidFill>
                <a:latin typeface="Bookman Old Style" panose="02050604050505020204" pitchFamily="18" charset="0"/>
              </a:rPr>
              <a:t>Методы машинного обучения.</a:t>
            </a:r>
            <a:endParaRPr lang="en-US" sz="5400" dirty="0">
              <a:solidFill>
                <a:srgbClr val="004AAD"/>
              </a:solidFill>
              <a:latin typeface="Bookman Old Style" panose="02050604050505020204" pitchFamily="18" charset="0"/>
            </a:endParaRPr>
          </a:p>
          <a:p>
            <a:r>
              <a:rPr lang="ru-RU" sz="4400" dirty="0">
                <a:solidFill>
                  <a:srgbClr val="004AAD"/>
                </a:solidFill>
                <a:latin typeface="Bookman Old Style" panose="02050604050505020204" pitchFamily="18" charset="0"/>
              </a:rPr>
              <a:t>Лекция №7</a:t>
            </a:r>
            <a:endParaRPr lang="en-US" sz="4400" dirty="0">
              <a:solidFill>
                <a:srgbClr val="004AAD"/>
              </a:solidFill>
              <a:latin typeface="Bookman Old Style" panose="02050604050505020204" pitchFamily="18" charset="0"/>
            </a:endParaRPr>
          </a:p>
        </p:txBody>
      </p:sp>
      <p:sp>
        <p:nvSpPr>
          <p:cNvPr id="6" name="TextBox 6"/>
          <p:cNvSpPr txBox="1"/>
          <p:nvPr/>
        </p:nvSpPr>
        <p:spPr>
          <a:xfrm>
            <a:off x="616540" y="4654773"/>
            <a:ext cx="6826676" cy="923330"/>
          </a:xfrm>
          <a:prstGeom prst="rect">
            <a:avLst/>
          </a:prstGeom>
        </p:spPr>
        <p:txBody>
          <a:bodyPr wrap="square" lIns="0" tIns="0" rIns="0" bIns="0" rtlCol="0" anchor="t">
            <a:spAutoFit/>
          </a:bodyPr>
          <a:lstStyle/>
          <a:p>
            <a:r>
              <a:rPr lang="ru-RU" sz="2800" dirty="0">
                <a:solidFill>
                  <a:srgbClr val="2BB4D4"/>
                </a:solidFill>
                <a:latin typeface="Bookman Old Style" panose="02050604050505020204" pitchFamily="18" charset="0"/>
              </a:rPr>
              <a:t>Дементьева Кристина Игоревна, </a:t>
            </a:r>
            <a:endParaRPr lang="en-US" sz="2800" dirty="0">
              <a:solidFill>
                <a:srgbClr val="2BB4D4"/>
              </a:solidFill>
              <a:latin typeface="Bookman Old Style" panose="02050604050505020204" pitchFamily="18" charset="0"/>
            </a:endParaRPr>
          </a:p>
          <a:p>
            <a:r>
              <a:rPr lang="ru-RU" sz="1600" dirty="0">
                <a:solidFill>
                  <a:srgbClr val="2BB4D4"/>
                </a:solidFill>
                <a:latin typeface="Bookman Old Style" panose="02050604050505020204" pitchFamily="18" charset="0"/>
              </a:rPr>
              <a:t>старший преподаватель кафедры Прикладной математики и кибернетики СибГУТИ</a:t>
            </a:r>
            <a:endParaRPr lang="en-US" sz="1600" dirty="0">
              <a:solidFill>
                <a:srgbClr val="2BB4D4"/>
              </a:solidFill>
              <a:latin typeface="Bookman Old Style" panose="02050604050505020204" pitchFamily="18" charset="0"/>
            </a:endParaRPr>
          </a:p>
        </p:txBody>
      </p:sp>
      <p:sp>
        <p:nvSpPr>
          <p:cNvPr id="8" name="TextBox 8"/>
          <p:cNvSpPr txBox="1"/>
          <p:nvPr/>
        </p:nvSpPr>
        <p:spPr>
          <a:xfrm>
            <a:off x="604142" y="6220147"/>
            <a:ext cx="3234585" cy="294953"/>
          </a:xfrm>
          <a:prstGeom prst="rect">
            <a:avLst/>
          </a:prstGeom>
        </p:spPr>
        <p:txBody>
          <a:bodyPr lIns="0" tIns="0" rIns="0" bIns="0" rtlCol="0" anchor="t">
            <a:spAutoFit/>
          </a:bodyPr>
          <a:lstStyle/>
          <a:p>
            <a:pPr>
              <a:lnSpc>
                <a:spcPts val="2333"/>
              </a:lnSpc>
            </a:pPr>
            <a:r>
              <a:rPr lang="en-US" sz="1666" spc="83" dirty="0">
                <a:solidFill>
                  <a:srgbClr val="A9DDE9"/>
                </a:solidFill>
                <a:latin typeface="Bookman Old Style" panose="02050604050505020204" pitchFamily="18" charset="0"/>
              </a:rPr>
              <a:t>kirsten-frost@mail.ru</a:t>
            </a:r>
          </a:p>
        </p:txBody>
      </p:sp>
      <p:sp>
        <p:nvSpPr>
          <p:cNvPr id="9" name="TextBox 8"/>
          <p:cNvSpPr txBox="1"/>
          <p:nvPr/>
        </p:nvSpPr>
        <p:spPr>
          <a:xfrm rot="16200000">
            <a:off x="9979003" y="3011534"/>
            <a:ext cx="3666388"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Bookman Old Style" panose="02050604050505020204" pitchFamily="18" charset="0"/>
              </a:rPr>
              <a:t>Методы машинного обучения</a:t>
            </a:r>
          </a:p>
        </p:txBody>
      </p:sp>
    </p:spTree>
    <p:extLst>
      <p:ext uri="{BB962C8B-B14F-4D97-AF65-F5344CB8AC3E}">
        <p14:creationId xmlns:p14="http://schemas.microsoft.com/office/powerpoint/2010/main" val="2836898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Линейная регрессия</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4" name="Прямоугольник 13"/>
          <p:cNvSpPr/>
          <p:nvPr/>
        </p:nvSpPr>
        <p:spPr>
          <a:xfrm>
            <a:off x="635670" y="1588495"/>
            <a:ext cx="10187840" cy="3139321"/>
          </a:xfrm>
          <a:prstGeom prst="rect">
            <a:avLst/>
          </a:prstGeom>
        </p:spPr>
        <p:txBody>
          <a:bodyPr wrap="square">
            <a:spAutoFit/>
          </a:bodyPr>
          <a:lstStyle/>
          <a:p>
            <a:r>
              <a:rPr lang="ru-RU" b="1" dirty="0">
                <a:latin typeface="Bookman Old Style" panose="02050604050505020204" pitchFamily="18" charset="0"/>
              </a:rPr>
              <a:t>Регрессионный анализ </a:t>
            </a:r>
            <a:r>
              <a:rPr lang="ru-RU" dirty="0">
                <a:latin typeface="Bookman Old Style" panose="02050604050505020204" pitchFamily="18" charset="0"/>
              </a:rPr>
              <a:t>— набор статистических методов исследования влияния одной или нескольких независимых переменных </a:t>
            </a:r>
            <a:r>
              <a:rPr lang="en-US" dirty="0">
                <a:latin typeface="Bookman Old Style" panose="02050604050505020204" pitchFamily="18" charset="0"/>
              </a:rPr>
              <a:t>X</a:t>
            </a:r>
            <a:r>
              <a:rPr lang="en-US" baseline="-25000" dirty="0">
                <a:latin typeface="Bookman Old Style" panose="02050604050505020204" pitchFamily="18" charset="0"/>
              </a:rPr>
              <a:t>1</a:t>
            </a:r>
            <a:r>
              <a:rPr lang="en-US" dirty="0">
                <a:latin typeface="Bookman Old Style" panose="02050604050505020204" pitchFamily="18" charset="0"/>
              </a:rPr>
              <a:t>, X</a:t>
            </a:r>
            <a:r>
              <a:rPr lang="en-US" baseline="-25000" dirty="0">
                <a:latin typeface="Bookman Old Style" panose="02050604050505020204" pitchFamily="18" charset="0"/>
              </a:rPr>
              <a:t>2</a:t>
            </a:r>
            <a:r>
              <a:rPr lang="en-US" dirty="0">
                <a:latin typeface="Bookman Old Style" panose="02050604050505020204" pitchFamily="18" charset="0"/>
              </a:rPr>
              <a:t>, X</a:t>
            </a:r>
            <a:r>
              <a:rPr lang="en-US" baseline="-25000" dirty="0">
                <a:latin typeface="Bookman Old Style" panose="02050604050505020204" pitchFamily="18" charset="0"/>
              </a:rPr>
              <a:t>3</a:t>
            </a:r>
            <a:r>
              <a:rPr lang="en-US" dirty="0">
                <a:latin typeface="Bookman Old Style" panose="02050604050505020204" pitchFamily="18" charset="0"/>
              </a:rPr>
              <a:t>… </a:t>
            </a:r>
            <a:r>
              <a:rPr lang="ru-RU" dirty="0">
                <a:latin typeface="Bookman Old Style" panose="02050604050505020204" pitchFamily="18" charset="0"/>
              </a:rPr>
              <a:t>на зависимую переменную Y. </a:t>
            </a:r>
            <a:endParaRPr lang="en-US" dirty="0">
              <a:latin typeface="Bookman Old Style" panose="02050604050505020204" pitchFamily="18" charset="0"/>
            </a:endParaRPr>
          </a:p>
          <a:p>
            <a:endParaRPr lang="ru-RU" dirty="0">
              <a:latin typeface="Bookman Old Style" panose="02050604050505020204" pitchFamily="18" charset="0"/>
            </a:endParaRPr>
          </a:p>
          <a:p>
            <a:r>
              <a:rPr lang="ru-RU" b="1" dirty="0">
                <a:latin typeface="Bookman Old Style" panose="02050604050505020204" pitchFamily="18" charset="0"/>
              </a:rPr>
              <a:t>Линейная регрессия </a:t>
            </a:r>
            <a:r>
              <a:rPr lang="ru-RU" dirty="0">
                <a:latin typeface="Bookman Old Style" panose="02050604050505020204" pitchFamily="18" charset="0"/>
              </a:rPr>
              <a:t>— это алгоритм, который пытается применить отношения, которые будут предсказывать исход события на основе точек данных независимой переменной. Отношение обычно представляет собой прямую линию, которая наилучшим образом соответствует различным точкам данных как можно ближе. Выходные данные имеют непрерывную форму, т. е. числовое значение. Например, результатом может быть доход или продажи в валюте, количество проданных продуктов и т. д.</a:t>
            </a:r>
            <a:endParaRPr lang="en-US" dirty="0">
              <a:latin typeface="Bookman Old Style" panose="02050604050505020204" pitchFamily="18" charset="0"/>
            </a:endParaRPr>
          </a:p>
        </p:txBody>
      </p:sp>
    </p:spTree>
    <p:extLst>
      <p:ext uri="{BB962C8B-B14F-4D97-AF65-F5344CB8AC3E}">
        <p14:creationId xmlns:p14="http://schemas.microsoft.com/office/powerpoint/2010/main" val="3825747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Линейная регрессия</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4" name="Прямоугольник 13"/>
          <p:cNvSpPr/>
          <p:nvPr/>
        </p:nvSpPr>
        <p:spPr>
          <a:xfrm>
            <a:off x="635670" y="1588495"/>
            <a:ext cx="10187840" cy="3785652"/>
          </a:xfrm>
          <a:prstGeom prst="rect">
            <a:avLst/>
          </a:prstGeom>
        </p:spPr>
        <p:txBody>
          <a:bodyPr wrap="square">
            <a:spAutoFit/>
          </a:bodyPr>
          <a:lstStyle/>
          <a:p>
            <a:r>
              <a:rPr lang="ru-RU" dirty="0">
                <a:latin typeface="Bookman Old Style" panose="02050604050505020204" pitchFamily="18" charset="0"/>
              </a:rPr>
              <a:t>Целевая функция линейной регрессионной модели:</a:t>
            </a:r>
          </a:p>
          <a:p>
            <a:endParaRPr lang="ru-RU" dirty="0">
              <a:latin typeface="Bookman Old Style" panose="02050604050505020204" pitchFamily="18" charset="0"/>
            </a:endParaRPr>
          </a:p>
          <a:p>
            <a:pPr algn="ctr"/>
            <a:r>
              <a:rPr lang="ru-RU" sz="2800" i="1" dirty="0">
                <a:latin typeface="Bookman Old Style" panose="02050604050505020204" pitchFamily="18" charset="0"/>
              </a:rPr>
              <a:t>y=f(</a:t>
            </a:r>
            <a:r>
              <a:rPr lang="ru-RU" sz="2800" i="1" dirty="0" err="1">
                <a:latin typeface="Bookman Old Style" panose="02050604050505020204" pitchFamily="18" charset="0"/>
              </a:rPr>
              <a:t>x,b</a:t>
            </a:r>
            <a:r>
              <a:rPr lang="ru-RU" sz="2800" i="1" dirty="0">
                <a:latin typeface="Bookman Old Style" panose="02050604050505020204" pitchFamily="18" charset="0"/>
              </a:rPr>
              <a:t>)+ε</a:t>
            </a:r>
            <a:endParaRPr lang="ru-RU" dirty="0">
              <a:latin typeface="Bookman Old Style" panose="02050604050505020204" pitchFamily="18" charset="0"/>
            </a:endParaRPr>
          </a:p>
          <a:p>
            <a:r>
              <a:rPr lang="ru-RU" dirty="0">
                <a:latin typeface="Bookman Old Style" panose="02050604050505020204" pitchFamily="18" charset="0"/>
              </a:rPr>
              <a:t>где  </a:t>
            </a:r>
            <a:r>
              <a:rPr lang="ru-RU" sz="2000" i="1" dirty="0">
                <a:latin typeface="Bookman Old Style" panose="02050604050505020204" pitchFamily="18" charset="0"/>
              </a:rPr>
              <a:t>b</a:t>
            </a:r>
            <a:r>
              <a:rPr lang="ru-RU" dirty="0">
                <a:latin typeface="Bookman Old Style" panose="02050604050505020204" pitchFamily="18" charset="0"/>
              </a:rPr>
              <a:t>  — параметры модели,  </a:t>
            </a:r>
          </a:p>
          <a:p>
            <a:r>
              <a:rPr lang="ru-RU" sz="2400" i="1" dirty="0">
                <a:latin typeface="Bookman Old Style" panose="02050604050505020204" pitchFamily="18" charset="0"/>
              </a:rPr>
              <a:t>ε</a:t>
            </a:r>
            <a:r>
              <a:rPr lang="ru-RU" dirty="0">
                <a:latin typeface="Bookman Old Style" panose="02050604050505020204" pitchFamily="18" charset="0"/>
              </a:rPr>
              <a:t> — случайная ошибка модели </a:t>
            </a:r>
          </a:p>
          <a:p>
            <a:endParaRPr lang="ru-RU" dirty="0">
              <a:latin typeface="Bookman Old Style" panose="02050604050505020204" pitchFamily="18" charset="0"/>
            </a:endParaRPr>
          </a:p>
          <a:p>
            <a:r>
              <a:rPr lang="ru-RU" sz="2400" i="1" dirty="0">
                <a:latin typeface="Bookman Old Style" panose="02050604050505020204" pitchFamily="18" charset="0"/>
              </a:rPr>
              <a:t>f(</a:t>
            </a:r>
            <a:r>
              <a:rPr lang="ru-RU" sz="2400" i="1" dirty="0" err="1">
                <a:latin typeface="Bookman Old Style" panose="02050604050505020204" pitchFamily="18" charset="0"/>
              </a:rPr>
              <a:t>x,b</a:t>
            </a:r>
            <a:r>
              <a:rPr lang="ru-RU" sz="2400" i="1" dirty="0">
                <a:latin typeface="Bookman Old Style" panose="02050604050505020204" pitchFamily="18" charset="0"/>
              </a:rPr>
              <a:t>) </a:t>
            </a:r>
            <a:r>
              <a:rPr lang="ru-RU" dirty="0">
                <a:latin typeface="Bookman Old Style" panose="02050604050505020204" pitchFamily="18" charset="0"/>
              </a:rPr>
              <a:t>имеет вид </a:t>
            </a:r>
            <a:r>
              <a:rPr lang="ru-RU" sz="2400" i="1" dirty="0">
                <a:latin typeface="Bookman Old Style" panose="02050604050505020204" pitchFamily="18" charset="0"/>
              </a:rPr>
              <a:t>f(</a:t>
            </a:r>
            <a:r>
              <a:rPr lang="ru-RU" sz="2400" i="1" dirty="0" err="1">
                <a:latin typeface="Bookman Old Style" panose="02050604050505020204" pitchFamily="18" charset="0"/>
              </a:rPr>
              <a:t>x,b</a:t>
            </a:r>
            <a:r>
              <a:rPr lang="ru-RU" sz="2400" i="1" dirty="0">
                <a:latin typeface="Bookman Old Style" panose="02050604050505020204" pitchFamily="18" charset="0"/>
              </a:rPr>
              <a:t>)= b</a:t>
            </a:r>
            <a:r>
              <a:rPr lang="ru-RU" sz="2400" i="1" baseline="-25000" dirty="0">
                <a:latin typeface="Bookman Old Style" panose="02050604050505020204" pitchFamily="18" charset="0"/>
              </a:rPr>
              <a:t>0 </a:t>
            </a:r>
            <a:r>
              <a:rPr lang="ru-RU" sz="2400" i="1" dirty="0">
                <a:latin typeface="Bookman Old Style" panose="02050604050505020204" pitchFamily="18" charset="0"/>
              </a:rPr>
              <a:t>+ b</a:t>
            </a:r>
            <a:r>
              <a:rPr lang="ru-RU" sz="2400" i="1" baseline="-25000" dirty="0">
                <a:latin typeface="Bookman Old Style" panose="02050604050505020204" pitchFamily="18" charset="0"/>
              </a:rPr>
              <a:t>1</a:t>
            </a:r>
            <a:r>
              <a:rPr lang="ru-RU" sz="2400" i="1" dirty="0">
                <a:latin typeface="Bookman Old Style" panose="02050604050505020204" pitchFamily="18" charset="0"/>
              </a:rPr>
              <a:t>x</a:t>
            </a:r>
            <a:r>
              <a:rPr lang="ru-RU" sz="2400" i="1" baseline="-25000" dirty="0">
                <a:latin typeface="Bookman Old Style" panose="02050604050505020204" pitchFamily="18" charset="0"/>
              </a:rPr>
              <a:t>1 </a:t>
            </a:r>
            <a:r>
              <a:rPr lang="ru-RU" sz="2400" i="1" dirty="0">
                <a:latin typeface="Bookman Old Style" panose="02050604050505020204" pitchFamily="18" charset="0"/>
              </a:rPr>
              <a:t>+ b</a:t>
            </a:r>
            <a:r>
              <a:rPr lang="ru-RU" sz="2400" i="1" baseline="-25000" dirty="0">
                <a:latin typeface="Bookman Old Style" panose="02050604050505020204" pitchFamily="18" charset="0"/>
              </a:rPr>
              <a:t>2</a:t>
            </a:r>
            <a:r>
              <a:rPr lang="ru-RU" sz="2400" i="1" dirty="0">
                <a:latin typeface="Bookman Old Style" panose="02050604050505020204" pitchFamily="18" charset="0"/>
              </a:rPr>
              <a:t>x</a:t>
            </a:r>
            <a:r>
              <a:rPr lang="ru-RU" sz="2400" i="1" baseline="-25000" dirty="0">
                <a:latin typeface="Bookman Old Style" panose="02050604050505020204" pitchFamily="18" charset="0"/>
              </a:rPr>
              <a:t>2 </a:t>
            </a:r>
            <a:r>
              <a:rPr lang="ru-RU" sz="2400" i="1" dirty="0">
                <a:latin typeface="Bookman Old Style" panose="02050604050505020204" pitchFamily="18" charset="0"/>
              </a:rPr>
              <a:t>+ ⋯ +</a:t>
            </a:r>
            <a:r>
              <a:rPr lang="ru-RU" sz="2400" i="1" dirty="0" err="1">
                <a:latin typeface="Bookman Old Style" panose="02050604050505020204" pitchFamily="18" charset="0"/>
              </a:rPr>
              <a:t>b</a:t>
            </a:r>
            <a:r>
              <a:rPr lang="ru-RU" sz="2400" i="1" baseline="-25000" dirty="0" err="1">
                <a:latin typeface="Bookman Old Style" panose="02050604050505020204" pitchFamily="18" charset="0"/>
              </a:rPr>
              <a:t>k</a:t>
            </a:r>
            <a:r>
              <a:rPr lang="ru-RU" sz="2400" i="1" dirty="0" err="1">
                <a:latin typeface="Bookman Old Style" panose="02050604050505020204" pitchFamily="18" charset="0"/>
              </a:rPr>
              <a:t>x</a:t>
            </a:r>
            <a:r>
              <a:rPr lang="ru-RU" sz="2400" i="1" baseline="-25000" dirty="0" err="1">
                <a:latin typeface="Bookman Old Style" panose="02050604050505020204" pitchFamily="18" charset="0"/>
              </a:rPr>
              <a:t>k</a:t>
            </a:r>
            <a:r>
              <a:rPr lang="ru-RU" sz="2400" i="1" dirty="0">
                <a:latin typeface="Bookman Old Style" panose="02050604050505020204" pitchFamily="18" charset="0"/>
              </a:rPr>
              <a:t> </a:t>
            </a:r>
            <a:r>
              <a:rPr lang="ru-RU" dirty="0">
                <a:latin typeface="Bookman Old Style" panose="02050604050505020204" pitchFamily="18" charset="0"/>
              </a:rPr>
              <a:t>, </a:t>
            </a:r>
          </a:p>
          <a:p>
            <a:endParaRPr lang="ru-RU" dirty="0">
              <a:latin typeface="Bookman Old Style" panose="02050604050505020204" pitchFamily="18" charset="0"/>
            </a:endParaRPr>
          </a:p>
          <a:p>
            <a:r>
              <a:rPr lang="ru-RU" dirty="0">
                <a:latin typeface="Bookman Old Style" panose="02050604050505020204" pitchFamily="18" charset="0"/>
              </a:rPr>
              <a:t>где   — </a:t>
            </a:r>
            <a:r>
              <a:rPr lang="ru-RU" sz="2400" i="1" dirty="0" err="1">
                <a:latin typeface="Bookman Old Style" panose="02050604050505020204" pitchFamily="18" charset="0"/>
              </a:rPr>
              <a:t>b</a:t>
            </a:r>
            <a:r>
              <a:rPr lang="ru-RU" sz="2400" i="1" baseline="-25000" dirty="0" err="1">
                <a:latin typeface="Bookman Old Style" panose="02050604050505020204" pitchFamily="18" charset="0"/>
              </a:rPr>
              <a:t>j</a:t>
            </a:r>
            <a:r>
              <a:rPr lang="ru-RU" dirty="0">
                <a:latin typeface="Bookman Old Style" panose="02050604050505020204" pitchFamily="18" charset="0"/>
              </a:rPr>
              <a:t>  параметры (коэффициенты) регрессии,  </a:t>
            </a:r>
          </a:p>
          <a:p>
            <a:r>
              <a:rPr lang="ru-RU" sz="2400" i="1" dirty="0" err="1">
                <a:latin typeface="Bookman Old Style" panose="02050604050505020204" pitchFamily="18" charset="0"/>
              </a:rPr>
              <a:t>x</a:t>
            </a:r>
            <a:r>
              <a:rPr lang="ru-RU" sz="2400" i="1" baseline="-25000" dirty="0" err="1">
                <a:latin typeface="Bookman Old Style" panose="02050604050505020204" pitchFamily="18" charset="0"/>
              </a:rPr>
              <a:t>j</a:t>
            </a:r>
            <a:r>
              <a:rPr lang="ru-RU" dirty="0">
                <a:latin typeface="Bookman Old Style" panose="02050604050505020204" pitchFamily="18" charset="0"/>
              </a:rPr>
              <a:t> — регрессоры (факторы модели), </a:t>
            </a:r>
          </a:p>
          <a:p>
            <a:r>
              <a:rPr lang="ru-RU" sz="2400" i="1" dirty="0">
                <a:latin typeface="Bookman Old Style" panose="02050604050505020204" pitchFamily="18" charset="0"/>
              </a:rPr>
              <a:t>k</a:t>
            </a:r>
            <a:r>
              <a:rPr lang="ru-RU" dirty="0">
                <a:latin typeface="Bookman Old Style" panose="02050604050505020204" pitchFamily="18" charset="0"/>
              </a:rPr>
              <a:t> — количество факторов модели.</a:t>
            </a:r>
          </a:p>
        </p:txBody>
      </p:sp>
    </p:spTree>
    <p:extLst>
      <p:ext uri="{BB962C8B-B14F-4D97-AF65-F5344CB8AC3E}">
        <p14:creationId xmlns:p14="http://schemas.microsoft.com/office/powerpoint/2010/main" val="2295803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Линейная регрессия</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050" name="Picture 2" descr="Линейная регрессия на Python: объясняем на пальцах"/>
          <p:cNvPicPr>
            <a:picLocks noChangeAspect="1" noChangeArrowheads="1"/>
          </p:cNvPicPr>
          <p:nvPr/>
        </p:nvPicPr>
        <p:blipFill>
          <a:blip r:embed="rId4">
            <a:clrChange>
              <a:clrFrom>
                <a:srgbClr val="F3FFFF"/>
              </a:clrFrom>
              <a:clrTo>
                <a:srgbClr val="F3FFFF">
                  <a:alpha val="0"/>
                </a:srgbClr>
              </a:clrTo>
            </a:clrChange>
            <a:extLst>
              <a:ext uri="{28A0092B-C50C-407E-A947-70E740481C1C}">
                <a14:useLocalDpi xmlns:a14="http://schemas.microsoft.com/office/drawing/2010/main" val="0"/>
              </a:ext>
            </a:extLst>
          </a:blip>
          <a:srcRect/>
          <a:stretch>
            <a:fillRect/>
          </a:stretch>
        </p:blipFill>
        <p:spPr bwMode="auto">
          <a:xfrm>
            <a:off x="462245" y="1666703"/>
            <a:ext cx="6990510" cy="353940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7697755" y="1733566"/>
            <a:ext cx="3526972" cy="3139321"/>
          </a:xfrm>
          <a:prstGeom prst="rect">
            <a:avLst/>
          </a:prstGeom>
        </p:spPr>
        <p:txBody>
          <a:bodyPr wrap="square">
            <a:spAutoFit/>
          </a:bodyPr>
          <a:lstStyle/>
          <a:p>
            <a:r>
              <a:rPr lang="ru-RU" dirty="0">
                <a:latin typeface="Bookman Old Style" panose="02050604050505020204" pitchFamily="18" charset="0"/>
              </a:rPr>
              <a:t>Зелёные круги - заданный набором пар входов-выходов (x-y). </a:t>
            </a:r>
          </a:p>
          <a:p>
            <a:endParaRPr lang="ru-RU" dirty="0">
              <a:latin typeface="Bookman Old Style" panose="02050604050505020204" pitchFamily="18" charset="0"/>
            </a:endParaRPr>
          </a:p>
          <a:p>
            <a:r>
              <a:rPr lang="ru-RU" dirty="0">
                <a:latin typeface="Bookman Old Style" panose="02050604050505020204" pitchFamily="18" charset="0"/>
              </a:rPr>
              <a:t>Эти пары – результаты наблюдений. </a:t>
            </a:r>
          </a:p>
          <a:p>
            <a:r>
              <a:rPr lang="ru-RU" dirty="0">
                <a:latin typeface="Bookman Old Style" panose="02050604050505020204" pitchFamily="18" charset="0"/>
              </a:rPr>
              <a:t>Например, наблюдение, крайнее слева (зелёный круг) имеет на входе x = 5 и соответствующий выход (ответ) y = 5. </a:t>
            </a:r>
          </a:p>
        </p:txBody>
      </p:sp>
      <p:sp>
        <p:nvSpPr>
          <p:cNvPr id="3" name="Прямоугольник 2"/>
          <p:cNvSpPr/>
          <p:nvPr/>
        </p:nvSpPr>
        <p:spPr>
          <a:xfrm>
            <a:off x="626926" y="5211544"/>
            <a:ext cx="11573815" cy="1477328"/>
          </a:xfrm>
          <a:prstGeom prst="rect">
            <a:avLst/>
          </a:prstGeom>
        </p:spPr>
        <p:txBody>
          <a:bodyPr wrap="square">
            <a:spAutoFit/>
          </a:bodyPr>
          <a:lstStyle/>
          <a:p>
            <a:r>
              <a:rPr lang="ru-RU" dirty="0">
                <a:latin typeface="Bookman Old Style" panose="02050604050505020204" pitchFamily="18" charset="0"/>
              </a:rPr>
              <a:t>Оценочная функция регрессии (чёрная линия) выражается уравнением f(x) = b₀ + </a:t>
            </a:r>
            <a:r>
              <a:rPr lang="ru-RU" dirty="0" err="1">
                <a:latin typeface="Bookman Old Style" panose="02050604050505020204" pitchFamily="18" charset="0"/>
              </a:rPr>
              <a:t>b₁x</a:t>
            </a:r>
            <a:r>
              <a:rPr lang="ru-RU" dirty="0">
                <a:latin typeface="Bookman Old Style" panose="02050604050505020204" pitchFamily="18" charset="0"/>
              </a:rPr>
              <a:t>. </a:t>
            </a:r>
          </a:p>
          <a:p>
            <a:r>
              <a:rPr lang="ru-RU" dirty="0">
                <a:latin typeface="Bookman Old Style" panose="02050604050505020204" pitchFamily="18" charset="0"/>
              </a:rPr>
              <a:t>Нужно рассчитать оптимальные значения спрогнозированных весов b₀ и b₁ для минимизации SSR и определить оценочную функцию регрессии. </a:t>
            </a:r>
          </a:p>
          <a:p>
            <a:r>
              <a:rPr lang="ru-RU" dirty="0">
                <a:latin typeface="Bookman Old Style" panose="02050604050505020204" pitchFamily="18" charset="0"/>
              </a:rPr>
              <a:t>b₀ показывает точку, где расчётная линия регрессии пересекает ось y. </a:t>
            </a:r>
          </a:p>
          <a:p>
            <a:r>
              <a:rPr lang="ru-RU" dirty="0">
                <a:latin typeface="Bookman Old Style" panose="02050604050505020204" pitchFamily="18" charset="0"/>
              </a:rPr>
              <a:t>Величина b₁ определяет наклон расчетной линии регрессии.</a:t>
            </a:r>
          </a:p>
        </p:txBody>
      </p:sp>
    </p:spTree>
    <p:extLst>
      <p:ext uri="{BB962C8B-B14F-4D97-AF65-F5344CB8AC3E}">
        <p14:creationId xmlns:p14="http://schemas.microsoft.com/office/powerpoint/2010/main" val="3349605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Линейная регрессия</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050" name="Picture 2" descr="Линейная регрессия на Python: объясняем на пальцах"/>
          <p:cNvPicPr>
            <a:picLocks noChangeAspect="1" noChangeArrowheads="1"/>
          </p:cNvPicPr>
          <p:nvPr/>
        </p:nvPicPr>
        <p:blipFill>
          <a:blip r:embed="rId4">
            <a:clrChange>
              <a:clrFrom>
                <a:srgbClr val="F3FFFF"/>
              </a:clrFrom>
              <a:clrTo>
                <a:srgbClr val="F3FFFF">
                  <a:alpha val="0"/>
                </a:srgbClr>
              </a:clrTo>
            </a:clrChange>
            <a:extLst>
              <a:ext uri="{28A0092B-C50C-407E-A947-70E740481C1C}">
                <a14:useLocalDpi xmlns:a14="http://schemas.microsoft.com/office/drawing/2010/main" val="0"/>
              </a:ext>
            </a:extLst>
          </a:blip>
          <a:srcRect/>
          <a:stretch>
            <a:fillRect/>
          </a:stretch>
        </p:blipFill>
        <p:spPr bwMode="auto">
          <a:xfrm>
            <a:off x="462245" y="1666703"/>
            <a:ext cx="6990510" cy="353940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7697755" y="1733566"/>
            <a:ext cx="3526972" cy="3139321"/>
          </a:xfrm>
          <a:prstGeom prst="rect">
            <a:avLst/>
          </a:prstGeom>
        </p:spPr>
        <p:txBody>
          <a:bodyPr wrap="square">
            <a:spAutoFit/>
          </a:bodyPr>
          <a:lstStyle/>
          <a:p>
            <a:r>
              <a:rPr lang="ru-RU" dirty="0">
                <a:latin typeface="Bookman Old Style" panose="02050604050505020204" pitchFamily="18" charset="0"/>
              </a:rPr>
              <a:t>Предсказанные ответы (красные квадраты) – точки линии регрессии, соответствующие входным значениям. </a:t>
            </a:r>
          </a:p>
          <a:p>
            <a:endParaRPr lang="ru-RU" dirty="0">
              <a:latin typeface="Bookman Old Style" panose="02050604050505020204" pitchFamily="18" charset="0"/>
            </a:endParaRPr>
          </a:p>
          <a:p>
            <a:r>
              <a:rPr lang="ru-RU" dirty="0">
                <a:latin typeface="Bookman Old Style" panose="02050604050505020204" pitchFamily="18" charset="0"/>
              </a:rPr>
              <a:t>Для входа x = 5 предсказанный ответ равен f(5) = 8.33 (представленный крайним левыми квадратом).</a:t>
            </a:r>
          </a:p>
        </p:txBody>
      </p:sp>
      <p:sp>
        <p:nvSpPr>
          <p:cNvPr id="3" name="Прямоугольник 2"/>
          <p:cNvSpPr/>
          <p:nvPr/>
        </p:nvSpPr>
        <p:spPr>
          <a:xfrm>
            <a:off x="626926" y="5211544"/>
            <a:ext cx="11573815" cy="1200329"/>
          </a:xfrm>
          <a:prstGeom prst="rect">
            <a:avLst/>
          </a:prstGeom>
        </p:spPr>
        <p:txBody>
          <a:bodyPr wrap="square">
            <a:spAutoFit/>
          </a:bodyPr>
          <a:lstStyle/>
          <a:p>
            <a:r>
              <a:rPr lang="ru-RU" dirty="0">
                <a:latin typeface="Bookman Old Style" panose="02050604050505020204" pitchFamily="18" charset="0"/>
              </a:rPr>
              <a:t>Остатки (вертикальные пунктирные серые линии) вычисляются как </a:t>
            </a:r>
            <a:r>
              <a:rPr lang="ru-RU" i="1" dirty="0">
                <a:latin typeface="Bookman Old Style" panose="02050604050505020204" pitchFamily="18" charset="0"/>
              </a:rPr>
              <a:t>yᵢ − f(xᵢ) = yᵢ − b₀ − </a:t>
            </a:r>
            <a:r>
              <a:rPr lang="ru-RU" i="1" dirty="0" err="1">
                <a:latin typeface="Bookman Old Style" panose="02050604050505020204" pitchFamily="18" charset="0"/>
              </a:rPr>
              <a:t>b₁x</a:t>
            </a:r>
            <a:r>
              <a:rPr lang="ru-RU" i="1" dirty="0">
                <a:latin typeface="Bookman Old Style" panose="02050604050505020204" pitchFamily="18" charset="0"/>
              </a:rPr>
              <a:t>ᵢ </a:t>
            </a:r>
          </a:p>
          <a:p>
            <a:r>
              <a:rPr lang="ru-RU" dirty="0">
                <a:latin typeface="Bookman Old Style" panose="02050604050505020204" pitchFamily="18" charset="0"/>
              </a:rPr>
              <a:t>для i = 1, …, n. Они представляют собой расстояния между зелёными и красными пунктами. При реализации линейной регрессии нужно минимизировать эти расстояния и сделать красные квадраты как можно ближе к предопределённым зелёным кругам.</a:t>
            </a:r>
          </a:p>
        </p:txBody>
      </p:sp>
    </p:spTree>
    <p:extLst>
      <p:ext uri="{BB962C8B-B14F-4D97-AF65-F5344CB8AC3E}">
        <p14:creationId xmlns:p14="http://schemas.microsoft.com/office/powerpoint/2010/main" val="257632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Линейная регрессия</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4" name="Прямоугольник 13"/>
          <p:cNvSpPr/>
          <p:nvPr/>
        </p:nvSpPr>
        <p:spPr>
          <a:xfrm>
            <a:off x="635670" y="1588495"/>
            <a:ext cx="835904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Bookman Old Style" panose="02050604050505020204" pitchFamily="18" charset="0"/>
              </a:rPr>
              <a:t>from </a:t>
            </a:r>
            <a:r>
              <a:rPr lang="en-US" dirty="0" err="1">
                <a:latin typeface="Bookman Old Style" panose="02050604050505020204" pitchFamily="18" charset="0"/>
              </a:rPr>
              <a:t>sklearn.linear_model</a:t>
            </a:r>
            <a:r>
              <a:rPr lang="en-US" dirty="0">
                <a:latin typeface="Bookman Old Style" panose="02050604050505020204" pitchFamily="18" charset="0"/>
              </a:rPr>
              <a:t> import </a:t>
            </a:r>
            <a:r>
              <a:rPr lang="en-US" dirty="0" err="1">
                <a:latin typeface="Bookman Old Style" panose="02050604050505020204" pitchFamily="18" charset="0"/>
              </a:rPr>
              <a:t>LinearRegression</a:t>
            </a:r>
            <a:endParaRPr lang="ru-RU" dirty="0">
              <a:latin typeface="Bookman Old Style" panose="02050604050505020204" pitchFamily="18" charset="0"/>
            </a:endParaRPr>
          </a:p>
        </p:txBody>
      </p:sp>
      <p:sp>
        <p:nvSpPr>
          <p:cNvPr id="2" name="Прямоугольник 1"/>
          <p:cNvSpPr/>
          <p:nvPr/>
        </p:nvSpPr>
        <p:spPr>
          <a:xfrm>
            <a:off x="469641" y="2299880"/>
            <a:ext cx="10680442" cy="3139321"/>
          </a:xfrm>
          <a:prstGeom prst="rect">
            <a:avLst/>
          </a:prstGeom>
        </p:spPr>
        <p:txBody>
          <a:bodyPr wrap="square">
            <a:spAutoFit/>
          </a:bodyPr>
          <a:lstStyle/>
          <a:p>
            <a:r>
              <a:rPr lang="ru-RU" dirty="0">
                <a:latin typeface="Bookman Old Style" panose="02050604050505020204" pitchFamily="18" charset="0"/>
              </a:rPr>
              <a:t>Несколько опциональных параметров класса </a:t>
            </a:r>
            <a:r>
              <a:rPr lang="ru-RU" dirty="0" err="1">
                <a:latin typeface="Bookman Old Style" panose="02050604050505020204" pitchFamily="18" charset="0"/>
              </a:rPr>
              <a:t>LinearRegression</a:t>
            </a:r>
            <a:r>
              <a:rPr lang="ru-RU" dirty="0">
                <a:latin typeface="Bookman Old Style" panose="02050604050505020204" pitchFamily="18" charset="0"/>
              </a:rPr>
              <a:t>:</a:t>
            </a:r>
          </a:p>
          <a:p>
            <a:endParaRPr lang="ru-RU" dirty="0">
              <a:latin typeface="Bookman Old Style" panose="02050604050505020204" pitchFamily="18" charset="0"/>
            </a:endParaRPr>
          </a:p>
          <a:p>
            <a:r>
              <a:rPr lang="ru-RU" b="1" dirty="0" err="1">
                <a:latin typeface="Bookman Old Style" panose="02050604050505020204" pitchFamily="18" charset="0"/>
              </a:rPr>
              <a:t>fit_intercept</a:t>
            </a:r>
            <a:r>
              <a:rPr lang="ru-RU" dirty="0">
                <a:latin typeface="Bookman Old Style" panose="02050604050505020204" pitchFamily="18" charset="0"/>
              </a:rPr>
              <a:t> – логический (</a:t>
            </a:r>
            <a:r>
              <a:rPr lang="ru-RU" dirty="0" err="1">
                <a:latin typeface="Bookman Old Style" panose="02050604050505020204" pitchFamily="18" charset="0"/>
              </a:rPr>
              <a:t>True</a:t>
            </a:r>
            <a:r>
              <a:rPr lang="ru-RU" dirty="0">
                <a:latin typeface="Bookman Old Style" panose="02050604050505020204" pitchFamily="18" charset="0"/>
              </a:rPr>
              <a:t> по умолчанию) параметр, который решает, вычислять отрезок b₀ (</a:t>
            </a:r>
            <a:r>
              <a:rPr lang="ru-RU" dirty="0" err="1">
                <a:latin typeface="Bookman Old Style" panose="02050604050505020204" pitchFamily="18" charset="0"/>
              </a:rPr>
              <a:t>True</a:t>
            </a:r>
            <a:r>
              <a:rPr lang="ru-RU" dirty="0">
                <a:latin typeface="Bookman Old Style" panose="02050604050505020204" pitchFamily="18" charset="0"/>
              </a:rPr>
              <a:t>) или рассматривать его как равный нулю (</a:t>
            </a:r>
            <a:r>
              <a:rPr lang="ru-RU" dirty="0" err="1">
                <a:latin typeface="Bookman Old Style" panose="02050604050505020204" pitchFamily="18" charset="0"/>
              </a:rPr>
              <a:t>False</a:t>
            </a:r>
            <a:r>
              <a:rPr lang="ru-RU" dirty="0">
                <a:latin typeface="Bookman Old Style" panose="02050604050505020204" pitchFamily="18" charset="0"/>
              </a:rPr>
              <a:t>).</a:t>
            </a:r>
          </a:p>
          <a:p>
            <a:r>
              <a:rPr lang="ru-RU" b="1" dirty="0" err="1">
                <a:latin typeface="Bookman Old Style" panose="02050604050505020204" pitchFamily="18" charset="0"/>
              </a:rPr>
              <a:t>normalize</a:t>
            </a:r>
            <a:r>
              <a:rPr lang="ru-RU" dirty="0">
                <a:latin typeface="Bookman Old Style" panose="02050604050505020204" pitchFamily="18" charset="0"/>
              </a:rPr>
              <a:t> – логический (</a:t>
            </a:r>
            <a:r>
              <a:rPr lang="ru-RU" dirty="0" err="1">
                <a:latin typeface="Bookman Old Style" panose="02050604050505020204" pitchFamily="18" charset="0"/>
              </a:rPr>
              <a:t>False</a:t>
            </a:r>
            <a:r>
              <a:rPr lang="ru-RU" dirty="0">
                <a:latin typeface="Bookman Old Style" panose="02050604050505020204" pitchFamily="18" charset="0"/>
              </a:rPr>
              <a:t> по умолчанию) параметр, который решает, нормализовать входные переменные (</a:t>
            </a:r>
            <a:r>
              <a:rPr lang="ru-RU" dirty="0" err="1">
                <a:latin typeface="Bookman Old Style" panose="02050604050505020204" pitchFamily="18" charset="0"/>
              </a:rPr>
              <a:t>True</a:t>
            </a:r>
            <a:r>
              <a:rPr lang="ru-RU" dirty="0">
                <a:latin typeface="Bookman Old Style" panose="02050604050505020204" pitchFamily="18" charset="0"/>
              </a:rPr>
              <a:t>) или нет (</a:t>
            </a:r>
            <a:r>
              <a:rPr lang="ru-RU" dirty="0" err="1">
                <a:latin typeface="Bookman Old Style" panose="02050604050505020204" pitchFamily="18" charset="0"/>
              </a:rPr>
              <a:t>False</a:t>
            </a:r>
            <a:r>
              <a:rPr lang="ru-RU" dirty="0">
                <a:latin typeface="Bookman Old Style" panose="02050604050505020204" pitchFamily="18" charset="0"/>
              </a:rPr>
              <a:t>).</a:t>
            </a:r>
          </a:p>
          <a:p>
            <a:r>
              <a:rPr lang="ru-RU" b="1" dirty="0" err="1">
                <a:latin typeface="Bookman Old Style" panose="02050604050505020204" pitchFamily="18" charset="0"/>
              </a:rPr>
              <a:t>copy_X</a:t>
            </a:r>
            <a:r>
              <a:rPr lang="ru-RU" dirty="0">
                <a:latin typeface="Bookman Old Style" panose="02050604050505020204" pitchFamily="18" charset="0"/>
              </a:rPr>
              <a:t> – логический (</a:t>
            </a:r>
            <a:r>
              <a:rPr lang="ru-RU" dirty="0" err="1">
                <a:latin typeface="Bookman Old Style" panose="02050604050505020204" pitchFamily="18" charset="0"/>
              </a:rPr>
              <a:t>True</a:t>
            </a:r>
            <a:r>
              <a:rPr lang="ru-RU" dirty="0">
                <a:latin typeface="Bookman Old Style" panose="02050604050505020204" pitchFamily="18" charset="0"/>
              </a:rPr>
              <a:t> по умолчанию) параметр, который решает, копировать (</a:t>
            </a:r>
            <a:r>
              <a:rPr lang="ru-RU" dirty="0" err="1">
                <a:latin typeface="Bookman Old Style" panose="02050604050505020204" pitchFamily="18" charset="0"/>
              </a:rPr>
              <a:t>True</a:t>
            </a:r>
            <a:r>
              <a:rPr lang="ru-RU" dirty="0">
                <a:latin typeface="Bookman Old Style" panose="02050604050505020204" pitchFamily="18" charset="0"/>
              </a:rPr>
              <a:t>) или перезаписывать входные переменные (</a:t>
            </a:r>
            <a:r>
              <a:rPr lang="ru-RU" dirty="0" err="1">
                <a:latin typeface="Bookman Old Style" panose="02050604050505020204" pitchFamily="18" charset="0"/>
              </a:rPr>
              <a:t>False</a:t>
            </a:r>
            <a:r>
              <a:rPr lang="ru-RU" dirty="0">
                <a:latin typeface="Bookman Old Style" panose="02050604050505020204" pitchFamily="18" charset="0"/>
              </a:rPr>
              <a:t>).</a:t>
            </a:r>
          </a:p>
          <a:p>
            <a:r>
              <a:rPr lang="ru-RU" b="1" dirty="0" err="1">
                <a:latin typeface="Bookman Old Style" panose="02050604050505020204" pitchFamily="18" charset="0"/>
              </a:rPr>
              <a:t>n_jobs</a:t>
            </a:r>
            <a:r>
              <a:rPr lang="ru-RU" dirty="0">
                <a:latin typeface="Bookman Old Style" panose="02050604050505020204" pitchFamily="18" charset="0"/>
              </a:rPr>
              <a:t> – целое или </a:t>
            </a:r>
            <a:r>
              <a:rPr lang="ru-RU" dirty="0" err="1">
                <a:latin typeface="Bookman Old Style" panose="02050604050505020204" pitchFamily="18" charset="0"/>
              </a:rPr>
              <a:t>None</a:t>
            </a:r>
            <a:r>
              <a:rPr lang="ru-RU" dirty="0">
                <a:latin typeface="Bookman Old Style" panose="02050604050505020204" pitchFamily="18" charset="0"/>
              </a:rPr>
              <a:t> (по умолчанию), представляющее количество процессов, задействованных в параллельных вычислениях. </a:t>
            </a:r>
            <a:r>
              <a:rPr lang="ru-RU" dirty="0" err="1">
                <a:latin typeface="Bookman Old Style" panose="02050604050505020204" pitchFamily="18" charset="0"/>
              </a:rPr>
              <a:t>None</a:t>
            </a:r>
            <a:r>
              <a:rPr lang="ru-RU" dirty="0">
                <a:latin typeface="Bookman Old Style" panose="02050604050505020204" pitchFamily="18" charset="0"/>
              </a:rPr>
              <a:t> означает отсутствие процессов, при -1 используются все доступные процессоры.</a:t>
            </a:r>
          </a:p>
        </p:txBody>
      </p:sp>
    </p:spTree>
    <p:extLst>
      <p:ext uri="{BB962C8B-B14F-4D97-AF65-F5344CB8AC3E}">
        <p14:creationId xmlns:p14="http://schemas.microsoft.com/office/powerpoint/2010/main" val="700102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Линейная регрессия</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3" name="Рисунок 2"/>
          <p:cNvPicPr>
            <a:picLocks noChangeAspect="1"/>
          </p:cNvPicPr>
          <p:nvPr/>
        </p:nvPicPr>
        <p:blipFill rotWithShape="1">
          <a:blip r:embed="rId4"/>
          <a:srcRect b="54521"/>
          <a:stretch/>
        </p:blipFill>
        <p:spPr>
          <a:xfrm>
            <a:off x="635670" y="1430977"/>
            <a:ext cx="8601075" cy="1620133"/>
          </a:xfrm>
          <a:prstGeom prst="rect">
            <a:avLst/>
          </a:prstGeom>
        </p:spPr>
      </p:pic>
      <p:pic>
        <p:nvPicPr>
          <p:cNvPr id="11" name="Рисунок 10"/>
          <p:cNvPicPr>
            <a:picLocks noChangeAspect="1"/>
          </p:cNvPicPr>
          <p:nvPr/>
        </p:nvPicPr>
        <p:blipFill rotWithShape="1">
          <a:blip r:embed="rId4"/>
          <a:srcRect t="74989"/>
          <a:stretch/>
        </p:blipFill>
        <p:spPr>
          <a:xfrm>
            <a:off x="635669" y="3051110"/>
            <a:ext cx="8601075" cy="890968"/>
          </a:xfrm>
          <a:prstGeom prst="rect">
            <a:avLst/>
          </a:prstGeom>
        </p:spPr>
      </p:pic>
    </p:spTree>
    <p:extLst>
      <p:ext uri="{BB962C8B-B14F-4D97-AF65-F5344CB8AC3E}">
        <p14:creationId xmlns:p14="http://schemas.microsoft.com/office/powerpoint/2010/main" val="1555446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Линейная регрессия</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8" name="Прямоугольник 7"/>
          <p:cNvSpPr/>
          <p:nvPr/>
        </p:nvSpPr>
        <p:spPr>
          <a:xfrm>
            <a:off x="635670" y="1399073"/>
            <a:ext cx="10691693" cy="646331"/>
          </a:xfrm>
          <a:prstGeom prst="rect">
            <a:avLst/>
          </a:prstGeom>
        </p:spPr>
        <p:txBody>
          <a:bodyPr wrap="square">
            <a:spAutoFit/>
          </a:bodyPr>
          <a:lstStyle/>
          <a:p>
            <a:r>
              <a:rPr lang="ru-RU" dirty="0" err="1">
                <a:latin typeface="Bookman Old Style" panose="02050604050505020204" pitchFamily="18" charset="0"/>
              </a:rPr>
              <a:t>model</a:t>
            </a:r>
            <a:r>
              <a:rPr lang="ru-RU" dirty="0">
                <a:latin typeface="Bookman Old Style" panose="02050604050505020204" pitchFamily="18" charset="0"/>
              </a:rPr>
              <a:t> содержит атрибуты </a:t>
            </a:r>
            <a:r>
              <a:rPr lang="ru-RU" b="1" i="1" dirty="0">
                <a:latin typeface="Bookman Old Style" panose="02050604050505020204" pitchFamily="18" charset="0"/>
              </a:rPr>
              <a:t>.</a:t>
            </a:r>
            <a:r>
              <a:rPr lang="ru-RU" b="1" i="1" dirty="0" err="1">
                <a:latin typeface="Bookman Old Style" panose="02050604050505020204" pitchFamily="18" charset="0"/>
              </a:rPr>
              <a:t>intercept</a:t>
            </a:r>
            <a:r>
              <a:rPr lang="ru-RU" b="1" i="1" dirty="0">
                <a:latin typeface="Bookman Old Style" panose="02050604050505020204" pitchFamily="18" charset="0"/>
              </a:rPr>
              <a:t>_</a:t>
            </a:r>
            <a:r>
              <a:rPr lang="ru-RU" dirty="0">
                <a:latin typeface="Bookman Old Style" panose="02050604050505020204" pitchFamily="18" charset="0"/>
              </a:rPr>
              <a:t>, который представляет собой коэффициент b₀, </a:t>
            </a:r>
          </a:p>
          <a:p>
            <a:r>
              <a:rPr lang="ru-RU" dirty="0">
                <a:latin typeface="Bookman Old Style" panose="02050604050505020204" pitchFamily="18" charset="0"/>
              </a:rPr>
              <a:t>и .</a:t>
            </a:r>
            <a:r>
              <a:rPr lang="ru-RU" b="1" i="1" dirty="0" err="1">
                <a:latin typeface="Bookman Old Style" panose="02050604050505020204" pitchFamily="18" charset="0"/>
              </a:rPr>
              <a:t>coef</a:t>
            </a:r>
            <a:r>
              <a:rPr lang="ru-RU" b="1" i="1" dirty="0">
                <a:latin typeface="Bookman Old Style" panose="02050604050505020204" pitchFamily="18" charset="0"/>
              </a:rPr>
              <a:t>_</a:t>
            </a:r>
            <a:r>
              <a:rPr lang="ru-RU" dirty="0">
                <a:latin typeface="Bookman Old Style" panose="02050604050505020204" pitchFamily="18" charset="0"/>
              </a:rPr>
              <a:t>, который представляет b₁:</a:t>
            </a:r>
          </a:p>
        </p:txBody>
      </p:sp>
      <p:pic>
        <p:nvPicPr>
          <p:cNvPr id="9" name="Рисунок 8"/>
          <p:cNvPicPr>
            <a:picLocks noChangeAspect="1"/>
          </p:cNvPicPr>
          <p:nvPr/>
        </p:nvPicPr>
        <p:blipFill>
          <a:blip r:embed="rId4"/>
          <a:stretch>
            <a:fillRect/>
          </a:stretch>
        </p:blipFill>
        <p:spPr>
          <a:xfrm>
            <a:off x="635670" y="2329834"/>
            <a:ext cx="7820025" cy="2105025"/>
          </a:xfrm>
          <a:prstGeom prst="rect">
            <a:avLst/>
          </a:prstGeom>
        </p:spPr>
      </p:pic>
      <p:sp>
        <p:nvSpPr>
          <p:cNvPr id="12" name="Прямоугольник 11"/>
          <p:cNvSpPr/>
          <p:nvPr/>
        </p:nvSpPr>
        <p:spPr>
          <a:xfrm>
            <a:off x="635670" y="4719289"/>
            <a:ext cx="11092910" cy="1200329"/>
          </a:xfrm>
          <a:prstGeom prst="rect">
            <a:avLst/>
          </a:prstGeom>
        </p:spPr>
        <p:txBody>
          <a:bodyPr wrap="square">
            <a:spAutoFit/>
          </a:bodyPr>
          <a:lstStyle/>
          <a:p>
            <a:r>
              <a:rPr lang="ru-RU" dirty="0">
                <a:latin typeface="Bookman Old Style" panose="02050604050505020204" pitchFamily="18" charset="0"/>
              </a:rPr>
              <a:t>Примерное значение b₀ = 5.63 показывает, что модель предсказывает ответ 5.63 при x, равном нулю. </a:t>
            </a:r>
          </a:p>
          <a:p>
            <a:r>
              <a:rPr lang="ru-RU" dirty="0">
                <a:latin typeface="Bookman Old Style" panose="02050604050505020204" pitchFamily="18" charset="0"/>
              </a:rPr>
              <a:t>Равенство b₁ = 0.54 означает, что предсказанный ответ возрастает до 0.54 при x, увеличенным на единицу.</a:t>
            </a:r>
          </a:p>
        </p:txBody>
      </p:sp>
    </p:spTree>
    <p:extLst>
      <p:ext uri="{BB962C8B-B14F-4D97-AF65-F5344CB8AC3E}">
        <p14:creationId xmlns:p14="http://schemas.microsoft.com/office/powerpoint/2010/main" val="3989520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Линейная регрессия</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 name="Рисунок 1"/>
          <p:cNvPicPr>
            <a:picLocks noChangeAspect="1"/>
          </p:cNvPicPr>
          <p:nvPr/>
        </p:nvPicPr>
        <p:blipFill>
          <a:blip r:embed="rId4"/>
          <a:stretch>
            <a:fillRect/>
          </a:stretch>
        </p:blipFill>
        <p:spPr>
          <a:xfrm>
            <a:off x="453021" y="1688549"/>
            <a:ext cx="10315575" cy="1857375"/>
          </a:xfrm>
          <a:prstGeom prst="rect">
            <a:avLst/>
          </a:prstGeom>
        </p:spPr>
      </p:pic>
    </p:spTree>
    <p:extLst>
      <p:ext uri="{BB962C8B-B14F-4D97-AF65-F5344CB8AC3E}">
        <p14:creationId xmlns:p14="http://schemas.microsoft.com/office/powerpoint/2010/main" val="3370416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Линейная регрессия</a:t>
            </a: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8" name="Рисунок 7"/>
          <p:cNvPicPr>
            <a:picLocks noChangeAspect="1"/>
          </p:cNvPicPr>
          <p:nvPr/>
        </p:nvPicPr>
        <p:blipFill>
          <a:blip r:embed="rId4"/>
          <a:stretch>
            <a:fillRect/>
          </a:stretch>
        </p:blipFill>
        <p:spPr>
          <a:xfrm>
            <a:off x="2478190" y="3097763"/>
            <a:ext cx="5916500" cy="3660992"/>
          </a:xfrm>
          <a:prstGeom prst="rect">
            <a:avLst/>
          </a:prstGeom>
        </p:spPr>
      </p:pic>
      <p:pic>
        <p:nvPicPr>
          <p:cNvPr id="9" name="Рисунок 8"/>
          <p:cNvPicPr>
            <a:picLocks noChangeAspect="1"/>
          </p:cNvPicPr>
          <p:nvPr/>
        </p:nvPicPr>
        <p:blipFill>
          <a:blip r:embed="rId5"/>
          <a:stretch>
            <a:fillRect/>
          </a:stretch>
        </p:blipFill>
        <p:spPr>
          <a:xfrm>
            <a:off x="542673" y="1573763"/>
            <a:ext cx="8963025" cy="1524000"/>
          </a:xfrm>
          <a:prstGeom prst="rect">
            <a:avLst/>
          </a:prstGeom>
        </p:spPr>
      </p:pic>
    </p:spTree>
    <p:extLst>
      <p:ext uri="{BB962C8B-B14F-4D97-AF65-F5344CB8AC3E}">
        <p14:creationId xmlns:p14="http://schemas.microsoft.com/office/powerpoint/2010/main" val="692273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84BDB-7330-4933-ADF3-3BC644F598F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5E50310-F7E3-DD13-F000-E75A893C0E25}"/>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0BF35EC3-4910-15D3-D119-5DBC3FB49FBB}"/>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C84E7C32-5C2C-B05F-C84B-2CDFAC5E7A35}"/>
              </a:ext>
            </a:extLst>
          </p:cNvPr>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Оценка результатов</a:t>
            </a:r>
          </a:p>
        </p:txBody>
      </p:sp>
      <p:sp>
        <p:nvSpPr>
          <p:cNvPr id="10" name="Rectangle 1">
            <a:extLst>
              <a:ext uri="{FF2B5EF4-FFF2-40B4-BE49-F238E27FC236}">
                <a16:creationId xmlns:a16="http://schemas.microsoft.com/office/drawing/2014/main" id="{CBA0E3D7-46BE-7874-D0CB-53482E87AE04}"/>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3" name="Рисунок 2">
            <a:extLst>
              <a:ext uri="{FF2B5EF4-FFF2-40B4-BE49-F238E27FC236}">
                <a16:creationId xmlns:a16="http://schemas.microsoft.com/office/drawing/2014/main" id="{A7431CB1-9B40-06DA-EA83-18E8C33DAADE}"/>
              </a:ext>
            </a:extLst>
          </p:cNvPr>
          <p:cNvPicPr>
            <a:picLocks noChangeAspect="1"/>
          </p:cNvPicPr>
          <p:nvPr/>
        </p:nvPicPr>
        <p:blipFill>
          <a:blip r:embed="rId4"/>
          <a:stretch>
            <a:fillRect/>
          </a:stretch>
        </p:blipFill>
        <p:spPr>
          <a:xfrm>
            <a:off x="635670" y="1586824"/>
            <a:ext cx="7170695" cy="2138869"/>
          </a:xfrm>
          <a:prstGeom prst="rect">
            <a:avLst/>
          </a:prstGeom>
        </p:spPr>
      </p:pic>
      <p:pic>
        <p:nvPicPr>
          <p:cNvPr id="11" name="Рисунок 10">
            <a:extLst>
              <a:ext uri="{FF2B5EF4-FFF2-40B4-BE49-F238E27FC236}">
                <a16:creationId xmlns:a16="http://schemas.microsoft.com/office/drawing/2014/main" id="{4AF30DF3-FA09-1145-8750-E946EE2BA654}"/>
              </a:ext>
            </a:extLst>
          </p:cNvPr>
          <p:cNvPicPr>
            <a:picLocks noChangeAspect="1"/>
          </p:cNvPicPr>
          <p:nvPr/>
        </p:nvPicPr>
        <p:blipFill>
          <a:blip r:embed="rId5"/>
          <a:srcRect t="13110" b="10779"/>
          <a:stretch>
            <a:fillRect/>
          </a:stretch>
        </p:blipFill>
        <p:spPr>
          <a:xfrm>
            <a:off x="766630" y="4124954"/>
            <a:ext cx="4139555" cy="1225260"/>
          </a:xfrm>
          <a:prstGeom prst="rect">
            <a:avLst/>
          </a:prstGeom>
        </p:spPr>
      </p:pic>
      <p:pic>
        <p:nvPicPr>
          <p:cNvPr id="7" name="Рисунок 6">
            <a:extLst>
              <a:ext uri="{FF2B5EF4-FFF2-40B4-BE49-F238E27FC236}">
                <a16:creationId xmlns:a16="http://schemas.microsoft.com/office/drawing/2014/main" id="{D49D8CC3-FC93-FD8A-8976-025CC0D8E3FD}"/>
              </a:ext>
            </a:extLst>
          </p:cNvPr>
          <p:cNvPicPr>
            <a:picLocks noChangeAspect="1"/>
          </p:cNvPicPr>
          <p:nvPr/>
        </p:nvPicPr>
        <p:blipFill>
          <a:blip r:embed="rId6"/>
          <a:stretch>
            <a:fillRect/>
          </a:stretch>
        </p:blipFill>
        <p:spPr>
          <a:xfrm>
            <a:off x="6173898" y="4769189"/>
            <a:ext cx="2619375" cy="581025"/>
          </a:xfrm>
          <a:prstGeom prst="rect">
            <a:avLst/>
          </a:prstGeom>
        </p:spPr>
      </p:pic>
      <p:pic>
        <p:nvPicPr>
          <p:cNvPr id="9" name="Рисунок 8">
            <a:extLst>
              <a:ext uri="{FF2B5EF4-FFF2-40B4-BE49-F238E27FC236}">
                <a16:creationId xmlns:a16="http://schemas.microsoft.com/office/drawing/2014/main" id="{5688CA91-CB58-D2F8-03BC-9DB0BD058BE3}"/>
              </a:ext>
            </a:extLst>
          </p:cNvPr>
          <p:cNvPicPr>
            <a:picLocks noChangeAspect="1"/>
          </p:cNvPicPr>
          <p:nvPr/>
        </p:nvPicPr>
        <p:blipFill>
          <a:blip r:embed="rId7"/>
          <a:stretch>
            <a:fillRect/>
          </a:stretch>
        </p:blipFill>
        <p:spPr>
          <a:xfrm>
            <a:off x="6154960" y="4228800"/>
            <a:ext cx="2724150" cy="600075"/>
          </a:xfrm>
          <a:prstGeom prst="rect">
            <a:avLst/>
          </a:prstGeom>
        </p:spPr>
      </p:pic>
    </p:spTree>
    <p:extLst>
      <p:ext uri="{BB962C8B-B14F-4D97-AF65-F5344CB8AC3E}">
        <p14:creationId xmlns:p14="http://schemas.microsoft.com/office/powerpoint/2010/main" val="3955119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229CF-BCBF-9B64-2B9F-5518D0B2D3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538955-A71F-A10D-92B4-38BC46A4AD04}"/>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F7778F41-4A92-367D-404D-8512DEB8D1E9}"/>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A01ABFD0-C7A1-D11A-429A-1484C7075ABC}"/>
              </a:ext>
            </a:extLst>
          </p:cNvPr>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Оценка результатов</a:t>
            </a:r>
          </a:p>
        </p:txBody>
      </p:sp>
      <p:sp>
        <p:nvSpPr>
          <p:cNvPr id="10" name="Rectangle 1">
            <a:extLst>
              <a:ext uri="{FF2B5EF4-FFF2-40B4-BE49-F238E27FC236}">
                <a16:creationId xmlns:a16="http://schemas.microsoft.com/office/drawing/2014/main" id="{B81B9125-699B-AD09-9E13-1F25B515A8F1}"/>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7" name="Рисунок 6">
            <a:extLst>
              <a:ext uri="{FF2B5EF4-FFF2-40B4-BE49-F238E27FC236}">
                <a16:creationId xmlns:a16="http://schemas.microsoft.com/office/drawing/2014/main" id="{621D7E65-97FF-EFBB-21CD-AE361D028130}"/>
              </a:ext>
            </a:extLst>
          </p:cNvPr>
          <p:cNvPicPr>
            <a:picLocks noChangeAspect="1"/>
          </p:cNvPicPr>
          <p:nvPr/>
        </p:nvPicPr>
        <p:blipFill>
          <a:blip r:embed="rId4"/>
          <a:stretch>
            <a:fillRect/>
          </a:stretch>
        </p:blipFill>
        <p:spPr>
          <a:xfrm>
            <a:off x="635669" y="1521364"/>
            <a:ext cx="6934511" cy="3312361"/>
          </a:xfrm>
          <a:prstGeom prst="rect">
            <a:avLst/>
          </a:prstGeom>
        </p:spPr>
      </p:pic>
      <p:sp>
        <p:nvSpPr>
          <p:cNvPr id="9" name="TextBox 8">
            <a:extLst>
              <a:ext uri="{FF2B5EF4-FFF2-40B4-BE49-F238E27FC236}">
                <a16:creationId xmlns:a16="http://schemas.microsoft.com/office/drawing/2014/main" id="{0FB9A94F-BEC6-6DCC-5736-66A390853A21}"/>
              </a:ext>
            </a:extLst>
          </p:cNvPr>
          <p:cNvSpPr txBox="1"/>
          <p:nvPr/>
        </p:nvSpPr>
        <p:spPr>
          <a:xfrm>
            <a:off x="6736405" y="2826868"/>
            <a:ext cx="7616756" cy="369332"/>
          </a:xfrm>
          <a:prstGeom prst="rect">
            <a:avLst/>
          </a:prstGeom>
          <a:noFill/>
        </p:spPr>
        <p:txBody>
          <a:bodyPr wrap="square">
            <a:spAutoFit/>
          </a:bodyPr>
          <a:lstStyle/>
          <a:p>
            <a:r>
              <a:rPr lang="ru-RU" dirty="0">
                <a:solidFill>
                  <a:schemeClr val="accent1">
                    <a:lumMod val="75000"/>
                  </a:schemeClr>
                </a:solidFill>
                <a:latin typeface="Bookman Old Style" panose="02050604050505020204" pitchFamily="18" charset="0"/>
              </a:rPr>
              <a:t>Генерация данных для регрессии</a:t>
            </a:r>
            <a:endParaRPr lang="ru-RU" dirty="0">
              <a:solidFill>
                <a:schemeClr val="accent1">
                  <a:lumMod val="75000"/>
                </a:schemeClr>
              </a:solidFill>
            </a:endParaRPr>
          </a:p>
        </p:txBody>
      </p:sp>
      <p:sp>
        <p:nvSpPr>
          <p:cNvPr id="12" name="TextBox 11">
            <a:extLst>
              <a:ext uri="{FF2B5EF4-FFF2-40B4-BE49-F238E27FC236}">
                <a16:creationId xmlns:a16="http://schemas.microsoft.com/office/drawing/2014/main" id="{1C7E79F6-8C6A-413E-75E8-D90078BDCBAF}"/>
              </a:ext>
            </a:extLst>
          </p:cNvPr>
          <p:cNvSpPr txBox="1"/>
          <p:nvPr/>
        </p:nvSpPr>
        <p:spPr>
          <a:xfrm>
            <a:off x="6736405" y="3830296"/>
            <a:ext cx="7616756" cy="369332"/>
          </a:xfrm>
          <a:prstGeom prst="rect">
            <a:avLst/>
          </a:prstGeom>
          <a:noFill/>
        </p:spPr>
        <p:txBody>
          <a:bodyPr wrap="square">
            <a:spAutoFit/>
          </a:bodyPr>
          <a:lstStyle/>
          <a:p>
            <a:r>
              <a:rPr lang="ru-RU" dirty="0">
                <a:solidFill>
                  <a:schemeClr val="accent1">
                    <a:lumMod val="75000"/>
                  </a:schemeClr>
                </a:solidFill>
                <a:latin typeface="Bookman Old Style" panose="02050604050505020204" pitchFamily="18" charset="0"/>
              </a:rPr>
              <a:t>Создание и обучение модели</a:t>
            </a:r>
            <a:endParaRPr lang="ru-RU" dirty="0">
              <a:solidFill>
                <a:schemeClr val="accent1">
                  <a:lumMod val="75000"/>
                </a:schemeClr>
              </a:solidFill>
            </a:endParaRPr>
          </a:p>
        </p:txBody>
      </p:sp>
    </p:spTree>
    <p:extLst>
      <p:ext uri="{BB962C8B-B14F-4D97-AF65-F5344CB8AC3E}">
        <p14:creationId xmlns:p14="http://schemas.microsoft.com/office/powerpoint/2010/main" val="847376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2AAAC-8588-DB65-76B1-70B758B7B6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D81F67-575A-3594-A090-6DD7A563AA47}"/>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16EB1CD7-B15D-7FBF-AB37-6D8ED48D96DF}"/>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E7DB381B-C6DE-D262-7574-A564FDA54DB4}"/>
              </a:ext>
            </a:extLst>
          </p:cNvPr>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Визуализация результатов</a:t>
            </a:r>
          </a:p>
        </p:txBody>
      </p:sp>
      <p:sp>
        <p:nvSpPr>
          <p:cNvPr id="10" name="Rectangle 1">
            <a:extLst>
              <a:ext uri="{FF2B5EF4-FFF2-40B4-BE49-F238E27FC236}">
                <a16:creationId xmlns:a16="http://schemas.microsoft.com/office/drawing/2014/main" id="{747CB558-D28B-6165-FC4E-4CC3C96E225B}"/>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3" name="Рисунок 2">
            <a:extLst>
              <a:ext uri="{FF2B5EF4-FFF2-40B4-BE49-F238E27FC236}">
                <a16:creationId xmlns:a16="http://schemas.microsoft.com/office/drawing/2014/main" id="{C6EEE763-A59A-40F6-AA42-3633F8E8A3F4}"/>
              </a:ext>
            </a:extLst>
          </p:cNvPr>
          <p:cNvPicPr>
            <a:picLocks noChangeAspect="1"/>
          </p:cNvPicPr>
          <p:nvPr/>
        </p:nvPicPr>
        <p:blipFill>
          <a:blip r:embed="rId4"/>
          <a:srcRect b="14625"/>
          <a:stretch>
            <a:fillRect/>
          </a:stretch>
        </p:blipFill>
        <p:spPr>
          <a:xfrm>
            <a:off x="784559" y="1466850"/>
            <a:ext cx="7917487" cy="2356120"/>
          </a:xfrm>
          <a:prstGeom prst="rect">
            <a:avLst/>
          </a:prstGeom>
        </p:spPr>
      </p:pic>
      <p:pic>
        <p:nvPicPr>
          <p:cNvPr id="8" name="Рисунок 7">
            <a:extLst>
              <a:ext uri="{FF2B5EF4-FFF2-40B4-BE49-F238E27FC236}">
                <a16:creationId xmlns:a16="http://schemas.microsoft.com/office/drawing/2014/main" id="{8FFAEC28-E26C-5EE6-25C7-D926CE84C1A6}"/>
              </a:ext>
            </a:extLst>
          </p:cNvPr>
          <p:cNvPicPr>
            <a:picLocks noChangeAspect="1"/>
          </p:cNvPicPr>
          <p:nvPr/>
        </p:nvPicPr>
        <p:blipFill>
          <a:blip r:embed="rId5"/>
          <a:stretch>
            <a:fillRect/>
          </a:stretch>
        </p:blipFill>
        <p:spPr>
          <a:xfrm>
            <a:off x="4153711" y="2935782"/>
            <a:ext cx="6047564" cy="3837607"/>
          </a:xfrm>
          <a:prstGeom prst="rect">
            <a:avLst/>
          </a:prstGeom>
        </p:spPr>
      </p:pic>
    </p:spTree>
    <p:extLst>
      <p:ext uri="{BB962C8B-B14F-4D97-AF65-F5344CB8AC3E}">
        <p14:creationId xmlns:p14="http://schemas.microsoft.com/office/powerpoint/2010/main" val="2191525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6DBAB-587A-1E34-CCF4-511999C4DA9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8F76364-54A9-D45C-8D34-7DE03D9DD407}"/>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587655C7-537F-F711-9253-2CB133DADCB6}"/>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49CC3367-4F4E-7748-508A-983C82738574}"/>
              </a:ext>
            </a:extLst>
          </p:cNvPr>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Множественная регрессия</a:t>
            </a:r>
          </a:p>
        </p:txBody>
      </p:sp>
      <p:sp>
        <p:nvSpPr>
          <p:cNvPr id="10" name="Rectangle 1">
            <a:extLst>
              <a:ext uri="{FF2B5EF4-FFF2-40B4-BE49-F238E27FC236}">
                <a16:creationId xmlns:a16="http://schemas.microsoft.com/office/drawing/2014/main" id="{FCC795E3-F33A-B519-AF78-D507B1D9B0B9}"/>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03D13A2-F834-B053-A8C2-1448D257F9C5}"/>
              </a:ext>
            </a:extLst>
          </p:cNvPr>
          <p:cNvSpPr txBox="1"/>
          <p:nvPr/>
        </p:nvSpPr>
        <p:spPr>
          <a:xfrm>
            <a:off x="635670" y="1399073"/>
            <a:ext cx="7616756" cy="369332"/>
          </a:xfrm>
          <a:prstGeom prst="rect">
            <a:avLst/>
          </a:prstGeom>
          <a:noFill/>
        </p:spPr>
        <p:txBody>
          <a:bodyPr wrap="square">
            <a:spAutoFit/>
          </a:bodyPr>
          <a:lstStyle/>
          <a:p>
            <a:r>
              <a:rPr lang="ru-RU" dirty="0">
                <a:latin typeface="Bookman Old Style" panose="02050604050505020204" pitchFamily="18" charset="0"/>
              </a:rPr>
              <a:t>На данных о ценах на жилье в Калифорнии</a:t>
            </a:r>
          </a:p>
        </p:txBody>
      </p:sp>
      <p:pic>
        <p:nvPicPr>
          <p:cNvPr id="11" name="Рисунок 10">
            <a:extLst>
              <a:ext uri="{FF2B5EF4-FFF2-40B4-BE49-F238E27FC236}">
                <a16:creationId xmlns:a16="http://schemas.microsoft.com/office/drawing/2014/main" id="{1BF2381C-047C-B34E-0BF2-2A7EC8BA1D64}"/>
              </a:ext>
            </a:extLst>
          </p:cNvPr>
          <p:cNvPicPr>
            <a:picLocks noChangeAspect="1"/>
          </p:cNvPicPr>
          <p:nvPr/>
        </p:nvPicPr>
        <p:blipFill>
          <a:blip r:embed="rId4"/>
          <a:stretch>
            <a:fillRect/>
          </a:stretch>
        </p:blipFill>
        <p:spPr>
          <a:xfrm>
            <a:off x="635670" y="1759214"/>
            <a:ext cx="5638800" cy="4410075"/>
          </a:xfrm>
          <a:prstGeom prst="rect">
            <a:avLst/>
          </a:prstGeom>
        </p:spPr>
      </p:pic>
      <p:pic>
        <p:nvPicPr>
          <p:cNvPr id="13" name="Рисунок 12">
            <a:extLst>
              <a:ext uri="{FF2B5EF4-FFF2-40B4-BE49-F238E27FC236}">
                <a16:creationId xmlns:a16="http://schemas.microsoft.com/office/drawing/2014/main" id="{5200B8F4-8CA5-7E49-948F-CB98F64D4692}"/>
              </a:ext>
            </a:extLst>
          </p:cNvPr>
          <p:cNvPicPr>
            <a:picLocks noChangeAspect="1"/>
          </p:cNvPicPr>
          <p:nvPr/>
        </p:nvPicPr>
        <p:blipFill>
          <a:blip r:embed="rId5"/>
          <a:stretch>
            <a:fillRect/>
          </a:stretch>
        </p:blipFill>
        <p:spPr>
          <a:xfrm>
            <a:off x="4957661" y="1768405"/>
            <a:ext cx="5467350" cy="1314450"/>
          </a:xfrm>
          <a:prstGeom prst="rect">
            <a:avLst/>
          </a:prstGeom>
        </p:spPr>
      </p:pic>
      <p:pic>
        <p:nvPicPr>
          <p:cNvPr id="15" name="Рисунок 14">
            <a:extLst>
              <a:ext uri="{FF2B5EF4-FFF2-40B4-BE49-F238E27FC236}">
                <a16:creationId xmlns:a16="http://schemas.microsoft.com/office/drawing/2014/main" id="{1A5C514F-57B4-95AB-031D-9B3EDD2D2116}"/>
              </a:ext>
            </a:extLst>
          </p:cNvPr>
          <p:cNvPicPr>
            <a:picLocks noChangeAspect="1"/>
          </p:cNvPicPr>
          <p:nvPr/>
        </p:nvPicPr>
        <p:blipFill>
          <a:blip r:embed="rId6"/>
          <a:stretch>
            <a:fillRect/>
          </a:stretch>
        </p:blipFill>
        <p:spPr>
          <a:xfrm>
            <a:off x="10359938" y="1883111"/>
            <a:ext cx="1390650" cy="1123950"/>
          </a:xfrm>
          <a:prstGeom prst="rect">
            <a:avLst/>
          </a:prstGeom>
        </p:spPr>
      </p:pic>
      <p:pic>
        <p:nvPicPr>
          <p:cNvPr id="17" name="Рисунок 16">
            <a:extLst>
              <a:ext uri="{FF2B5EF4-FFF2-40B4-BE49-F238E27FC236}">
                <a16:creationId xmlns:a16="http://schemas.microsoft.com/office/drawing/2014/main" id="{9C5A5C2B-2DEF-2613-40E2-2449BAE41C5D}"/>
              </a:ext>
            </a:extLst>
          </p:cNvPr>
          <p:cNvPicPr>
            <a:picLocks noChangeAspect="1"/>
          </p:cNvPicPr>
          <p:nvPr/>
        </p:nvPicPr>
        <p:blipFill>
          <a:blip r:embed="rId7"/>
          <a:stretch>
            <a:fillRect/>
          </a:stretch>
        </p:blipFill>
        <p:spPr>
          <a:xfrm>
            <a:off x="7171338" y="4326018"/>
            <a:ext cx="2162175" cy="1752600"/>
          </a:xfrm>
          <a:prstGeom prst="rect">
            <a:avLst/>
          </a:prstGeom>
        </p:spPr>
      </p:pic>
    </p:spTree>
    <p:extLst>
      <p:ext uri="{BB962C8B-B14F-4D97-AF65-F5344CB8AC3E}">
        <p14:creationId xmlns:p14="http://schemas.microsoft.com/office/powerpoint/2010/main" val="116902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E5F3A-BEFE-9855-4FAE-3CF1BC11DB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16F794-81F1-A4DC-0E85-8B3E9A92E4D6}"/>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74E4BBEA-F8FA-FF8B-EF45-5BEF805180C6}"/>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1758A763-3931-308F-7480-D31F87F8BDEA}"/>
              </a:ext>
            </a:extLst>
          </p:cNvPr>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Множественная регрессия</a:t>
            </a:r>
          </a:p>
        </p:txBody>
      </p:sp>
      <p:sp>
        <p:nvSpPr>
          <p:cNvPr id="10" name="Rectangle 1">
            <a:extLst>
              <a:ext uri="{FF2B5EF4-FFF2-40B4-BE49-F238E27FC236}">
                <a16:creationId xmlns:a16="http://schemas.microsoft.com/office/drawing/2014/main" id="{FA6256AF-F381-B4A5-1B62-8EFC72241677}"/>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8577E526-1124-B7B6-9962-AF9A294DCA8C}"/>
              </a:ext>
            </a:extLst>
          </p:cNvPr>
          <p:cNvSpPr txBox="1"/>
          <p:nvPr/>
        </p:nvSpPr>
        <p:spPr>
          <a:xfrm>
            <a:off x="635670" y="1399073"/>
            <a:ext cx="7616756" cy="369332"/>
          </a:xfrm>
          <a:prstGeom prst="rect">
            <a:avLst/>
          </a:prstGeom>
          <a:noFill/>
        </p:spPr>
        <p:txBody>
          <a:bodyPr wrap="square">
            <a:spAutoFit/>
          </a:bodyPr>
          <a:lstStyle/>
          <a:p>
            <a:r>
              <a:rPr lang="ru-RU" dirty="0">
                <a:latin typeface="Bookman Old Style" panose="02050604050505020204" pitchFamily="18" charset="0"/>
              </a:rPr>
              <a:t>На данных о ценах на жилье в Калифорнии</a:t>
            </a:r>
          </a:p>
        </p:txBody>
      </p:sp>
      <p:pic>
        <p:nvPicPr>
          <p:cNvPr id="17" name="Рисунок 16">
            <a:extLst>
              <a:ext uri="{FF2B5EF4-FFF2-40B4-BE49-F238E27FC236}">
                <a16:creationId xmlns:a16="http://schemas.microsoft.com/office/drawing/2014/main" id="{67E6E249-BC3D-D9EC-ECCA-6FEF420CAEF1}"/>
              </a:ext>
            </a:extLst>
          </p:cNvPr>
          <p:cNvPicPr>
            <a:picLocks noChangeAspect="1"/>
          </p:cNvPicPr>
          <p:nvPr/>
        </p:nvPicPr>
        <p:blipFill>
          <a:blip r:embed="rId4"/>
          <a:stretch>
            <a:fillRect/>
          </a:stretch>
        </p:blipFill>
        <p:spPr>
          <a:xfrm>
            <a:off x="634194" y="2211652"/>
            <a:ext cx="2162175" cy="1752600"/>
          </a:xfrm>
          <a:prstGeom prst="rect">
            <a:avLst/>
          </a:prstGeom>
        </p:spPr>
      </p:pic>
      <p:pic>
        <p:nvPicPr>
          <p:cNvPr id="1026" name="Picture 2">
            <a:extLst>
              <a:ext uri="{FF2B5EF4-FFF2-40B4-BE49-F238E27FC236}">
                <a16:creationId xmlns:a16="http://schemas.microsoft.com/office/drawing/2014/main" id="{89244DF9-E782-DD96-3AD2-195DDC463E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5618" y="1979914"/>
            <a:ext cx="6526753" cy="3885447"/>
          </a:xfrm>
          <a:prstGeom prst="rect">
            <a:avLst/>
          </a:prstGeom>
          <a:noFill/>
          <a:extLst>
            <a:ext uri="{909E8E84-426E-40DD-AFC4-6F175D3DCCD1}">
              <a14:hiddenFill xmlns:a14="http://schemas.microsoft.com/office/drawing/2010/main">
                <a:solidFill>
                  <a:srgbClr val="FFFFFF"/>
                </a:solidFill>
              </a14:hiddenFill>
            </a:ext>
          </a:extLst>
        </p:spPr>
      </p:pic>
      <p:pic>
        <p:nvPicPr>
          <p:cNvPr id="3" name="Рисунок 2">
            <a:extLst>
              <a:ext uri="{FF2B5EF4-FFF2-40B4-BE49-F238E27FC236}">
                <a16:creationId xmlns:a16="http://schemas.microsoft.com/office/drawing/2014/main" id="{50986618-B8C4-53CA-B832-42465BFC136B}"/>
              </a:ext>
            </a:extLst>
          </p:cNvPr>
          <p:cNvPicPr>
            <a:picLocks noChangeAspect="1"/>
          </p:cNvPicPr>
          <p:nvPr/>
        </p:nvPicPr>
        <p:blipFill>
          <a:blip r:embed="rId6"/>
          <a:stretch>
            <a:fillRect/>
          </a:stretch>
        </p:blipFill>
        <p:spPr>
          <a:xfrm>
            <a:off x="3172754" y="6005382"/>
            <a:ext cx="4932091" cy="652329"/>
          </a:xfrm>
          <a:prstGeom prst="rect">
            <a:avLst/>
          </a:prstGeom>
        </p:spPr>
      </p:pic>
    </p:spTree>
    <p:extLst>
      <p:ext uri="{BB962C8B-B14F-4D97-AF65-F5344CB8AC3E}">
        <p14:creationId xmlns:p14="http://schemas.microsoft.com/office/powerpoint/2010/main" val="260458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B5B24-C1D7-5A41-9C73-61622925DC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E437A60-B4D4-1535-D637-CAD801F4BA3B}"/>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D62794CB-A1E3-8EAB-8C07-DDC9CAE2EBCD}"/>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4762012B-FA53-B01C-3E06-73D1A62556E8}"/>
              </a:ext>
            </a:extLst>
          </p:cNvPr>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Ключевые особенности</a:t>
            </a:r>
          </a:p>
        </p:txBody>
      </p:sp>
      <p:sp>
        <p:nvSpPr>
          <p:cNvPr id="10" name="Rectangle 1">
            <a:extLst>
              <a:ext uri="{FF2B5EF4-FFF2-40B4-BE49-F238E27FC236}">
                <a16:creationId xmlns:a16="http://schemas.microsoft.com/office/drawing/2014/main" id="{059A4E36-4C6D-8889-85A4-14F549B95BEF}"/>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CCC44A7E-F454-9155-5E31-307D6B4BE688}"/>
              </a:ext>
            </a:extLst>
          </p:cNvPr>
          <p:cNvSpPr txBox="1"/>
          <p:nvPr/>
        </p:nvSpPr>
        <p:spPr>
          <a:xfrm>
            <a:off x="635670" y="1399073"/>
            <a:ext cx="7616756" cy="461665"/>
          </a:xfrm>
          <a:prstGeom prst="rect">
            <a:avLst/>
          </a:prstGeom>
          <a:noFill/>
        </p:spPr>
        <p:txBody>
          <a:bodyPr wrap="square">
            <a:spAutoFit/>
          </a:bodyPr>
          <a:lstStyle/>
          <a:p>
            <a:r>
              <a:rPr lang="ru-RU" sz="2400" b="1" dirty="0">
                <a:latin typeface="Bookman Old Style" panose="02050604050505020204" pitchFamily="18" charset="0"/>
              </a:rPr>
              <a:t>ЛИНЕЙНАЯ РЕГРЕССИЯ</a:t>
            </a:r>
          </a:p>
        </p:txBody>
      </p:sp>
      <p:sp>
        <p:nvSpPr>
          <p:cNvPr id="2" name="TextBox 1">
            <a:extLst>
              <a:ext uri="{FF2B5EF4-FFF2-40B4-BE49-F238E27FC236}">
                <a16:creationId xmlns:a16="http://schemas.microsoft.com/office/drawing/2014/main" id="{6A480714-5A8D-7BCD-67FE-318DD8833F6D}"/>
              </a:ext>
            </a:extLst>
          </p:cNvPr>
          <p:cNvSpPr txBox="1"/>
          <p:nvPr/>
        </p:nvSpPr>
        <p:spPr>
          <a:xfrm>
            <a:off x="635669" y="2132044"/>
            <a:ext cx="10003301" cy="3785652"/>
          </a:xfrm>
          <a:prstGeom prst="rect">
            <a:avLst/>
          </a:prstGeom>
          <a:noFill/>
        </p:spPr>
        <p:txBody>
          <a:bodyPr wrap="square">
            <a:spAutoFit/>
          </a:bodyPr>
          <a:lstStyle/>
          <a:p>
            <a:r>
              <a:rPr lang="ru-RU" sz="2400" b="1" dirty="0">
                <a:latin typeface="Bookman Old Style" panose="02050604050505020204" pitchFamily="18" charset="0"/>
              </a:rPr>
              <a:t>Суть: </a:t>
            </a:r>
            <a:r>
              <a:rPr lang="ru-RU" sz="2400" dirty="0">
                <a:latin typeface="Bookman Old Style" panose="02050604050505020204" pitchFamily="18" charset="0"/>
              </a:rPr>
              <a:t>Минимизация невязки MSE без каких-либо ограничений на параметры</a:t>
            </a:r>
          </a:p>
          <a:p>
            <a:endParaRPr lang="ru-RU" sz="2400" dirty="0">
              <a:latin typeface="Bookman Old Style" panose="02050604050505020204" pitchFamily="18" charset="0"/>
            </a:endParaRPr>
          </a:p>
          <a:p>
            <a:r>
              <a:rPr lang="ru-RU" sz="2400" b="1" dirty="0">
                <a:latin typeface="Bookman Old Style" panose="02050604050505020204" pitchFamily="18" charset="0"/>
              </a:rPr>
              <a:t>Целевая функция: </a:t>
            </a:r>
            <a:r>
              <a:rPr lang="ru-RU" sz="2400" dirty="0" err="1">
                <a:latin typeface="Bookman Old Style" panose="02050604050505020204" pitchFamily="18" charset="0"/>
              </a:rPr>
              <a:t>min</a:t>
            </a:r>
            <a:r>
              <a:rPr lang="ru-RU" sz="2400" dirty="0">
                <a:latin typeface="Bookman Old Style" panose="02050604050505020204" pitchFamily="18" charset="0"/>
              </a:rPr>
              <a:t>(Σ(yᵢ - ŷᵢ)²)</a:t>
            </a:r>
          </a:p>
          <a:p>
            <a:endParaRPr lang="ru-RU" sz="2400" dirty="0">
              <a:latin typeface="Bookman Old Style" panose="02050604050505020204" pitchFamily="18" charset="0"/>
            </a:endParaRPr>
          </a:p>
          <a:p>
            <a:r>
              <a:rPr lang="ru-RU" sz="2400" b="1" dirty="0">
                <a:latin typeface="Bookman Old Style" panose="02050604050505020204" pitchFamily="18" charset="0"/>
              </a:rPr>
              <a:t>Особенности:</a:t>
            </a:r>
          </a:p>
          <a:p>
            <a:endParaRPr lang="ru-RU" sz="2400" dirty="0">
              <a:latin typeface="Bookman Old Style" panose="02050604050505020204" pitchFamily="18" charset="0"/>
            </a:endParaRPr>
          </a:p>
          <a:p>
            <a:r>
              <a:rPr lang="ru-RU" sz="2400" dirty="0">
                <a:latin typeface="Bookman Old Style" panose="02050604050505020204" pitchFamily="18" charset="0"/>
              </a:rPr>
              <a:t>Аналитическое решение через нормальные уравнения</a:t>
            </a:r>
          </a:p>
          <a:p>
            <a:r>
              <a:rPr lang="ru-RU" sz="2400" dirty="0">
                <a:latin typeface="Bookman Old Style" panose="02050604050505020204" pitchFamily="18" charset="0"/>
              </a:rPr>
              <a:t>Неустойчивость к </a:t>
            </a:r>
            <a:r>
              <a:rPr lang="ru-RU" sz="2400" dirty="0" err="1">
                <a:latin typeface="Bookman Old Style" panose="02050604050505020204" pitchFamily="18" charset="0"/>
              </a:rPr>
              <a:t>мультиколлинеарности</a:t>
            </a:r>
            <a:endParaRPr lang="ru-RU" sz="2400" dirty="0">
              <a:latin typeface="Bookman Old Style" panose="02050604050505020204" pitchFamily="18" charset="0"/>
            </a:endParaRPr>
          </a:p>
          <a:p>
            <a:r>
              <a:rPr lang="ru-RU" sz="2400" dirty="0">
                <a:latin typeface="Bookman Old Style" panose="02050604050505020204" pitchFamily="18" charset="0"/>
              </a:rPr>
              <a:t>Склонность к переобучению при большом числе признаков</a:t>
            </a:r>
          </a:p>
        </p:txBody>
      </p:sp>
    </p:spTree>
    <p:extLst>
      <p:ext uri="{BB962C8B-B14F-4D97-AF65-F5344CB8AC3E}">
        <p14:creationId xmlns:p14="http://schemas.microsoft.com/office/powerpoint/2010/main" val="4083632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Регрессия </a:t>
            </a:r>
            <a:r>
              <a:rPr lang="en-US" sz="4800" dirty="0">
                <a:solidFill>
                  <a:srgbClr val="004AAD"/>
                </a:solidFill>
                <a:latin typeface="Bookman Old Style" panose="02050604050505020204" pitchFamily="18" charset="0"/>
              </a:rPr>
              <a:t>LASSO</a:t>
            </a:r>
            <a:endParaRPr lang="ru-RU" sz="4800" dirty="0">
              <a:solidFill>
                <a:srgbClr val="004AAD"/>
              </a:solidFill>
              <a:latin typeface="Bookman Old Style" panose="02050604050505020204" pitchFamily="18" charset="0"/>
            </a:endParaRP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 name="Рисунок 1"/>
          <p:cNvPicPr>
            <a:picLocks noChangeAspect="1"/>
          </p:cNvPicPr>
          <p:nvPr/>
        </p:nvPicPr>
        <p:blipFill>
          <a:blip r:embed="rId4"/>
          <a:stretch>
            <a:fillRect/>
          </a:stretch>
        </p:blipFill>
        <p:spPr>
          <a:xfrm>
            <a:off x="635670" y="3764978"/>
            <a:ext cx="8378306" cy="1494467"/>
          </a:xfrm>
          <a:prstGeom prst="rect">
            <a:avLst/>
          </a:prstGeom>
        </p:spPr>
      </p:pic>
      <p:sp>
        <p:nvSpPr>
          <p:cNvPr id="3" name="Прямоугольник 2"/>
          <p:cNvSpPr/>
          <p:nvPr/>
        </p:nvSpPr>
        <p:spPr>
          <a:xfrm>
            <a:off x="635670" y="1490179"/>
            <a:ext cx="7864518"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solidFill>
                  <a:schemeClr val="tx1"/>
                </a:solidFill>
                <a:latin typeface="Consolas" panose="020B0609020204030204" pitchFamily="49" charset="0"/>
              </a:rPr>
              <a:t>from </a:t>
            </a:r>
            <a:r>
              <a:rPr lang="en-US" dirty="0" err="1">
                <a:solidFill>
                  <a:schemeClr val="tx1"/>
                </a:solidFill>
                <a:latin typeface="Consolas" panose="020B0609020204030204" pitchFamily="49" charset="0"/>
              </a:rPr>
              <a:t>sklearn.linear_model</a:t>
            </a:r>
            <a:r>
              <a:rPr lang="en-US" dirty="0">
                <a:solidFill>
                  <a:schemeClr val="tx1"/>
                </a:solidFill>
                <a:latin typeface="Consolas" panose="020B0609020204030204" pitchFamily="49" charset="0"/>
              </a:rPr>
              <a:t> import Lasso</a:t>
            </a:r>
            <a:endParaRPr lang="en-US" b="0" dirty="0">
              <a:solidFill>
                <a:schemeClr val="tx1"/>
              </a:solidFill>
              <a:effectLst/>
              <a:latin typeface="Consolas" panose="020B0609020204030204" pitchFamily="49" charset="0"/>
            </a:endParaRPr>
          </a:p>
        </p:txBody>
      </p:sp>
      <p:sp>
        <p:nvSpPr>
          <p:cNvPr id="7" name="Прямоугольник 6"/>
          <p:cNvSpPr/>
          <p:nvPr/>
        </p:nvSpPr>
        <p:spPr>
          <a:xfrm>
            <a:off x="635670" y="2162126"/>
            <a:ext cx="10165486" cy="1200329"/>
          </a:xfrm>
          <a:prstGeom prst="rect">
            <a:avLst/>
          </a:prstGeom>
        </p:spPr>
        <p:txBody>
          <a:bodyPr wrap="square">
            <a:spAutoFit/>
          </a:bodyPr>
          <a:lstStyle/>
          <a:p>
            <a:r>
              <a:rPr lang="ru-RU" b="1" dirty="0">
                <a:latin typeface="Bookman Old Style" panose="02050604050505020204" pitchFamily="18" charset="0"/>
              </a:rPr>
              <a:t>Лассо</a:t>
            </a:r>
            <a:r>
              <a:rPr lang="ru-RU" dirty="0">
                <a:latin typeface="Bookman Old Style" panose="02050604050505020204" pitchFamily="18" charset="0"/>
              </a:rPr>
              <a:t> — это линейная модель, которая оценивает разреженные коэффициенты. Это полезно в некоторых контекстах из-за своей тенденции отдавать предпочтение решениям с меньшим количеством ненулевых коэффициентов, эффективно уменьшая количество функций, от которых зависит данное решение.</a:t>
            </a:r>
          </a:p>
        </p:txBody>
      </p:sp>
    </p:spTree>
    <p:extLst>
      <p:ext uri="{BB962C8B-B14F-4D97-AF65-F5344CB8AC3E}">
        <p14:creationId xmlns:p14="http://schemas.microsoft.com/office/powerpoint/2010/main" val="3680774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Регрессия </a:t>
            </a:r>
            <a:r>
              <a:rPr lang="en-US" sz="4800" dirty="0">
                <a:solidFill>
                  <a:srgbClr val="004AAD"/>
                </a:solidFill>
                <a:latin typeface="Bookman Old Style" panose="02050604050505020204" pitchFamily="18" charset="0"/>
              </a:rPr>
              <a:t>LASSO</a:t>
            </a:r>
            <a:endParaRPr lang="ru-RU" sz="4800" dirty="0">
              <a:solidFill>
                <a:srgbClr val="004AAD"/>
              </a:solidFill>
              <a:latin typeface="Bookman Old Style" panose="02050604050505020204" pitchFamily="18" charset="0"/>
            </a:endParaRP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9" name="Прямоугольник 8"/>
          <p:cNvSpPr/>
          <p:nvPr/>
        </p:nvSpPr>
        <p:spPr>
          <a:xfrm>
            <a:off x="635669" y="1399073"/>
            <a:ext cx="11361193" cy="369332"/>
          </a:xfrm>
          <a:prstGeom prst="rect">
            <a:avLst/>
          </a:prstGeom>
        </p:spPr>
        <p:txBody>
          <a:bodyPr wrap="square">
            <a:spAutoFit/>
          </a:bodyPr>
          <a:lstStyle/>
          <a:p>
            <a:r>
              <a:rPr lang="ru-RU" dirty="0">
                <a:latin typeface="Bookman Old Style" panose="02050604050505020204" pitchFamily="18" charset="0"/>
              </a:rPr>
              <a:t>Параметр </a:t>
            </a:r>
            <a:r>
              <a:rPr lang="ru-RU" i="1" dirty="0" err="1">
                <a:latin typeface="Bookman Old Style" panose="02050604050505020204" pitchFamily="18" charset="0"/>
              </a:rPr>
              <a:t>alpha</a:t>
            </a:r>
            <a:r>
              <a:rPr lang="ru-RU" dirty="0">
                <a:latin typeface="Bookman Old Style" panose="02050604050505020204" pitchFamily="18" charset="0"/>
              </a:rPr>
              <a:t> контролирует степень потенциальности предполагаемых коэффициентов. </a:t>
            </a:r>
          </a:p>
        </p:txBody>
      </p:sp>
      <p:pic>
        <p:nvPicPr>
          <p:cNvPr id="11" name="Рисунок 10"/>
          <p:cNvPicPr>
            <a:picLocks noChangeAspect="1"/>
          </p:cNvPicPr>
          <p:nvPr/>
        </p:nvPicPr>
        <p:blipFill>
          <a:blip r:embed="rId4"/>
          <a:stretch>
            <a:fillRect/>
          </a:stretch>
        </p:blipFill>
        <p:spPr>
          <a:xfrm>
            <a:off x="635670" y="1874221"/>
            <a:ext cx="8898294" cy="4541838"/>
          </a:xfrm>
          <a:prstGeom prst="rect">
            <a:avLst/>
          </a:prstGeom>
        </p:spPr>
      </p:pic>
    </p:spTree>
    <p:extLst>
      <p:ext uri="{BB962C8B-B14F-4D97-AF65-F5344CB8AC3E}">
        <p14:creationId xmlns:p14="http://schemas.microsoft.com/office/powerpoint/2010/main" val="543471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2EAC3-D415-B89A-05D8-A291A3E62A8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A0C03CB-7948-2861-4DE1-A35C95C8E8E7}"/>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9B6FA77E-BEF4-EEA5-02DF-58A305E1970F}"/>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9DCF5EC9-0042-2832-2AE0-8F042C18AA0E}"/>
              </a:ext>
            </a:extLst>
          </p:cNvPr>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Ключевые особенности</a:t>
            </a:r>
          </a:p>
        </p:txBody>
      </p:sp>
      <p:sp>
        <p:nvSpPr>
          <p:cNvPr id="10" name="Rectangle 1">
            <a:extLst>
              <a:ext uri="{FF2B5EF4-FFF2-40B4-BE49-F238E27FC236}">
                <a16:creationId xmlns:a16="http://schemas.microsoft.com/office/drawing/2014/main" id="{969C9228-3773-1AF2-D9E3-30D44324F9B8}"/>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8A55D792-EF90-D0BA-9899-2E0F1456AB37}"/>
              </a:ext>
            </a:extLst>
          </p:cNvPr>
          <p:cNvSpPr txBox="1"/>
          <p:nvPr/>
        </p:nvSpPr>
        <p:spPr>
          <a:xfrm>
            <a:off x="635670" y="1399073"/>
            <a:ext cx="7616756" cy="461665"/>
          </a:xfrm>
          <a:prstGeom prst="rect">
            <a:avLst/>
          </a:prstGeom>
          <a:noFill/>
        </p:spPr>
        <p:txBody>
          <a:bodyPr wrap="square">
            <a:spAutoFit/>
          </a:bodyPr>
          <a:lstStyle/>
          <a:p>
            <a:r>
              <a:rPr lang="en-US" sz="2400" b="1" dirty="0">
                <a:latin typeface="Bookman Old Style" panose="02050604050505020204" pitchFamily="18" charset="0"/>
              </a:rPr>
              <a:t>LASSO</a:t>
            </a:r>
            <a:endParaRPr lang="ru-RU" sz="2400" b="1" dirty="0">
              <a:latin typeface="Bookman Old Style" panose="02050604050505020204" pitchFamily="18" charset="0"/>
            </a:endParaRPr>
          </a:p>
        </p:txBody>
      </p:sp>
      <p:sp>
        <p:nvSpPr>
          <p:cNvPr id="2" name="TextBox 1">
            <a:extLst>
              <a:ext uri="{FF2B5EF4-FFF2-40B4-BE49-F238E27FC236}">
                <a16:creationId xmlns:a16="http://schemas.microsoft.com/office/drawing/2014/main" id="{D386F2B2-CF58-0496-D8F2-1F3FF9FD0006}"/>
              </a:ext>
            </a:extLst>
          </p:cNvPr>
          <p:cNvSpPr txBox="1"/>
          <p:nvPr/>
        </p:nvSpPr>
        <p:spPr>
          <a:xfrm>
            <a:off x="635669" y="2132044"/>
            <a:ext cx="10003301" cy="1569660"/>
          </a:xfrm>
          <a:prstGeom prst="rect">
            <a:avLst/>
          </a:prstGeom>
          <a:noFill/>
        </p:spPr>
        <p:txBody>
          <a:bodyPr wrap="square">
            <a:spAutoFit/>
          </a:bodyPr>
          <a:lstStyle/>
          <a:p>
            <a:r>
              <a:rPr lang="ru-RU" sz="2400" b="1" dirty="0">
                <a:latin typeface="Bookman Old Style" panose="02050604050505020204" pitchFamily="18" charset="0"/>
              </a:rPr>
              <a:t>Суть: </a:t>
            </a:r>
            <a:r>
              <a:rPr lang="ru-RU" sz="2400" dirty="0">
                <a:latin typeface="Bookman Old Style" panose="02050604050505020204" pitchFamily="18" charset="0"/>
              </a:rPr>
              <a:t>линейная регрессия с L1-нормой коэффициентов</a:t>
            </a:r>
            <a:endParaRPr lang="en-US" sz="2400" dirty="0">
              <a:latin typeface="Bookman Old Style" panose="02050604050505020204" pitchFamily="18" charset="0"/>
            </a:endParaRPr>
          </a:p>
          <a:p>
            <a:endParaRPr lang="en-US" sz="2400" b="1" dirty="0">
              <a:latin typeface="Bookman Old Style" panose="02050604050505020204" pitchFamily="18" charset="0"/>
            </a:endParaRPr>
          </a:p>
          <a:p>
            <a:r>
              <a:rPr lang="ru-RU" sz="2400" b="1" dirty="0">
                <a:latin typeface="Bookman Old Style" panose="02050604050505020204" pitchFamily="18" charset="0"/>
              </a:rPr>
              <a:t>Ключевое свойство: </a:t>
            </a:r>
            <a:r>
              <a:rPr lang="ru-RU" sz="2400" dirty="0">
                <a:latin typeface="Bookman Old Style" panose="02050604050505020204" pitchFamily="18" charset="0"/>
              </a:rPr>
              <a:t>Обнуление коэффициентов нерелевантных признаков</a:t>
            </a:r>
          </a:p>
        </p:txBody>
      </p:sp>
    </p:spTree>
    <p:extLst>
      <p:ext uri="{BB962C8B-B14F-4D97-AF65-F5344CB8AC3E}">
        <p14:creationId xmlns:p14="http://schemas.microsoft.com/office/powerpoint/2010/main" val="2925252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Регрессия </a:t>
            </a:r>
            <a:r>
              <a:rPr lang="en-US" sz="4800" dirty="0">
                <a:solidFill>
                  <a:srgbClr val="004AAD"/>
                </a:solidFill>
                <a:latin typeface="Bookman Old Style" panose="02050604050505020204" pitchFamily="18" charset="0"/>
              </a:rPr>
              <a:t>LARS</a:t>
            </a:r>
            <a:endParaRPr lang="ru-RU" sz="4800" dirty="0">
              <a:solidFill>
                <a:srgbClr val="004AAD"/>
              </a:solidFill>
              <a:latin typeface="Bookman Old Style" panose="02050604050505020204" pitchFamily="18" charset="0"/>
            </a:endParaRP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 name="Прямоугольник 1"/>
          <p:cNvSpPr/>
          <p:nvPr/>
        </p:nvSpPr>
        <p:spPr>
          <a:xfrm>
            <a:off x="635670" y="2223347"/>
            <a:ext cx="9665326" cy="1754326"/>
          </a:xfrm>
          <a:prstGeom prst="rect">
            <a:avLst/>
          </a:prstGeom>
        </p:spPr>
        <p:txBody>
          <a:bodyPr wrap="square">
            <a:spAutoFit/>
          </a:bodyPr>
          <a:lstStyle/>
          <a:p>
            <a:r>
              <a:rPr lang="ru-RU" dirty="0">
                <a:latin typeface="Bookman Old Style" panose="02050604050505020204" pitchFamily="18" charset="0"/>
              </a:rPr>
              <a:t>Регрессия наименьшего угла (</a:t>
            </a:r>
            <a:r>
              <a:rPr lang="ru-RU" b="1" dirty="0">
                <a:latin typeface="Bookman Old Style" panose="02050604050505020204" pitchFamily="18" charset="0"/>
              </a:rPr>
              <a:t>LARS</a:t>
            </a:r>
            <a:r>
              <a:rPr lang="ru-RU" dirty="0">
                <a:latin typeface="Bookman Old Style" panose="02050604050505020204" pitchFamily="18" charset="0"/>
              </a:rPr>
              <a:t>) — это алгоритм регрессии для многомерных данных. LARS похож на пошаговую регрессию вперед. На каждом этапе он находит функцию, наиболее коррелирующую с целью. Когда есть несколько объектов, имеющих одинаковую корреляцию, вместо того, чтобы продолжать движение по одному и тому же объекту, он движется в одинаковом направлении между объектами.</a:t>
            </a:r>
          </a:p>
        </p:txBody>
      </p:sp>
      <p:sp>
        <p:nvSpPr>
          <p:cNvPr id="7" name="Прямоугольник 6"/>
          <p:cNvSpPr/>
          <p:nvPr/>
        </p:nvSpPr>
        <p:spPr>
          <a:xfrm>
            <a:off x="635670" y="1490179"/>
            <a:ext cx="7864518"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solidFill>
                  <a:schemeClr val="tx1"/>
                </a:solidFill>
                <a:latin typeface="Consolas" panose="020B0609020204030204" pitchFamily="49" charset="0"/>
              </a:rPr>
              <a:t>from </a:t>
            </a:r>
            <a:r>
              <a:rPr lang="en-US" dirty="0" err="1">
                <a:solidFill>
                  <a:schemeClr val="tx1"/>
                </a:solidFill>
                <a:latin typeface="Consolas" panose="020B0609020204030204" pitchFamily="49" charset="0"/>
              </a:rPr>
              <a:t>sklearn.linear_model</a:t>
            </a:r>
            <a:r>
              <a:rPr lang="en-US" dirty="0">
                <a:solidFill>
                  <a:schemeClr val="tx1"/>
                </a:solidFill>
                <a:latin typeface="Consolas" panose="020B0609020204030204" pitchFamily="49" charset="0"/>
              </a:rPr>
              <a:t> import </a:t>
            </a:r>
            <a:r>
              <a:rPr lang="en-US" dirty="0">
                <a:latin typeface="Bookman Old Style" panose="02050604050505020204" pitchFamily="18" charset="0"/>
              </a:rPr>
              <a:t>Lars</a:t>
            </a:r>
            <a:endParaRPr lang="en-US" b="0" dirty="0">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2123662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D249B-FD06-29F9-192B-8E008EC09C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34B4CF2-E44F-58BA-033A-F5B31373408E}"/>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886B6E1C-4E5D-B34A-6520-B8C86EDAF132}"/>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E7585EDB-93E3-F6DA-5066-0C680E6B6089}"/>
              </a:ext>
            </a:extLst>
          </p:cNvPr>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Ключевые особенности</a:t>
            </a:r>
          </a:p>
        </p:txBody>
      </p:sp>
      <p:sp>
        <p:nvSpPr>
          <p:cNvPr id="10" name="Rectangle 1">
            <a:extLst>
              <a:ext uri="{FF2B5EF4-FFF2-40B4-BE49-F238E27FC236}">
                <a16:creationId xmlns:a16="http://schemas.microsoft.com/office/drawing/2014/main" id="{D20260A3-547B-7641-49EA-55617B276216}"/>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C9CF3694-9460-8DCC-6C03-9FA68BD501A9}"/>
              </a:ext>
            </a:extLst>
          </p:cNvPr>
          <p:cNvSpPr txBox="1"/>
          <p:nvPr/>
        </p:nvSpPr>
        <p:spPr>
          <a:xfrm>
            <a:off x="635670" y="1399073"/>
            <a:ext cx="7616756" cy="461665"/>
          </a:xfrm>
          <a:prstGeom prst="rect">
            <a:avLst/>
          </a:prstGeom>
          <a:noFill/>
        </p:spPr>
        <p:txBody>
          <a:bodyPr wrap="square">
            <a:spAutoFit/>
          </a:bodyPr>
          <a:lstStyle/>
          <a:p>
            <a:r>
              <a:rPr lang="en-US" sz="2400" b="1" dirty="0">
                <a:latin typeface="Bookman Old Style" panose="02050604050505020204" pitchFamily="18" charset="0"/>
              </a:rPr>
              <a:t>LARS</a:t>
            </a:r>
            <a:endParaRPr lang="ru-RU" sz="2400" b="1" dirty="0">
              <a:latin typeface="Bookman Old Style" panose="02050604050505020204" pitchFamily="18" charset="0"/>
            </a:endParaRPr>
          </a:p>
        </p:txBody>
      </p:sp>
      <p:sp>
        <p:nvSpPr>
          <p:cNvPr id="2" name="TextBox 1">
            <a:extLst>
              <a:ext uri="{FF2B5EF4-FFF2-40B4-BE49-F238E27FC236}">
                <a16:creationId xmlns:a16="http://schemas.microsoft.com/office/drawing/2014/main" id="{877C7F6A-49AE-094E-1847-1C1CC231C0B2}"/>
              </a:ext>
            </a:extLst>
          </p:cNvPr>
          <p:cNvSpPr txBox="1"/>
          <p:nvPr/>
        </p:nvSpPr>
        <p:spPr>
          <a:xfrm>
            <a:off x="635669" y="2132044"/>
            <a:ext cx="10003301" cy="3785652"/>
          </a:xfrm>
          <a:prstGeom prst="rect">
            <a:avLst/>
          </a:prstGeom>
          <a:noFill/>
        </p:spPr>
        <p:txBody>
          <a:bodyPr wrap="square">
            <a:spAutoFit/>
          </a:bodyPr>
          <a:lstStyle/>
          <a:p>
            <a:r>
              <a:rPr lang="ru-RU" sz="2400" b="1" dirty="0">
                <a:latin typeface="Bookman Old Style" panose="02050604050505020204" pitchFamily="18" charset="0"/>
              </a:rPr>
              <a:t>Алгоритм:</a:t>
            </a:r>
          </a:p>
          <a:p>
            <a:endParaRPr lang="ru-RU" sz="2400" b="1" dirty="0">
              <a:latin typeface="Bookman Old Style" panose="02050604050505020204" pitchFamily="18" charset="0"/>
            </a:endParaRPr>
          </a:p>
          <a:p>
            <a:r>
              <a:rPr lang="ru-RU" sz="2400" dirty="0">
                <a:latin typeface="Bookman Old Style" panose="02050604050505020204" pitchFamily="18" charset="0"/>
              </a:rPr>
              <a:t>Начинается с нулевого коэффициента</a:t>
            </a:r>
          </a:p>
          <a:p>
            <a:r>
              <a:rPr lang="ru-RU" sz="2400" dirty="0">
                <a:latin typeface="Bookman Old Style" panose="02050604050505020204" pitchFamily="18" charset="0"/>
              </a:rPr>
              <a:t>На каждом шаге добавляет признак, наиболее коррелированный с остатками</a:t>
            </a:r>
            <a:endParaRPr lang="en-US" sz="2400" dirty="0">
              <a:latin typeface="Bookman Old Style" panose="02050604050505020204" pitchFamily="18" charset="0"/>
            </a:endParaRPr>
          </a:p>
          <a:p>
            <a:endParaRPr lang="en-US" sz="2400" dirty="0">
              <a:latin typeface="Bookman Old Style" panose="02050604050505020204" pitchFamily="18" charset="0"/>
            </a:endParaRPr>
          </a:p>
          <a:p>
            <a:r>
              <a:rPr lang="ru-RU" sz="2400" b="1" dirty="0">
                <a:latin typeface="Bookman Old Style" panose="02050604050505020204" pitchFamily="18" charset="0"/>
              </a:rPr>
              <a:t>Преимущества:</a:t>
            </a:r>
          </a:p>
          <a:p>
            <a:endParaRPr lang="ru-RU" sz="2400" dirty="0">
              <a:latin typeface="Bookman Old Style" panose="02050604050505020204" pitchFamily="18" charset="0"/>
            </a:endParaRPr>
          </a:p>
          <a:p>
            <a:r>
              <a:rPr lang="ru-RU" sz="2400" dirty="0">
                <a:latin typeface="Bookman Old Style" panose="02050604050505020204" pitchFamily="18" charset="0"/>
              </a:rPr>
              <a:t>Вычислительная эффективность для высоких размерностей</a:t>
            </a:r>
          </a:p>
          <a:p>
            <a:r>
              <a:rPr lang="ru-RU" sz="2400" dirty="0">
                <a:latin typeface="Bookman Old Style" panose="02050604050505020204" pitchFamily="18" charset="0"/>
              </a:rPr>
              <a:t>Естественная ранжировка признаков по важности</a:t>
            </a:r>
          </a:p>
        </p:txBody>
      </p:sp>
    </p:spTree>
    <p:extLst>
      <p:ext uri="{BB962C8B-B14F-4D97-AF65-F5344CB8AC3E}">
        <p14:creationId xmlns:p14="http://schemas.microsoft.com/office/powerpoint/2010/main" val="1904234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Регрессия </a:t>
            </a:r>
            <a:r>
              <a:rPr lang="en-US" sz="4800" dirty="0" err="1">
                <a:solidFill>
                  <a:srgbClr val="004AAD"/>
                </a:solidFill>
                <a:latin typeface="Bookman Old Style" panose="02050604050505020204" pitchFamily="18" charset="0"/>
              </a:rPr>
              <a:t>ElasticNet</a:t>
            </a:r>
            <a:endParaRPr lang="ru-RU" sz="4800" dirty="0">
              <a:solidFill>
                <a:srgbClr val="004AAD"/>
              </a:solidFill>
              <a:latin typeface="Bookman Old Style" panose="02050604050505020204" pitchFamily="18" charset="0"/>
            </a:endParaRP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 name="Рисунок 1"/>
          <p:cNvPicPr>
            <a:picLocks noChangeAspect="1"/>
          </p:cNvPicPr>
          <p:nvPr/>
        </p:nvPicPr>
        <p:blipFill>
          <a:blip r:embed="rId4"/>
          <a:stretch>
            <a:fillRect/>
          </a:stretch>
        </p:blipFill>
        <p:spPr>
          <a:xfrm>
            <a:off x="418117" y="1733476"/>
            <a:ext cx="9180739" cy="5042392"/>
          </a:xfrm>
          <a:prstGeom prst="rect">
            <a:avLst/>
          </a:prstGeom>
        </p:spPr>
      </p:pic>
      <p:sp>
        <p:nvSpPr>
          <p:cNvPr id="3" name="Прямоугольник 2"/>
          <p:cNvSpPr/>
          <p:nvPr/>
        </p:nvSpPr>
        <p:spPr>
          <a:xfrm>
            <a:off x="9736128" y="1932886"/>
            <a:ext cx="1754130" cy="3416320"/>
          </a:xfrm>
          <a:prstGeom prst="rect">
            <a:avLst/>
          </a:prstGeom>
        </p:spPr>
        <p:txBody>
          <a:bodyPr wrap="square">
            <a:spAutoFit/>
          </a:bodyPr>
          <a:lstStyle/>
          <a:p>
            <a:r>
              <a:rPr lang="ru-RU" dirty="0">
                <a:solidFill>
                  <a:schemeClr val="bg1">
                    <a:lumMod val="65000"/>
                  </a:schemeClr>
                </a:solidFill>
                <a:latin typeface="Times New Roman" panose="02020603050405020304" pitchFamily="18" charset="0"/>
                <a:cs typeface="Times New Roman" panose="02020603050405020304" pitchFamily="18" charset="0"/>
              </a:rPr>
              <a:t>Более устойчива к переобучению, чем обычная линейная регрессия.</a:t>
            </a:r>
            <a:endParaRPr lang="en-US" dirty="0">
              <a:solidFill>
                <a:schemeClr val="bg1">
                  <a:lumMod val="65000"/>
                </a:schemeClr>
              </a:solidFill>
              <a:latin typeface="Times New Roman" panose="02020603050405020304" pitchFamily="18" charset="0"/>
              <a:cs typeface="Times New Roman" panose="02020603050405020304" pitchFamily="18" charset="0"/>
            </a:endParaRPr>
          </a:p>
          <a:p>
            <a:endParaRPr lang="ru-RU" dirty="0">
              <a:solidFill>
                <a:schemeClr val="bg1">
                  <a:lumMod val="65000"/>
                </a:schemeClr>
              </a:solidFill>
              <a:latin typeface="Times New Roman" panose="02020603050405020304" pitchFamily="18" charset="0"/>
              <a:cs typeface="Times New Roman" panose="02020603050405020304" pitchFamily="18" charset="0"/>
            </a:endParaRPr>
          </a:p>
          <a:p>
            <a:r>
              <a:rPr lang="ru-RU" dirty="0">
                <a:solidFill>
                  <a:schemeClr val="bg1">
                    <a:lumMod val="65000"/>
                  </a:schemeClr>
                </a:solidFill>
                <a:latin typeface="Times New Roman" panose="02020603050405020304" pitchFamily="18" charset="0"/>
                <a:cs typeface="Times New Roman" panose="02020603050405020304" pitchFamily="18" charset="0"/>
              </a:rPr>
              <a:t>Может автоматически отбирать важные предикторы.</a:t>
            </a:r>
          </a:p>
        </p:txBody>
      </p:sp>
    </p:spTree>
    <p:extLst>
      <p:ext uri="{BB962C8B-B14F-4D97-AF65-F5344CB8AC3E}">
        <p14:creationId xmlns:p14="http://schemas.microsoft.com/office/powerpoint/2010/main" val="1350311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Регрессия </a:t>
            </a:r>
            <a:r>
              <a:rPr lang="en-US" sz="4800" dirty="0" err="1">
                <a:solidFill>
                  <a:srgbClr val="004AAD"/>
                </a:solidFill>
                <a:latin typeface="Bookman Old Style" panose="02050604050505020204" pitchFamily="18" charset="0"/>
              </a:rPr>
              <a:t>ElasticNet</a:t>
            </a:r>
            <a:endParaRPr lang="ru-RU" sz="4800" dirty="0">
              <a:solidFill>
                <a:srgbClr val="004AAD"/>
              </a:solidFill>
              <a:latin typeface="Bookman Old Style" panose="02050604050505020204" pitchFamily="18" charset="0"/>
            </a:endParaRPr>
          </a:p>
        </p:txBody>
      </p:sp>
      <p:sp>
        <p:nvSpPr>
          <p:cNvPr id="10" name="Rectangle 1"/>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 name="Прямоугольник 1"/>
          <p:cNvSpPr/>
          <p:nvPr/>
        </p:nvSpPr>
        <p:spPr>
          <a:xfrm>
            <a:off x="518843" y="1550227"/>
            <a:ext cx="9968204" cy="646331"/>
          </a:xfrm>
          <a:prstGeom prst="rect">
            <a:avLst/>
          </a:prstGeom>
        </p:spPr>
        <p:txBody>
          <a:bodyPr wrap="square">
            <a:spAutoFit/>
          </a:bodyPr>
          <a:lstStyle/>
          <a:p>
            <a:r>
              <a:rPr lang="ru-RU" dirty="0">
                <a:latin typeface="Bookman Old Style" panose="02050604050505020204" pitchFamily="18" charset="0"/>
              </a:rPr>
              <a:t>Метод </a:t>
            </a:r>
            <a:r>
              <a:rPr lang="ru-RU" b="1" dirty="0" err="1">
                <a:latin typeface="Bookman Old Style" panose="02050604050505020204" pitchFamily="18" charset="0"/>
              </a:rPr>
              <a:t>ElasticNetCV</a:t>
            </a:r>
            <a:r>
              <a:rPr lang="ru-RU" dirty="0">
                <a:latin typeface="Bookman Old Style" panose="02050604050505020204" pitchFamily="18" charset="0"/>
              </a:rPr>
              <a:t> можно использовать для установки параметров </a:t>
            </a:r>
            <a:r>
              <a:rPr lang="ru-RU" i="1" dirty="0" err="1">
                <a:latin typeface="Bookman Old Style" panose="02050604050505020204" pitchFamily="18" charset="0"/>
              </a:rPr>
              <a:t>alpha</a:t>
            </a:r>
            <a:r>
              <a:rPr lang="ru-RU" dirty="0">
                <a:latin typeface="Bookman Old Style" panose="02050604050505020204" pitchFamily="18" charset="0"/>
              </a:rPr>
              <a:t> и </a:t>
            </a:r>
            <a:r>
              <a:rPr lang="ru-RU" i="1" dirty="0">
                <a:latin typeface="Bookman Old Style" panose="02050604050505020204" pitchFamily="18" charset="0"/>
              </a:rPr>
              <a:t>l1_ratio</a:t>
            </a:r>
            <a:r>
              <a:rPr lang="ru-RU" dirty="0">
                <a:latin typeface="Bookman Old Style" panose="02050604050505020204" pitchFamily="18" charset="0"/>
              </a:rPr>
              <a:t> путем перекрестной проверки.</a:t>
            </a:r>
          </a:p>
        </p:txBody>
      </p:sp>
      <p:pic>
        <p:nvPicPr>
          <p:cNvPr id="3" name="Рисунок 2"/>
          <p:cNvPicPr>
            <a:picLocks noChangeAspect="1"/>
          </p:cNvPicPr>
          <p:nvPr/>
        </p:nvPicPr>
        <p:blipFill>
          <a:blip r:embed="rId4"/>
          <a:stretch>
            <a:fillRect/>
          </a:stretch>
        </p:blipFill>
        <p:spPr>
          <a:xfrm>
            <a:off x="635670" y="2559222"/>
            <a:ext cx="9734550" cy="1695450"/>
          </a:xfrm>
          <a:prstGeom prst="rect">
            <a:avLst/>
          </a:prstGeom>
        </p:spPr>
      </p:pic>
    </p:spTree>
    <p:extLst>
      <p:ext uri="{BB962C8B-B14F-4D97-AF65-F5344CB8AC3E}">
        <p14:creationId xmlns:p14="http://schemas.microsoft.com/office/powerpoint/2010/main" val="3829347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C2BD1-8C6F-F3D3-0F14-3391BAF57C5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2229B32-305B-4075-6213-660F8306E054}"/>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51F234A4-A79B-58D6-9C7D-43EB8478EF42}"/>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089D11FB-BEA9-DB38-E6E8-4981A3FBCE8A}"/>
              </a:ext>
            </a:extLst>
          </p:cNvPr>
          <p:cNvSpPr txBox="1"/>
          <p:nvPr/>
        </p:nvSpPr>
        <p:spPr>
          <a:xfrm>
            <a:off x="635670" y="448900"/>
            <a:ext cx="11556329" cy="738664"/>
          </a:xfrm>
          <a:prstGeom prst="rect">
            <a:avLst/>
          </a:prstGeom>
        </p:spPr>
        <p:txBody>
          <a:bodyPr wrap="square" lIns="0" tIns="0" rIns="0" bIns="0" rtlCol="0" anchor="t">
            <a:spAutoFit/>
          </a:bodyPr>
          <a:lstStyle/>
          <a:p>
            <a:r>
              <a:rPr lang="ru-RU" sz="4800" dirty="0">
                <a:solidFill>
                  <a:srgbClr val="004AAD"/>
                </a:solidFill>
                <a:latin typeface="Bookman Old Style" panose="02050604050505020204" pitchFamily="18" charset="0"/>
              </a:rPr>
              <a:t>Ключевые особенности</a:t>
            </a:r>
          </a:p>
        </p:txBody>
      </p:sp>
      <p:sp>
        <p:nvSpPr>
          <p:cNvPr id="10" name="Rectangle 1">
            <a:extLst>
              <a:ext uri="{FF2B5EF4-FFF2-40B4-BE49-F238E27FC236}">
                <a16:creationId xmlns:a16="http://schemas.microsoft.com/office/drawing/2014/main" id="{7D77A60B-A4E8-ABFD-CC18-70E58E09F145}"/>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80E33F80-4388-1248-75C4-E0CE0507293A}"/>
              </a:ext>
            </a:extLst>
          </p:cNvPr>
          <p:cNvSpPr txBox="1"/>
          <p:nvPr/>
        </p:nvSpPr>
        <p:spPr>
          <a:xfrm>
            <a:off x="635670" y="1399073"/>
            <a:ext cx="7616756" cy="461665"/>
          </a:xfrm>
          <a:prstGeom prst="rect">
            <a:avLst/>
          </a:prstGeom>
          <a:noFill/>
        </p:spPr>
        <p:txBody>
          <a:bodyPr wrap="square">
            <a:spAutoFit/>
          </a:bodyPr>
          <a:lstStyle/>
          <a:p>
            <a:r>
              <a:rPr lang="en-US" sz="2400" b="1" dirty="0" err="1">
                <a:latin typeface="Bookman Old Style" panose="02050604050505020204" pitchFamily="18" charset="0"/>
              </a:rPr>
              <a:t>ElasticNet</a:t>
            </a:r>
            <a:endParaRPr lang="ru-RU" sz="2400" b="1" dirty="0">
              <a:latin typeface="Bookman Old Style" panose="02050604050505020204" pitchFamily="18" charset="0"/>
            </a:endParaRPr>
          </a:p>
        </p:txBody>
      </p:sp>
      <p:sp>
        <p:nvSpPr>
          <p:cNvPr id="2" name="TextBox 1">
            <a:extLst>
              <a:ext uri="{FF2B5EF4-FFF2-40B4-BE49-F238E27FC236}">
                <a16:creationId xmlns:a16="http://schemas.microsoft.com/office/drawing/2014/main" id="{4F4DEEFF-1EA5-C687-7DBC-E6099FE88798}"/>
              </a:ext>
            </a:extLst>
          </p:cNvPr>
          <p:cNvSpPr txBox="1"/>
          <p:nvPr/>
        </p:nvSpPr>
        <p:spPr>
          <a:xfrm>
            <a:off x="635669" y="2132044"/>
            <a:ext cx="10003301" cy="2677656"/>
          </a:xfrm>
          <a:prstGeom prst="rect">
            <a:avLst/>
          </a:prstGeom>
          <a:noFill/>
        </p:spPr>
        <p:txBody>
          <a:bodyPr wrap="square">
            <a:spAutoFit/>
          </a:bodyPr>
          <a:lstStyle/>
          <a:p>
            <a:r>
              <a:rPr lang="ru-RU" sz="2400" b="1" dirty="0">
                <a:latin typeface="Bookman Old Style" panose="02050604050505020204" pitchFamily="18" charset="0"/>
              </a:rPr>
              <a:t>Суть: </a:t>
            </a:r>
            <a:r>
              <a:rPr lang="ru-RU" sz="2400" dirty="0">
                <a:latin typeface="Bookman Old Style" panose="02050604050505020204" pitchFamily="18" charset="0"/>
              </a:rPr>
              <a:t>Комбинация </a:t>
            </a:r>
            <a:r>
              <a:rPr lang="ru-RU" sz="2400" dirty="0" err="1">
                <a:latin typeface="Bookman Old Style" panose="02050604050505020204" pitchFamily="18" charset="0"/>
              </a:rPr>
              <a:t>Lasso</a:t>
            </a:r>
            <a:r>
              <a:rPr lang="ru-RU" sz="2400" dirty="0">
                <a:latin typeface="Bookman Old Style" panose="02050604050505020204" pitchFamily="18" charset="0"/>
              </a:rPr>
              <a:t> и </a:t>
            </a:r>
            <a:r>
              <a:rPr lang="ru-RU" sz="2400" dirty="0" err="1">
                <a:latin typeface="Bookman Old Style" panose="02050604050505020204" pitchFamily="18" charset="0"/>
              </a:rPr>
              <a:t>Ridge</a:t>
            </a:r>
            <a:r>
              <a:rPr lang="ru-RU" sz="2400" dirty="0">
                <a:latin typeface="Bookman Old Style" panose="02050604050505020204" pitchFamily="18" charset="0"/>
              </a:rPr>
              <a:t> регуляризации</a:t>
            </a:r>
          </a:p>
          <a:p>
            <a:endParaRPr lang="ru-RU" sz="2400" b="1" dirty="0">
              <a:latin typeface="Bookman Old Style" panose="02050604050505020204" pitchFamily="18" charset="0"/>
            </a:endParaRPr>
          </a:p>
          <a:p>
            <a:r>
              <a:rPr lang="ru-RU" sz="2400" b="1" dirty="0">
                <a:latin typeface="Bookman Old Style" panose="02050604050505020204" pitchFamily="18" charset="0"/>
              </a:rPr>
              <a:t>Преимущества:</a:t>
            </a:r>
          </a:p>
          <a:p>
            <a:endParaRPr lang="ru-RU" sz="2400" b="1" dirty="0">
              <a:latin typeface="Bookman Old Style" panose="02050604050505020204" pitchFamily="18" charset="0"/>
            </a:endParaRPr>
          </a:p>
          <a:p>
            <a:r>
              <a:rPr lang="ru-RU" sz="2400" dirty="0">
                <a:latin typeface="Bookman Old Style" panose="02050604050505020204" pitchFamily="18" charset="0"/>
              </a:rPr>
              <a:t>Стабильность при сильной линейной зависимости между независимыми переменными</a:t>
            </a:r>
          </a:p>
          <a:p>
            <a:r>
              <a:rPr lang="ru-RU" sz="2400" dirty="0">
                <a:latin typeface="Bookman Old Style" panose="02050604050505020204" pitchFamily="18" charset="0"/>
              </a:rPr>
              <a:t>Отбор признаков как в </a:t>
            </a:r>
            <a:r>
              <a:rPr lang="ru-RU" sz="2400" dirty="0" err="1">
                <a:latin typeface="Bookman Old Style" panose="02050604050505020204" pitchFamily="18" charset="0"/>
              </a:rPr>
              <a:t>Lasso</a:t>
            </a:r>
            <a:endParaRPr lang="ru-RU" sz="2400" dirty="0">
              <a:latin typeface="Bookman Old Style" panose="02050604050505020204" pitchFamily="18" charset="0"/>
            </a:endParaRPr>
          </a:p>
        </p:txBody>
      </p:sp>
    </p:spTree>
    <p:extLst>
      <p:ext uri="{BB962C8B-B14F-4D97-AF65-F5344CB8AC3E}">
        <p14:creationId xmlns:p14="http://schemas.microsoft.com/office/powerpoint/2010/main" val="2224349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E8F5C-2028-9BB2-8D82-448CC93FDA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5DDD37-5018-F7B5-1640-DF0BE2865B9C}"/>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46ACB91C-9C4D-68C9-0BAE-6E39DC1A2A16}"/>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B714E99E-47A2-8FD1-ED1B-8CAE1F6AA25A}"/>
              </a:ext>
            </a:extLst>
          </p:cNvPr>
          <p:cNvSpPr txBox="1"/>
          <p:nvPr/>
        </p:nvSpPr>
        <p:spPr>
          <a:xfrm>
            <a:off x="635670" y="448900"/>
            <a:ext cx="11556329" cy="492443"/>
          </a:xfrm>
          <a:prstGeom prst="rect">
            <a:avLst/>
          </a:prstGeom>
        </p:spPr>
        <p:txBody>
          <a:bodyPr wrap="square" lIns="0" tIns="0" rIns="0" bIns="0" rtlCol="0" anchor="t">
            <a:spAutoFit/>
          </a:bodyPr>
          <a:lstStyle/>
          <a:p>
            <a:r>
              <a:rPr lang="ru-RU" sz="3200" dirty="0">
                <a:solidFill>
                  <a:srgbClr val="004AAD"/>
                </a:solidFill>
                <a:latin typeface="Bookman Old Style" panose="02050604050505020204" pitchFamily="18" charset="0"/>
              </a:rPr>
              <a:t>Сравнение коэффициентов разных моделей регрессии</a:t>
            </a:r>
          </a:p>
        </p:txBody>
      </p:sp>
      <p:sp>
        <p:nvSpPr>
          <p:cNvPr id="10" name="Rectangle 1">
            <a:extLst>
              <a:ext uri="{FF2B5EF4-FFF2-40B4-BE49-F238E27FC236}">
                <a16:creationId xmlns:a16="http://schemas.microsoft.com/office/drawing/2014/main" id="{57A78AD6-D2F0-909E-A67B-71BCA3CE3C9B}"/>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7" name="Рисунок 6">
            <a:extLst>
              <a:ext uri="{FF2B5EF4-FFF2-40B4-BE49-F238E27FC236}">
                <a16:creationId xmlns:a16="http://schemas.microsoft.com/office/drawing/2014/main" id="{B8CFEBF9-D0CF-6CA2-CFF3-80C10FC10D69}"/>
              </a:ext>
            </a:extLst>
          </p:cNvPr>
          <p:cNvPicPr>
            <a:picLocks noChangeAspect="1"/>
          </p:cNvPicPr>
          <p:nvPr/>
        </p:nvPicPr>
        <p:blipFill>
          <a:blip r:embed="rId4"/>
          <a:stretch>
            <a:fillRect/>
          </a:stretch>
        </p:blipFill>
        <p:spPr>
          <a:xfrm>
            <a:off x="1341782" y="1301776"/>
            <a:ext cx="9120809" cy="4818541"/>
          </a:xfrm>
          <a:prstGeom prst="rect">
            <a:avLst/>
          </a:prstGeom>
        </p:spPr>
      </p:pic>
      <p:sp>
        <p:nvSpPr>
          <p:cNvPr id="9" name="TextBox 8">
            <a:extLst>
              <a:ext uri="{FF2B5EF4-FFF2-40B4-BE49-F238E27FC236}">
                <a16:creationId xmlns:a16="http://schemas.microsoft.com/office/drawing/2014/main" id="{5B1DE68C-7693-AD89-987B-C4BD7A3B1F11}"/>
              </a:ext>
            </a:extLst>
          </p:cNvPr>
          <p:cNvSpPr txBox="1"/>
          <p:nvPr/>
        </p:nvSpPr>
        <p:spPr>
          <a:xfrm>
            <a:off x="2852531" y="6234529"/>
            <a:ext cx="7618342" cy="369332"/>
          </a:xfrm>
          <a:prstGeom prst="rect">
            <a:avLst/>
          </a:prstGeom>
          <a:noFill/>
        </p:spPr>
        <p:txBody>
          <a:bodyPr wrap="square">
            <a:spAutoFit/>
          </a:bodyPr>
          <a:lstStyle/>
          <a:p>
            <a:r>
              <a:rPr lang="en-US" dirty="0">
                <a:latin typeface="Bookman Old Style" panose="02050604050505020204" pitchFamily="18" charset="0"/>
              </a:rPr>
              <a:t>X, y = </a:t>
            </a:r>
            <a:r>
              <a:rPr lang="en-US" dirty="0" err="1">
                <a:latin typeface="Bookman Old Style" panose="02050604050505020204" pitchFamily="18" charset="0"/>
              </a:rPr>
              <a:t>make_regression</a:t>
            </a:r>
            <a:r>
              <a:rPr lang="en-US" dirty="0">
                <a:latin typeface="Bookman Old Style" panose="02050604050505020204" pitchFamily="18" charset="0"/>
              </a:rPr>
              <a:t>(</a:t>
            </a:r>
            <a:r>
              <a:rPr lang="en-US" dirty="0" err="1">
                <a:latin typeface="Bookman Old Style" panose="02050604050505020204" pitchFamily="18" charset="0"/>
              </a:rPr>
              <a:t>n_samples</a:t>
            </a:r>
            <a:r>
              <a:rPr lang="en-US" dirty="0">
                <a:latin typeface="Bookman Old Style" panose="02050604050505020204" pitchFamily="18" charset="0"/>
              </a:rPr>
              <a:t>=100, </a:t>
            </a:r>
            <a:r>
              <a:rPr lang="en-US" dirty="0" err="1">
                <a:latin typeface="Bookman Old Style" panose="02050604050505020204" pitchFamily="18" charset="0"/>
              </a:rPr>
              <a:t>n_features</a:t>
            </a:r>
            <a:r>
              <a:rPr lang="en-US" dirty="0">
                <a:latin typeface="Bookman Old Style" panose="02050604050505020204" pitchFamily="18" charset="0"/>
              </a:rPr>
              <a:t>=10, noise=20)</a:t>
            </a:r>
            <a:endParaRPr lang="ru-RU" dirty="0">
              <a:latin typeface="Bookman Old Style" panose="02050604050505020204" pitchFamily="18" charset="0"/>
            </a:endParaRPr>
          </a:p>
        </p:txBody>
      </p:sp>
    </p:spTree>
    <p:extLst>
      <p:ext uri="{BB962C8B-B14F-4D97-AF65-F5344CB8AC3E}">
        <p14:creationId xmlns:p14="http://schemas.microsoft.com/office/powerpoint/2010/main" val="903957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B0D0D-65E7-3738-4738-BA5FC5DD2C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A186F5F-3005-EA5B-DA76-F4D79C12D51D}"/>
              </a:ext>
            </a:extLst>
          </p:cNvPr>
          <p:cNvSpPr txBox="1"/>
          <p:nvPr/>
        </p:nvSpPr>
        <p:spPr>
          <a:xfrm rot="16200000">
            <a:off x="10015070" y="3011534"/>
            <a:ext cx="3594254" cy="369332"/>
          </a:xfrm>
          <a:prstGeom prst="rect">
            <a:avLst/>
          </a:prstGeom>
          <a:solidFill>
            <a:schemeClr val="accent1">
              <a:alpha val="0"/>
            </a:schemeClr>
          </a:solidFill>
        </p:spPr>
        <p:txBody>
          <a:bodyPr wrap="none" rtlCol="0">
            <a:spAutoFit/>
          </a:bodyPr>
          <a:lstStyle/>
          <a:p>
            <a:r>
              <a:rPr lang="ru-RU" dirty="0">
                <a:solidFill>
                  <a:schemeClr val="accent1">
                    <a:lumMod val="75000"/>
                    <a:alpha val="38000"/>
                  </a:schemeClr>
                </a:solidFill>
                <a:latin typeface="AvantGardeGothicCTT" pitchFamily="2" charset="0"/>
              </a:rPr>
              <a:t>Методы машинного обучения</a:t>
            </a:r>
          </a:p>
        </p:txBody>
      </p:sp>
      <p:sp>
        <p:nvSpPr>
          <p:cNvPr id="6" name="Freeform 3">
            <a:extLst>
              <a:ext uri="{FF2B5EF4-FFF2-40B4-BE49-F238E27FC236}">
                <a16:creationId xmlns:a16="http://schemas.microsoft.com/office/drawing/2014/main" id="{53FC12CE-7E63-9D7B-FDF2-FEC42DB3B60F}"/>
              </a:ext>
            </a:extLst>
          </p:cNvPr>
          <p:cNvSpPr/>
          <p:nvPr/>
        </p:nvSpPr>
        <p:spPr>
          <a:xfrm rot="19800707">
            <a:off x="9104844" y="-702297"/>
            <a:ext cx="4590197" cy="7370273"/>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dpi="0" rotWithShape="1">
            <a:blip r:embed="rId2">
              <a:alphaModFix amt="12000"/>
              <a:extLst>
                <a:ext uri="{96DAC541-7B7A-43D3-8B79-37D633B846F1}">
                  <asvg:svgBlip xmlns:asvg="http://schemas.microsoft.com/office/drawing/2016/SVG/main" r:embed="rId3"/>
                </a:ext>
              </a:extLst>
            </a:blip>
            <a:srcRect/>
            <a:stretch>
              <a:fillRect/>
            </a:stretch>
          </a:blipFill>
        </p:spPr>
      </p:sp>
      <p:sp>
        <p:nvSpPr>
          <p:cNvPr id="5" name="TextBox 4">
            <a:extLst>
              <a:ext uri="{FF2B5EF4-FFF2-40B4-BE49-F238E27FC236}">
                <a16:creationId xmlns:a16="http://schemas.microsoft.com/office/drawing/2014/main" id="{DABFD2AF-A2EC-69C1-4411-E3957955CBAB}"/>
              </a:ext>
            </a:extLst>
          </p:cNvPr>
          <p:cNvSpPr txBox="1"/>
          <p:nvPr/>
        </p:nvSpPr>
        <p:spPr>
          <a:xfrm>
            <a:off x="635670" y="448900"/>
            <a:ext cx="11556329" cy="492443"/>
          </a:xfrm>
          <a:prstGeom prst="rect">
            <a:avLst/>
          </a:prstGeom>
        </p:spPr>
        <p:txBody>
          <a:bodyPr wrap="square" lIns="0" tIns="0" rIns="0" bIns="0" rtlCol="0" anchor="t">
            <a:spAutoFit/>
          </a:bodyPr>
          <a:lstStyle/>
          <a:p>
            <a:r>
              <a:rPr lang="ru-RU" sz="3200" dirty="0">
                <a:solidFill>
                  <a:srgbClr val="004AAD"/>
                </a:solidFill>
                <a:latin typeface="Bookman Old Style" panose="02050604050505020204" pitchFamily="18" charset="0"/>
              </a:rPr>
              <a:t>Сравнение коэффициентов разных моделей регрессии</a:t>
            </a:r>
          </a:p>
        </p:txBody>
      </p:sp>
      <p:sp>
        <p:nvSpPr>
          <p:cNvPr id="10" name="Rectangle 1">
            <a:extLst>
              <a:ext uri="{FF2B5EF4-FFF2-40B4-BE49-F238E27FC236}">
                <a16:creationId xmlns:a16="http://schemas.microsoft.com/office/drawing/2014/main" id="{C5DD8465-01AA-723C-7353-D417A9E24EDC}"/>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3" name="Рисунок 2">
            <a:extLst>
              <a:ext uri="{FF2B5EF4-FFF2-40B4-BE49-F238E27FC236}">
                <a16:creationId xmlns:a16="http://schemas.microsoft.com/office/drawing/2014/main" id="{0376493A-9F57-54FC-25AC-689D06BCA9EC}"/>
              </a:ext>
            </a:extLst>
          </p:cNvPr>
          <p:cNvPicPr>
            <a:picLocks noChangeAspect="1"/>
          </p:cNvPicPr>
          <p:nvPr/>
        </p:nvPicPr>
        <p:blipFill>
          <a:blip r:embed="rId4"/>
          <a:stretch>
            <a:fillRect/>
          </a:stretch>
        </p:blipFill>
        <p:spPr>
          <a:xfrm>
            <a:off x="2342643" y="1017950"/>
            <a:ext cx="7000875" cy="5391150"/>
          </a:xfrm>
          <a:prstGeom prst="rect">
            <a:avLst/>
          </a:prstGeom>
        </p:spPr>
      </p:pic>
    </p:spTree>
    <p:extLst>
      <p:ext uri="{BB962C8B-B14F-4D97-AF65-F5344CB8AC3E}">
        <p14:creationId xmlns:p14="http://schemas.microsoft.com/office/powerpoint/2010/main" val="28378311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5463</TotalTime>
  <Words>1033</Words>
  <Application>Microsoft Office PowerPoint</Application>
  <PresentationFormat>Широкоэкранный</PresentationFormat>
  <Paragraphs>139</Paragraphs>
  <Slides>26</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26</vt:i4>
      </vt:variant>
    </vt:vector>
  </HeadingPairs>
  <TitlesOfParts>
    <vt:vector size="34" baseType="lpstr">
      <vt:lpstr>Arial</vt:lpstr>
      <vt:lpstr>AvantGardeGothicCTT</vt:lpstr>
      <vt:lpstr>Bookman Old Style</vt:lpstr>
      <vt:lpstr>Calibri</vt:lpstr>
      <vt:lpstr>Calibri Light</vt:lpstr>
      <vt:lpstr>Consolas</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Учетная запись Майкрософт</dc:creator>
  <cp:lastModifiedBy>Дементьева Кристина</cp:lastModifiedBy>
  <cp:revision>110</cp:revision>
  <dcterms:created xsi:type="dcterms:W3CDTF">2023-08-23T05:44:28Z</dcterms:created>
  <dcterms:modified xsi:type="dcterms:W3CDTF">2025-10-18T03:17:51Z</dcterms:modified>
</cp:coreProperties>
</file>