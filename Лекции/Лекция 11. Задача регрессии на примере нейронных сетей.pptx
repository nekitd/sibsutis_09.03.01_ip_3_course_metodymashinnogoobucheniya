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8" r:id="rId2"/>
    <p:sldId id="364" r:id="rId3"/>
    <p:sldId id="365" r:id="rId4"/>
    <p:sldId id="366" r:id="rId5"/>
    <p:sldId id="367" r:id="rId6"/>
    <p:sldId id="369" r:id="rId7"/>
    <p:sldId id="370" r:id="rId8"/>
    <p:sldId id="368" r:id="rId9"/>
    <p:sldId id="371" r:id="rId10"/>
    <p:sldId id="372" r:id="rId11"/>
    <p:sldId id="373" r:id="rId12"/>
    <p:sldId id="374" r:id="rId13"/>
    <p:sldId id="375" r:id="rId14"/>
    <p:sldId id="376" r:id="rId15"/>
    <p:sldId id="377" r:id="rId16"/>
    <p:sldId id="379" r:id="rId17"/>
    <p:sldId id="378" r:id="rId18"/>
    <p:sldId id="380" r:id="rId19"/>
    <p:sldId id="381" r:id="rId20"/>
    <p:sldId id="382" r:id="rId21"/>
    <p:sldId id="383" r:id="rId22"/>
    <p:sldId id="384" r:id="rId23"/>
    <p:sldId id="385" r:id="rId24"/>
    <p:sldId id="389" r:id="rId25"/>
    <p:sldId id="386" r:id="rId26"/>
    <p:sldId id="387" r:id="rId27"/>
    <p:sldId id="388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DE9"/>
    <a:srgbClr val="91B7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62" autoAdjust="0"/>
    <p:restoredTop sz="94667" autoAdjust="0"/>
  </p:normalViewPr>
  <p:slideViewPr>
    <p:cSldViewPr snapToGrid="0">
      <p:cViewPr varScale="1">
        <p:scale>
          <a:sx n="74" d="100"/>
          <a:sy n="74" d="100"/>
        </p:scale>
        <p:origin x="43" y="-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97C6D7-BF3B-42FC-91F0-99BFD321B0AA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469BB3-D495-4F17-A4D7-5AE572FCE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215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B4C39-779B-456F-B6F7-709D0BC5EA86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539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B4C39-779B-456F-B6F7-709D0BC5EA86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116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B4C39-779B-456F-B6F7-709D0BC5EA86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0172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B4C39-779B-456F-B6F7-709D0BC5EA86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1953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B4C39-779B-456F-B6F7-709D0BC5EA86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8213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B4C39-779B-456F-B6F7-709D0BC5EA86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7643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B4C39-779B-456F-B6F7-709D0BC5EA86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8426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B4C39-779B-456F-B6F7-709D0BC5EA86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769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B4C39-779B-456F-B6F7-709D0BC5EA86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4333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B4C39-779B-456F-B6F7-709D0BC5EA86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3647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B4C39-779B-456F-B6F7-709D0BC5EA86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951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2B4C39-779B-456F-B6F7-709D0BC5EA86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7657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6.svg"/><Relationship Id="rId7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-1111642">
            <a:off x="7442248" y="879012"/>
            <a:ext cx="5859056" cy="5658577"/>
          </a:xfrm>
          <a:custGeom>
            <a:avLst/>
            <a:gdLst/>
            <a:ahLst/>
            <a:cxnLst/>
            <a:rect l="l" t="t" r="r" b="b"/>
            <a:pathLst>
              <a:path w="10443683" h="8487866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r="-18832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Freeform 4"/>
          <p:cNvSpPr/>
          <p:nvPr/>
        </p:nvSpPr>
        <p:spPr>
          <a:xfrm>
            <a:off x="2878961" y="6172200"/>
            <a:ext cx="6484879" cy="685800"/>
          </a:xfrm>
          <a:custGeom>
            <a:avLst/>
            <a:gdLst/>
            <a:ahLst/>
            <a:cxnLst/>
            <a:rect l="l" t="t" r="r" b="b"/>
            <a:pathLst>
              <a:path w="9727319" h="3106962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b="-202028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TextBox 5"/>
          <p:cNvSpPr txBox="1"/>
          <p:nvPr/>
        </p:nvSpPr>
        <p:spPr>
          <a:xfrm>
            <a:off x="616540" y="976354"/>
            <a:ext cx="5696501" cy="3170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ru-RU" sz="5400" dirty="0">
                <a:solidFill>
                  <a:srgbClr val="004AAD"/>
                </a:solidFill>
                <a:latin typeface="Bookman Old Style" panose="02050604050505020204" pitchFamily="18" charset="0"/>
              </a:rPr>
              <a:t>Методы машинного обучения.</a:t>
            </a:r>
            <a:endParaRPr lang="en-US" sz="5400" dirty="0">
              <a:solidFill>
                <a:srgbClr val="004AAD"/>
              </a:solidFill>
              <a:latin typeface="Bookman Old Style" panose="02050604050505020204" pitchFamily="18" charset="0"/>
            </a:endParaRPr>
          </a:p>
          <a:p>
            <a:r>
              <a:rPr lang="ru-RU" sz="4400" dirty="0">
                <a:solidFill>
                  <a:srgbClr val="004AAD"/>
                </a:solidFill>
                <a:latin typeface="Bookman Old Style" panose="02050604050505020204" pitchFamily="18" charset="0"/>
              </a:rPr>
              <a:t>Лекция №11</a:t>
            </a:r>
            <a:endParaRPr lang="en-US" sz="4400" dirty="0">
              <a:solidFill>
                <a:srgbClr val="004AAD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16540" y="4654773"/>
            <a:ext cx="6826676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2800" dirty="0">
                <a:solidFill>
                  <a:srgbClr val="2BB4D4"/>
                </a:solidFill>
                <a:latin typeface="Bookman Old Style" panose="02050604050505020204" pitchFamily="18" charset="0"/>
              </a:rPr>
              <a:t>Дементьева Кристина Игоревна, </a:t>
            </a:r>
            <a:endParaRPr lang="en-US" sz="2800" dirty="0">
              <a:solidFill>
                <a:srgbClr val="2BB4D4"/>
              </a:solidFill>
              <a:latin typeface="Bookman Old Style" panose="02050604050505020204" pitchFamily="18" charset="0"/>
            </a:endParaRPr>
          </a:p>
          <a:p>
            <a:r>
              <a:rPr lang="ru-RU" sz="1600" dirty="0">
                <a:solidFill>
                  <a:srgbClr val="2BB4D4"/>
                </a:solidFill>
                <a:latin typeface="Bookman Old Style" panose="02050604050505020204" pitchFamily="18" charset="0"/>
              </a:rPr>
              <a:t>Старший преподаватель кафедры Прикладной математики и кибернетики СибГУТИ</a:t>
            </a:r>
            <a:endParaRPr lang="en-US" sz="1600" dirty="0">
              <a:solidFill>
                <a:srgbClr val="2BB4D4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04142" y="6220147"/>
            <a:ext cx="3234585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33"/>
              </a:lnSpc>
            </a:pPr>
            <a:r>
              <a:rPr lang="en-US" sz="1666" spc="83" dirty="0">
                <a:solidFill>
                  <a:srgbClr val="A9DDE9"/>
                </a:solidFill>
                <a:latin typeface="Bookman Old Style" panose="02050604050505020204" pitchFamily="18" charset="0"/>
              </a:rPr>
              <a:t>kirsten-frost@mail.ru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9979003" y="3011534"/>
            <a:ext cx="3666388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Bookman Old Style" panose="02050604050505020204" pitchFamily="18" charset="0"/>
              </a:rPr>
              <a:t>Методы машинного обучения</a:t>
            </a:r>
          </a:p>
        </p:txBody>
      </p:sp>
    </p:spTree>
    <p:extLst>
      <p:ext uri="{BB962C8B-B14F-4D97-AF65-F5344CB8AC3E}">
        <p14:creationId xmlns:p14="http://schemas.microsoft.com/office/powerpoint/2010/main" val="2836898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D5392-C81C-2BD6-2008-6CC8F9D89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FAD18-4FB5-55D1-199D-4EE5D5F458F6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5F0D9F68-2F75-A1FC-6F0C-81C743A12299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7FF95802-15DD-9AFC-2A25-5A134CBAE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22EBA52-B7C9-752C-1EE6-AEBB5A119CE4}"/>
              </a:ext>
            </a:extLst>
          </p:cNvPr>
          <p:cNvSpPr/>
          <p:nvPr/>
        </p:nvSpPr>
        <p:spPr>
          <a:xfrm>
            <a:off x="858910" y="382011"/>
            <a:ext cx="10032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Задача регрессии на примере нейронной сети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548BAF-A1BF-2589-0AFC-1B14DEBC65EC}"/>
              </a:ext>
            </a:extLst>
          </p:cNvPr>
          <p:cNvSpPr txBox="1"/>
          <p:nvPr/>
        </p:nvSpPr>
        <p:spPr>
          <a:xfrm>
            <a:off x="568441" y="954679"/>
            <a:ext cx="103725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Bookman Old Style" panose="02050604050505020204" pitchFamily="18" charset="0"/>
              </a:rPr>
              <a:t>Набор данных: </a:t>
            </a:r>
            <a:r>
              <a:rPr lang="en-US" sz="2800" b="1" dirty="0">
                <a:latin typeface="Bookman Old Style" panose="02050604050505020204" pitchFamily="18" charset="0"/>
              </a:rPr>
              <a:t>Car Prices Dataset</a:t>
            </a:r>
            <a:endParaRPr lang="ru-RU" sz="2800" b="1" dirty="0">
              <a:latin typeface="Bookman Old Style" panose="020506040505050202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BF8FEB2-0AA7-9C10-9873-A4BA14E24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465" y="1785143"/>
            <a:ext cx="9243391" cy="354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332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F6FB6-1412-DBD6-FA12-04425A74F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9FD753-028F-7F47-BC59-0CC6DC7C631F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1F540A5C-077A-BF21-2EF4-1F94CC31D320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823C49D1-62A3-4485-A471-2D412E983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8C45A71-F7FB-4BBC-19E0-58284A12EA45}"/>
              </a:ext>
            </a:extLst>
          </p:cNvPr>
          <p:cNvSpPr/>
          <p:nvPr/>
        </p:nvSpPr>
        <p:spPr>
          <a:xfrm>
            <a:off x="858910" y="382011"/>
            <a:ext cx="10032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Задача регрессии на примере нейронной сети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965917-C34D-8582-4DE6-3D52EA77A11E}"/>
              </a:ext>
            </a:extLst>
          </p:cNvPr>
          <p:cNvSpPr txBox="1"/>
          <p:nvPr/>
        </p:nvSpPr>
        <p:spPr>
          <a:xfrm>
            <a:off x="858910" y="927319"/>
            <a:ext cx="103725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Bookman Old Style" panose="02050604050505020204" pitchFamily="18" charset="0"/>
              </a:rPr>
              <a:t>Признаки: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21F46A-8810-7E99-901C-DC027177D984}"/>
              </a:ext>
            </a:extLst>
          </p:cNvPr>
          <p:cNvSpPr txBox="1"/>
          <p:nvPr/>
        </p:nvSpPr>
        <p:spPr>
          <a:xfrm>
            <a:off x="3347058" y="1399073"/>
            <a:ext cx="761834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ook Antiqua" panose="02040602050305030304" pitchFamily="18" charset="0"/>
              </a:rPr>
              <a:t>ID</a:t>
            </a:r>
            <a:r>
              <a:rPr lang="ru-RU" dirty="0">
                <a:latin typeface="Book Antiqua" panose="02040602050305030304" pitchFamily="18" charset="0"/>
              </a:rPr>
              <a:t>			Номер</a:t>
            </a:r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Price </a:t>
            </a:r>
            <a:r>
              <a:rPr lang="ru-RU" dirty="0">
                <a:latin typeface="Book Antiqua" panose="02040602050305030304" pitchFamily="18" charset="0"/>
              </a:rPr>
              <a:t>			Цена (целевая переменная)</a:t>
            </a:r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Levy</a:t>
            </a:r>
            <a:r>
              <a:rPr lang="ru-RU" dirty="0">
                <a:latin typeface="Book Antiqua" panose="02040602050305030304" pitchFamily="18" charset="0"/>
              </a:rPr>
              <a:t>			Налог</a:t>
            </a:r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Manufacturer</a:t>
            </a:r>
            <a:r>
              <a:rPr lang="ru-RU" dirty="0">
                <a:latin typeface="Book Antiqua" panose="02040602050305030304" pitchFamily="18" charset="0"/>
              </a:rPr>
              <a:t>		Производитель</a:t>
            </a:r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Model</a:t>
            </a:r>
            <a:r>
              <a:rPr lang="ru-RU" dirty="0">
                <a:latin typeface="Book Antiqua" panose="02040602050305030304" pitchFamily="18" charset="0"/>
              </a:rPr>
              <a:t>			Модель</a:t>
            </a:r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Prod. Year</a:t>
            </a:r>
            <a:r>
              <a:rPr lang="ru-RU" dirty="0">
                <a:latin typeface="Book Antiqua" panose="02040602050305030304" pitchFamily="18" charset="0"/>
              </a:rPr>
              <a:t>		Год выпуска	</a:t>
            </a:r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Category</a:t>
            </a:r>
            <a:r>
              <a:rPr lang="ru-RU" dirty="0">
                <a:latin typeface="Book Antiqua" panose="02040602050305030304" pitchFamily="18" charset="0"/>
              </a:rPr>
              <a:t>		Категория</a:t>
            </a:r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Leather interior</a:t>
            </a:r>
            <a:r>
              <a:rPr lang="ru-RU" dirty="0">
                <a:latin typeface="Book Antiqua" panose="02040602050305030304" pitchFamily="18" charset="0"/>
              </a:rPr>
              <a:t>		Кожаный салон</a:t>
            </a:r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Fuel type</a:t>
            </a:r>
            <a:r>
              <a:rPr lang="ru-RU" dirty="0">
                <a:latin typeface="Book Antiqua" panose="02040602050305030304" pitchFamily="18" charset="0"/>
              </a:rPr>
              <a:t>		Тип топлива</a:t>
            </a:r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Engine volume</a:t>
            </a:r>
            <a:r>
              <a:rPr lang="ru-RU" dirty="0">
                <a:latin typeface="Book Antiqua" panose="02040602050305030304" pitchFamily="18" charset="0"/>
              </a:rPr>
              <a:t>		Объём двигателя</a:t>
            </a:r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Mileage</a:t>
            </a:r>
            <a:r>
              <a:rPr lang="ru-RU" dirty="0">
                <a:latin typeface="Book Antiqua" panose="02040602050305030304" pitchFamily="18" charset="0"/>
              </a:rPr>
              <a:t>			Пробег</a:t>
            </a:r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Cylinders</a:t>
            </a:r>
            <a:r>
              <a:rPr lang="ru-RU" dirty="0">
                <a:latin typeface="Book Antiqua" panose="02040602050305030304" pitchFamily="18" charset="0"/>
              </a:rPr>
              <a:t>		Кол-во цилиндров</a:t>
            </a:r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Gear box type</a:t>
            </a:r>
            <a:r>
              <a:rPr lang="ru-RU" dirty="0">
                <a:latin typeface="Book Antiqua" panose="02040602050305030304" pitchFamily="18" charset="0"/>
              </a:rPr>
              <a:t>		Тип коробки передач</a:t>
            </a:r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Drive wheels</a:t>
            </a:r>
            <a:r>
              <a:rPr lang="ru-RU" dirty="0">
                <a:latin typeface="Book Antiqua" panose="02040602050305030304" pitchFamily="18" charset="0"/>
              </a:rPr>
              <a:t>		Ведущие колеса</a:t>
            </a:r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Doors</a:t>
            </a:r>
            <a:r>
              <a:rPr lang="ru-RU" dirty="0">
                <a:latin typeface="Book Antiqua" panose="02040602050305030304" pitchFamily="18" charset="0"/>
              </a:rPr>
              <a:t>			Количество дверей</a:t>
            </a:r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Wheel</a:t>
            </a:r>
            <a:r>
              <a:rPr lang="ru-RU" dirty="0">
                <a:latin typeface="Book Antiqua" panose="02040602050305030304" pitchFamily="18" charset="0"/>
              </a:rPr>
              <a:t>			Руль (правый</a:t>
            </a:r>
            <a:r>
              <a:rPr lang="en-US" dirty="0">
                <a:latin typeface="Book Antiqua" panose="02040602050305030304" pitchFamily="18" charset="0"/>
              </a:rPr>
              <a:t>/</a:t>
            </a:r>
            <a:r>
              <a:rPr lang="ru-RU" dirty="0">
                <a:latin typeface="Book Antiqua" panose="02040602050305030304" pitchFamily="18" charset="0"/>
              </a:rPr>
              <a:t>левый)</a:t>
            </a:r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Color</a:t>
            </a:r>
            <a:r>
              <a:rPr lang="ru-RU" dirty="0">
                <a:latin typeface="Book Antiqua" panose="02040602050305030304" pitchFamily="18" charset="0"/>
              </a:rPr>
              <a:t>			Цвет</a:t>
            </a:r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Airbags</a:t>
            </a:r>
            <a:r>
              <a:rPr lang="ru-RU" dirty="0">
                <a:latin typeface="Book Antiqua" panose="02040602050305030304" pitchFamily="18" charset="0"/>
              </a:rPr>
              <a:t>			Количество подушек безопасности</a:t>
            </a:r>
          </a:p>
        </p:txBody>
      </p:sp>
    </p:spTree>
    <p:extLst>
      <p:ext uri="{BB962C8B-B14F-4D97-AF65-F5344CB8AC3E}">
        <p14:creationId xmlns:p14="http://schemas.microsoft.com/office/powerpoint/2010/main" val="1134818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7AF5C-33CF-E67C-AB29-AF047BF46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D99FC8-1058-1A03-0DDF-EE9A8C362117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B86F9E85-717C-FCE5-3A6D-5F7E7204032C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EFA259E0-84F5-105D-9849-9784A165D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D3DD93D-A570-088D-B166-0DAC7CF06569}"/>
              </a:ext>
            </a:extLst>
          </p:cNvPr>
          <p:cNvSpPr/>
          <p:nvPr/>
        </p:nvSpPr>
        <p:spPr>
          <a:xfrm>
            <a:off x="858910" y="382011"/>
            <a:ext cx="10032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Задача регрессии на примере нейронной сети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A2DA16-662D-E50A-A317-58CE55A9CD04}"/>
              </a:ext>
            </a:extLst>
          </p:cNvPr>
          <p:cNvSpPr txBox="1"/>
          <p:nvPr/>
        </p:nvSpPr>
        <p:spPr>
          <a:xfrm>
            <a:off x="282441" y="1678950"/>
            <a:ext cx="103725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df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pd.read_csv</a:t>
            </a:r>
            <a:r>
              <a:rPr lang="en-US" dirty="0">
                <a:latin typeface="Consolas" panose="020B0609020204030204" pitchFamily="49" charset="0"/>
              </a:rPr>
              <a:t>('/</a:t>
            </a:r>
            <a:r>
              <a:rPr lang="en-US" dirty="0" err="1">
                <a:latin typeface="Consolas" panose="020B0609020204030204" pitchFamily="49" charset="0"/>
              </a:rPr>
              <a:t>kaggle</a:t>
            </a:r>
            <a:r>
              <a:rPr lang="en-US" dirty="0">
                <a:latin typeface="Consolas" panose="020B0609020204030204" pitchFamily="49" charset="0"/>
              </a:rPr>
              <a:t>/input/car-prices-dataset/train.csv')</a:t>
            </a:r>
          </a:p>
          <a:p>
            <a:r>
              <a:rPr lang="en-US" dirty="0" err="1">
                <a:latin typeface="Consolas" panose="020B0609020204030204" pitchFamily="49" charset="0"/>
              </a:rPr>
              <a:t>df.head</a:t>
            </a:r>
            <a:r>
              <a:rPr lang="en-US" dirty="0">
                <a:latin typeface="Consolas" panose="020B0609020204030204" pitchFamily="49" charset="0"/>
              </a:rPr>
              <a:t>(5)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23AEE4F-2A75-4FC1-5886-E868C7A727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05158"/>
            <a:ext cx="11627531" cy="2411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837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57EB9-F2E2-24A2-0F23-208056C6F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A184ED-BDC4-3ABE-D18A-20F4C2AE9EC2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BC50C133-39FC-4948-2D55-141985AC13EC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4A7A3EB-C8A9-7455-90D4-14FE66C64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4F6F78E-912B-3FB5-B982-9934F767F440}"/>
              </a:ext>
            </a:extLst>
          </p:cNvPr>
          <p:cNvSpPr/>
          <p:nvPr/>
        </p:nvSpPr>
        <p:spPr>
          <a:xfrm>
            <a:off x="858910" y="382011"/>
            <a:ext cx="10032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Задача регрессии на примере нейронной сети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B277D37-7D0B-42FE-397A-41093C124D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920" y="1152111"/>
            <a:ext cx="8305800" cy="27051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DF98775-739E-C33E-11F7-FC4B7164CC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500" y="3693164"/>
            <a:ext cx="11172825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081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A2AF7-97E1-D614-661D-66DC26B4E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B765E7-1ED8-C826-5C47-40D4A55C3DED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88C107EE-4B48-33F8-125A-50EBEF8A0776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6E02DE0-D4A8-EC5B-0B04-BB9B11F70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8A15531-BDE5-1FD8-8FFC-1B80F08D36B9}"/>
              </a:ext>
            </a:extLst>
          </p:cNvPr>
          <p:cNvSpPr/>
          <p:nvPr/>
        </p:nvSpPr>
        <p:spPr>
          <a:xfrm>
            <a:off x="858910" y="382011"/>
            <a:ext cx="10032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Задача регрессии на примере нейронной сети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5A27ED-E466-79C8-7016-CBA178753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910" y="1399073"/>
            <a:ext cx="2733675" cy="246697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DC2B8BC-2E62-6FBE-B857-53B57642D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3913" y="1427647"/>
            <a:ext cx="8362950" cy="240982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6E3FEBA-2A23-8344-42E3-54832C70B1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831" y="4173053"/>
            <a:ext cx="56769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2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F1A89-8782-76CF-725E-AA12EEA4A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9DB376-E507-E73F-42E8-20F9B8B971DA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5C6866F0-3C1B-8EAA-1BF4-937DFA60F674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5AC4FE71-BB88-16C0-7170-16FB844EC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8AD878F-A957-1175-40C2-941ACC82C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3638"/>
            <a:ext cx="12192000" cy="285256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4E43CA3-A0D8-89D6-20D7-7F37C8114C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1400" y="3429000"/>
            <a:ext cx="6953250" cy="334327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39299FD-AF38-C99E-42CF-FC07F9EBD7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744" y="3255014"/>
            <a:ext cx="2276475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238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27AA6-A5D9-45B5-DD06-618416CDD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3C0AAD-5358-C72E-4472-B4E547211CD9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1DAD19CE-4039-3E9F-85B4-CCD529688BAC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54492FB4-D92C-CA08-DF80-4265D49E5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FAA54CB-49EC-0BC1-93CB-EA0C9A6F0563}"/>
              </a:ext>
            </a:extLst>
          </p:cNvPr>
          <p:cNvSpPr/>
          <p:nvPr/>
        </p:nvSpPr>
        <p:spPr>
          <a:xfrm>
            <a:off x="858910" y="382011"/>
            <a:ext cx="10032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Задача регрессии на примере нейронной сети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7C5B150-72A6-F6C0-0B61-83825F280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910" y="1720248"/>
            <a:ext cx="2066925" cy="117157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5B91DE0-0BED-AF7C-17D2-5273F29B226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0075" y="2891823"/>
            <a:ext cx="11287456" cy="395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454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FFE5-E859-E137-0A4C-A822F902E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55C7BD-20CF-C86D-3E25-73EA26322EF2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55CDFA50-6988-C500-56CF-0153AE8632F9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CB9F645D-E526-C9D1-5037-111ECEC18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66B4A6D-FB28-126B-26C1-5BAF24192951}"/>
              </a:ext>
            </a:extLst>
          </p:cNvPr>
          <p:cNvSpPr/>
          <p:nvPr/>
        </p:nvSpPr>
        <p:spPr>
          <a:xfrm>
            <a:off x="858910" y="382011"/>
            <a:ext cx="10032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Предобработка данных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BB32715-7D4E-A772-B087-D793A7471C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06" y="1399073"/>
            <a:ext cx="5981700" cy="8286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FD2D6F7-6FB5-F395-87D9-3FCD8705E814}"/>
              </a:ext>
            </a:extLst>
          </p:cNvPr>
          <p:cNvSpPr txBox="1"/>
          <p:nvPr/>
        </p:nvSpPr>
        <p:spPr>
          <a:xfrm>
            <a:off x="8051188" y="1470562"/>
            <a:ext cx="33219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Book Antiqua" panose="02040602050305030304" pitchFamily="18" charset="0"/>
              </a:rPr>
              <a:t>Обработка пропущенных значений в столбце </a:t>
            </a:r>
            <a:r>
              <a:rPr lang="ru-RU" dirty="0" err="1">
                <a:latin typeface="Book Antiqua" panose="02040602050305030304" pitchFamily="18" charset="0"/>
              </a:rPr>
              <a:t>Levy</a:t>
            </a:r>
            <a:endParaRPr lang="ru-RU" dirty="0">
              <a:latin typeface="Book Antiqua" panose="02040602050305030304" pitchFamily="18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83D7B51-4297-C05E-C10B-459FDCF8A3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793" y="2497750"/>
            <a:ext cx="6972300" cy="4476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51E20EB-43CA-E52C-3567-00E49D0040E3}"/>
              </a:ext>
            </a:extLst>
          </p:cNvPr>
          <p:cNvSpPr txBox="1"/>
          <p:nvPr/>
        </p:nvSpPr>
        <p:spPr>
          <a:xfrm>
            <a:off x="8051188" y="2377472"/>
            <a:ext cx="37610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Book Antiqua" panose="02040602050305030304" pitchFamily="18" charset="0"/>
              </a:rPr>
              <a:t>Обработка столбца </a:t>
            </a:r>
            <a:r>
              <a:rPr lang="ru-RU" dirty="0" err="1">
                <a:latin typeface="Book Antiqua" panose="02040602050305030304" pitchFamily="18" charset="0"/>
              </a:rPr>
              <a:t>Mileage</a:t>
            </a:r>
            <a:r>
              <a:rPr lang="ru-RU" dirty="0">
                <a:latin typeface="Book Antiqua" panose="02040602050305030304" pitchFamily="18" charset="0"/>
              </a:rPr>
              <a:t> (удаляем ' </a:t>
            </a:r>
            <a:r>
              <a:rPr lang="ru-RU" dirty="0" err="1">
                <a:latin typeface="Book Antiqua" panose="02040602050305030304" pitchFamily="18" charset="0"/>
              </a:rPr>
              <a:t>km</a:t>
            </a:r>
            <a:r>
              <a:rPr lang="ru-RU" dirty="0">
                <a:latin typeface="Book Antiqua" panose="02040602050305030304" pitchFamily="18" charset="0"/>
              </a:rPr>
              <a:t>' и преобразуем в числовой)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4220071-25F9-1AB7-7E8F-41A9CD3E60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044" y="3572617"/>
            <a:ext cx="6115050" cy="2476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27A7750-44E8-9B22-9CC2-3D60E31CE1FA}"/>
              </a:ext>
            </a:extLst>
          </p:cNvPr>
          <p:cNvSpPr txBox="1"/>
          <p:nvPr/>
        </p:nvSpPr>
        <p:spPr>
          <a:xfrm>
            <a:off x="8051188" y="3450935"/>
            <a:ext cx="76183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Book Antiqua" panose="02040602050305030304" pitchFamily="18" charset="0"/>
              </a:rPr>
              <a:t>Обработка столбца Doors </a:t>
            </a:r>
          </a:p>
          <a:p>
            <a:r>
              <a:rPr lang="ru-RU" dirty="0">
                <a:latin typeface="Book Antiqua" panose="02040602050305030304" pitchFamily="18" charset="0"/>
              </a:rPr>
              <a:t>(извлекаем только число)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6465F499-D217-7919-2764-07882FCC19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044" y="4330051"/>
            <a:ext cx="3962400" cy="130492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C1E9D2E6-4DE3-0F4F-29FE-5BF1B9C471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4044" y="5644915"/>
            <a:ext cx="6724650" cy="2952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88B6F40-3240-C7E8-C941-F13DF6286701}"/>
              </a:ext>
            </a:extLst>
          </p:cNvPr>
          <p:cNvSpPr txBox="1"/>
          <p:nvPr/>
        </p:nvSpPr>
        <p:spPr>
          <a:xfrm>
            <a:off x="8051188" y="4681010"/>
            <a:ext cx="37801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Book Antiqua" panose="02040602050305030304" pitchFamily="18" charset="0"/>
              </a:rPr>
              <a:t>Обработка Engine </a:t>
            </a:r>
            <a:r>
              <a:rPr lang="ru-RU" dirty="0" err="1">
                <a:latin typeface="Book Antiqua" panose="02040602050305030304" pitchFamily="18" charset="0"/>
              </a:rPr>
              <a:t>volume</a:t>
            </a:r>
            <a:r>
              <a:rPr lang="ru-RU" dirty="0">
                <a:latin typeface="Book Antiqua" panose="02040602050305030304" pitchFamily="18" charset="0"/>
              </a:rPr>
              <a:t> - извлекаем только числовую часть</a:t>
            </a:r>
          </a:p>
        </p:txBody>
      </p:sp>
    </p:spTree>
    <p:extLst>
      <p:ext uri="{BB962C8B-B14F-4D97-AF65-F5344CB8AC3E}">
        <p14:creationId xmlns:p14="http://schemas.microsoft.com/office/powerpoint/2010/main" val="1244545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CFC6D-AF91-782E-AB63-6C2416A98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6107FB-F0E3-285C-9E97-0A1E9713DF82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68888DDE-4117-3BD3-E12F-CBC17B21BD74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69EDA81E-90ED-F83B-CDC3-03196B5BC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F3CFAAA-6494-6CCB-1033-516E68C9B479}"/>
              </a:ext>
            </a:extLst>
          </p:cNvPr>
          <p:cNvSpPr/>
          <p:nvPr/>
        </p:nvSpPr>
        <p:spPr>
          <a:xfrm>
            <a:off x="858910" y="382011"/>
            <a:ext cx="10032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Предобработка данных (продолжение)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48E42F-C130-D39A-1CAB-F86A24AA1C35}"/>
              </a:ext>
            </a:extLst>
          </p:cNvPr>
          <p:cNvSpPr txBox="1"/>
          <p:nvPr/>
        </p:nvSpPr>
        <p:spPr>
          <a:xfrm>
            <a:off x="8051188" y="1470562"/>
            <a:ext cx="33219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Book Antiqua" panose="02040602050305030304" pitchFamily="18" charset="0"/>
              </a:rPr>
              <a:t>Обработка </a:t>
            </a:r>
            <a:r>
              <a:rPr lang="ru-RU" dirty="0" err="1">
                <a:latin typeface="Book Antiqua" panose="02040602050305030304" pitchFamily="18" charset="0"/>
              </a:rPr>
              <a:t>Cylinders</a:t>
            </a:r>
            <a:r>
              <a:rPr lang="ru-RU" dirty="0">
                <a:latin typeface="Book Antiqua" panose="02040602050305030304" pitchFamily="18" charset="0"/>
              </a:rPr>
              <a:t> - извлекаем только числовую часть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B4E5EB-0441-75F6-49A3-54181DE362A0}"/>
              </a:ext>
            </a:extLst>
          </p:cNvPr>
          <p:cNvSpPr txBox="1"/>
          <p:nvPr/>
        </p:nvSpPr>
        <p:spPr>
          <a:xfrm>
            <a:off x="8051188" y="3142786"/>
            <a:ext cx="37610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Book Antiqua" panose="02040602050305030304" pitchFamily="18" charset="0"/>
              </a:rPr>
              <a:t>Заполнение пропущенных значений для числовых столбцов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A28317-E1C6-53ED-2E82-724198CF2E5D}"/>
              </a:ext>
            </a:extLst>
          </p:cNvPr>
          <p:cNvSpPr txBox="1"/>
          <p:nvPr/>
        </p:nvSpPr>
        <p:spPr>
          <a:xfrm>
            <a:off x="8003026" y="4949046"/>
            <a:ext cx="76183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Book Antiqua" panose="02040602050305030304" pitchFamily="18" charset="0"/>
              </a:rPr>
              <a:t>Заполнение </a:t>
            </a:r>
          </a:p>
          <a:p>
            <a:r>
              <a:rPr lang="ru-RU" dirty="0">
                <a:latin typeface="Book Antiqua" panose="02040602050305030304" pitchFamily="18" charset="0"/>
              </a:rPr>
              <a:t>пропущенных значений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171EB7-D255-67A0-AF66-019394C5A1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755" y="1488951"/>
            <a:ext cx="6324600" cy="3048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0ABC0A3-BEAD-DD95-F9E5-10262A35A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755" y="3318701"/>
            <a:ext cx="6600825" cy="28575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848D578-D244-62F8-88FC-D8AEA2069C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180" y="4364087"/>
            <a:ext cx="6353175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776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8CF86-9960-9EE8-0DAD-861D9D6EB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B89D8E-DCF2-66BE-1B93-BCE0922F707C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CAFA8653-8A92-4C9D-5E30-2FE96F60FFD3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81DCAA0E-E8E5-E2C4-0046-86CE83A88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88746B5-BA6A-D49B-2FAA-09BF5239F59E}"/>
              </a:ext>
            </a:extLst>
          </p:cNvPr>
          <p:cNvSpPr/>
          <p:nvPr/>
        </p:nvSpPr>
        <p:spPr>
          <a:xfrm>
            <a:off x="858910" y="382011"/>
            <a:ext cx="1003260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Предобработка данных (Обработка категориальных переменных)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90611-294D-C709-961E-FE956DEFF62E}"/>
              </a:ext>
            </a:extLst>
          </p:cNvPr>
          <p:cNvSpPr txBox="1"/>
          <p:nvPr/>
        </p:nvSpPr>
        <p:spPr>
          <a:xfrm>
            <a:off x="8051188" y="1470562"/>
            <a:ext cx="33219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Book Antiqua" panose="02040602050305030304" pitchFamily="18" charset="0"/>
              </a:rPr>
              <a:t>Заполняем пропущенные значения перед кодированием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392708-F486-E35A-92B6-43AD333A1BBF}"/>
              </a:ext>
            </a:extLst>
          </p:cNvPr>
          <p:cNvSpPr txBox="1"/>
          <p:nvPr/>
        </p:nvSpPr>
        <p:spPr>
          <a:xfrm>
            <a:off x="8051188" y="2394043"/>
            <a:ext cx="376100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Book Antiqua" panose="02040602050305030304" pitchFamily="18" charset="0"/>
              </a:rPr>
              <a:t>Функция </a:t>
            </a:r>
            <a:r>
              <a:rPr lang="ru-RU" dirty="0" err="1">
                <a:highlight>
                  <a:srgbClr val="A9DDE9"/>
                </a:highlight>
                <a:latin typeface="Book Antiqua" panose="02040602050305030304" pitchFamily="18" charset="0"/>
              </a:rPr>
              <a:t>get_dummies</a:t>
            </a:r>
            <a:r>
              <a:rPr lang="ru-RU" dirty="0">
                <a:latin typeface="Book Antiqua" panose="02040602050305030304" pitchFamily="18" charset="0"/>
              </a:rPr>
              <a:t> используется для преобразования категориальных переменных в фиктивные или индикаторные переменные . Фиктивная или индикаторная переменная может иметь значение 0 или 1.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6986BA-7ACF-21DD-A56A-09B587D0BE39}"/>
              </a:ext>
            </a:extLst>
          </p:cNvPr>
          <p:cNvSpPr txBox="1"/>
          <p:nvPr/>
        </p:nvSpPr>
        <p:spPr>
          <a:xfrm>
            <a:off x="8003026" y="4949046"/>
            <a:ext cx="76183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ighlight>
                  <a:srgbClr val="A9DDE9"/>
                </a:highlight>
                <a:latin typeface="Book Antiqua" panose="02040602050305030304" pitchFamily="18" charset="0"/>
              </a:rPr>
              <a:t>Label </a:t>
            </a:r>
            <a:r>
              <a:rPr lang="ru-RU" dirty="0" err="1">
                <a:highlight>
                  <a:srgbClr val="A9DDE9"/>
                </a:highlight>
                <a:latin typeface="Book Antiqua" panose="02040602050305030304" pitchFamily="18" charset="0"/>
              </a:rPr>
              <a:t>Encoding</a:t>
            </a:r>
            <a:r>
              <a:rPr lang="ru-RU" dirty="0">
                <a:highlight>
                  <a:srgbClr val="A9DDE9"/>
                </a:highlight>
                <a:latin typeface="Book Antiqua" panose="02040602050305030304" pitchFamily="18" charset="0"/>
              </a:rPr>
              <a:t> </a:t>
            </a:r>
            <a:r>
              <a:rPr lang="ru-RU" dirty="0">
                <a:latin typeface="Book Antiqua" panose="02040602050305030304" pitchFamily="18" charset="0"/>
              </a:rPr>
              <a:t>для признаков </a:t>
            </a:r>
          </a:p>
          <a:p>
            <a:r>
              <a:rPr lang="ru-RU" dirty="0">
                <a:latin typeface="Book Antiqua" panose="02040602050305030304" pitchFamily="18" charset="0"/>
              </a:rPr>
              <a:t>с большим количеством </a:t>
            </a:r>
          </a:p>
          <a:p>
            <a:r>
              <a:rPr lang="ru-RU" dirty="0">
                <a:latin typeface="Book Antiqua" panose="02040602050305030304" pitchFamily="18" charset="0"/>
              </a:rPr>
              <a:t>уникальных значений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3456A16-CF0C-E7D1-BA2C-D84BE717BA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326" y="1646997"/>
            <a:ext cx="6772275" cy="169545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C82E7A9-674E-7CFF-C59B-CBC5356CBF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326" y="4040827"/>
            <a:ext cx="588645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496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68075-55F6-79C3-3D2B-7B3C7DA7D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EB2C46-8750-9F96-54CE-B045998E9994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6B88D2EB-9BC6-903C-B50F-2B3FEEA8A076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51646B8-C0BC-D974-4F78-BE68324B6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7BD4387-FF8F-5805-27EF-D57CAA927521}"/>
              </a:ext>
            </a:extLst>
          </p:cNvPr>
          <p:cNvSpPr/>
          <p:nvPr/>
        </p:nvSpPr>
        <p:spPr>
          <a:xfrm>
            <a:off x="858910" y="382011"/>
            <a:ext cx="1003260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Предобработка данных (Обработка бинарных признаков)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E52C32-5212-E9E8-1D1C-13C345002FD6}"/>
              </a:ext>
            </a:extLst>
          </p:cNvPr>
          <p:cNvSpPr txBox="1"/>
          <p:nvPr/>
        </p:nvSpPr>
        <p:spPr>
          <a:xfrm>
            <a:off x="8051188" y="1470562"/>
            <a:ext cx="33219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Book Antiqua" panose="02040602050305030304" pitchFamily="18" charset="0"/>
              </a:rPr>
              <a:t>Заполняем пропущенные значения модой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7FFC9F2-88B3-EAE5-D574-213D833075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7739"/>
          <a:stretch>
            <a:fillRect/>
          </a:stretch>
        </p:blipFill>
        <p:spPr>
          <a:xfrm>
            <a:off x="931172" y="1762540"/>
            <a:ext cx="6774656" cy="156707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C207D51-27CE-92DE-1B1A-B163E8B97E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172" y="3821881"/>
            <a:ext cx="9623094" cy="104829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80EAD8C-0A7B-6AA2-94F3-2A540F44565D}"/>
              </a:ext>
            </a:extLst>
          </p:cNvPr>
          <p:cNvSpPr txBox="1"/>
          <p:nvPr/>
        </p:nvSpPr>
        <p:spPr>
          <a:xfrm>
            <a:off x="9011014" y="4223843"/>
            <a:ext cx="37610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Book Antiqua" panose="02040602050305030304" pitchFamily="18" charset="0"/>
              </a:rPr>
              <a:t>Удаляем </a:t>
            </a:r>
          </a:p>
          <a:p>
            <a:r>
              <a:rPr lang="ru-RU" dirty="0">
                <a:latin typeface="Book Antiqua" panose="02040602050305030304" pitchFamily="18" charset="0"/>
              </a:rPr>
              <a:t>ненужные столбцы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7451C19-5B20-15C4-0DC6-0BB407A225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073" y="5584033"/>
            <a:ext cx="8293493" cy="51194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11A3782-3B8D-30CF-409B-6AB892785B1C}"/>
              </a:ext>
            </a:extLst>
          </p:cNvPr>
          <p:cNvSpPr txBox="1"/>
          <p:nvPr/>
        </p:nvSpPr>
        <p:spPr>
          <a:xfrm>
            <a:off x="9072303" y="5485598"/>
            <a:ext cx="37610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Book Antiqua" panose="02040602050305030304" pitchFamily="18" charset="0"/>
              </a:rPr>
              <a:t>Применяем </a:t>
            </a:r>
          </a:p>
          <a:p>
            <a:r>
              <a:rPr lang="ru-RU" dirty="0">
                <a:latin typeface="Book Antiqua" panose="02040602050305030304" pitchFamily="18" charset="0"/>
              </a:rPr>
              <a:t>предобработку</a:t>
            </a:r>
          </a:p>
        </p:txBody>
      </p:sp>
    </p:spTree>
    <p:extLst>
      <p:ext uri="{BB962C8B-B14F-4D97-AF65-F5344CB8AC3E}">
        <p14:creationId xmlns:p14="http://schemas.microsoft.com/office/powerpoint/2010/main" val="3100547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4BC77-386D-9CC8-B117-EEFF63BBD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988018-9044-B54A-4581-5762C88F8176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2FDA1942-D7E4-07D3-360C-7B7218A52A66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E17684EA-365E-B866-7628-9C5E04E9C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CF9DDF2-6B34-8114-82E0-310C6B3B75BF}"/>
              </a:ext>
            </a:extLst>
          </p:cNvPr>
          <p:cNvSpPr/>
          <p:nvPr/>
        </p:nvSpPr>
        <p:spPr>
          <a:xfrm>
            <a:off x="858910" y="382011"/>
            <a:ext cx="1003260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Предобработка данных (Обработка бинарных признаков)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477E2BE-5AE9-3C55-E121-2546743577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910" y="1764352"/>
            <a:ext cx="5472316" cy="4364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724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5457F-100F-CA84-09A7-E49920617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59CAB5-BF8A-38CE-1369-F06B6A44BA19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E7CAFEF5-AC70-5325-3AC5-D9B9B013245C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69359A1A-7A63-A485-1965-441631356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21CF64B-4D32-019B-8FB1-5EF74FB1A020}"/>
              </a:ext>
            </a:extLst>
          </p:cNvPr>
          <p:cNvSpPr/>
          <p:nvPr/>
        </p:nvSpPr>
        <p:spPr>
          <a:xfrm>
            <a:off x="858910" y="382011"/>
            <a:ext cx="1003260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Разделение на обучающую, валидационную и тестовую выборки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BB08FDD-2247-8CC3-0684-DEBFD0C7A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909" y="1504294"/>
            <a:ext cx="10574913" cy="3388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923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CC4D6-05AA-9C8D-687D-21511EF91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C2FC99-E798-E121-D9AF-D4F5476BB9C2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07EB034F-B155-1A50-ED8D-E1A85BE069F3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73677EFB-98C5-D9B8-13A4-D5A01178A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739B0F5-8A08-B674-08BF-0227A45C49B8}"/>
              </a:ext>
            </a:extLst>
          </p:cNvPr>
          <p:cNvSpPr/>
          <p:nvPr/>
        </p:nvSpPr>
        <p:spPr>
          <a:xfrm>
            <a:off x="858910" y="382011"/>
            <a:ext cx="1003260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Построение и обучение нейронной сети для предсказания цен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F90447-10AE-A7E3-989F-204692464C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4381"/>
          <a:stretch>
            <a:fillRect/>
          </a:stretch>
        </p:blipFill>
        <p:spPr>
          <a:xfrm>
            <a:off x="740605" y="1779365"/>
            <a:ext cx="8786085" cy="38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828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38E9E-4149-C379-5A03-F87708379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4ED317-2756-31C1-C32F-0F5040FC57C4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5EC7CE13-73E8-DEB2-5B18-E5EA0B4AC4DB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85BB99E-5958-EB6E-94DB-55EC3553B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61639C8-6632-A872-8E27-0ED43E5C2F71}"/>
              </a:ext>
            </a:extLst>
          </p:cNvPr>
          <p:cNvSpPr/>
          <p:nvPr/>
        </p:nvSpPr>
        <p:spPr>
          <a:xfrm>
            <a:off x="858910" y="382011"/>
            <a:ext cx="1003260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Построение и обучение нейронной сети для предсказания цен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C38B8FC-76A2-23EB-0505-7DBBE874AC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65" y="1869277"/>
            <a:ext cx="6622164" cy="359422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5F5CF55-335F-CAA0-6C4F-877AE4AA66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47"/>
          <a:stretch>
            <a:fillRect/>
          </a:stretch>
        </p:blipFill>
        <p:spPr>
          <a:xfrm>
            <a:off x="6460117" y="1663429"/>
            <a:ext cx="5167414" cy="4647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055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18197-D79B-F906-9C53-F17630359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C0FE27-498E-D757-C749-516805BAD292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5E7D8CD6-3044-2B8F-1761-DAE6C541F3B6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AB6A701-4A89-70F9-C562-610D6AD7E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1281552-4E0B-F53C-C6F7-2E3ABEBDC7E8}"/>
              </a:ext>
            </a:extLst>
          </p:cNvPr>
          <p:cNvSpPr/>
          <p:nvPr/>
        </p:nvSpPr>
        <p:spPr>
          <a:xfrm>
            <a:off x="858910" y="382011"/>
            <a:ext cx="1003260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Построение и обучение нейронной сети для предсказания цен (продолжение функции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build_and_train_nn</a:t>
            </a:r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())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ED76E18-D0CC-3E51-D9A3-B408FBF714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406" y="2419350"/>
            <a:ext cx="7399829" cy="170517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3862269-F6F8-1012-3291-6A174B32AC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684" y="4258066"/>
            <a:ext cx="5572882" cy="221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1755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8DBF2-DB2D-01A1-4A3C-05C75A907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B1B8BC-997A-BD7A-4BD3-2C7F6944DF30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ACFE641E-B1FA-9233-3D46-850B19F6FE2B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7D15C17F-4252-C3D3-2B60-E606C759B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F3DC408-7FDC-3C7B-39EB-3D3E9395B87C}"/>
              </a:ext>
            </a:extLst>
          </p:cNvPr>
          <p:cNvSpPr/>
          <p:nvPr/>
        </p:nvSpPr>
        <p:spPr>
          <a:xfrm>
            <a:off x="858910" y="382011"/>
            <a:ext cx="1003260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Построение и обучение нейронной сети для предсказания цен (продолжение функции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build_and_train_nn</a:t>
            </a:r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())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4CDF164-F086-E0EE-C44F-89A8396A3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49" y="2493726"/>
            <a:ext cx="7582349" cy="241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894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E90E4-5561-BA4A-A20C-7C56FE47E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6528DD-4A75-87EE-3BF1-C1E911247E12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9D778B6C-D6F7-203E-AB6D-9D70E984FC1E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3D419A6B-9A0A-D8D0-97EB-573993FFE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B097A58-89DA-B434-9812-E6C9E3D17255}"/>
              </a:ext>
            </a:extLst>
          </p:cNvPr>
          <p:cNvSpPr/>
          <p:nvPr/>
        </p:nvSpPr>
        <p:spPr>
          <a:xfrm>
            <a:off x="858910" y="382011"/>
            <a:ext cx="1003260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Построение и обучение нейронной сети для предсказания цен (продолжение функции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build_and_train_nn</a:t>
            </a:r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())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FB4E8B-03A8-8832-1E85-6937D39AAC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1875"/>
          <a:stretch>
            <a:fillRect/>
          </a:stretch>
        </p:blipFill>
        <p:spPr>
          <a:xfrm>
            <a:off x="875160" y="1767006"/>
            <a:ext cx="4698789" cy="482400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A90AA3E-E530-AC9F-D015-D2E0602DF0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344" y="1886246"/>
            <a:ext cx="6109300" cy="4991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564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3A12F-61BD-4A38-AB0F-9B756826A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92CC89-619B-6E0E-0627-B30EE9C82058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2DB281CC-AC62-506F-D896-A32FC8923D35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FE74B0C-1648-F84B-ED6A-3F5D4FE09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F41F055-AFB9-65D0-E598-AD1A06C823AD}"/>
              </a:ext>
            </a:extLst>
          </p:cNvPr>
          <p:cNvSpPr/>
          <p:nvPr/>
        </p:nvSpPr>
        <p:spPr>
          <a:xfrm>
            <a:off x="858910" y="382011"/>
            <a:ext cx="10032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Визуализация ошибок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38E78F0-31DD-3C3F-E869-C2A5592763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139" y="1162612"/>
            <a:ext cx="5010150" cy="406717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0CB1475-CE5B-0AF5-E829-E0CE56B454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 bwMode="auto">
          <a:xfrm>
            <a:off x="5618922" y="184666"/>
            <a:ext cx="4926495" cy="3241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BFA4C91-5B22-3BC0-E8F7-FB04D8257B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 bwMode="auto">
          <a:xfrm>
            <a:off x="5618921" y="3346430"/>
            <a:ext cx="4926495" cy="3241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4392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C57FB-56A6-21A5-86E7-CA505225D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98FA77-6B8D-AD12-8DA6-AAB5246B7131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F4B2FFED-E065-CA02-C4C4-80B3157993FA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6BBB5BA0-AB37-1C39-15BB-AF84BAFCB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292A58F-93C8-7959-76C5-F5C1C4F4CFAD}"/>
              </a:ext>
            </a:extLst>
          </p:cNvPr>
          <p:cNvSpPr/>
          <p:nvPr/>
        </p:nvSpPr>
        <p:spPr>
          <a:xfrm>
            <a:off x="858910" y="382011"/>
            <a:ext cx="10032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Визуализация ошибок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88B3347-212C-DB5F-5FE7-64941474D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886" y="1531249"/>
            <a:ext cx="5603460" cy="367097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3BC9A7E-2285-54D7-362C-4C45727119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2967" y="1685158"/>
            <a:ext cx="5368667" cy="361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206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6EB0D-2DDB-A592-B3D0-D28533E7D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B519EC-37FB-E024-ECE8-22FC402047CD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2018BFD1-29EC-9067-6389-705B696D72FC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16E13670-DB1C-B79D-828E-F7DB2409D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09BA462-45AC-E16B-4D02-BF682981C328}"/>
              </a:ext>
            </a:extLst>
          </p:cNvPr>
          <p:cNvSpPr/>
          <p:nvPr/>
        </p:nvSpPr>
        <p:spPr>
          <a:xfrm>
            <a:off x="858910" y="382011"/>
            <a:ext cx="10032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Анализ результатов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1478C8E-B79D-2E18-A213-0F42DB174A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841565"/>
            <a:ext cx="5229225" cy="93345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C5BD802-E619-2494-9734-4713F29958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438" y="1639543"/>
            <a:ext cx="5069055" cy="1660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3445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F9DF1-7A46-D7A4-467C-10BE36126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AC030F-A888-30B1-7069-1282A9F216DD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7B98D1A9-294D-6F4F-FB0A-30BB440FE058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F4F7AAAB-F6A1-F97A-2BFD-E7A6F559B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570D0C1-B8AF-02B7-BB2A-A869FF4D3792}"/>
              </a:ext>
            </a:extLst>
          </p:cNvPr>
          <p:cNvSpPr/>
          <p:nvPr/>
        </p:nvSpPr>
        <p:spPr>
          <a:xfrm>
            <a:off x="858910" y="382011"/>
            <a:ext cx="10032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Предлагаемые улучшения: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D65AD9-3FD7-1C96-1C7A-5DF44795D3A7}"/>
              </a:ext>
            </a:extLst>
          </p:cNvPr>
          <p:cNvSpPr txBox="1"/>
          <p:nvPr/>
        </p:nvSpPr>
        <p:spPr>
          <a:xfrm>
            <a:off x="581519" y="1627681"/>
            <a:ext cx="1102896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Book Antiqua" panose="02040602050305030304" pitchFamily="18" charset="0"/>
              </a:rPr>
              <a:t>Предобработка данных:</a:t>
            </a:r>
          </a:p>
          <a:p>
            <a:r>
              <a:rPr lang="ru-RU" sz="2400" dirty="0">
                <a:latin typeface="Book Antiqua" panose="02040602050305030304" pitchFamily="18" charset="0"/>
              </a:rPr>
              <a:t>Engine </a:t>
            </a:r>
            <a:r>
              <a:rPr lang="ru-RU" sz="2400" dirty="0" err="1">
                <a:latin typeface="Book Antiqua" panose="02040602050305030304" pitchFamily="18" charset="0"/>
              </a:rPr>
              <a:t>volume</a:t>
            </a:r>
            <a:r>
              <a:rPr lang="ru-RU" sz="2400" dirty="0">
                <a:latin typeface="Book Antiqua" panose="02040602050305030304" pitchFamily="18" charset="0"/>
              </a:rPr>
              <a:t> - извлекаем число и флаг Turbo</a:t>
            </a:r>
          </a:p>
          <a:p>
            <a:r>
              <a:rPr lang="ru-RU" sz="2400" dirty="0">
                <a:latin typeface="Book Antiqua" panose="02040602050305030304" pitchFamily="18" charset="0"/>
              </a:rPr>
              <a:t>Создание новых признаков: год создания заменяем на возраст автомобиля</a:t>
            </a:r>
          </a:p>
          <a:p>
            <a:r>
              <a:rPr lang="ru-RU" sz="2400" dirty="0">
                <a:latin typeface="Book Antiqua" panose="02040602050305030304" pitchFamily="18" charset="0"/>
              </a:rPr>
              <a:t>Группируем редких производителей (если менее 50 авто – группа «Другие»)</a:t>
            </a:r>
          </a:p>
          <a:p>
            <a:r>
              <a:rPr lang="ru-RU" sz="2400" dirty="0">
                <a:latin typeface="Book Antiqua" panose="02040602050305030304" pitchFamily="18" charset="0"/>
              </a:rPr>
              <a:t>Признак «Роскошный бренд» (</a:t>
            </a:r>
            <a:r>
              <a:rPr lang="en-US" sz="2400" dirty="0">
                <a:latin typeface="Book Antiqua" panose="02040602050305030304" pitchFamily="18" charset="0"/>
              </a:rPr>
              <a:t>['LEXUS', 'MERCEDES-BENZ', 'BMW', 'AUDI', 'PORSCHE', 'JAGUAR', 'LAND ROVER’]</a:t>
            </a:r>
            <a:r>
              <a:rPr lang="ru-RU" sz="2400" dirty="0">
                <a:latin typeface="Book Antiqua" panose="02040602050305030304" pitchFamily="18" charset="0"/>
              </a:rPr>
              <a:t>)</a:t>
            </a:r>
          </a:p>
          <a:p>
            <a:r>
              <a:rPr lang="ru-RU" sz="2400" dirty="0">
                <a:latin typeface="Book Antiqua" panose="02040602050305030304" pitchFamily="18" charset="0"/>
              </a:rPr>
              <a:t>Признак "высокий пробег« (если пробег более чем 75% общего пробега)</a:t>
            </a:r>
          </a:p>
          <a:p>
            <a:r>
              <a:rPr lang="ru-RU" sz="2400" dirty="0">
                <a:latin typeface="Book Antiqua" panose="02040602050305030304" pitchFamily="18" charset="0"/>
              </a:rPr>
              <a:t>Добавим признак </a:t>
            </a:r>
            <a:r>
              <a:rPr lang="en-US" sz="2400" dirty="0" err="1">
                <a:latin typeface="Book Antiqua" panose="02040602050305030304" pitchFamily="18" charset="0"/>
              </a:rPr>
              <a:t>Engine_power</a:t>
            </a:r>
            <a:r>
              <a:rPr lang="ru-RU" sz="2400" dirty="0">
                <a:latin typeface="Book Antiqua" panose="02040602050305030304" pitchFamily="18" charset="0"/>
              </a:rPr>
              <a:t> (</a:t>
            </a:r>
            <a:r>
              <a:rPr lang="en-US" sz="2400" dirty="0">
                <a:latin typeface="Book Antiqua" panose="02040602050305030304" pitchFamily="18" charset="0"/>
              </a:rPr>
              <a:t>Engine volume</a:t>
            </a:r>
            <a:r>
              <a:rPr lang="ru-RU" sz="2400" dirty="0">
                <a:latin typeface="Book Antiqua" panose="02040602050305030304" pitchFamily="18" charset="0"/>
              </a:rPr>
              <a:t> * </a:t>
            </a:r>
            <a:r>
              <a:rPr lang="en-US" sz="2400" dirty="0">
                <a:latin typeface="Book Antiqua" panose="02040602050305030304" pitchFamily="18" charset="0"/>
              </a:rPr>
              <a:t>Cylinders</a:t>
            </a:r>
            <a:r>
              <a:rPr lang="ru-RU" sz="2400" dirty="0">
                <a:latin typeface="Book Antiqua" panose="02040602050305030304" pitchFamily="18" charset="0"/>
              </a:rPr>
              <a:t>)</a:t>
            </a:r>
          </a:p>
          <a:p>
            <a:r>
              <a:rPr lang="ru-RU" sz="2400" dirty="0">
                <a:latin typeface="Book Antiqua" panose="02040602050305030304" pitchFamily="18" charset="0"/>
              </a:rPr>
              <a:t>Удаляем оригинальные столбцы после создания новых признаков</a:t>
            </a:r>
          </a:p>
          <a:p>
            <a:r>
              <a:rPr lang="ru-RU" sz="2400" dirty="0">
                <a:latin typeface="Book Antiqua" panose="02040602050305030304" pitchFamily="18" charset="0"/>
              </a:rPr>
              <a:t>Удаление экстремальных выбросов в ценах</a:t>
            </a:r>
          </a:p>
        </p:txBody>
      </p:sp>
    </p:spTree>
    <p:extLst>
      <p:ext uri="{BB962C8B-B14F-4D97-AF65-F5344CB8AC3E}">
        <p14:creationId xmlns:p14="http://schemas.microsoft.com/office/powerpoint/2010/main" val="12718961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E689A-ECEE-17CE-D36F-58CB19B55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43EBF4-A2E7-BFF1-2902-158BE9A81317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D1CA3C84-1B5C-8472-5F7C-2FA0555317C0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6F723502-CD81-C0F1-4247-52487ED54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D5281E5-38CB-8393-C1B4-88396EFC4FFF}"/>
              </a:ext>
            </a:extLst>
          </p:cNvPr>
          <p:cNvSpPr/>
          <p:nvPr/>
        </p:nvSpPr>
        <p:spPr>
          <a:xfrm>
            <a:off x="858910" y="382011"/>
            <a:ext cx="10032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Предлагаемые улучшения: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557B07-E7C7-29B9-4BAF-B98BAF04AD9B}"/>
              </a:ext>
            </a:extLst>
          </p:cNvPr>
          <p:cNvSpPr txBox="1"/>
          <p:nvPr/>
        </p:nvSpPr>
        <p:spPr>
          <a:xfrm>
            <a:off x="616549" y="1242737"/>
            <a:ext cx="326090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Book Antiqua" panose="02040602050305030304" pitchFamily="18" charset="0"/>
              </a:rPr>
              <a:t>Увеличиваем количество нейронов в слоях</a:t>
            </a:r>
          </a:p>
          <a:p>
            <a:endParaRPr lang="ru-RU" sz="2400" dirty="0">
              <a:latin typeface="Book Antiqua" panose="0204060205030503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E036EA3-D43D-D0CC-FDB9-7954EF0309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6930" y="1482185"/>
            <a:ext cx="4795519" cy="521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5312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3F48C-EA2D-B9A1-DF41-715C70441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D85C63-03D8-5444-A7B4-236C3A338F6E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B1B1311D-FADA-BF1B-87C4-FAE103DD8CD9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F87E3B60-EDE5-2B1A-E226-C97FC2B17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4E697E9-70E8-F49E-4736-6CE4D3974EEA}"/>
              </a:ext>
            </a:extLst>
          </p:cNvPr>
          <p:cNvSpPr/>
          <p:nvPr/>
        </p:nvSpPr>
        <p:spPr>
          <a:xfrm>
            <a:off x="858910" y="382011"/>
            <a:ext cx="10032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Предлагаемые улучшения: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AB0192-A273-7B1F-EDB4-F492CE8087BE}"/>
              </a:ext>
            </a:extLst>
          </p:cNvPr>
          <p:cNvSpPr txBox="1"/>
          <p:nvPr/>
        </p:nvSpPr>
        <p:spPr>
          <a:xfrm>
            <a:off x="616549" y="1242737"/>
            <a:ext cx="32609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Book Antiqua" panose="02040602050305030304" pitchFamily="18" charset="0"/>
              </a:rPr>
              <a:t>Увеличиваем количество эпох</a:t>
            </a:r>
            <a:endParaRPr lang="ru-RU" sz="2400" dirty="0">
              <a:latin typeface="Book Antiqua" panose="02040602050305030304" pitchFamily="18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5D032D8-B755-68B7-7A68-C72E6B13738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5137" y="2284093"/>
            <a:ext cx="11360426" cy="365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8063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2F0B6-C953-5CDF-D867-72F815526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5E32FB-3F70-D825-3616-FC2335631399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5A1691E3-F1D0-3614-9243-C83B8EAA7DED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CB33EC4A-FE44-CA0F-0345-5D8E73BF5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11BEACF-9EAA-3CA7-47B0-A96F1A13F5EE}"/>
              </a:ext>
            </a:extLst>
          </p:cNvPr>
          <p:cNvSpPr/>
          <p:nvPr/>
        </p:nvSpPr>
        <p:spPr>
          <a:xfrm>
            <a:off x="858910" y="382011"/>
            <a:ext cx="10032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Результат улучшения: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569B2C-6E75-367C-E08E-AE94F5CAB5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8412" y="1399073"/>
            <a:ext cx="7115175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1102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E76E4-8903-29DF-9D5F-888DD5057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17C24F-A63F-385E-F830-E43AA72B41E3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D7F3F040-A564-0EC8-962B-42AA285A233A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5C96728-8B7C-805C-0838-BDF3306AC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8BAE39B-8F38-6982-1E63-C131F87707CE}"/>
              </a:ext>
            </a:extLst>
          </p:cNvPr>
          <p:cNvSpPr/>
          <p:nvPr/>
        </p:nvSpPr>
        <p:spPr>
          <a:xfrm>
            <a:off x="858910" y="382011"/>
            <a:ext cx="10032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Анализ важности признаков :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621F904-5552-E8FD-2FF3-C95A40029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385" y="1300318"/>
            <a:ext cx="8364826" cy="5557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88506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8665</TotalTime>
  <Words>617</Words>
  <Application>Microsoft Office PowerPoint</Application>
  <PresentationFormat>Широкоэкранный</PresentationFormat>
  <Paragraphs>109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5" baseType="lpstr">
      <vt:lpstr>Arial</vt:lpstr>
      <vt:lpstr>AvantGardeGothicCTT</vt:lpstr>
      <vt:lpstr>Book Antiqua</vt:lpstr>
      <vt:lpstr>Bookman Old Style</vt:lpstr>
      <vt:lpstr>Calibri</vt:lpstr>
      <vt:lpstr>Calibri Light</vt:lpstr>
      <vt:lpstr>Consolas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Дементьева Кристина</cp:lastModifiedBy>
  <cp:revision>149</cp:revision>
  <dcterms:created xsi:type="dcterms:W3CDTF">2023-08-23T05:44:28Z</dcterms:created>
  <dcterms:modified xsi:type="dcterms:W3CDTF">2025-11-14T10:45:27Z</dcterms:modified>
</cp:coreProperties>
</file>