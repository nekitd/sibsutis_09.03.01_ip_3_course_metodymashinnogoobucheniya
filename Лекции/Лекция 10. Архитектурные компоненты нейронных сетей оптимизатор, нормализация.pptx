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8" r:id="rId2"/>
    <p:sldId id="331" r:id="rId3"/>
    <p:sldId id="352" r:id="rId4"/>
    <p:sldId id="353" r:id="rId5"/>
    <p:sldId id="347" r:id="rId6"/>
    <p:sldId id="354" r:id="rId7"/>
    <p:sldId id="355" r:id="rId8"/>
    <p:sldId id="348" r:id="rId9"/>
    <p:sldId id="357" r:id="rId10"/>
    <p:sldId id="356" r:id="rId11"/>
    <p:sldId id="358" r:id="rId12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1B7DE"/>
    <a:srgbClr val="A9DDE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562" autoAdjust="0"/>
    <p:restoredTop sz="94667" autoAdjust="0"/>
  </p:normalViewPr>
  <p:slideViewPr>
    <p:cSldViewPr snapToGrid="0">
      <p:cViewPr varScale="1">
        <p:scale>
          <a:sx n="79" d="100"/>
          <a:sy n="79" d="100"/>
        </p:scale>
        <p:origin x="43" y="43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97C6D7-BF3B-42FC-91F0-99BFD321B0AA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469BB3-D495-4F17-A4D7-5AE572FCE6C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215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7539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116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0172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19536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2138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47643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265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7696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943335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436477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951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12B4C39-779B-456F-B6F7-709D0BC5EA86}" type="datetimeFigureOut">
              <a:rPr lang="ru-RU" smtClean="0"/>
              <a:t>18.11.2025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8DAFC8-B654-4173-BA48-78DA0FDD1EC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076576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6.svg"/><Relationship Id="rId7" Type="http://schemas.openxmlformats.org/officeDocument/2006/relationships/image" Target="../media/image1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/>
          <p:cNvSpPr/>
          <p:nvPr/>
        </p:nvSpPr>
        <p:spPr>
          <a:xfrm rot="-1111642">
            <a:off x="7442248" y="879012"/>
            <a:ext cx="5859056" cy="5658577"/>
          </a:xfrm>
          <a:custGeom>
            <a:avLst/>
            <a:gdLst/>
            <a:ahLst/>
            <a:cxnLst/>
            <a:rect l="l" t="t" r="r" b="b"/>
            <a:pathLst>
              <a:path w="10443683" h="8487866">
                <a:moveTo>
                  <a:pt x="0" y="0"/>
                </a:moveTo>
                <a:lnTo>
                  <a:pt x="10443683" y="0"/>
                </a:lnTo>
                <a:lnTo>
                  <a:pt x="10443683" y="8487866"/>
                </a:lnTo>
                <a:lnTo>
                  <a:pt x="0" y="84878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 r="-18832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4" name="Freeform 4"/>
          <p:cNvSpPr/>
          <p:nvPr/>
        </p:nvSpPr>
        <p:spPr>
          <a:xfrm>
            <a:off x="2878961" y="6172200"/>
            <a:ext cx="6484879" cy="685800"/>
          </a:xfrm>
          <a:custGeom>
            <a:avLst/>
            <a:gdLst/>
            <a:ahLst/>
            <a:cxnLst/>
            <a:rect l="l" t="t" r="r" b="b"/>
            <a:pathLst>
              <a:path w="9727319" h="3106962">
                <a:moveTo>
                  <a:pt x="0" y="0"/>
                </a:moveTo>
                <a:lnTo>
                  <a:pt x="9727318" y="0"/>
                </a:lnTo>
                <a:lnTo>
                  <a:pt x="9727318" y="3106962"/>
                </a:lnTo>
                <a:lnTo>
                  <a:pt x="0" y="310696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rcRect/>
            <a:stretch>
              <a:fillRect b="-202028"/>
            </a:stretch>
          </a:blipFill>
        </p:spPr>
        <p:txBody>
          <a:bodyPr/>
          <a:lstStyle/>
          <a:p>
            <a:endParaRPr lang="ru-RU"/>
          </a:p>
        </p:txBody>
      </p:sp>
      <p:sp>
        <p:nvSpPr>
          <p:cNvPr id="5" name="TextBox 5"/>
          <p:cNvSpPr txBox="1"/>
          <p:nvPr/>
        </p:nvSpPr>
        <p:spPr>
          <a:xfrm>
            <a:off x="616540" y="976354"/>
            <a:ext cx="5696501" cy="31700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ru-RU" sz="5400" dirty="0">
                <a:solidFill>
                  <a:srgbClr val="004AAD"/>
                </a:solidFill>
                <a:latin typeface="Bookman Old Style" panose="02050604050505020204" pitchFamily="18" charset="0"/>
              </a:rPr>
              <a:t>Методы машинного обучения.</a:t>
            </a:r>
            <a:endParaRPr lang="en-US" sz="54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  <a:p>
            <a:r>
              <a:rPr lang="ru-RU" sz="4400" dirty="0">
                <a:solidFill>
                  <a:srgbClr val="004AAD"/>
                </a:solidFill>
                <a:latin typeface="Bookman Old Style" panose="02050604050505020204" pitchFamily="18" charset="0"/>
              </a:rPr>
              <a:t>Лекция №10</a:t>
            </a:r>
            <a:endParaRPr lang="en-US" sz="4400" dirty="0">
              <a:solidFill>
                <a:srgbClr val="004AAD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16540" y="4654773"/>
            <a:ext cx="6826676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ru-RU" sz="2800" dirty="0">
                <a:solidFill>
                  <a:srgbClr val="2BB4D4"/>
                </a:solidFill>
                <a:latin typeface="Bookman Old Style" panose="02050604050505020204" pitchFamily="18" charset="0"/>
              </a:rPr>
              <a:t>Дементьева Кристина Игоревна, </a:t>
            </a:r>
            <a:endParaRPr lang="en-US" sz="2800" dirty="0">
              <a:solidFill>
                <a:srgbClr val="2BB4D4"/>
              </a:solidFill>
              <a:latin typeface="Bookman Old Style" panose="02050604050505020204" pitchFamily="18" charset="0"/>
            </a:endParaRPr>
          </a:p>
          <a:p>
            <a:r>
              <a:rPr lang="ru-RU" sz="1600" dirty="0">
                <a:solidFill>
                  <a:srgbClr val="2BB4D4"/>
                </a:solidFill>
                <a:latin typeface="Bookman Old Style" panose="02050604050505020204" pitchFamily="18" charset="0"/>
              </a:rPr>
              <a:t>Старший преподаватель кафедры Прикладной математики и кибернетики СибГУТИ</a:t>
            </a:r>
            <a:endParaRPr lang="en-US" sz="1600" dirty="0">
              <a:solidFill>
                <a:srgbClr val="2BB4D4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604142" y="6220147"/>
            <a:ext cx="3234585" cy="29495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333"/>
              </a:lnSpc>
            </a:pPr>
            <a:r>
              <a:rPr lang="en-US" sz="1666" spc="83" dirty="0">
                <a:solidFill>
                  <a:srgbClr val="A9DDE9"/>
                </a:solidFill>
                <a:latin typeface="Bookman Old Style" panose="02050604050505020204" pitchFamily="18" charset="0"/>
              </a:rPr>
              <a:t>kirsten-frost@mail.ru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9979003" y="3011534"/>
            <a:ext cx="3666388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Bookman Old Style" panose="02050604050505020204" pitchFamily="18" charset="0"/>
              </a:rPr>
              <a:t>Методы машинного обучения</a:t>
            </a:r>
          </a:p>
        </p:txBody>
      </p:sp>
    </p:spTree>
    <p:extLst>
      <p:ext uri="{BB962C8B-B14F-4D97-AF65-F5344CB8AC3E}">
        <p14:creationId xmlns:p14="http://schemas.microsoft.com/office/powerpoint/2010/main" val="2836898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/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/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/>
          <p:cNvSpPr/>
          <p:nvPr/>
        </p:nvSpPr>
        <p:spPr>
          <a:xfrm>
            <a:off x="858911" y="797510"/>
            <a:ext cx="10032609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latin typeface="Bookman Old Style" panose="02050604050505020204" pitchFamily="18" charset="0"/>
              </a:rPr>
              <a:t>Оптимизатор </a:t>
            </a:r>
            <a:r>
              <a:rPr lang="ru-RU" sz="2800" dirty="0">
                <a:latin typeface="Bookman Old Style" panose="02050604050505020204" pitchFamily="18" charset="0"/>
              </a:rPr>
              <a:t>- это алгоритм, который определяет как именно нейронная сеть будет обновлять свои веса (параметры) в процессе обучения, чтобы минимизировать функцию потерь (</a:t>
            </a:r>
            <a:r>
              <a:rPr lang="ru-RU" sz="2800" dirty="0" err="1">
                <a:latin typeface="Bookman Old Style" panose="02050604050505020204" pitchFamily="18" charset="0"/>
              </a:rPr>
              <a:t>error</a:t>
            </a:r>
            <a:r>
              <a:rPr lang="ru-RU" sz="2800" dirty="0">
                <a:latin typeface="Bookman Old Style" panose="02050604050505020204" pitchFamily="18" charset="0"/>
              </a:rPr>
              <a:t> или </a:t>
            </a:r>
            <a:r>
              <a:rPr lang="ru-RU" sz="2800" dirty="0" err="1">
                <a:latin typeface="Bookman Old Style" panose="02050604050505020204" pitchFamily="18" charset="0"/>
              </a:rPr>
              <a:t>loss</a:t>
            </a:r>
            <a:r>
              <a:rPr lang="ru-RU" sz="2800" dirty="0">
                <a:latin typeface="Bookman Old Style" panose="02050604050505020204" pitchFamily="18" charset="0"/>
              </a:rPr>
              <a:t>)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7CFDDC-856F-42CB-5D84-AF48C7A24DDA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2900" y="855676"/>
            <a:ext cx="639100" cy="6292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A542D65F-9E4A-BE45-3FCC-E0D151EF5758}"/>
              </a:ext>
            </a:extLst>
          </p:cNvPr>
          <p:cNvSpPr txBox="1"/>
          <p:nvPr/>
        </p:nvSpPr>
        <p:spPr>
          <a:xfrm>
            <a:off x="858911" y="2982839"/>
            <a:ext cx="10768620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Цель: Найти такие значения весов W, при которых функция потерь L(W) достигает минимума.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Как работает:</a:t>
            </a:r>
          </a:p>
          <a:p>
            <a:r>
              <a:rPr lang="ru-RU" dirty="0">
                <a:latin typeface="Bookman Old Style" panose="02050604050505020204" pitchFamily="18" charset="0"/>
              </a:rPr>
              <a:t>1. Сначала сеть делает предсказание на данных</a:t>
            </a:r>
          </a:p>
          <a:p>
            <a:r>
              <a:rPr lang="ru-RU" dirty="0">
                <a:latin typeface="Bookman Old Style" panose="02050604050505020204" pitchFamily="18" charset="0"/>
              </a:rPr>
              <a:t>2. Вычисляется ошибка (</a:t>
            </a:r>
            <a:r>
              <a:rPr lang="ru-RU" dirty="0" err="1">
                <a:latin typeface="Bookman Old Style" panose="02050604050505020204" pitchFamily="18" charset="0"/>
              </a:rPr>
              <a:t>loss</a:t>
            </a:r>
            <a:r>
              <a:rPr lang="ru-RU" dirty="0">
                <a:latin typeface="Bookman Old Style" panose="02050604050505020204" pitchFamily="18" charset="0"/>
              </a:rPr>
              <a:t>) — насколько предсказание отличается от правильного ответа</a:t>
            </a:r>
          </a:p>
          <a:p>
            <a:r>
              <a:rPr lang="ru-RU" dirty="0">
                <a:latin typeface="Bookman Old Style" panose="02050604050505020204" pitchFamily="18" charset="0"/>
              </a:rPr>
              <a:t>3. Оптимизатор с помощью обратного распространения ошибки (</a:t>
            </a:r>
            <a:r>
              <a:rPr lang="ru-RU" dirty="0" err="1">
                <a:latin typeface="Bookman Old Style" panose="02050604050505020204" pitchFamily="18" charset="0"/>
              </a:rPr>
              <a:t>backpropagation</a:t>
            </a:r>
            <a:r>
              <a:rPr lang="ru-RU" dirty="0">
                <a:latin typeface="Bookman Old Style" panose="02050604050505020204" pitchFamily="18" charset="0"/>
              </a:rPr>
              <a:t>) вычисляет градиенты — направления, в которых нужно изменить веса, чтобы уменьшить ошибку</a:t>
            </a:r>
          </a:p>
          <a:p>
            <a:r>
              <a:rPr lang="ru-RU" dirty="0">
                <a:latin typeface="Bookman Old Style" panose="02050604050505020204" pitchFamily="18" charset="0"/>
              </a:rPr>
              <a:t>4. Затем оптимизатор обновляет веса согласно своей специфической формуле</a:t>
            </a:r>
          </a:p>
          <a:p>
            <a:endParaRPr lang="ru-RU" dirty="0">
              <a:latin typeface="Bookman Old Style" panose="02050604050505020204" pitchFamily="18" charset="0"/>
            </a:endParaRPr>
          </a:p>
          <a:p>
            <a:r>
              <a:rPr lang="ru-RU" dirty="0">
                <a:latin typeface="Bookman Old Style" panose="02050604050505020204" pitchFamily="18" charset="0"/>
              </a:rPr>
              <a:t>Базовый пример — Градиентный спуск</a:t>
            </a:r>
          </a:p>
        </p:txBody>
      </p:sp>
    </p:spTree>
    <p:extLst>
      <p:ext uri="{BB962C8B-B14F-4D97-AF65-F5344CB8AC3E}">
        <p14:creationId xmlns:p14="http://schemas.microsoft.com/office/powerpoint/2010/main" val="3825747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8F763E-D3B7-05A6-3C87-ED4C9BEBB0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C7064B3-D30F-59DE-344F-181056319B36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440C6827-2861-29F0-B8EC-C8789A17AFE9}"/>
              </a:ext>
            </a:extLst>
          </p:cNvPr>
          <p:cNvSpPr/>
          <p:nvPr/>
        </p:nvSpPr>
        <p:spPr>
          <a:xfrm rot="19800707">
            <a:off x="9124027" y="-702298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57BC8523-0304-A9EC-FDDE-274FB56095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BA27C1E-2914-C838-6C59-6B13EA207F60}"/>
              </a:ext>
            </a:extLst>
          </p:cNvPr>
          <p:cNvSpPr/>
          <p:nvPr/>
        </p:nvSpPr>
        <p:spPr>
          <a:xfrm>
            <a:off x="858911" y="797510"/>
            <a:ext cx="10032609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b="1" dirty="0">
                <a:latin typeface="Bookman Old Style" panose="02050604050505020204" pitchFamily="18" charset="0"/>
              </a:rPr>
              <a:t>Градиентный спуск</a:t>
            </a:r>
            <a:r>
              <a:rPr lang="ru-RU" sz="2400" dirty="0">
                <a:latin typeface="Bookman Old Style" panose="02050604050505020204" pitchFamily="18" charset="0"/>
              </a:rPr>
              <a:t>— это метод поиска минимума функции, когда мы постепенно спускаемся вниз по склону, делая шаги в направлении, где уклон самый крутой.</a:t>
            </a:r>
            <a:endParaRPr lang="ru-RU" sz="3600" dirty="0">
              <a:latin typeface="Bookman Old Style" panose="020506040505050202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EE0C67A-07B1-C551-798A-ACD2E190F5FF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22900" y="855676"/>
            <a:ext cx="639100" cy="62924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0F356371-AB7D-B2FA-A915-0BE21AC3A890}"/>
              </a:ext>
            </a:extLst>
          </p:cNvPr>
          <p:cNvSpPr txBox="1"/>
          <p:nvPr/>
        </p:nvSpPr>
        <p:spPr>
          <a:xfrm>
            <a:off x="442450" y="2982839"/>
            <a:ext cx="10449070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800" b="1" dirty="0">
                <a:latin typeface="Bookman Old Style" panose="02050604050505020204" pitchFamily="18" charset="0"/>
              </a:rPr>
              <a:t>Основные типы оптимизаторов:</a:t>
            </a:r>
            <a:endParaRPr lang="en-US" sz="2800" b="1" dirty="0">
              <a:latin typeface="Bookman Old Style" panose="02050604050505020204" pitchFamily="18" charset="0"/>
            </a:endParaRPr>
          </a:p>
          <a:p>
            <a:endParaRPr lang="ru-RU" sz="2800" b="1" dirty="0">
              <a:latin typeface="Bookman Old Style" panose="02050604050505020204" pitchFamily="18" charset="0"/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Bookman Old Style" panose="02050604050505020204" pitchFamily="18" charset="0"/>
              </a:rPr>
              <a:t>SGD (Stochastic Gradient Descent) — </a:t>
            </a:r>
            <a:r>
              <a:rPr lang="ru-RU" sz="2600" dirty="0">
                <a:latin typeface="Bookman Old Style" panose="02050604050505020204" pitchFamily="18" charset="0"/>
              </a:rPr>
              <a:t>базовый вариант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Bookman Old Style" panose="02050604050505020204" pitchFamily="18" charset="0"/>
              </a:rPr>
              <a:t>SGD + Momentum — </a:t>
            </a:r>
            <a:r>
              <a:rPr lang="ru-RU" sz="2600" dirty="0">
                <a:latin typeface="Bookman Old Style" panose="02050604050505020204" pitchFamily="18" charset="0"/>
              </a:rPr>
              <a:t>добавляет "инерцию" для ускорения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Bookman Old Style" panose="02050604050505020204" pitchFamily="18" charset="0"/>
              </a:rPr>
              <a:t>Adam — </a:t>
            </a:r>
            <a:r>
              <a:rPr lang="ru-RU" sz="2600" dirty="0">
                <a:latin typeface="Bookman Old Style" panose="02050604050505020204" pitchFamily="18" charset="0"/>
              </a:rPr>
              <a:t>наиболее популярный, сочетает идеи </a:t>
            </a:r>
            <a:r>
              <a:rPr lang="en-US" sz="2600" dirty="0">
                <a:latin typeface="Bookman Old Style" panose="02050604050505020204" pitchFamily="18" charset="0"/>
              </a:rPr>
              <a:t>momentum </a:t>
            </a:r>
            <a:r>
              <a:rPr lang="ru-RU" sz="2600" dirty="0">
                <a:latin typeface="Bookman Old Style" panose="02050604050505020204" pitchFamily="18" charset="0"/>
              </a:rPr>
              <a:t>и адаптивного </a:t>
            </a:r>
            <a:r>
              <a:rPr lang="en-US" sz="2600" dirty="0">
                <a:latin typeface="Bookman Old Style" panose="02050604050505020204" pitchFamily="18" charset="0"/>
              </a:rPr>
              <a:t>learning rate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600" dirty="0">
                <a:latin typeface="Bookman Old Style" panose="02050604050505020204" pitchFamily="18" charset="0"/>
              </a:rPr>
              <a:t>RMSprop — </a:t>
            </a:r>
            <a:r>
              <a:rPr lang="ru-RU" sz="2600" dirty="0">
                <a:latin typeface="Bookman Old Style" panose="02050604050505020204" pitchFamily="18" charset="0"/>
              </a:rPr>
              <a:t>адаптирует </a:t>
            </a:r>
            <a:r>
              <a:rPr lang="en-US" sz="2600" dirty="0">
                <a:latin typeface="Bookman Old Style" panose="02050604050505020204" pitchFamily="18" charset="0"/>
              </a:rPr>
              <a:t>learning rate </a:t>
            </a:r>
            <a:r>
              <a:rPr lang="ru-RU" sz="2600" dirty="0">
                <a:latin typeface="Bookman Old Style" panose="02050604050505020204" pitchFamily="18" charset="0"/>
              </a:rPr>
              <a:t>для каждого параметра</a:t>
            </a:r>
          </a:p>
        </p:txBody>
      </p:sp>
    </p:spTree>
    <p:extLst>
      <p:ext uri="{BB962C8B-B14F-4D97-AF65-F5344CB8AC3E}">
        <p14:creationId xmlns:p14="http://schemas.microsoft.com/office/powerpoint/2010/main" val="7635088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2FF42-AD64-7BE5-903A-BC0B2E7239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554CE48-18F1-C7A4-3843-B85BDC348B09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3F529DBC-8C01-E0E8-F406-0D407DBF0367}"/>
              </a:ext>
            </a:extLst>
          </p:cNvPr>
          <p:cNvSpPr/>
          <p:nvPr/>
        </p:nvSpPr>
        <p:spPr>
          <a:xfrm rot="19800707">
            <a:off x="9124027" y="-702298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A7FA7DD-E37F-1CA2-BA4A-F1F283CE0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2AB8FE5-F6F1-3C8C-07BF-6A410DC7DFBC}"/>
              </a:ext>
            </a:extLst>
          </p:cNvPr>
          <p:cNvSpPr txBox="1"/>
          <p:nvPr/>
        </p:nvSpPr>
        <p:spPr>
          <a:xfrm>
            <a:off x="391295" y="501810"/>
            <a:ext cx="1081809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Градиентный спуск (</a:t>
            </a:r>
            <a:r>
              <a:rPr lang="ru-RU" b="1" dirty="0" err="1">
                <a:latin typeface="Bookman Old Style" panose="02050604050505020204" pitchFamily="18" charset="0"/>
              </a:rPr>
              <a:t>Gradient</a:t>
            </a:r>
            <a:r>
              <a:rPr lang="ru-RU" b="1" dirty="0">
                <a:latin typeface="Bookman Old Style" panose="02050604050505020204" pitchFamily="18" charset="0"/>
              </a:rPr>
              <a:t> </a:t>
            </a:r>
            <a:r>
              <a:rPr lang="ru-RU" b="1" dirty="0" err="1">
                <a:latin typeface="Bookman Old Style" panose="02050604050505020204" pitchFamily="18" charset="0"/>
              </a:rPr>
              <a:t>Descent</a:t>
            </a:r>
            <a:r>
              <a:rPr lang="ru-RU" b="1" dirty="0">
                <a:latin typeface="Bookman Old Style" panose="02050604050505020204" pitchFamily="18" charset="0"/>
              </a:rPr>
              <a:t>) — основа основ.</a:t>
            </a:r>
            <a:endParaRPr lang="ru-RU" dirty="0">
              <a:latin typeface="Bookman Old Style" panose="02050604050505020204" pitchFamily="18" charset="0"/>
            </a:endParaRPr>
          </a:p>
          <a:p>
            <a:pPr lvl="1"/>
            <a:r>
              <a:rPr lang="ru-RU" dirty="0">
                <a:latin typeface="Bookman Old Style" panose="02050604050505020204" pitchFamily="18" charset="0"/>
              </a:rPr>
              <a:t>α — </a:t>
            </a:r>
            <a:r>
              <a:rPr lang="ru-RU" dirty="0" err="1">
                <a:latin typeface="Bookman Old Style" panose="02050604050505020204" pitchFamily="18" charset="0"/>
              </a:rPr>
              <a:t>learning</a:t>
            </a:r>
            <a:r>
              <a:rPr lang="ru-RU" dirty="0">
                <a:latin typeface="Bookman Old Style" panose="02050604050505020204" pitchFamily="18" charset="0"/>
              </a:rPr>
              <a:t> </a:t>
            </a:r>
            <a:r>
              <a:rPr lang="ru-RU" dirty="0" err="1">
                <a:latin typeface="Bookman Old Style" panose="02050604050505020204" pitchFamily="18" charset="0"/>
              </a:rPr>
              <a:t>rate</a:t>
            </a:r>
            <a:r>
              <a:rPr lang="ru-RU" dirty="0">
                <a:latin typeface="Bookman Old Style" panose="02050604050505020204" pitchFamily="18" charset="0"/>
              </a:rPr>
              <a:t> (скорость обучения), самый важный гиперпараметр.</a:t>
            </a:r>
          </a:p>
          <a:p>
            <a:endParaRPr lang="ru-RU" b="1" dirty="0">
              <a:latin typeface="Bookman Old Style" panose="02050604050505020204" pitchFamily="18" charset="0"/>
            </a:endParaRPr>
          </a:p>
          <a:p>
            <a:r>
              <a:rPr lang="ru-RU" b="1" dirty="0">
                <a:latin typeface="Bookman Old Style" panose="02050604050505020204" pitchFamily="18" charset="0"/>
              </a:rPr>
              <a:t>Стохастический градиентный спуск (SGD) + </a:t>
            </a:r>
            <a:r>
              <a:rPr lang="ru-RU" b="1" dirty="0" err="1">
                <a:latin typeface="Bookman Old Style" panose="02050604050505020204" pitchFamily="18" charset="0"/>
              </a:rPr>
              <a:t>Momentum</a:t>
            </a:r>
            <a:r>
              <a:rPr lang="ru-RU" b="1" dirty="0">
                <a:latin typeface="Bookman Old Style" panose="02050604050505020204" pitchFamily="18" charset="0"/>
              </a:rPr>
              <a:t>.</a:t>
            </a:r>
            <a:endParaRPr lang="ru-RU" dirty="0">
              <a:latin typeface="Bookman Old Style" panose="02050604050505020204" pitchFamily="18" charset="0"/>
            </a:endParaRPr>
          </a:p>
          <a:p>
            <a:pPr lvl="1"/>
            <a:r>
              <a:rPr lang="ru-RU" dirty="0">
                <a:latin typeface="Bookman Old Style" panose="02050604050505020204" pitchFamily="18" charset="0"/>
              </a:rPr>
              <a:t>SGD: использование одного примера (или </a:t>
            </a:r>
            <a:r>
              <a:rPr lang="ru-RU" dirty="0" err="1">
                <a:latin typeface="Bookman Old Style" panose="02050604050505020204" pitchFamily="18" charset="0"/>
              </a:rPr>
              <a:t>батча</a:t>
            </a:r>
            <a:r>
              <a:rPr lang="ru-RU" dirty="0">
                <a:latin typeface="Bookman Old Style" panose="02050604050505020204" pitchFamily="18" charset="0"/>
              </a:rPr>
              <a:t>) для расчета градиента. Это ускоряет обучение и добавляет шум, помогающий выпрыгивать из локальных минимумов.</a:t>
            </a:r>
          </a:p>
          <a:p>
            <a:pPr lvl="1"/>
            <a:r>
              <a:rPr lang="ru-RU" b="1" dirty="0" err="1">
                <a:latin typeface="Bookman Old Style" panose="02050604050505020204" pitchFamily="18" charset="0"/>
              </a:rPr>
              <a:t>Momentum</a:t>
            </a:r>
            <a:r>
              <a:rPr lang="ru-RU" b="1" dirty="0">
                <a:latin typeface="Bookman Old Style" panose="02050604050505020204" pitchFamily="18" charset="0"/>
              </a:rPr>
              <a:t> (Инерция):</a:t>
            </a:r>
            <a:r>
              <a:rPr lang="ru-RU" dirty="0">
                <a:latin typeface="Bookman Old Style" panose="02050604050505020204" pitchFamily="18" charset="0"/>
              </a:rPr>
              <a:t> Градиент учитывает не только текущий уклон, но и "импульс" от предыдущих шагов.</a:t>
            </a:r>
          </a:p>
          <a:p>
            <a:pPr lvl="1"/>
            <a:r>
              <a:rPr lang="ru-RU" dirty="0">
                <a:solidFill>
                  <a:schemeClr val="bg2">
                    <a:lumMod val="75000"/>
                  </a:schemeClr>
                </a:solidFill>
                <a:latin typeface="Bookman Old Style" panose="02050604050505020204" pitchFamily="18" charset="0"/>
              </a:rPr>
              <a:t>Аналогия — шарик, катящийся с горы. Он набирает скорость в нужном направлении и гасит колебания. </a:t>
            </a:r>
          </a:p>
          <a:p>
            <a:pPr lvl="1"/>
            <a:endParaRPr lang="ru-RU" b="1" dirty="0">
              <a:latin typeface="Bookman Old Style" panose="02050604050505020204" pitchFamily="18" charset="0"/>
            </a:endParaRPr>
          </a:p>
          <a:p>
            <a:r>
              <a:rPr lang="ru-RU" b="1" dirty="0">
                <a:latin typeface="Bookman Old Style" panose="02050604050505020204" pitchFamily="18" charset="0"/>
              </a:rPr>
              <a:t>Адаптивные оптимизаторы .</a:t>
            </a:r>
            <a:endParaRPr lang="ru-RU" dirty="0">
              <a:latin typeface="Bookman Old Style" panose="02050604050505020204" pitchFamily="18" charset="0"/>
            </a:endParaRPr>
          </a:p>
          <a:p>
            <a:pPr lvl="1"/>
            <a:r>
              <a:rPr lang="ru-RU" b="1" dirty="0" err="1">
                <a:latin typeface="Bookman Old Style" panose="02050604050505020204" pitchFamily="18" charset="0"/>
              </a:rPr>
              <a:t>RMSprop</a:t>
            </a:r>
            <a:r>
              <a:rPr lang="ru-RU" b="1" dirty="0">
                <a:latin typeface="Bookman Old Style" panose="02050604050505020204" pitchFamily="18" charset="0"/>
              </a:rPr>
              <a:t>:</a:t>
            </a:r>
            <a:r>
              <a:rPr lang="ru-RU" dirty="0">
                <a:latin typeface="Bookman Old Style" panose="02050604050505020204" pitchFamily="18" charset="0"/>
              </a:rPr>
              <a:t> Адаптивно изменяет </a:t>
            </a:r>
            <a:r>
              <a:rPr lang="ru-RU" dirty="0" err="1">
                <a:latin typeface="Bookman Old Style" panose="02050604050505020204" pitchFamily="18" charset="0"/>
              </a:rPr>
              <a:t>learning</a:t>
            </a:r>
            <a:r>
              <a:rPr lang="ru-RU" dirty="0">
                <a:latin typeface="Bookman Old Style" panose="02050604050505020204" pitchFamily="18" charset="0"/>
              </a:rPr>
              <a:t> </a:t>
            </a:r>
            <a:r>
              <a:rPr lang="ru-RU" dirty="0" err="1">
                <a:latin typeface="Bookman Old Style" panose="02050604050505020204" pitchFamily="18" charset="0"/>
              </a:rPr>
              <a:t>rate</a:t>
            </a:r>
            <a:r>
              <a:rPr lang="ru-RU" dirty="0">
                <a:latin typeface="Bookman Old Style" panose="02050604050505020204" pitchFamily="18" charset="0"/>
              </a:rPr>
              <a:t> для каждого параметра. Большие градиенты -&gt; меньший шаг, и наоборот.</a:t>
            </a:r>
          </a:p>
          <a:p>
            <a:pPr lvl="1"/>
            <a:r>
              <a:rPr lang="ru-RU" b="1" dirty="0">
                <a:latin typeface="Bookman Old Style" panose="02050604050505020204" pitchFamily="18" charset="0"/>
              </a:rPr>
              <a:t>Adam (</a:t>
            </a:r>
            <a:r>
              <a:rPr lang="ru-RU" b="1" dirty="0" err="1">
                <a:latin typeface="Bookman Old Style" panose="02050604050505020204" pitchFamily="18" charset="0"/>
              </a:rPr>
              <a:t>Adaptive</a:t>
            </a:r>
            <a:r>
              <a:rPr lang="ru-RU" b="1" dirty="0">
                <a:latin typeface="Bookman Old Style" panose="02050604050505020204" pitchFamily="18" charset="0"/>
              </a:rPr>
              <a:t> </a:t>
            </a:r>
            <a:r>
              <a:rPr lang="ru-RU" b="1" dirty="0" err="1">
                <a:latin typeface="Bookman Old Style" panose="02050604050505020204" pitchFamily="18" charset="0"/>
              </a:rPr>
              <a:t>Moment</a:t>
            </a:r>
            <a:r>
              <a:rPr lang="ru-RU" b="1" dirty="0">
                <a:latin typeface="Bookman Old Style" panose="02050604050505020204" pitchFamily="18" charset="0"/>
              </a:rPr>
              <a:t> </a:t>
            </a:r>
            <a:r>
              <a:rPr lang="ru-RU" b="1" dirty="0" err="1">
                <a:latin typeface="Bookman Old Style" panose="02050604050505020204" pitchFamily="18" charset="0"/>
              </a:rPr>
              <a:t>Estimation</a:t>
            </a:r>
            <a:r>
              <a:rPr lang="ru-RU" b="1" dirty="0">
                <a:latin typeface="Bookman Old Style" panose="02050604050505020204" pitchFamily="18" charset="0"/>
              </a:rPr>
              <a:t>):</a:t>
            </a:r>
            <a:r>
              <a:rPr lang="ru-RU" dirty="0">
                <a:latin typeface="Bookman Old Style" panose="02050604050505020204" pitchFamily="18" charset="0"/>
              </a:rPr>
              <a:t> Комбинирует идеи </a:t>
            </a:r>
            <a:r>
              <a:rPr lang="ru-RU" dirty="0" err="1">
                <a:latin typeface="Bookman Old Style" panose="02050604050505020204" pitchFamily="18" charset="0"/>
              </a:rPr>
              <a:t>Momentum</a:t>
            </a:r>
            <a:r>
              <a:rPr lang="ru-RU" dirty="0">
                <a:latin typeface="Bookman Old Style" panose="02050604050505020204" pitchFamily="18" charset="0"/>
              </a:rPr>
              <a:t> и </a:t>
            </a:r>
            <a:r>
              <a:rPr lang="ru-RU" dirty="0" err="1">
                <a:latin typeface="Bookman Old Style" panose="02050604050505020204" pitchFamily="18" charset="0"/>
              </a:rPr>
              <a:t>RMSprop</a:t>
            </a:r>
            <a:r>
              <a:rPr lang="ru-RU" dirty="0">
                <a:latin typeface="Bookman Old Style" panose="02050604050505020204" pitchFamily="18" charset="0"/>
              </a:rPr>
              <a:t>.</a:t>
            </a:r>
          </a:p>
          <a:p>
            <a:pPr lvl="2"/>
            <a:r>
              <a:rPr lang="ru-RU" dirty="0">
                <a:latin typeface="Bookman Old Style" panose="02050604050505020204" pitchFamily="18" charset="0"/>
              </a:rPr>
              <a:t>"Умный" оптимизатор, который запоминает прошлые градиенты (как </a:t>
            </a:r>
            <a:r>
              <a:rPr lang="ru-RU" dirty="0" err="1">
                <a:latin typeface="Bookman Old Style" panose="02050604050505020204" pitchFamily="18" charset="0"/>
              </a:rPr>
              <a:t>Momentum</a:t>
            </a:r>
            <a:r>
              <a:rPr lang="ru-RU" dirty="0">
                <a:latin typeface="Bookman Old Style" panose="02050604050505020204" pitchFamily="18" charset="0"/>
              </a:rPr>
              <a:t>) и адаптирует шаг для каждого веса (как </a:t>
            </a:r>
            <a:r>
              <a:rPr lang="ru-RU" dirty="0" err="1">
                <a:latin typeface="Bookman Old Style" panose="02050604050505020204" pitchFamily="18" charset="0"/>
              </a:rPr>
              <a:t>RMSprop</a:t>
            </a:r>
            <a:r>
              <a:rPr lang="ru-RU" dirty="0">
                <a:latin typeface="Bookman Old Style" panose="02050604050505020204" pitchFamily="18" charset="0"/>
              </a:rPr>
              <a:t>).</a:t>
            </a:r>
          </a:p>
          <a:p>
            <a:pPr lvl="2"/>
            <a:endParaRPr lang="ru-RU" dirty="0">
              <a:latin typeface="Bookman Old Style" panose="02050604050505020204" pitchFamily="18" charset="0"/>
            </a:endParaRPr>
          </a:p>
          <a:p>
            <a:r>
              <a:rPr lang="ru-RU" b="1" dirty="0">
                <a:latin typeface="Bookman Old Style" panose="02050604050505020204" pitchFamily="18" charset="0"/>
              </a:rPr>
              <a:t>Резюмируем: </a:t>
            </a:r>
            <a:r>
              <a:rPr lang="ru-RU" dirty="0">
                <a:latin typeface="Bookman Old Style" panose="02050604050505020204" pitchFamily="18" charset="0"/>
              </a:rPr>
              <a:t>SGD — базовый, </a:t>
            </a:r>
            <a:r>
              <a:rPr lang="ru-RU" dirty="0" err="1">
                <a:latin typeface="Bookman Old Style" panose="02050604050505020204" pitchFamily="18" charset="0"/>
              </a:rPr>
              <a:t>SGD+Momentum</a:t>
            </a:r>
            <a:r>
              <a:rPr lang="ru-RU" dirty="0">
                <a:latin typeface="Bookman Old Style" panose="02050604050505020204" pitchFamily="18" charset="0"/>
              </a:rPr>
              <a:t> — лучше, Adam — часто лучший выбор "из коробки" по умолчанию.</a:t>
            </a:r>
          </a:p>
        </p:txBody>
      </p:sp>
    </p:spTree>
    <p:extLst>
      <p:ext uri="{BB962C8B-B14F-4D97-AF65-F5344CB8AC3E}">
        <p14:creationId xmlns:p14="http://schemas.microsoft.com/office/powerpoint/2010/main" val="11083106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53332-07F3-86E7-439B-6DEA81E47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1E3F68E-F11C-756D-4D63-9979D344221E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40E185C-D6AE-2E0E-A048-E64B81A0669B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8825344E-54D4-982C-6D57-4B276141B4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AA91C4AF-2A57-7F13-C113-B57A18A0F8BB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Нормализации</a:t>
            </a:r>
            <a:endParaRPr lang="ru-RU" sz="20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A8563C3-14F0-124E-A2EA-F59AE2E9578F}"/>
              </a:ext>
            </a:extLst>
          </p:cNvPr>
          <p:cNvSpPr txBox="1"/>
          <p:nvPr/>
        </p:nvSpPr>
        <p:spPr>
          <a:xfrm>
            <a:off x="858909" y="1535060"/>
            <a:ext cx="9314589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600" b="1" dirty="0">
                <a:latin typeface="Bookman Old Style" panose="02050604050505020204" pitchFamily="18" charset="0"/>
              </a:rPr>
              <a:t>Нормализация</a:t>
            </a:r>
            <a:r>
              <a:rPr lang="ru-RU" sz="2600" dirty="0">
                <a:latin typeface="Bookman Old Style" panose="02050604050505020204" pitchFamily="18" charset="0"/>
              </a:rPr>
              <a:t> в нейронных сетях — это метод предобработки данных, направленный на повышение стабильности и ускорение процесса обучения путем приведения входных распределений к стандартизированному виду.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9DBF0C7-710C-D678-C6FE-384904FF505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4731" y="1610216"/>
            <a:ext cx="639100" cy="629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392196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26133A-6520-649B-D9BA-D8E9D8D38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1A2AB9-20B5-A087-3794-2C7582568AB6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6A4C19F2-CB6D-78FB-E539-6EB8692B5CB3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FC35EEC-CAE4-1A8E-F26E-C0697C6D28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86FDB11-6976-BA86-44A2-32C22AA79D14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Нормализации</a:t>
            </a:r>
            <a:endParaRPr lang="ru-RU" sz="20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C26B711-6D3A-01A5-9A4B-2C3EEA1D174B}"/>
              </a:ext>
            </a:extLst>
          </p:cNvPr>
          <p:cNvSpPr txBox="1"/>
          <p:nvPr/>
        </p:nvSpPr>
        <p:spPr>
          <a:xfrm>
            <a:off x="613863" y="1535060"/>
            <a:ext cx="1070423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Bookman Old Style" panose="02050604050505020204" pitchFamily="18" charset="0"/>
              </a:rPr>
              <a:t>Без нормализации:</a:t>
            </a: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ru-RU" sz="2400" dirty="0">
                <a:latin typeface="Bookman Old Style" panose="02050604050505020204" pitchFamily="18" charset="0"/>
              </a:rPr>
              <a:t>Данные на входе каждого слоя имеют разные масштабы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ru-RU" sz="2400" dirty="0">
                <a:latin typeface="Bookman Old Style" panose="02050604050505020204" pitchFamily="18" charset="0"/>
              </a:rPr>
              <a:t>Некоторые нейроны получают слишком большие значения, другие — слишком маленькие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ru-RU" sz="2400" dirty="0">
                <a:latin typeface="Bookman Old Style" panose="02050604050505020204" pitchFamily="18" charset="0"/>
              </a:rPr>
              <a:t>Градиенты становятся нестабильными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ru-RU" sz="2400" dirty="0">
                <a:latin typeface="Bookman Old Style" panose="02050604050505020204" pitchFamily="18" charset="0"/>
              </a:rPr>
              <a:t>Сеть учится медленно и нестабильно</a:t>
            </a: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r>
              <a:rPr lang="ru-RU" sz="2400" dirty="0">
                <a:latin typeface="Bookman Old Style" panose="02050604050505020204" pitchFamily="18" charset="0"/>
              </a:rPr>
              <a:t>С нормализацией:</a:t>
            </a:r>
          </a:p>
          <a:p>
            <a:endParaRPr lang="ru-RU" sz="2400" dirty="0">
              <a:latin typeface="Bookman Old Style" panose="02050604050505020204" pitchFamily="18" charset="0"/>
            </a:endParaRP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ru-RU" sz="2400" dirty="0">
                <a:latin typeface="Bookman Old Style" panose="02050604050505020204" pitchFamily="18" charset="0"/>
              </a:rPr>
              <a:t>Данные приводятся к единому масштабу </a:t>
            </a:r>
          </a:p>
          <a:p>
            <a:pPr marL="800100" lvl="1" indent="-342900">
              <a:buFont typeface="Wingdings" panose="05000000000000000000" pitchFamily="2" charset="2"/>
              <a:buChar char="ü"/>
            </a:pPr>
            <a:r>
              <a:rPr lang="ru-RU" sz="2400" dirty="0">
                <a:latin typeface="Bookman Old Style" panose="02050604050505020204" pitchFamily="18" charset="0"/>
              </a:rPr>
              <a:t>Обучение становится быстрым и стабильным</a:t>
            </a:r>
          </a:p>
        </p:txBody>
      </p:sp>
    </p:spTree>
    <p:extLst>
      <p:ext uri="{BB962C8B-B14F-4D97-AF65-F5344CB8AC3E}">
        <p14:creationId xmlns:p14="http://schemas.microsoft.com/office/powerpoint/2010/main" val="82421674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F4694-9918-D1A9-F9EE-CF9F4F6BD4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1DC1E66-49DE-7A38-C11A-543B4AA25041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E630A041-EB54-6234-77A3-76696A5950C1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5554880-EE95-F954-07F5-D3713CDD64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5F522B3-B023-4469-C0F8-B16DCA5787F2}"/>
              </a:ext>
            </a:extLst>
          </p:cNvPr>
          <p:cNvSpPr/>
          <p:nvPr/>
        </p:nvSpPr>
        <p:spPr>
          <a:xfrm>
            <a:off x="858910" y="382011"/>
            <a:ext cx="1003260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Нормализации</a:t>
            </a:r>
            <a:endParaRPr lang="ru-RU" sz="20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AA4E1E1-A1D8-7E85-98E1-F27B495C554C}"/>
              </a:ext>
            </a:extLst>
          </p:cNvPr>
          <p:cNvSpPr txBox="1"/>
          <p:nvPr/>
        </p:nvSpPr>
        <p:spPr>
          <a:xfrm>
            <a:off x="613863" y="1535060"/>
            <a:ext cx="10902461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 err="1">
                <a:latin typeface="Bookman Old Style" panose="02050604050505020204" pitchFamily="18" charset="0"/>
              </a:rPr>
              <a:t>Batch</a:t>
            </a:r>
            <a:r>
              <a:rPr lang="ru-RU" b="1" dirty="0">
                <a:latin typeface="Bookman Old Style" panose="02050604050505020204" pitchFamily="18" charset="0"/>
              </a:rPr>
              <a:t> </a:t>
            </a:r>
            <a:r>
              <a:rPr lang="ru-RU" b="1" dirty="0" err="1">
                <a:latin typeface="Bookman Old Style" panose="02050604050505020204" pitchFamily="18" charset="0"/>
              </a:rPr>
              <a:t>Normalization</a:t>
            </a:r>
            <a:r>
              <a:rPr lang="ru-RU" b="1" dirty="0">
                <a:latin typeface="Bookman Old Style" panose="02050604050505020204" pitchFamily="18" charset="0"/>
              </a:rPr>
              <a:t> (BN) — самое популярное решение.</a:t>
            </a:r>
            <a:endParaRPr lang="ru-RU" dirty="0">
              <a:latin typeface="Bookman Old Style" panose="02050604050505020204" pitchFamily="18" charset="0"/>
            </a:endParaRPr>
          </a:p>
          <a:p>
            <a:pPr lvl="1"/>
            <a:r>
              <a:rPr lang="ru-RU" b="1" dirty="0">
                <a:latin typeface="Bookman Old Style" panose="02050604050505020204" pitchFamily="18" charset="0"/>
              </a:rPr>
              <a:t>Идея:</a:t>
            </a:r>
            <a:r>
              <a:rPr lang="ru-RU" dirty="0">
                <a:latin typeface="Bookman Old Style" panose="02050604050505020204" pitchFamily="18" charset="0"/>
              </a:rPr>
              <a:t> Нормализуем выход </a:t>
            </a:r>
            <a:r>
              <a:rPr lang="ru-RU" dirty="0" err="1">
                <a:latin typeface="Bookman Old Style" panose="02050604050505020204" pitchFamily="18" charset="0"/>
              </a:rPr>
              <a:t>батча</a:t>
            </a:r>
            <a:r>
              <a:rPr lang="ru-RU" dirty="0">
                <a:latin typeface="Bookman Old Style" panose="02050604050505020204" pitchFamily="18" charset="0"/>
              </a:rPr>
              <a:t> с каждого слоя так, чтобы его среднее значение было 0, а дисперсия 1.</a:t>
            </a:r>
          </a:p>
          <a:p>
            <a:pPr lvl="1"/>
            <a:r>
              <a:rPr lang="ru-RU" b="1" dirty="0">
                <a:latin typeface="Bookman Old Style" panose="02050604050505020204" pitchFamily="18" charset="0"/>
              </a:rPr>
              <a:t>Как это работает :</a:t>
            </a:r>
            <a:r>
              <a:rPr lang="ru-RU" dirty="0">
                <a:latin typeface="Bookman Old Style" panose="02050604050505020204" pitchFamily="18" charset="0"/>
              </a:rPr>
              <a:t> После линейного преобразования, перед функцией активации, мы "прогоняем" данные через операцию (x - </a:t>
            </a:r>
            <a:r>
              <a:rPr lang="ru-RU" dirty="0" err="1">
                <a:latin typeface="Bookman Old Style" panose="02050604050505020204" pitchFamily="18" charset="0"/>
              </a:rPr>
              <a:t>mean</a:t>
            </a:r>
            <a:r>
              <a:rPr lang="ru-RU" dirty="0">
                <a:latin typeface="Bookman Old Style" panose="02050604050505020204" pitchFamily="18" charset="0"/>
              </a:rPr>
              <a:t>) / </a:t>
            </a:r>
            <a:r>
              <a:rPr lang="ru-RU" dirty="0" err="1">
                <a:latin typeface="Bookman Old Style" panose="02050604050505020204" pitchFamily="18" charset="0"/>
              </a:rPr>
              <a:t>std</a:t>
            </a:r>
            <a:r>
              <a:rPr lang="ru-RU" dirty="0">
                <a:latin typeface="Bookman Old Style" panose="02050604050505020204" pitchFamily="18" charset="0"/>
              </a:rPr>
              <a:t>, а затем масштабируем и сдвигаем на обучаемые параметры.</a:t>
            </a:r>
          </a:p>
          <a:p>
            <a:pPr lvl="1"/>
            <a:r>
              <a:rPr lang="ru-RU" b="1" dirty="0">
                <a:latin typeface="Bookman Old Style" panose="02050604050505020204" pitchFamily="18" charset="0"/>
              </a:rPr>
              <a:t>Преимущества:</a:t>
            </a:r>
            <a:endParaRPr lang="ru-RU" dirty="0">
              <a:latin typeface="Bookman Old Style" panose="02050604050505020204" pitchFamily="18" charset="0"/>
            </a:endParaRPr>
          </a:p>
          <a:p>
            <a:pPr lvl="2"/>
            <a:r>
              <a:rPr lang="ru-RU" dirty="0">
                <a:latin typeface="Bookman Old Style" panose="02050604050505020204" pitchFamily="18" charset="0"/>
              </a:rPr>
              <a:t>Позволяет использовать более высокие </a:t>
            </a:r>
            <a:r>
              <a:rPr lang="ru-RU" dirty="0" err="1">
                <a:latin typeface="Bookman Old Style" panose="02050604050505020204" pitchFamily="18" charset="0"/>
              </a:rPr>
              <a:t>learning</a:t>
            </a:r>
            <a:r>
              <a:rPr lang="ru-RU" dirty="0">
                <a:latin typeface="Bookman Old Style" panose="02050604050505020204" pitchFamily="18" charset="0"/>
              </a:rPr>
              <a:t> </a:t>
            </a:r>
            <a:r>
              <a:rPr lang="ru-RU" dirty="0" err="1">
                <a:latin typeface="Bookman Old Style" panose="02050604050505020204" pitchFamily="18" charset="0"/>
              </a:rPr>
              <a:t>rates</a:t>
            </a:r>
            <a:r>
              <a:rPr lang="ru-RU" dirty="0">
                <a:latin typeface="Bookman Old Style" panose="02050604050505020204" pitchFamily="18" charset="0"/>
              </a:rPr>
              <a:t>.</a:t>
            </a:r>
          </a:p>
          <a:p>
            <a:pPr lvl="2"/>
            <a:r>
              <a:rPr lang="ru-RU" dirty="0">
                <a:latin typeface="Bookman Old Style" panose="02050604050505020204" pitchFamily="18" charset="0"/>
              </a:rPr>
              <a:t>Ускоряет сходимость (требуется меньше эпох).</a:t>
            </a:r>
          </a:p>
          <a:p>
            <a:pPr lvl="2"/>
            <a:r>
              <a:rPr lang="ru-RU" dirty="0">
                <a:latin typeface="Bookman Old Style" panose="02050604050505020204" pitchFamily="18" charset="0"/>
              </a:rPr>
              <a:t>Слегка работает как </a:t>
            </a:r>
            <a:r>
              <a:rPr lang="ru-RU" dirty="0" err="1">
                <a:latin typeface="Bookman Old Style" panose="02050604050505020204" pitchFamily="18" charset="0"/>
              </a:rPr>
              <a:t>регуляризатор</a:t>
            </a:r>
            <a:r>
              <a:rPr lang="ru-RU" dirty="0">
                <a:latin typeface="Bookman Old Style" panose="02050604050505020204" pitchFamily="18" charset="0"/>
              </a:rPr>
              <a:t> (за счет шума от статистики по </a:t>
            </a:r>
            <a:r>
              <a:rPr lang="ru-RU" dirty="0" err="1">
                <a:latin typeface="Bookman Old Style" panose="02050604050505020204" pitchFamily="18" charset="0"/>
              </a:rPr>
              <a:t>батчу</a:t>
            </a:r>
            <a:r>
              <a:rPr lang="ru-RU" dirty="0">
                <a:latin typeface="Bookman Old Style" panose="02050604050505020204" pitchFamily="18" charset="0"/>
              </a:rPr>
              <a:t>).</a:t>
            </a:r>
          </a:p>
          <a:p>
            <a:pPr lvl="2"/>
            <a:endParaRPr lang="ru-RU" dirty="0">
              <a:latin typeface="Bookman Old Style" panose="02050604050505020204" pitchFamily="18" charset="0"/>
            </a:endParaRPr>
          </a:p>
          <a:p>
            <a:r>
              <a:rPr lang="ru-RU" b="1" dirty="0">
                <a:latin typeface="Bookman Old Style" panose="02050604050505020204" pitchFamily="18" charset="0"/>
              </a:rPr>
              <a:t>Другие виды нормализации:</a:t>
            </a:r>
            <a:endParaRPr lang="ru-RU" dirty="0">
              <a:latin typeface="Bookman Old Style" panose="02050604050505020204" pitchFamily="18" charset="0"/>
            </a:endParaRP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>
                <a:latin typeface="Bookman Old Style" panose="02050604050505020204" pitchFamily="18" charset="0"/>
              </a:rPr>
              <a:t>Layer </a:t>
            </a:r>
            <a:r>
              <a:rPr lang="ru-RU" b="1" dirty="0" err="1">
                <a:latin typeface="Bookman Old Style" panose="02050604050505020204" pitchFamily="18" charset="0"/>
              </a:rPr>
              <a:t>Norm</a:t>
            </a:r>
            <a:r>
              <a:rPr lang="ru-RU" b="1" dirty="0">
                <a:latin typeface="Bookman Old Style" panose="02050604050505020204" pitchFamily="18" charset="0"/>
              </a:rPr>
              <a:t>:</a:t>
            </a:r>
            <a:r>
              <a:rPr lang="ru-RU" dirty="0">
                <a:latin typeface="Bookman Old Style" panose="02050604050505020204" pitchFamily="18" charset="0"/>
              </a:rPr>
              <a:t> Используется в RNN и </a:t>
            </a:r>
            <a:r>
              <a:rPr lang="ru-RU" dirty="0" err="1">
                <a:latin typeface="Bookman Old Style" panose="02050604050505020204" pitchFamily="18" charset="0"/>
              </a:rPr>
              <a:t>Transformer</a:t>
            </a:r>
            <a:r>
              <a:rPr lang="ru-RU" dirty="0">
                <a:latin typeface="Bookman Old Style" panose="02050604050505020204" pitchFamily="18" charset="0"/>
              </a:rPr>
              <a:t> (например, в GPT). Нормализует по измерениям нейронов, а не по </a:t>
            </a:r>
            <a:r>
              <a:rPr lang="ru-RU" dirty="0" err="1">
                <a:latin typeface="Bookman Old Style" panose="02050604050505020204" pitchFamily="18" charset="0"/>
              </a:rPr>
              <a:t>батчу</a:t>
            </a:r>
            <a:r>
              <a:rPr lang="ru-RU" dirty="0">
                <a:latin typeface="Bookman Old Style" panose="02050604050505020204" pitchFamily="18" charset="0"/>
              </a:rPr>
              <a:t>. Не зависит от размера </a:t>
            </a:r>
            <a:r>
              <a:rPr lang="ru-RU" dirty="0" err="1">
                <a:latin typeface="Bookman Old Style" panose="02050604050505020204" pitchFamily="18" charset="0"/>
              </a:rPr>
              <a:t>батча</a:t>
            </a:r>
            <a:r>
              <a:rPr lang="ru-RU" dirty="0">
                <a:latin typeface="Bookman Old Style" panose="02050604050505020204" pitchFamily="18" charset="0"/>
              </a:rPr>
              <a:t>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ru-RU" b="1" dirty="0" err="1">
                <a:latin typeface="Bookman Old Style" panose="02050604050505020204" pitchFamily="18" charset="0"/>
              </a:rPr>
              <a:t>Instance</a:t>
            </a:r>
            <a:r>
              <a:rPr lang="ru-RU" b="1" dirty="0">
                <a:latin typeface="Bookman Old Style" panose="02050604050505020204" pitchFamily="18" charset="0"/>
              </a:rPr>
              <a:t> </a:t>
            </a:r>
            <a:r>
              <a:rPr lang="ru-RU" b="1" dirty="0" err="1">
                <a:latin typeface="Bookman Old Style" panose="02050604050505020204" pitchFamily="18" charset="0"/>
              </a:rPr>
              <a:t>Norm</a:t>
            </a:r>
            <a:r>
              <a:rPr lang="ru-RU" b="1" dirty="0">
                <a:latin typeface="Bookman Old Style" panose="02050604050505020204" pitchFamily="18" charset="0"/>
              </a:rPr>
              <a:t> / Group </a:t>
            </a:r>
            <a:r>
              <a:rPr lang="ru-RU" b="1" dirty="0" err="1">
                <a:latin typeface="Bookman Old Style" panose="02050604050505020204" pitchFamily="18" charset="0"/>
              </a:rPr>
              <a:t>Norm</a:t>
            </a:r>
            <a:r>
              <a:rPr lang="ru-RU" b="1" dirty="0">
                <a:latin typeface="Bookman Old Style" panose="02050604050505020204" pitchFamily="18" charset="0"/>
              </a:rPr>
              <a:t>:</a:t>
            </a:r>
            <a:r>
              <a:rPr lang="ru-RU" dirty="0">
                <a:latin typeface="Bookman Old Style" panose="02050604050505020204" pitchFamily="18" charset="0"/>
              </a:rPr>
              <a:t> Часто используются в задачах стилизации изображений и GAN.</a:t>
            </a:r>
          </a:p>
          <a:p>
            <a:br>
              <a:rPr lang="ru-RU" dirty="0">
                <a:latin typeface="Bookman Old Style" panose="02050604050505020204" pitchFamily="18" charset="0"/>
              </a:rPr>
            </a:br>
            <a:endParaRPr lang="ru-RU" sz="2400" dirty="0">
              <a:latin typeface="Bookman Old Style" panose="0205060405050502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1481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F620E3-7C06-8B12-8411-B51284521F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1CD2AD52-B8A1-0863-1F05-5CCE399E0421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352FF7E7-CC50-D685-59A9-3E4E60856976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3D4A6374-9545-46EA-3548-F1DA7BD4C7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7364A9F8-E09A-6C03-D2D4-4658E29E85E3}"/>
              </a:ext>
            </a:extLst>
          </p:cNvPr>
          <p:cNvSpPr/>
          <p:nvPr/>
        </p:nvSpPr>
        <p:spPr>
          <a:xfrm>
            <a:off x="858910" y="382011"/>
            <a:ext cx="10032609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Практический пример</a:t>
            </a:r>
          </a:p>
          <a:p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endParaRPr lang="ru-RU" sz="20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8DCF266-7F57-C748-F78E-2AD12B45FD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10" y="2982839"/>
            <a:ext cx="9782175" cy="146685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4EADCFA-ADBF-8635-4181-AFF7B418B7BF}"/>
              </a:ext>
            </a:extLst>
          </p:cNvPr>
          <p:cNvSpPr txBox="1"/>
          <p:nvPr/>
        </p:nvSpPr>
        <p:spPr>
          <a:xfrm>
            <a:off x="858910" y="1214407"/>
            <a:ext cx="109024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b="1" dirty="0">
                <a:latin typeface="Bookman Old Style" panose="02050604050505020204" pitchFamily="18" charset="0"/>
              </a:rPr>
              <a:t>Задача классификации эмоции на изображении «</a:t>
            </a:r>
            <a:r>
              <a:rPr lang="en-US" b="1" dirty="0">
                <a:latin typeface="Bookman Old Style" panose="02050604050505020204" pitchFamily="18" charset="0"/>
              </a:rPr>
              <a:t>sad</a:t>
            </a:r>
            <a:r>
              <a:rPr lang="ru-RU" b="1" dirty="0">
                <a:latin typeface="Bookman Old Style" panose="02050604050505020204" pitchFamily="18" charset="0"/>
              </a:rPr>
              <a:t>»</a:t>
            </a:r>
            <a:r>
              <a:rPr lang="en-US" b="1" dirty="0">
                <a:latin typeface="Bookman Old Style" panose="02050604050505020204" pitchFamily="18" charset="0"/>
              </a:rPr>
              <a:t> </a:t>
            </a:r>
            <a:r>
              <a:rPr lang="ru-RU" b="1" dirty="0">
                <a:latin typeface="Bookman Old Style" panose="02050604050505020204" pitchFamily="18" charset="0"/>
              </a:rPr>
              <a:t>или «</a:t>
            </a:r>
            <a:r>
              <a:rPr lang="en-US" b="1" dirty="0">
                <a:latin typeface="Bookman Old Style" panose="02050604050505020204" pitchFamily="18" charset="0"/>
              </a:rPr>
              <a:t>happy</a:t>
            </a:r>
            <a:r>
              <a:rPr lang="ru-RU" b="1" dirty="0">
                <a:latin typeface="Bookman Old Style" panose="02050604050505020204" pitchFamily="18" charset="0"/>
              </a:rPr>
              <a:t>»</a:t>
            </a:r>
            <a:endParaRPr lang="ru-RU" sz="2400" dirty="0">
              <a:latin typeface="Bookman Old Style" panose="0205060405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07FB0F-6C17-B5E2-E1CC-D6F2184EE1B0}"/>
              </a:ext>
            </a:extLst>
          </p:cNvPr>
          <p:cNvSpPr txBox="1"/>
          <p:nvPr/>
        </p:nvSpPr>
        <p:spPr>
          <a:xfrm>
            <a:off x="858910" y="2128701"/>
            <a:ext cx="7615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Импорт датасета: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763083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A849B9-09B1-359E-4B16-FFBB2C18EC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88BC4D0-CDF6-5A91-ADD8-2F4AC36C2D7E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122F941B-7C9E-BBB3-026F-650C99825A81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98E72B5C-41F4-4EFA-4366-3494B23574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0BB324BC-8518-D644-1883-0E2FC37F1F61}"/>
              </a:ext>
            </a:extLst>
          </p:cNvPr>
          <p:cNvSpPr/>
          <p:nvPr/>
        </p:nvSpPr>
        <p:spPr>
          <a:xfrm>
            <a:off x="858910" y="382011"/>
            <a:ext cx="10032609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Практический пример</a:t>
            </a:r>
          </a:p>
          <a:p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endParaRPr lang="ru-RU" sz="20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193B633-5023-A186-E6A8-532C148FE46D}"/>
              </a:ext>
            </a:extLst>
          </p:cNvPr>
          <p:cNvSpPr txBox="1"/>
          <p:nvPr/>
        </p:nvSpPr>
        <p:spPr>
          <a:xfrm>
            <a:off x="475246" y="1064813"/>
            <a:ext cx="76157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dirty="0">
                <a:latin typeface="Bookman Old Style" panose="02050604050505020204" pitchFamily="18" charset="0"/>
              </a:rPr>
              <a:t>Архитектура нейронной сети: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8C1B088E-7F1C-85E2-EC75-3E625B2FDF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65" y="1434145"/>
            <a:ext cx="10687050" cy="389572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DB00A08-125F-84E9-66AB-6E72C24B6305}"/>
              </a:ext>
            </a:extLst>
          </p:cNvPr>
          <p:cNvSpPr txBox="1"/>
          <p:nvPr/>
        </p:nvSpPr>
        <p:spPr>
          <a:xfrm>
            <a:off x="504197" y="5345989"/>
            <a:ext cx="11063585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latin typeface="Bookman Old Style" panose="02050604050505020204" pitchFamily="18" charset="0"/>
              </a:rPr>
              <a:t>Padding</a:t>
            </a:r>
            <a:r>
              <a:rPr lang="ru-RU" sz="1600" b="1" dirty="0">
                <a:latin typeface="Bookman Old Style" panose="02050604050505020204" pitchFamily="18" charset="0"/>
              </a:rPr>
              <a:t> (дополнение)— </a:t>
            </a:r>
            <a:r>
              <a:rPr lang="ru-RU" sz="1600" dirty="0">
                <a:latin typeface="Bookman Old Style" panose="02050604050505020204" pitchFamily="18" charset="0"/>
              </a:rPr>
              <a:t>это техника добавления искусственных данных (обычно нулей) к границам входного тензора для сохранения или контроля пространственных размеров после операций свертки или </a:t>
            </a:r>
            <a:r>
              <a:rPr lang="ru-RU" sz="1600" dirty="0" err="1">
                <a:latin typeface="Bookman Old Style" panose="02050604050505020204" pitchFamily="18" charset="0"/>
              </a:rPr>
              <a:t>пулинга</a:t>
            </a:r>
            <a:r>
              <a:rPr lang="ru-RU" sz="1600" dirty="0">
                <a:latin typeface="Bookman Old Style" panose="02050604050505020204" pitchFamily="18" charset="0"/>
              </a:rPr>
              <a:t>.</a:t>
            </a:r>
          </a:p>
          <a:p>
            <a:r>
              <a:rPr lang="ru-RU" sz="1600" b="1" dirty="0" err="1">
                <a:latin typeface="Bookman Old Style" panose="02050604050505020204" pitchFamily="18" charset="0"/>
              </a:rPr>
              <a:t>Padding</a:t>
            </a:r>
            <a:r>
              <a:rPr lang="ru-RU" sz="1600" b="1" dirty="0">
                <a:latin typeface="Bookman Old Style" panose="02050604050505020204" pitchFamily="18" charset="0"/>
              </a:rPr>
              <a:t> 'SAME' </a:t>
            </a:r>
            <a:r>
              <a:rPr lang="ru-RU" sz="1600" dirty="0">
                <a:latin typeface="Bookman Old Style" panose="02050604050505020204" pitchFamily="18" charset="0"/>
              </a:rPr>
              <a:t>— это тип </a:t>
            </a:r>
            <a:r>
              <a:rPr lang="ru-RU" sz="1600" dirty="0" err="1">
                <a:latin typeface="Bookman Old Style" panose="02050604050505020204" pitchFamily="18" charset="0"/>
              </a:rPr>
              <a:t>паддинга</a:t>
            </a:r>
            <a:r>
              <a:rPr lang="ru-RU" sz="1600" dirty="0">
                <a:latin typeface="Bookman Old Style" panose="02050604050505020204" pitchFamily="18" charset="0"/>
              </a:rPr>
              <a:t>, при котором выходной размер </a:t>
            </a:r>
            <a:r>
              <a:rPr lang="ru-RU" sz="1600" dirty="0" err="1">
                <a:latin typeface="Bookman Old Style" panose="02050604050505020204" pitchFamily="18" charset="0"/>
              </a:rPr>
              <a:t>feature</a:t>
            </a:r>
            <a:r>
              <a:rPr lang="ru-RU" sz="1600" dirty="0">
                <a:latin typeface="Bookman Old Style" panose="02050604050505020204" pitchFamily="18" charset="0"/>
              </a:rPr>
              <a:t> </a:t>
            </a:r>
            <a:r>
              <a:rPr lang="ru-RU" sz="1600" dirty="0" err="1">
                <a:latin typeface="Bookman Old Style" panose="02050604050505020204" pitchFamily="18" charset="0"/>
              </a:rPr>
              <a:t>map</a:t>
            </a:r>
            <a:r>
              <a:rPr lang="ru-RU" sz="1600" dirty="0">
                <a:latin typeface="Bookman Old Style" panose="02050604050505020204" pitchFamily="18" charset="0"/>
              </a:rPr>
              <a:t> совпадает с входным размером после операции свертки.</a:t>
            </a:r>
          </a:p>
        </p:txBody>
      </p:sp>
    </p:spTree>
    <p:extLst>
      <p:ext uri="{BB962C8B-B14F-4D97-AF65-F5344CB8AC3E}">
        <p14:creationId xmlns:p14="http://schemas.microsoft.com/office/powerpoint/2010/main" val="22178592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D121DA-FF44-4A29-7D1E-1C65457FC8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7913197E-2DD4-C4AD-2BF0-B137D97FAF4E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AEB98068-AEC0-A274-FEBC-F4DB72F8184A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E1DFA604-D463-74B0-A8A7-176201AD62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4C0343B5-C021-E6A6-8296-082F5FBE8A42}"/>
              </a:ext>
            </a:extLst>
          </p:cNvPr>
          <p:cNvSpPr/>
          <p:nvPr/>
        </p:nvSpPr>
        <p:spPr>
          <a:xfrm>
            <a:off x="858910" y="382011"/>
            <a:ext cx="10032609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Практический пример</a:t>
            </a:r>
          </a:p>
          <a:p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endParaRPr lang="ru-RU" sz="20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FAEA877C-0BA0-1EB1-391F-44D6F7E9E0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8910" y="1012953"/>
            <a:ext cx="6436529" cy="5753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39337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28FE66-D127-2E68-D19E-0FA80E0F10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0D6B4675-8641-3188-B08C-36B45BADD69D}"/>
              </a:ext>
            </a:extLst>
          </p:cNvPr>
          <p:cNvSpPr txBox="1"/>
          <p:nvPr/>
        </p:nvSpPr>
        <p:spPr>
          <a:xfrm rot="16200000">
            <a:off x="10015070" y="3011534"/>
            <a:ext cx="3594254" cy="369332"/>
          </a:xfrm>
          <a:prstGeom prst="rect">
            <a:avLst/>
          </a:prstGeom>
          <a:solidFill>
            <a:schemeClr val="accent1">
              <a:alpha val="0"/>
            </a:schemeClr>
          </a:solidFill>
        </p:spPr>
        <p:txBody>
          <a:bodyPr wrap="none" rtlCol="0">
            <a:spAutoFit/>
          </a:bodyPr>
          <a:lstStyle/>
          <a:p>
            <a:r>
              <a:rPr lang="ru-RU" dirty="0">
                <a:solidFill>
                  <a:schemeClr val="accent1">
                    <a:lumMod val="75000"/>
                    <a:alpha val="38000"/>
                  </a:schemeClr>
                </a:solidFill>
                <a:latin typeface="AvantGardeGothicCTT" pitchFamily="2" charset="0"/>
              </a:rPr>
              <a:t>Методы машинного обучения</a:t>
            </a:r>
          </a:p>
        </p:txBody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42BFF586-0756-4523-E65D-E2748980DDFE}"/>
              </a:ext>
            </a:extLst>
          </p:cNvPr>
          <p:cNvSpPr/>
          <p:nvPr/>
        </p:nvSpPr>
        <p:spPr>
          <a:xfrm rot="19800707">
            <a:off x="9104844" y="-702297"/>
            <a:ext cx="4590197" cy="7370273"/>
          </a:xfrm>
          <a:custGeom>
            <a:avLst/>
            <a:gdLst/>
            <a:ahLst/>
            <a:cxnLst/>
            <a:rect l="l" t="t" r="r" b="b"/>
            <a:pathLst>
              <a:path w="6885296" h="11055409">
                <a:moveTo>
                  <a:pt x="0" y="0"/>
                </a:moveTo>
                <a:lnTo>
                  <a:pt x="6885296" y="0"/>
                </a:lnTo>
                <a:lnTo>
                  <a:pt x="6885296" y="11055409"/>
                </a:lnTo>
                <a:lnTo>
                  <a:pt x="0" y="11055409"/>
                </a:lnTo>
                <a:lnTo>
                  <a:pt x="0" y="0"/>
                </a:lnTo>
                <a:close/>
              </a:path>
            </a:pathLst>
          </a:custGeom>
          <a:blipFill dpi="0" rotWithShape="1">
            <a:blip r:embed="rId2">
              <a:alphaModFix amt="12000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>
              <a:fillRect/>
            </a:stretch>
          </a:blipFill>
        </p:spPr>
        <p:txBody>
          <a:bodyPr/>
          <a:lstStyle/>
          <a:p>
            <a:endParaRPr lang="ru-RU" dirty="0"/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1CF2DC49-CF28-A507-CE43-09FF5216E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C6E823E8-3390-99A5-DCA1-9E3C827F97C4}"/>
              </a:ext>
            </a:extLst>
          </p:cNvPr>
          <p:cNvSpPr/>
          <p:nvPr/>
        </p:nvSpPr>
        <p:spPr>
          <a:xfrm>
            <a:off x="858910" y="382011"/>
            <a:ext cx="10032609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800" b="1" dirty="0">
                <a:solidFill>
                  <a:schemeClr val="accent5">
                    <a:lumMod val="75000"/>
                  </a:schemeClr>
                </a:solidFill>
                <a:latin typeface="Bookman Old Style" panose="02050604050505020204" pitchFamily="18" charset="0"/>
              </a:rPr>
              <a:t>Практический пример</a:t>
            </a:r>
          </a:p>
          <a:p>
            <a:endParaRPr lang="ru-RU" sz="2800" b="1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  <a:p>
            <a:endParaRPr lang="ru-RU" sz="2000" dirty="0">
              <a:solidFill>
                <a:schemeClr val="accent5">
                  <a:lumMod val="75000"/>
                </a:schemeClr>
              </a:solidFill>
              <a:latin typeface="Bookman Old Style" panose="020506040505050202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FE6F4977-C11C-F005-AD65-A5D147709D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16007"/>
            <a:ext cx="12192000" cy="455776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5FF5E6A-91CF-C85E-DE24-04738A2C1B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65" y="2068439"/>
            <a:ext cx="4657725" cy="182880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DB54FD99-E00E-B289-1442-531B6FAE01A4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t="49175"/>
          <a:stretch>
            <a:fillRect/>
          </a:stretch>
        </p:blipFill>
        <p:spPr>
          <a:xfrm>
            <a:off x="373376" y="5352117"/>
            <a:ext cx="6208968" cy="1269290"/>
          </a:xfrm>
          <a:prstGeom prst="rect">
            <a:avLst/>
          </a:prstGeom>
        </p:spPr>
      </p:pic>
      <p:pic>
        <p:nvPicPr>
          <p:cNvPr id="17" name="Рисунок 16">
            <a:extLst>
              <a:ext uri="{FF2B5EF4-FFF2-40B4-BE49-F238E27FC236}">
                <a16:creationId xmlns:a16="http://schemas.microsoft.com/office/drawing/2014/main" id="{31E65324-2BA1-F017-0B30-68F75213711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4834" y="5010261"/>
            <a:ext cx="3514725" cy="114300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3E2133F5-65CC-92C3-25F6-8409AE4B8316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b="60044"/>
          <a:stretch>
            <a:fillRect/>
          </a:stretch>
        </p:blipFill>
        <p:spPr>
          <a:xfrm>
            <a:off x="373376" y="4331892"/>
            <a:ext cx="6208968" cy="997851"/>
          </a:xfrm>
          <a:prstGeom prst="rect">
            <a:avLst/>
          </a:prstGeom>
        </p:spPr>
      </p:pic>
      <p:pic>
        <p:nvPicPr>
          <p:cNvPr id="19" name="Рисунок 18">
            <a:extLst>
              <a:ext uri="{FF2B5EF4-FFF2-40B4-BE49-F238E27FC236}">
                <a16:creationId xmlns:a16="http://schemas.microsoft.com/office/drawing/2014/main" id="{4CA40941-B301-0FB1-7DA8-D70DD689004C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86588" y="3210899"/>
            <a:ext cx="4360818" cy="2315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512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8369</TotalTime>
  <Words>714</Words>
  <Application>Microsoft Office PowerPoint</Application>
  <PresentationFormat>Широкоэкранный</PresentationFormat>
  <Paragraphs>83</Paragraphs>
  <Slides>11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Arial</vt:lpstr>
      <vt:lpstr>AvantGardeGothicCTT</vt:lpstr>
      <vt:lpstr>Bookman Old Style</vt:lpstr>
      <vt:lpstr>Calibri</vt:lpstr>
      <vt:lpstr>Calibri Light</vt:lpstr>
      <vt:lpstr>Wingdings</vt:lpstr>
      <vt:lpstr>Тема Office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Учетная запись Майкрософт</dc:creator>
  <cp:lastModifiedBy>Дементьева Кристина</cp:lastModifiedBy>
  <cp:revision>145</cp:revision>
  <dcterms:created xsi:type="dcterms:W3CDTF">2023-08-23T05:44:28Z</dcterms:created>
  <dcterms:modified xsi:type="dcterms:W3CDTF">2025-11-18T11:21:10Z</dcterms:modified>
</cp:coreProperties>
</file>