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8" r:id="rId2"/>
    <p:sldId id="323" r:id="rId3"/>
    <p:sldId id="276" r:id="rId4"/>
    <p:sldId id="299" r:id="rId5"/>
    <p:sldId id="312" r:id="rId6"/>
    <p:sldId id="300" r:id="rId7"/>
    <p:sldId id="308" r:id="rId8"/>
    <p:sldId id="309" r:id="rId9"/>
    <p:sldId id="307" r:id="rId10"/>
    <p:sldId id="302" r:id="rId11"/>
    <p:sldId id="303" r:id="rId12"/>
    <p:sldId id="301" r:id="rId13"/>
    <p:sldId id="310" r:id="rId14"/>
    <p:sldId id="311" r:id="rId15"/>
    <p:sldId id="290" r:id="rId16"/>
    <p:sldId id="304" r:id="rId17"/>
    <p:sldId id="305" r:id="rId18"/>
    <p:sldId id="314" r:id="rId19"/>
    <p:sldId id="316" r:id="rId20"/>
    <p:sldId id="315" r:id="rId21"/>
    <p:sldId id="317" r:id="rId22"/>
    <p:sldId id="322" r:id="rId23"/>
    <p:sldId id="318" r:id="rId24"/>
    <p:sldId id="319" r:id="rId25"/>
    <p:sldId id="320" r:id="rId26"/>
    <p:sldId id="321"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7DE"/>
    <a:srgbClr val="A9DD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7" autoAdjust="0"/>
  </p:normalViewPr>
  <p:slideViewPr>
    <p:cSldViewPr snapToGrid="0">
      <p:cViewPr varScale="1">
        <p:scale>
          <a:sx n="79" d="100"/>
          <a:sy n="79" d="100"/>
        </p:scale>
        <p:origin x="667" y="43"/>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97C6D7-BF3B-42FC-91F0-99BFD321B0AA}" type="datetimeFigureOut">
              <a:rPr lang="ru-RU" smtClean="0"/>
              <a:t>23.09.2025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69BB3-D495-4F17-A4D7-5AE572FCE6CA}" type="slidenum">
              <a:rPr lang="ru-RU" smtClean="0"/>
              <a:t>‹#›</a:t>
            </a:fld>
            <a:endParaRPr lang="ru-RU"/>
          </a:p>
        </p:txBody>
      </p:sp>
    </p:spTree>
    <p:extLst>
      <p:ext uri="{BB962C8B-B14F-4D97-AF65-F5344CB8AC3E}">
        <p14:creationId xmlns:p14="http://schemas.microsoft.com/office/powerpoint/2010/main" val="16321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617539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1411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690172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712B4C39-779B-456F-B6F7-709D0BC5EA86}" type="datetimeFigureOut">
              <a:rPr lang="ru-RU" smtClean="0"/>
              <a:t>23.09.2025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87195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712B4C39-779B-456F-B6F7-709D0BC5EA86}" type="datetimeFigureOut">
              <a:rPr lang="ru-RU" smtClean="0"/>
              <a:t>23.09.2025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248213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712B4C39-779B-456F-B6F7-709D0BC5EA86}" type="datetimeFigureOut">
              <a:rPr lang="ru-RU" smtClean="0"/>
              <a:t>23.09.2025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84764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12B4C39-779B-456F-B6F7-709D0BC5EA86}" type="datetimeFigureOut">
              <a:rPr lang="ru-RU" smtClean="0"/>
              <a:t>23.09.2025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24842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23.09.2025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1176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23.09.2025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39433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743647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4295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2B4C39-779B-456F-B6F7-709D0BC5EA86}" type="datetimeFigureOut">
              <a:rPr lang="ru-RU" smtClean="0"/>
              <a:t>23.09.2025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DAFC8-B654-4173-BA48-78DA0FDD1ECD}" type="slidenum">
              <a:rPr lang="ru-RU" smtClean="0"/>
              <a:t>‹#›</a:t>
            </a:fld>
            <a:endParaRPr lang="ru-RU"/>
          </a:p>
        </p:txBody>
      </p:sp>
    </p:spTree>
    <p:extLst>
      <p:ext uri="{BB962C8B-B14F-4D97-AF65-F5344CB8AC3E}">
        <p14:creationId xmlns:p14="http://schemas.microsoft.com/office/powerpoint/2010/main" val="3507657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111642">
            <a:off x="7442248" y="879012"/>
            <a:ext cx="5859056" cy="5658577"/>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rcRect/>
            <a:stretch>
              <a:fillRect r="-18832"/>
            </a:stretch>
          </a:blipFill>
        </p:spPr>
      </p:sp>
      <p:sp>
        <p:nvSpPr>
          <p:cNvPr id="4" name="Freeform 4"/>
          <p:cNvSpPr/>
          <p:nvPr/>
        </p:nvSpPr>
        <p:spPr>
          <a:xfrm>
            <a:off x="2878961" y="6172200"/>
            <a:ext cx="6484879" cy="685800"/>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rcRect/>
            <a:stretch>
              <a:fillRect b="-202028"/>
            </a:stretch>
          </a:blipFill>
        </p:spPr>
      </p:sp>
      <p:sp>
        <p:nvSpPr>
          <p:cNvPr id="5" name="TextBox 5"/>
          <p:cNvSpPr txBox="1"/>
          <p:nvPr/>
        </p:nvSpPr>
        <p:spPr>
          <a:xfrm>
            <a:off x="616540" y="976354"/>
            <a:ext cx="5696501" cy="2492990"/>
          </a:xfrm>
          <a:prstGeom prst="rect">
            <a:avLst/>
          </a:prstGeom>
        </p:spPr>
        <p:txBody>
          <a:bodyPr lIns="0" tIns="0" rIns="0" bIns="0" rtlCol="0" anchor="t">
            <a:spAutoFit/>
          </a:bodyPr>
          <a:lstStyle/>
          <a:p>
            <a:r>
              <a:rPr lang="ru-RU" sz="5400" dirty="0">
                <a:solidFill>
                  <a:srgbClr val="004AAD"/>
                </a:solidFill>
                <a:latin typeface="Bookman Old Style" panose="02050604050505020204" pitchFamily="18" charset="0"/>
              </a:rPr>
              <a:t>Методы машинного обучения</a:t>
            </a:r>
            <a:endParaRPr lang="en-US" sz="5400" dirty="0">
              <a:solidFill>
                <a:srgbClr val="004AAD"/>
              </a:solidFill>
              <a:latin typeface="Bookman Old Style" panose="02050604050505020204" pitchFamily="18" charset="0"/>
            </a:endParaRPr>
          </a:p>
        </p:txBody>
      </p:sp>
      <p:sp>
        <p:nvSpPr>
          <p:cNvPr id="6" name="TextBox 6"/>
          <p:cNvSpPr txBox="1"/>
          <p:nvPr/>
        </p:nvSpPr>
        <p:spPr>
          <a:xfrm>
            <a:off x="616540" y="4654773"/>
            <a:ext cx="6826676" cy="923330"/>
          </a:xfrm>
          <a:prstGeom prst="rect">
            <a:avLst/>
          </a:prstGeom>
        </p:spPr>
        <p:txBody>
          <a:bodyPr wrap="square" lIns="0" tIns="0" rIns="0" bIns="0" rtlCol="0" anchor="t">
            <a:spAutoFit/>
          </a:bodyPr>
          <a:lstStyle/>
          <a:p>
            <a:r>
              <a:rPr lang="ru-RU" sz="2800" dirty="0">
                <a:solidFill>
                  <a:srgbClr val="2BB4D4"/>
                </a:solidFill>
                <a:latin typeface="Bookman Old Style" panose="02050604050505020204" pitchFamily="18" charset="0"/>
              </a:rPr>
              <a:t>Дементьева Кристина Игоревна, </a:t>
            </a:r>
            <a:endParaRPr lang="en-US" sz="2800" dirty="0">
              <a:solidFill>
                <a:srgbClr val="2BB4D4"/>
              </a:solidFill>
              <a:latin typeface="Bookman Old Style" panose="02050604050505020204" pitchFamily="18" charset="0"/>
            </a:endParaRPr>
          </a:p>
          <a:p>
            <a:r>
              <a:rPr lang="ru-RU" sz="1600" dirty="0">
                <a:solidFill>
                  <a:srgbClr val="2BB4D4"/>
                </a:solidFill>
                <a:latin typeface="Bookman Old Style" panose="02050604050505020204" pitchFamily="18" charset="0"/>
              </a:rPr>
              <a:t>Старший преподаватель кафедры Прикладной математики и кибернетики СибГУТИ</a:t>
            </a:r>
            <a:endParaRPr lang="en-US" sz="1600" dirty="0">
              <a:solidFill>
                <a:srgbClr val="2BB4D4"/>
              </a:solidFill>
              <a:latin typeface="Bookman Old Style" panose="02050604050505020204" pitchFamily="18" charset="0"/>
            </a:endParaRPr>
          </a:p>
        </p:txBody>
      </p:sp>
      <p:sp>
        <p:nvSpPr>
          <p:cNvPr id="9" name="TextBox 8"/>
          <p:cNvSpPr txBox="1"/>
          <p:nvPr/>
        </p:nvSpPr>
        <p:spPr>
          <a:xfrm rot="16200000">
            <a:off x="9979003" y="3011534"/>
            <a:ext cx="3666388"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Bookman Old Style" panose="02050604050505020204" pitchFamily="18" charset="0"/>
              </a:rPr>
              <a:t>Методы машинного обучения</a:t>
            </a:r>
          </a:p>
        </p:txBody>
      </p:sp>
    </p:spTree>
    <p:extLst>
      <p:ext uri="{BB962C8B-B14F-4D97-AF65-F5344CB8AC3E}">
        <p14:creationId xmlns:p14="http://schemas.microsoft.com/office/powerpoint/2010/main" val="2836898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FD56-EBB9-2608-A3A0-71A3CECF1A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0698B6-7268-ABCB-CF23-F85AB471EA70}"/>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3D18DC07-1B94-0A84-7776-EF82A65BEC36}"/>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pic>
        <p:nvPicPr>
          <p:cNvPr id="7" name="Рисунок 6">
            <a:extLst>
              <a:ext uri="{FF2B5EF4-FFF2-40B4-BE49-F238E27FC236}">
                <a16:creationId xmlns:a16="http://schemas.microsoft.com/office/drawing/2014/main" id="{49B937E3-ADB7-3732-E33E-EAD1534097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1129009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Байесовские классификатор</a:t>
            </a:r>
          </a:p>
        </p:txBody>
      </p:sp>
      <p:sp>
        <p:nvSpPr>
          <p:cNvPr id="2" name="Прямоугольник 1"/>
          <p:cNvSpPr/>
          <p:nvPr/>
        </p:nvSpPr>
        <p:spPr>
          <a:xfrm>
            <a:off x="635669" y="1777396"/>
            <a:ext cx="9077497" cy="3139321"/>
          </a:xfrm>
          <a:prstGeom prst="rect">
            <a:avLst/>
          </a:prstGeom>
        </p:spPr>
        <p:txBody>
          <a:bodyPr wrap="square">
            <a:spAutoFit/>
          </a:bodyPr>
          <a:lstStyle/>
          <a:p>
            <a:r>
              <a:rPr lang="ru-RU" b="1" dirty="0">
                <a:latin typeface="Bookman Old Style" panose="02050604050505020204" pitchFamily="18" charset="0"/>
              </a:rPr>
              <a:t>Байесовский классификатор </a:t>
            </a:r>
            <a:r>
              <a:rPr lang="ru-RU" dirty="0">
                <a:latin typeface="Bookman Old Style" panose="02050604050505020204" pitchFamily="18" charset="0"/>
              </a:rPr>
              <a:t>— широкий класс алгоритмов классификации, основанный на принципе максимума апостериорной вероятности. Для классифицируемого объекта вычисляются функции правдоподобия каждого из классов, по ним вычисляются апостериорные вероятности классов</a:t>
            </a:r>
            <a:r>
              <a:rPr lang="en-US" dirty="0">
                <a:latin typeface="Bookman Old Style" panose="02050604050505020204" pitchFamily="18" charset="0"/>
              </a:rPr>
              <a:t>. </a:t>
            </a:r>
            <a:r>
              <a:rPr lang="ru-RU" dirty="0">
                <a:latin typeface="Bookman Old Style" panose="02050604050505020204" pitchFamily="18" charset="0"/>
              </a:rPr>
              <a:t>Объект относится к тому классу, для которого апостериорная вероятность максимальна.</a:t>
            </a:r>
          </a:p>
          <a:p>
            <a:endParaRPr lang="ru-RU" dirty="0">
              <a:latin typeface="Bookman Old Style" panose="02050604050505020204" pitchFamily="18" charset="0"/>
            </a:endParaRPr>
          </a:p>
          <a:p>
            <a:r>
              <a:rPr lang="ru-RU" dirty="0">
                <a:latin typeface="Bookman Old Style" panose="02050604050505020204" pitchFamily="18" charset="0"/>
              </a:rPr>
              <a:t>Апостериорная вероятность - условная вероятность случайного события при условии того, что известны апостериорные данные, то есть полученные после опыта.</a:t>
            </a:r>
          </a:p>
          <a:p>
            <a:endParaRPr lang="ru-RU" dirty="0">
              <a:latin typeface="Bookman Old Style" panose="02050604050505020204" pitchFamily="18" charset="0"/>
            </a:endParaRPr>
          </a:p>
        </p:txBody>
      </p:sp>
    </p:spTree>
    <p:extLst>
      <p:ext uri="{BB962C8B-B14F-4D97-AF65-F5344CB8AC3E}">
        <p14:creationId xmlns:p14="http://schemas.microsoft.com/office/powerpoint/2010/main" val="3070000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Байесовские классификатор</a:t>
            </a:r>
          </a:p>
        </p:txBody>
      </p:sp>
      <p:sp>
        <p:nvSpPr>
          <p:cNvPr id="8" name="Прямоугольник 7"/>
          <p:cNvSpPr/>
          <p:nvPr/>
        </p:nvSpPr>
        <p:spPr>
          <a:xfrm>
            <a:off x="635670" y="1752897"/>
            <a:ext cx="9189466" cy="646331"/>
          </a:xfrm>
          <a:prstGeom prst="rect">
            <a:avLst/>
          </a:prstGeom>
        </p:spPr>
        <p:txBody>
          <a:bodyPr wrap="square">
            <a:spAutoFit/>
          </a:bodyPr>
          <a:lstStyle/>
          <a:p>
            <a:r>
              <a:rPr lang="ru-RU" dirty="0">
                <a:latin typeface="Bookman Old Style" panose="02050604050505020204" pitchFamily="18" charset="0"/>
              </a:rPr>
              <a:t>Теорема Байеса позволяет рассчитать апостериорную вероятность P(A | B) на основе P(A), P(B) и P(B | A).</a:t>
            </a:r>
          </a:p>
        </p:txBody>
      </p:sp>
      <p:pic>
        <p:nvPicPr>
          <p:cNvPr id="9" name="Picture 2" descr="🤖 Наивный байесовский алгоритм классификации: преимущества и недостатк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4416" y="2826908"/>
            <a:ext cx="6591300" cy="1924051"/>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735928" y="5000598"/>
            <a:ext cx="11076269" cy="1200329"/>
          </a:xfrm>
          <a:prstGeom prst="rect">
            <a:avLst/>
          </a:prstGeom>
        </p:spPr>
        <p:txBody>
          <a:bodyPr wrap="square">
            <a:spAutoFit/>
          </a:bodyPr>
          <a:lstStyle/>
          <a:p>
            <a:r>
              <a:rPr lang="ru-RU" b="1" dirty="0">
                <a:latin typeface="Bookman Old Style" panose="02050604050505020204" pitchFamily="18" charset="0"/>
              </a:rPr>
              <a:t>P(A | B) </a:t>
            </a:r>
            <a:r>
              <a:rPr lang="ru-RU" dirty="0">
                <a:latin typeface="Bookman Old Style" panose="02050604050505020204" pitchFamily="18" charset="0"/>
              </a:rPr>
              <a:t>– апостериорная вероятность (что A из B истинно)</a:t>
            </a:r>
          </a:p>
          <a:p>
            <a:r>
              <a:rPr lang="ru-RU" b="1" dirty="0">
                <a:latin typeface="Bookman Old Style" panose="02050604050505020204" pitchFamily="18" charset="0"/>
              </a:rPr>
              <a:t>P(A) </a:t>
            </a:r>
            <a:r>
              <a:rPr lang="ru-RU" dirty="0">
                <a:latin typeface="Bookman Old Style" panose="02050604050505020204" pitchFamily="18" charset="0"/>
              </a:rPr>
              <a:t>– априорная вероятность (независимая вероятность A)</a:t>
            </a:r>
          </a:p>
          <a:p>
            <a:r>
              <a:rPr lang="ru-RU" b="1" dirty="0">
                <a:latin typeface="Bookman Old Style" panose="02050604050505020204" pitchFamily="18" charset="0"/>
              </a:rPr>
              <a:t>P(B | A) </a:t>
            </a:r>
            <a:r>
              <a:rPr lang="ru-RU" dirty="0">
                <a:latin typeface="Bookman Old Style" panose="02050604050505020204" pitchFamily="18" charset="0"/>
              </a:rPr>
              <a:t>– вероятность данного значения признака при данном классе. (что B из A истинно)</a:t>
            </a:r>
          </a:p>
          <a:p>
            <a:r>
              <a:rPr lang="ru-RU" b="1" dirty="0">
                <a:latin typeface="Bookman Old Style" panose="02050604050505020204" pitchFamily="18" charset="0"/>
              </a:rPr>
              <a:t>P(B)</a:t>
            </a:r>
            <a:r>
              <a:rPr lang="ru-RU" dirty="0">
                <a:latin typeface="Bookman Old Style" panose="02050604050505020204" pitchFamily="18" charset="0"/>
              </a:rPr>
              <a:t> – априорная вероятность при значении нашего признака. (независимая вероятность B)</a:t>
            </a:r>
          </a:p>
        </p:txBody>
      </p:sp>
    </p:spTree>
    <p:extLst>
      <p:ext uri="{BB962C8B-B14F-4D97-AF65-F5344CB8AC3E}">
        <p14:creationId xmlns:p14="http://schemas.microsoft.com/office/powerpoint/2010/main" val="19720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Байесовские классификатор</a:t>
            </a:r>
          </a:p>
        </p:txBody>
      </p:sp>
      <p:sp>
        <p:nvSpPr>
          <p:cNvPr id="2" name="AutoShape 2" descr="data:image/png;base64,iVBORw0KGgoAAAANSUhEUgAAA54AAAC2CAYAAACxmFIhAAAAAXNSR0IArs4c6QAAIABJREFUeF7snXVclcvav69FdyMl3SCgIgoYoCgKttjdvQ1sBbu7u7t724ViYis2ioIYqJTkqt9nLUCRrfvVffZ+3/M7Z82f8Kx5Zq7J79z33I9AKpVKUSQFAQUBBQEFAQUBBQEFAQUBBQEFAQUBBQEFgX+IgEAhPP8hsopsFQQUBBQEFAQUBBQEFAQUBBQEFAQUBBQE5AQUwlPRERQEFAQUBBQEFAQUBBQEFAQUBBQEFAQUBP5RAgrh+Y/iVWSuIKAgoCCgIKAgoCCgIKAgoCCgIKAgoCCgEJ6KPqAgoCCgIKAgoCCgIKAgoCCgIKAgoCCgIPCPElAIz38UryJzBQEFAQUBBQEFAQUBBQEFAQUBBQEFAQUBhfBU9AEFAQUBBQEFAQUBBQEFAQUBBQEFAQUBBYF/lIBCeP6jeBWZKwgoCCgIKAgoCCgIKAgoCCgIKAgoCCgIKIRniT4gTLlD7N1kPueL+CsfN1XSsiG4qgc6Wur/VT0r7/U9bj5LJU8kQFlZSV53qUSEppUP3vZGaKoV/i03+R63nqWSKxGgoqQEUjFSfQf8PMqiraHyX8VMUdn/3wmIyXn/jDtXbpBmEURAOUsMNQX/v1fq37/80lxSHtwl8UMOQmnhvAISJGJNLDw9sSuji0bxn4v+m//2MXefvSGrQIqybN6RqFLGzRN7M300lP/9q6wooYKAgoCCgIKAgsB/CgGF8CzRkqLkG5y+9pCEGyc4dOYh78VWVI+oh6+tEZrKSnyzrZTm8/byXvZcekGmuiuhTWrj7epNg2BvdLT/u4Rn9vPLnLl0mzvnj3L6TgpZQh1cQxrRrFVb6nmXQVsuPKVkPjrJpqVL2XP1NSJTL/yrlMenWj0a+jugp6kQnv8pk8p/bD2EGSTeucqVy1eIu36T+zIxo+lL1wkjaF7ZBgNVhfD8x9teksWLa7Fcu3mJk79f4OGbTDRca1E3qAYh9WvgYWWAZinhmZMYy66VS9kWk4igbEUqBwQR1rg2PjaGaCqE5z/eZIoXKAgoCPyAgCSD55cucCfDCA8/bxzL6CB5f5/Yi08Q21TA19MWo9InaQqYCgL/nxNQCM+SDSgWkl8gpCB5N6O6zydGFMy4lUMIsTdC4w97Simfj46l3ZSjfPQaxNoJTXE200NTXRWB4L9rAyoVFci55T7bxqiBy4j95EbvZRNpXdEOY3VlinFIC95xesZIdohq0qFNCJ6W+miqa6ChpoLSfxey/8+njf+y4os+8fDEVjZsPsyVp+/JUdbH3NYFr8pVCa4VjK+bJQaaKpTSO/9lkP63qitFVJCPsCCLW2tHMmnjJTJ9I5kZ2ZRKTkaolT4glB15FbziyOy5xCj70bBJMOWsjNDWUEdVpdRh4v9WFRTvURBQEFAQAEQvDzNn8goO3taj0YQRdAx1J3XbWGZtOEmKSw/GDmxJdVdDxdqi6C3/UQQUwvM7zSl5s4shbaZzWhzC1I0jqW33PeEJ2UdHExF9kDS/0WyZ2ARHU61vraL/UV3lJyojfM3+MT2ZeSQFu57LmNmpEmX1iy2ZuSQcWs2BD+6EhvrhYqGHmkJt/gRUxSP/pwSkn4hbNZFZB16i51WD2iE1qOhmhZG2BurqGqhrqKH6HbHzf1rm/4qXS8m9t5bhI1ZxPt2XyIUjaFrRBr3S6l+aw9PDmziT5061wAq4WOigqph3/it6iKKSCgL/9gRyn3Nu+y7OJZehevNwAtxMyb9/mO3748h1CadpnUrYG6n+21dDUUAFgV8hoBCef4vwHMOWSY1xNPkvF55ISDs7nd5jdvBIP4LZS/pTw94IdYGQ5FNr2JXsSr26lXAyU2z+fmWQKp79vyIgJePSIkYte4pziy40DXTBXF8TNRVlhYX+/6pJSr43/zGbRwxl+an3lBuwgJEt/bAzKOk7K+TN+a0ceGVFYFBl3K10FaLz36HdFGVQEFAQKCQgFVOQl0u+WBn1Ii8MRPnk5hUgVZF5g6lSFDZDQUxB4D+GgEJ4KoTn39qZpTm3WN5nMGuuiwkat5KRDZyQ3trE1gdW1A4PwNVCsfn7W4ErMvvnCEhSOTFtMtcdW9Oqri/2BmoKwfnP0f4LOQt5sWMMQxYcI9mpJ/PGtaOKoyGFPhZSMu/uYVucBhWDAuRBztSVFf78fwGy4icKAgoCCgIKAgoCfxsBhfD8u4WnJIMXt+NJzshDVBwaV90c9wpOmGqpIchOIv5uIp9yhUgQoFbGlYouZmiqyU7qxaQ9ucjpmJu8zJCgpGaIs39NqvlYo6+ujPTzK+7de0larvDPo+6qm+NW3h5B8j0S3n6mQFxcSQFaVp54OZigpfoP3UiT5vNi6zD6zD3DJ6/fmNFcyq0kK2rWr45HWX3U/13c3KTpPL/1kNcZuYhQRtvSHU97k6JASN92Cml2Cg/jX5D6OR+JQAMLd29sSSE+4Q1Z+V/gItCyxL1cGfISnpKUlo1QUpyPEgb2FXErq4tmUQAaccZL7ly9zI1Hr0nPBgNHP4Jq+WFvrIn8kfw3PLz9nNTsfGRvEOja4OVpi6FmPin34nn5KZuC4vwFyhg7ydwIdVH//ILbD5PJyJVFZhagauqMj7M5uvKowVJyU+K5fu0Oz96mk6tkgE35qlT3Louehsq3buLidBKunOX89eekCwWoGDnhF1QVH1mgLRXITrpP/MuPZH8pxPfmJAHqZi742Kvw5sFz3mTKWH/tiyiro2dUBnNLC8wMtFD5jjAQZ7zibtxlbjxIlnPSc6hEUE0/HEy1Cjn91STO4NXdOK5ef0Dypxx5dGXfoJpUcjJBuzjj7AssnPMU35b1KW+RS3xsLHcT08gT6GDm4EVlf0+s9DVRkZdDSnZyPA8SP/D5D0zUKePmhaOZ3v8QRVVK7psH3Ii7w7OUdHKU9LD2DqSatw0GWioIxB9JuP2EFHmfLU46WHp6YGeqg/TdY+6/eEtWnrzHoGNdDg9rDdKfPeLlhyzyv/TH70FTp4yLF47mehQHmBZnJnFPzj6JtM+gZ1+R6sF+8gAYhYGqJXxKuMPTlDRyhCXzVEZdzxBTcysszAzQVlX+x64gCJP3M2ngHA4nlKXD/Il0rOqMsSrkJ55g89F0nIOq4+tijnZhI/3fJvFHnt99SkpaDl9xaWPh7iGPxkvqEx68eCsfu/L2K+uBm60puuoy2GKyku5z4+p1Hrz6yGeJLrYVqhNU2YUyumqFd8DEn3h+7ykpn7JL5K+Jmas7ZuIUEpPfk5n3tRMo6dtQztUaIx11eftIc9/x+OZ17jx5zacc0CtbjipVfbA11paPNfHH59x/Kvvf19ILNM1wdjdDkvKS5PcZfM1eCT0bL5y00klMSuFTdqnfuJkhefP937haG6GjXthe4szXPLh5hevxL/mYJUXXxoeqQZVxttBDjqVkkuby7vEtbt5+QvLHbAR6VnhUqYq3vQk6vzRZSMl8Fc+TpFSy8qUoaZnj5GaP2ZexXuKlsnc+fUzi2zRyRKBexgk3/TySU97ysVSdndzMkL59RfL7dORDVJ6U0LMuh4uNMbrFdc56zcObV7l+/yUfsiToWHvLLfaulrL1Eyh4T0L8c3k/kvcUbUvc3Owooyfh3eNHvHyXTu6X/JUxsPPEuawx2nlJPHiSRGpmvnz/oGpkj7uTFUY6agiQkvfuCXdu3OZx0keyBbpYeFQm0MceU13Z/0skcSYvb13k4rXHvMsRo2Jgh09AIBWczdBVE5Dz5jGPE9+R/rUQ3x13aiYOeDhaIEh9wrPkD/Ko01+TEuo6hhibW2JpZoi2+nfu0EuySHlwi2vX7/PyfSZiHWu8AoOo7GaJ/q8G5JGk8TL+GcmpWRR8KYQGpk6umAk+8Dr5LWkl6qOkVxZ3J0PyU16R9D6DfIkSmmaOuNhZYKhdai2Vj633PH/yQj42RVI1TBzdcbA0KlprpOS9f8a9m7d59CqVz1IdLNz98C/viJmeGoI/K5vSB1KS3/Ipp8Q+RNbvnW0x1df4qXlXkvaSh8+SSM0q+LKvlI1rWZ83N1QmLeERL1I+UtidtTB3dcXW3BAtZZBmv+Hpk0TepuXK9ynfT0roWrnjZFMGA3nk93w+PI7j0rWHvE7LBW0rPOX9xxzd745TCVlJd7gce41HKZ8RKeth410Ff19XLPXVv7n/KslK4s6li8Q9TCFLpIyBjReVA3xxsSoaO8UFlHzmzaPbXL9+j+dvMxBrl8XTvzqVPawxLIpOJ0lP4lHCK95nFI6XLyNWTQcDYzMsLM0w0tVA5W/bSkvJev2YhJdvScuTINAsg72zHZbGOn/c60jzSH3xlMTXH/gsBDVjO1ztdMh9/Yqktxnkl+jDJg7OmKuk8+Z1Ch+zS/QTXUvcnGwxM9Qs7CeSz7x9cpfrcXflTESy/WyV6lTxtMGodMS+f3ElVQjP7wD89TueJV1tc3n76A5xB1ez/OA9ssqG0693S0ICnDGSTZ65r7i0dRHzNt9BPaA57Vo1INjDHE3lTB7sX8ySEyKqtGpJHW9L1PPfce/kfq4qVad1Y1/MEtczePpNylSrQ3UfW/Ryr7Jp3i5uqwfSo0c4zvoFvL66n+0x+rSfM4AAjXSS7x1hzcK93BG50ah9Q4KqVqW8rQHqf99o+QNB0bsjTOoxkQPPBTjV687gvk3kkYE1/q0sDjm8T3jGo5gtrNl7g+diPwbPG0w9lzJofTOR5PNg31TmLjtNsmUYbZvVJLBqBaxV0nmVcI9jaxax/2Y+jg3b0qBmNar6mCN9n8jTK7tZtvY0idqVadO6HtWqBeBiroO6spiPt/eyestd9Gs0IbSyPYZKGTw5tZWtsRICO3clvLwlunzi6fUrxB7fx4EzD1GrM5YpfYJxMhGQlviUx1d3s3ztaV7pV6V18zpUq1YZZzMdVDIvsHDIDI4k61E+NJw6oTUJdDVHW72ApJiNLN6eiGOjltTzs0XtYxzbF+3mvU87urcIwM6gcBKXZjzi8PKlnMjxoVGzulSw0UKYGs/Zg1cQV25Kfb+yvNk2grnXdKkQXIMKDgbk3djG0l3XEfh2pnO4B8bSN9w4uIPzms2Z0q86erlviT+5nqW7r5Pn3o4+bfyxM4CMV3c5cyiGVIuatOrUCF/r4gVCzKc7+1mz9Q46gQ0J9XfESCmTp2e2se2CkMrtu1C/Yln01H5dUIg/3uXA6q3c0QmgQWgVHE2UyXx6lh1bYxFWakvHhhWx1ldD/Gw7yy5Y4Wt4n2PnXmFaowlhVV0wUcki4ex29t7SwL95C2qWM0dHVcSDDSOYe0kNr+pBVHQxRnhzO8t2xyH26syAvhH4Oxj8ifDMI/nCZpZtT8A6LIJ6VRzQTLvBzqV7eOPWnM4tquJkKCb1+TPuH1/P8r3XyXGoT/MGNalR1RsbIy0kL/cwddRqrnwuS0B4XerUCaaC1Tv2RM/jqlo5Amv44mQk5M7OZey5JsSrfSfCvczh7U2O7DqHWsMx9G7gg7WehE/3DrJ+6y00KtenToAzJsqZJJzbyfYLeVRo1ZH6lWwxUJeS/e4FCfGn2LR0N9eynGnRpxWBTsYIMpK5f/Z3LrwzoWrzDjSqYofhr24Gf2ZxE73l6JRBzNr7AOPWs5ncPRgnwS127HyEsX8QVcrZoK/2bxJESPKZ9y8SuH9iIyv3XiPTpi7NGoQQXM0bG2NtpK/2MzN6NbGfzKhcry6hocFUlB2GKacT//sGdl5XwaduHQLczFD9nMCFnTs4n12Opu0bUsXRCHVpdmH+Jzeyau8VPlmE0KxBbYKq+2ClkkFKwjX2r9rIyYfg2TSCerWCCJBt0rVUyX99iZ0rdvLYNJiGYYE462Rwd88q9ibZEt6hBUFuZdDIfcfzZ/c5s2UV+y+nUia4OQ1Da1GtvCUqGa9JuLKPtZtO8BBPGkeEUTM4EBe9At4lxXNq00r2X/6AWc0I6tcJplr5sqhmvOb5tf2s3XiCBxIPGjUPo1ZwIK6WBmipSkiLP8LmHTcQeNWmdlV3zFQ/8yJ2DztjsnBv3JYGAU4YF0f9y3vNlR0r2fXImGoNwwh01SPrzl7W7H1J2XrtaF7TAzPtnw9hnPvxFS8eXWDPpgNcvpeJe9ex9IuogsM3rtxQ8PQESxct5/BDTQKaNKZOrRr4mEr5lPKIU1tWsv9SKqY1mhIeWpPq5cuinvWGhGsHWL/pOPdFbjRsFkatmoG4WRnK65z+4BhbdsQh8ahFSDVPLNSzeRG7l90x6Tg3aEPDqoVjMfFeHBePH+TwmTsIK/VjRO8G+Nqqkpn8gmdxB1i3UdYO5ajfuC4hwf64yKI951xn3aS57L0rwqFGXULrhlDV0xpDLREpV3ezdscD9APCqVvdHf3P9zi4dh8vzENo1aIW5Sx0kNGTZiVwZtMajr6xpFp4GP6uhgjSnnLx2BU+OwUTEuBKzvEZLInJxrJidap4mCF5cIgNe2NJt2tM6wZ+2Gp84P7x/ZwXV6NftyZ4G2Xx4sEZtq/ey8V35oR1bkWwtwWqWSk8vHCC2CQtfBq0oUk1F8oUtaEk7SEntu4iTuhCjdrVKGepQXbiJQ7sjiHNvh4tGlfDtYzmzwflkWTz4dUL4k9tZe2+WFL0A2gQXpfawRWw1szh/YsbHFq3ieN38nAMb0K90FoEuhlDWgpPY/ey7UAst9OcaTeqL82ru2L0TVcrIOH0SpYv38d95UqEN6pLSJAv9ub6aCrn8yZuH+t33kXLty71gjwxzHnA4fX7eGZUg+Yt6+BjoUTaq+fEn97Gur2xvDYIoGH9uoTUKI+1Zi7vnsdxeMMWjt/OwSGsCWGysrmXLTpQ+J8nUWn2B169iOfM9rXsv/AGo6oNCatXm+o+9pTRV+LN0UXMWH2CF1re1AqtR2itSjhZ6Bd+tio/g5SXz7l7Ygcx2S5UruKLq5kqBa9j2blhP1c+WVO7cRihtavhVtYYHdUsHp44zI10A5wqVMDZTJX02wfYuOM2qgGtaNvQHweDEl84kH7mRcw2Nh5+iWHluoRV98REKYNnl09wLb0s/jWr4WOrjwpSPr+IYcf633lp6EdoeHU8TJTIeHaFU1fTsPIPpmoFO2QhRyTpTzizczdXPtsQEFIDH2stcl9d5fCec7y3qkmzxsF4WmghyPlIcuJDzu1cz75zrzCs3Y7mdSpio57N20eXOHUhERX3urRsVgMPS135+PhXU17aa14+vsTB7Qc4fz0V+1aR9Godgqfpt199KHgRw/oVK9hzU4x3aAPq1a1JRQd9JB+TeHBmBxv3xpCoXYmw8DDqBFfARjufDy+u8/vmbRyLy8C6TkPCwmpT1d0GE101pBlPObdrN5czrKgcEizf8+UmXePI3nO8NatBkya18LLU+vnx9D+AUAjPv114SpGIhOR/iGFOr2gOKDdl7tweVLE1Qr5HlorJfb6FSaskNOwWjredMVoqYl7um8CoFS/wGjCWrsFOmGnJRsgHLi6JYvYhaDRrHE0ytjLvaVU61vfE2lgdpfyLzGk/msNGXVg6sQVuZlpIcp+ybewuDAb0pbatMZp5N1jSYyjbpE1ZNK0D3tbGctH569v1XxhSkkwuzurBqC13UAqZwopR4Tj/yiLwC6/664/K2klE/otdLN5ymxtHr2PaYxYjW5bHSu/rFCLNvMbho7EcXriT7IYzGNelMvamGigjQSzO5fayvozYVED4vEl0qGSPiboySESIUn9nfJeZ3HDqx4xh9fGw0kdVGbLvb2bChGNoRkTSta4X1gZq8ryEuWnc2zqBmbFmtBvek9quxqiKC8jPzSAxdjPrYrRo0KMl/o5GqEnFiD4dYULnmcR7RjLpt9q4WeqioiwlPW41c3d/xqdxA6p5WGEgC4KjIiDj6jKipp5Go9lw+jWuiK2BKgJJAann5jN8/gPc+4+lW5ADJsqvODw1ilWPnegyoishHlZya4Hk42XWTJjL/rwQxo+JoODAcp5UiKCOjyNmGkoUXFlAz+h9qDefS3Sb8pTVlZL3bBfT9mjSo0tt7Cx0yL23mkFDN5BRayqTugfgYKyCLCJy5v3NjB+/izc+/ZgyoC6uZprkxG9l0qSjqDYcQJew8tgaFnHKS+P+tsnMvmBMy8ge1PEwk5+8/mySZsezfeJkjqo0oH/XMHzsDJE3mTCPtPvbmT7zAgYtBtG9ridGTzaw4mwSV44/xKb9ILrVr4CdoXphe+Wl8WDndOZcMKDpgG6Eehpzf/lsHnnXp6a3C+aaShRcW0TfsXtRajyL6PZVcDD+keVPSvq1lYyfdgLlBoPo06QyDkayk+4CPpxfzOgFd3HoPopuIS6YqIrJvbOGIaO2kVdvEiPbVsapjDrKSvm8+n0xq27oU7VBHSo5m6GvqY6qOI4Vs+Nxr1+L8m6WaCoVELe4LxP3SgmfFkUbP3v0pXk83zOD/aqtaF3HgzJvdzNtyhGo25vO9X2xN5KxlyLMS+fBzmnMidGl8W/dqettibZAhCg3no1DRrL+fQBRE7pTw60MKlIRBZkP2DlpMjsTXek6qT/hXlZo/+0Tj5gPp2YyaMpO7us0ZWp0ENk3HqPqHURgRSdMNf85a+vP9rmvzxXOObn31jMyaiuZQWMY1r4abuay9isg6dgy1sZp4lu3NlXcLNDX0kBNKZfHu2cw83ABNbp1pkEV2QGmMgKpkLz0B+ydOZcYjTB6dqtPBWsdBPL8NzAqegPv/EYyqktNyllpoiyQIBZ95NSMAcw7r0/z6EiaVnHCSE0ZQeZNNkyaydGCIHr2jqCqqynqShIKPlxi1dhF3DJvzcDu9fCy1EAsyiV+40jGrXtLxRGj6BziTVnZN2kkYkQfTzFn4BzO60YwKjKCKs7G8jVPIs7lfqnfWGnI6iCbx04xd+AcYnQiGDk4An8XY9SUBeQ+3sPs6YfJq9qJDo0DcDZWR0Ug64MZPNo7hwVnlanVvSsN/GzRU8rg1oapzPk9l6o9ehJRwx1TdSUkBR+4smo8S66bEjGwO/XKl/3p/ieViBEXvOL3tXuIO3+IW/qNGTSwA8Hupl+tD9LP3Dl1hosHlrD3ox99I7sRWsEGLSUBUnEu8ZvHMGFdMl6RI+gSWoGyX+p8mvmRczmr3ohhg1tQ1c1EHmgv98k+5s06xOfK7WnfpCquJkV1zs/g8b55LDwDNbp0oWFlW3SksrUhi6Rre9h6Tohf0yYEly+LFmJE6WdZMHgul/UiGNS/Kf7OhvK1J/PuDlbufY15YB2CKjlSRkcDNVUlPt/ezMzZv5Pl34XuLYLwMNNASSLk05W1TFlyFb1G/ejawBcbjRROL57O6jht6vXqQkN/JwzVlJGm3WTHvIXsfF2OngNbYnRzP48tKlHFrwJ2OsqIbq9n1ORtfKwylKGdauFpCvkvf2fJQSF16tWkoocp4txH7JwwnrVPnOg1oifhlaxRk4oQfn7C/tkz2RFfhmYj+tHE3xG9vCccmj+Hg+kVaNW+KdU9TOVrnFSYT8bjgyxeeBpRYHs6NQn4VsT86YCVIhGLyHuwnYkT1pLg3JfI7uFUspN5tEgRpd9k08SpbLhhQETUYFoFe2Aq81KTiClIPsaWvZc5d+AW2mF96NupLl7mX63E0s/3iIm5wIGle0kt142+PRrgZ68t9/DJurONuXMP8ql8O7q0qo23uQZKUiGfrm1gxpJLaNTrRZfGlbHVEpP3YAeTJq3lmUNPBndviJ99YdnEojTOLx7FguMiag0cSOuQcvKyKf3s1xWksrkhj4c7JzF1w0tcew2gc3glyqoroyxMIWbDRi4XOFI1pDretkZoqauiUhxQT/ZbsZicuF0cynDGy8cbd1NlpFmxLB85l2P5wfQb2IYQLzN5xHFx8jEWzTvAC5NadG5fj/I2OkgLPhK3YTpLThbg37MPrWu6Yyxf00W8ObeKuSsvIgjqRKeIGrgZq6EszeTO7sUs3f4c+w596BDui9nH86yZs5JLgiA6dG5GdXdj1JWlZNzew9Il23hu34FeHcOpaJzMsSXzOfDWhUZtI6jlbY6GrO+I8sl8coTlS06S7dOcDs2DcDFUQizO4+ne6UxdeRezDoPpFRGInboUkfAzCYcXM3/LDbTDBtGnVRCuhv+66bNw3knh9PYDXDy5nztawXTq2YUGlawK9YMsSbN5cOECsfuWc+CNIy179aBZNWe0ZcYkiZi8R3uYOW0198078FuPZgQ6aaEskPXvdC6tGMuCw1n49x5A+3rlMZOtJXkvOL58AfuT7Qlv04LaPhZyzzw5k6fHWLXsOBkeTWnfoiZuMneivyEphOffLjy/do5bi3szeHMOYTPm0yuwLAbyniPh3ZGlHNJqSNMq1hhrKiFJi2G2TKSqNGPuzC74WukXuu9JUjgc1YdZF8rQaeEkwt/s4YBuE5pXssRY5rKQf5FZrYdzwLgba6a0xMVMBwF53Fy6lOe12xHqaIae5C7Lu/3GeklLVs3qgKeF3t92avGj/idMOsWKpZv4/fdrJGnVZNTqcTTxMEP7Xx+Xf0OX/zYLSfIelhzTQvPGInbnhRI1vjNVbA0oHF4SUs8f4rZ2BodHrSYrbA4TulTE+supt5D4Fb0ZtLaARkun0rG8NfrFIijrKONaTyHOLZK5w8PkYkogfsm+MYNY+Kgcw6b/Ri2XMiU+di9F+HIHo/qu5kNwFOO7BWIrEx9IERfk8OnZRY6cSsS4Wn2Cylmgm3+C8W2ncs97JNMH1sLJNJ/HR3dx5p0l/sF+uJY1lrtTy+cq0TO2DxvMskfuDJoVST2Zhb2oLaSZZ5nRbQpxLr8xdWAdzJ4sZ/D4vRTUncKkroHYG6vK85C8OcqUgbM4q9OcaeMak3n8KBqhDahoYy5v14Ir8+g2cg/qrRczro0P1vqy/nmbNSueER5RCwsrI4QP1zFw4ErSQ2YyuUh4yoonfrWd4b0XcM2qO4vGtsDbMp1DYyNZGO/KoCm/UdsHC+6HAAAgAElEQVT9a3llLq3CV7uI6r+ad1VHEN29Og7GpVzBfthLxCTtH8fQ+fdxGTSZfnU95AKxOEmFSewZ8xtr3/gTObY7/h+3MXTqTq7kV2PC7AGEelqU+EakrBx7GDtgNSlVBhPV3Y/Xhw6iHBxKBTtLdJRAeHUhPUfvQiliHtFtK2Jn8IMBIEpg1+hhLL1nT9+pgwn3KftlrEizzjOn1xSu2PZk/IAw+Ums6MFaBg/ZRF74dMa098Ne+z1xBw9yW+xMQGB5+Wn0l8Ol7HOs3ymgRp2K2JXVRQkhcYt6Er1LSqNZY2nj54Bsvcy/s461TysRXk2bu8tGs/COPX0n9Keul1UJDwApwqS9jB+0mmTfgYzuXhOXMuoIhE/YHBnJqneBjJvYnepuZQrHjziJvaN+Y+FFI9rMjaaVnz0/QvCvDGxJ+gUWDJzAtutCrCtVoGabLjQJ9MBSV/Xf8k6u6NFGhg3bQGatCYzsGIizbio3Dh/idoE9lQIqyK1TGkWHg+Lk35kxcgE3Lbsyqn9DKthof52/pUKS909kxOpEPHqNoFuoJ+YaAkSPNjFixGre+Y9lTNcg3M2KT8s/c3ZGb2aeM6TNhCE0rWSHrpKIF3snELXkBmadxjKgqR92ukWTmDSLSwsHMSPGmFaj+9PI1wYdgYjHm4YzetVb/KKj6CKzJH7J/iyze08nRr8NUUOb4WdfvNaIeLx5BKNXvcEv6o+/mdNnBuf0WjFmSASVHfRQEr/m2IzRLIwrQ4eR/WjoZycfT0W7LoTJh5g2fBUJLt0Y0rMu7vnHmTpmCddN2jF6UDN5HoU1kPL50iKGTj+Pfovh9G1SCVvdX1iEJG84tuE0otxrbDuRhUfnQXSp541lkZVV8vEaZ+7Bm9/nsvO9B32H9KC2zFInf7eIJ1tHE7UyCZ8Ro+lWxwvzL5ximN9/Bqc1Ixg1pDn+TvryOh+fFc2iq4a0Gd6fxlXsv63z69+ZOXIVjx06EdkjDJ+yMvc4KZKCXNIS4zh97hlqnjWoVtERE8kF5vefyUX91gwd0JTK9lJexBzmXKImrpUr4+Vkho5MmMiL+ZJD06JZelmfliMHEFHVmeJzV+nnKywfNpOzGg0Z9FszPD/tZuLUrbwu14/hPcOpULbQlVPy/hyLo+fye3ZVBg5vgXb8VaRelfDxcJbPLcJbaxk+YQsfA0YyvHMI5cxkE84Ddmx9TAX/yri4W4EogT3jxrDisRN9R/Ym3Lds4UZbksLvU0aw8DjUGzeS9rXcEZ2ey/gFF9FtHkmf5lVxLNGmUmEKx2ZFsTreitaDe1Lf1xqtXzjsEj3dyYTolSS4DmBYD1kdZQaAj9w6dIjDezZyPMWZDlGRtKrh+mUuk7w7ybYzuWRe2c25TAea9+1Gg0rWyL1KZdcRrp/jvjiZ44t3k2Lfhf49GuBrrQqiVxyZNYGlF9RpNGQALYPdKN5aSD9fY/XoWZwShNKvf0uqOesjebqLiWNX8My5H0N6NsC3bLEIyObi4qHMPiohdMhg2sjy+YVuXjiuRDzbPZEJaxJx7zeYLmEVMPl0l1NHb5Bh4kmlSp7YGmuh+gOvtby4fRzNccLDyxNXIyXIvsiyYbM4JqzDb4PbUsuj8JMwosSDzBy/jFPCYIYO70Soj7ncWpl+bhGj551GUHcgA9oG42qghDTrFlsmz2TzMzs6DelFkwC7QqYyg8yKySzY+x7v3kPoUt+F1F1TmLXxKXZdhtCjaQB2hQ/yIXYlU+ft5b13LwZ3C8fyySqmLTiHUlg/+rQJxvXLhg2korecnD+eNbcMaNivF00D7OUHq4n7pzFx2R3MOg6mV3OZ8CzM+83xOYyff4js6sMY2jWc8ua/cAL+Zwue5D3ndp0j8/1lDl1Kxzy8O91kgreoI0vSbnExPp/Eo2s4lGRCRO9eNA20Q60oT1HCfmZMWs59i84M7B2Bv21xP8nhyorRzD2URdV+g+lQtxxGShLenVvO9IWnEIf0ok+72riX9OoQveXUokmsvq5NeO9eRFRz/OnDuz+rokJ4/lPCEyn5CZsY2mMZL/yjWDQ0BDsjDQTiRHYvicGueSO8LAyR9eHP56bQadQuckJmsDQyGDujwjs3sns9uWmpfMpVQ99EH+mjyzwy8sHTXBeZQfT7wlPCxxsXeGFRAU/Zd0Ul91jerT/rpS1ZNfOfF57i9xfZsOkBVrW8SVk7lhVn3uPUZzkzOvpipfetu8CfbjZFL7m0P5YnH7NL3Ln4C9tTgR5uIfXwszWQ300snWTCc+nJsoQYn2TKonu4R06hd03HQhcu8UtOHX6Js9dbVvZfzJs6PxaejZdOpcP/IDwlr3Yxsvdcrlh2Z8mElpSzkgmBEinvKvO7jGBXfj2mzO5JoH2RlVxuKM8nO+kki2edQS2kPW0CXrO8xyzu+4xkag8Hkg8sY39uLbq1CcLDWv+bT9WIn29nWP95xBq2Z+H4Vnhblzh8ED9ly6BINuY3ZPbkZuTsGMqE7R/xH7uQgaFumBWuniDOI+PDJ3JUdTHSh2fXHqPn7oaFgY48mMt3hafkE3cuvcDRyxUdfZ0/Ck/DAt4/vszBdRs598mG0C7daFTJBt33+4jqO5eLZTqxYFwrfGz0v+WUf41F3Uex43Mtxs/sRQ0nk6+ngX/WReRCqD/zY03osHAcLSvaoF/Krfr6wl6M2ZZB0PgZdFQ7xMiJW3hi14tl41tTwbZ0OeJY3HM0OzKqEzWjA2ZpnzB2ccHcUFduFfkqPOcT3bbCD4WnOHEXowbMJ0a7ObPHtsHX3uBrfcUJbB82jA1ZdZgyvpPcpVLyYB2Dh2yUC8+RYWrc2baGm2YRtG1QGVdzLVRK3qP+/JBrj7VxcrbAUE92iPB94Sn5dIeriUY4a1xhQdQiuXiQlaVSybLI2OZfZ1mfMWz7VJVR03pRy80MdVFp4WmCKPUp1w5uYPPp95iHdKBz0yrYG2n8M4de0jSOT+7FzD0vsek8ieFta+BqqvEXRKeI5GtHufTwDel5f2Gu+fITAbpOVanl54yZ3h9PiEsKz2ENdHm4ex03DOvTon4AHlbaJSLvinl9cCLD5so8FaYzun0ATt/68JF/YzmR0Vt56zuEiX3q4mmp8T8LzxhD2owvEp7SlxwYN5wFso39lDG0q+pSZG0oXH9e7B5L1Np3VBkzhs5B7pRREfNqdzTDFj/GdXA0vev5YFl0N5HPZ5nTezrn5MIzAj/74vntZ4Rna6KGNMPPQQ/p68NMGzqPU6oNmTimA1Vdjb91Y8u/xerIcWxJ9mHAhB54Jq5mwvxjSEInMqJDddxMv24AxS/2MnHMWt74jWBE15p4flHJP9G+krcc23AWHU91rm/cyg29pgzo1RhfWx2UEJMSe4ZEUyve7pnB+seOcuEZ8h3hWX7EaLqWFJ7ZMczvN4PTWjLLcAv8nfSQphxhxvC5nBCEM250R2q4m5Sq823WDRvP5kRP+o7rTXjFYmEjWxsKyHlzgfUya417GBHB+Rwct4BL+q2J7OmH5MoWDrxzo37jUKq4yixBXz2exEmHmDpyPkfyaxI1qiPBnmW+vlecyIFJ41iX5MXA4W0wvDqfGesfYNNjIgObB+BQLPgk+WR+TCNboIm+vjKv7yWgalkWCzNj+f7mu8JTks7Dmy8xs7bGyMzoO8LTEsmnF9w8uoWtJ16hW6UFHSKq42qazqmZo5l/RETtqJF0rF2OEs0tW4m4u24kkzc8w6lXFL0b+2HzC8qzWHg+dflNLq4rloXXFw5xNUePjzEbOHBLm4YjBv9BeG6PUcNe6Q5791xDJbQ3PSICcZB920mSwpVziRiYvuHIwk1yMdCvR3258JQkH2Fm1HwOZlVl+PBO1PExL8H+JYenTWTtcxd6D+1OWEUrBM92MTF6Jc+c+35feB6TEBr514Vnwu6JjJcLzwE0s0/l5KZLCKqEEx7ii62uGj++KSU74DnAGZzx8PTASXbo/APhiSiXj6/fkKmih4mpIbpKYrKz0nl3YS1Tl51FGhpJZMc6eBorkXNzPROmruWmSVtGD2pDkFvx+ishP+sT6Z9BXU8PXcF9toydxrobxrSJGkSrmm5f1nVJfhZp6dlI1XXR087kwqLxLNifScDQYXQJr/j1MEg+HRRwf/M4pq+7j0WH4fRpUQ0HbfEfhKeNNI2Xt06yc+txEtTL07h9c4K8LNH5m3QnMuG5+wJScwmPjh7mSkEgnXq2JthVVn8Jb6/Fkqilx9vTa9h2U4dmvUoJz+f7mTHxT4Tn4Syq9i0Snrzl7KJJLNj7gUoDh9GtUSUsvtknF/Bg2ySmr7mFaZth9G1VA0edXzjJ+cE0qxCe/5jwlB3vvOVQVFdmXnOk35KxNHI1RfnBJlbG+9AizF2+KREgJnFjf3rMj8Ww/Trmd6uAZYlTGNmprVQqQOY1IRUWIFKSuTkICoXpdy2eMrfBAsTFzwkLhee6t640rV8Rc10VctNSeJWUgZZTNcIb18bLSrcoWMhPLMZ/8og07Trb1l1HLyicauUsEMZMpc/YPTw1acncxf2obmv4cwJB9g6piPzcfITiP42I8hMFVkJFU/OH7sVy4XnKhia1lTk2cTS/G3RlypAGcrdlYfwRTuaUp6r1TeZ1m0ly7R8Iz9VJ2DcOo6KlQdEpp6xtHnN0wwk+BUaxsMjiKboyj87DN/O6wgiWjWqAm3mpz+8I77Gy5yDWPHSm/+qxNPW05MsYl6ZzY+VIxm5KwtLPA2sHLRK2HeWjVwOqmKkheX2aEwkWNI8eT+dq9hgWbwYB4ZW5dB6xmSf61WlZuxxm+sVnY0Wu3xnp5Jfxp1moERcmDWbRGQ2aLp1LN397jEpOQlIpUoGs70kRFYgQqKigXCRyvis8ZS6pBWJUVFUQCARFwnMFCeah1K1sjZ4gk3dJSaRKrQls0JgQXzuMtFQQXVtA9xGbeFluCItHNcLTUvtb13DhfVb3jWTNPTt6LR9LM1lwpJ854S2IY1G3kWx54cHApSNp9AfXTyEPVvVn6Kq72PRaxlCrU4yfvp1X5QazeFRjvKxkHgUlkjCetf2HsPqONd2XRtHE0xJ91a9MCoXnNlIdwgipUBZD1Vw+pbwi5bM2joFh1K/phZWBBpJrC+kxaiPxmgFE1PHC0kD960tkrvkZGeSb+tG4XkWsjbQQy4XnBtI8auOkr0LOvaNcy/Wl+9jBNKloje43bSZCKBKg/OUTMN8XnjL38AKxAOmtZfQbsxHZxmv+yCaUt9YtVecHrB84jFU3LeiyKIoWvnboiwuF58oHBgSFVsHWUJmsd0kkp0qw8A+nUW1fHEy0vxXEPzFyf/oR4UM2Rg5j1TUjWs8ZS1uZC+AvnHGVfI84P5c8oRiptGQ4iZ8uSdGDAgSq6miofe0LJXMoFJ7reecYhJORBnn3j3Mtx4tOowbRrLI9+l+0qpCby/szTrbZ7zmHYc0rYVeqowsfbmTEiBVcM2nH/NFtqORkWCQ8VxGvV51alR0x+zKJCHl2ZgenU9zpPW1oocVTdIMV/ceyIQ4qNAnBx9aY4muTcumZm0lmvjEV6tfG16GM3BIv82hZOnkpV7Xr0L5tXbzLKJGXmUryw5NsXnGQl669mfw94bniHjrValLZyfyrNa8ggbM7T5Hi2ptJMiupgx7im6sYHL2Oe2W7MmN4Cyo7ljrwET1iy/DRrLykT8tZQ3G9v5hF668iLt+YkAp2GGuWoC3KIyszH6MKYdSqJGPxMxNF0e9lwnPjWfSq+KJ1ez2z9uUS/Fs/WgQ6YSB+yrmYdGzcLUjcHsX8ew7fF54rbqPhH0xlFwu+GOYKnhOz+zTJTt0YP6RQeIpvrWHouLXcNuvI1OGtCHAucfgkK47oMdtGjWFFrDbNpo2iXQ03jIurIs3k3tZpTFt3BxUnZxzcDEg+co535lXwsTVB/V0sMQna1OgzjO5h5bEs4XokvLWaoePXcinfk/ohvjiUKQFPKiYvK5N8Q29Ca1ryeO1kFu9Lx3/sRHqFV8SqxDIi36dQtDYIRQiUlVFSKhS43xWesjVEKEKp6Llii+fyK1LKy+6kmquT/T6F16lCTMqHEB7qj6u5Lmriu2wYNoG1cUa0njKM1jVc5VbVr0nE0+3RjFsWg1rjSQzvWFN+1+9n0xfh6dyf4b3CccuN4Ui8Kk7eDnzYN5GFp1WoP/x7wlMDr3I6PN4xj31plenWpy1B7kaIEy5w8ZM5jubJHJi0gFvmX4Wn8M56Rk1cTUyWK/VCKuFsrvXNvC9nb+BF7Vp+uFjpIZULz+Vck1SgWoA71l9OTYUkxu7nTGJZWo+J/MsWT7nwXP0QvfJOWBqLeXTqBhl2jek/sC3B7n92uCvm7cl9xOm6Uc7LE3vZfYofCc+iIGYPLp/lbOxd3hRoUcbeGZucOHYevIt2/WEM7hCCpzG8OTqLcfN3keIzhKi+zfC3K7EuyvKRIt8XS1KOMTd6PrteexM5rq/cMvrNk8UPCu+zNXoyqy9o0HjsUNrXKfd1DMnJi0jYPZlJy04grj2GobKrOGaSQuG5NIbPrlUJKFcWrZwPpLx+T76RF0FhdQj0sEJP/W+8vlYkPAWOzui/Osyy3W9wb9eT9qFemEhecPnyBwytzUg9MYfFl7V+IDyXcSHbjYAAb+y+DBAhLy8f5lyCKY2HFglPcTw7xk9l1VllwscMoWOYD98OFxHP901nypIj5AX3p26ZVBJuX+d5esl9uRJGvhF0jKhNRbtSeySF8PzZqUfmVriLIW2mc1ocwtSNI6ltZ/TNYlycU/bR0UREHyTN70ff8ZSQHjOdnqOPotdxIZPbOfBy2yZSg1oR7GCKjnxzJCZpywC6zDmPfutVLOxVCSvZDeifST8Qnt/8tEh4rhc1YeHE1riZ6yKQiMl9fZ7VU5dwPt+PXmMHUNfd9JfuypUunjTzPnvWnEEpsCFB3rIoWMrw+TqLe0ey/qaAWpNXMjzMGdO/OTrWz2D6s2dkwnOZTHg2cEN8diID1uTSaMooWnjr8uh4LBp+gbhoXGZq22kk/Uh4rs0lbM44WntbfRVAn08xtcssbnsM+eJqK7w2n25DN/HKezjLohrgbl5KUBXcYXnPwax75EL/1eNo6mlRJDzFvD07jzFTD5JeZQBjugWg82QTUybv4LFJI4aO7EQ1kyesHzuLkwU1GDShH7XdTL64hRbELaTHsA08de7DghENcTOXndiXSsqqaKi+Ze/wXsw/pUqDBfPoWc1RHiH0Z9L3hee3vyx2tf1YYyLRHf2wNVSS36v5/Owgixedh+qd6dm8CpZPV9Jr+AZeuA9m8ZjGlPuD4LvLyt5DWBvvQO8V0UR4lf26qfuzwhZcZ0n3EWxMcGPA0tE09rb6KuzlvxNyf0Vfhq25j23vpQx3jWPWhDU8dPqNBaOb4F22tPC8x+p+Q1lz15aeS6OIKG/zjQAutnhKG05lRIvyWOvLrv9m8+rcauatvkS+bzeG9a6Ly+uNDBi1nnibrswe1hivst9xh5e1j7rsm24ChHLhuZqnVm0Y/FsTvCXnWDBpHfdNIhgxqg3+dn92wPMD4VnETXhjKX1HrueJYz/mj26Gj00pq7zwPmsHDGPNLas/CM9Vb/wYMboTgc7GKMnu/H1O4OjSpZwTVqZNjxYEOhqVcC3/mV71c8+Ik/czfsAcTgrqM3VqN6q7mha5O/7c7/+3nyoUnqt4YBrBb/2bUUEplqVT13Nbrz6Rw9tRzdlEbimS9cfbK34jet09ynafy/AWfth/a6JHGL+OYSNXc92kPfPHtC4hPFfzpuJwhnashssXk1A2F+YPYv5FE9oVu9qKb7NmYBTrrpvQatoQmlV2wKD0gbZACVXZNwaLLWWSfLLT3pH4NIHk1EzyJcqo61tgb/GSHeOWcdW4HdHftXgmU37oMNrXcPtqpcq+wOLBMm+MtkQXWTzFt1cTGbWWO+admTGyJVWcSokw4QM2DR/N6suGtJo1FI+Hy1mw7hoGLSczuIU/jt/xM1RSU0ddVeXXrODFwtM/EA+dBywfs4Zkn5707RCEdUoscVJH3J2MeLJiAHPu/kB4rnyJ58BI2tf0/OqSnB3L0qHzOa/TgtHFwvPOWoZFr+GmaQemjmhNoEvpOj9ky6goVsXqEDF9FG2/CE8xqZfXMH3WTp7btWFAt9pYpx5i4awtxBFI90FdqeuQysF5CziU4kzboX1pXNmOYucj4d31jBy7mss6TRk3pCWBzkbfXRvUVT5wYsZw5u/9iN/oSfRu4It1yROKPxlE3xeepX5Q7Gr70I5ug7tQRxawSnbfLTuR0+tWczrNmQadWlHTOZXdo8ax5qoBraYMp02QWynhKeTx1ijGLz+PepPJ/4Lw7MeQFla8f5yKoXt5vF21ubl4KHNOqhD+HeG5I0YDr4qeGCWsZeKaBBw79KZDqCMfLschsnbG0fQFG4fO4UZJ4XlvE9ETV3FetT6jB7cmyN3kO+xVUFdTkxsbRHLhuYIndt3p37ke5a2K94k5XFk5hkWnlKg39F+0eC6/hFJwd3q1qYbenQ0sWBuLKLAXAzvXxceyKPrpH9paxKMDB0iy9cCrnHuhFfEHwlPy4RZ7Vixlx3Wo2KwdEbW8sdTXQHRzHdFzj5JfcyCD24fgYQzvjs8het5Okj0HEtUvggCH779f8u4E80fPY2eSJwPG9aNpoP1XA0DJsgrj2R49iVXn1WgwdhgdZEKu9KHFrolMXnYSSWgUQ7uUEJ7LbmHUqh9dG1fGWlWCRJTDq3Ob2XDyLZZ12tIqtDxWf5fJs1h4OnlSziKFrVPW8NC8KV27NMA94zo388pg42hOyvZo5l/6kfBczl2TNvTu1gg/mVu3POUSt24Ci4/lUqN/sfB8wM4JU1h5RkC90UPpFFa+lAeBiGd7pjJl2VEKag6imbsKWa+ekPL5W+Gp51Kd0CBfnGVXyn5iQVVYPL8D6e8TnrJ7wDdZ3HMgOwoaMy3KntuXDWjYIgAb468RovKuzabLoC28DxzPqpF1sTcpHQZbgkSihFJptfArwrOUq60s+EHSzpH0mH8JvWZzmN8rACuDn1QZpZnlPuPQiv1kVmhInUqOmBaHE5fm83TjYPotPE9WhUiWT2r5JTreT/TN/5VHvgpPL8wFF5jWazaJVaMYUz+f+4m2+Fexw0TpFONb/5nwLOBnXG2l7w8S3XUap3Ras2hGJ3xtDb51p8o+x7QO0RwUNGLW7O5UsTeUb6ALnu9n6qgFXFAOY1h0Z4JcTFFLP8z4jjO46zmUaZF1cSujzMdrq4get5M3nj0YN7Qx3rKAQ7LbCKnHmNxzMr+rRbBgRmf87Az/EIFNIpYgUMrn5qJejNz4Cq/hSxle3x3z0tFgJBIkMqun3PL5Nf2K8Cx9x1MqfM/vE3uz4JwG9SZNppNzPAv7TueERgTzpnXGz8Go6NuMRe/LOc/MzmPZL67HtBk9CHQ0/rlPq0hSOTK2JzOOqdFk/jQ6+Tt8a9ElhwszuzJ+TwGh02bQxSOBFf2mcESlCbOndpG7uX5zJJRzgdldx7IvvzYTZ/SkurPpNxb977vaShHnPGXHmEhWXNKm0fQpdHR7zqqBUzlIfWZN6UqAs/G375G1obx9CrkXCs8NZNeZzJhO/jjq5/Pi6GzGLbgAtSKJ6lETF9MfLQB/LjwlqUeY3Gc6R5UaMmNyFwJdTErVOZa5PcazN6cm46f1oIZrGdT+4GpbdMdTKiL16FQGzjsNtaKY2K2GPBDS35ukpJ+eQf/Je0gPiGb6b6F4WvzcZwT+3nL8fG7FrrZp1aMY2bk6rkYFJB6fx6RF58iv2p9RPergYS5bHyR8OD6NQdMPIgydzPhuwbiX+XaOzr00n98m7CItcDSTetXGw1z911xt+ci52YOZvjeHoAkT6FrLE7PSy4BEjESgVGrMSxELhQhFYvmnBgRKyqjkxzK/74yiO55/3dWWjyeYNXAmB3NrMm5Cd2qWM/v2ICHnMksGTGJHqh/DJ/bA9+N2oqbvJqv6OMb2qE058z9UALFEIA+28rPxVuStKRee59DzD8DbWY/bS0ax8HZZ2vVvjOGHj5i4uuNgrc3Vef3/RHgm8TOutsgCM0XO5EBWdcaM6154V7TkBJt7lWWDJrH9TQUix/emXgUr+eFEwasTLJmykGNpFekS2Y36lazR+nyW+QNnE6vbgiGDmss37Bl3tjFr2hbijRsxaHBrqhUHfvoUw+Lh09n1yZ+RY3sQ6mP5h7lUIpEgEBQQv2E049fcwKT9ZIa0qopzaYH/g7Xhl4Rn6TueUhEfTy9g9ILfSav4G2O6VebTzrHM3vOJKiOj6R5WActvIpvnErd8KFO3JOE5IJpeDSv9tECWNXmxxfOJXQTVLAxw869IeR8nTDRkhzZDmHNSmfBhf7R47jgvE54+uBvfZ1X0Qq4bNaNnUwuyMw2xdXLETv8GyyJnc8OshKtt2gWWj57J9rflGTymF/WL77WWmEoK2RfO+4XC8592tU3AqecgujXwxUKUTMyKGSw9lopb+0h6yIIcfe+OtDSLywfOgrMHnu5OhYev3xOe0kxubpzKnI13MW42gJ4ta+Juoi534c29vJwRMw+TGzyQwW3LoZomQuvdCZYu2cxlraaMHtKeWp6lD0Vk+2IBgoKH7Jg4iVWxWjSJjqRdiCeya6Ylk5yjNJ3YJdHM2ZFMuYGj6NWkCtal+s7/Y++846sqtr/9nPRzUklCGgnphRTSgFQSQg29N1EpIiooIChYKBZEiooFVAQEUXqH0HuXXgMJIdQQWno5vbyffRIgUVSwXO/vvXv/meyz98wza9bMmj3zXSe+f5dpCy/hM/htXhHOVUp/vdW26oynAW3RPr6b8CVrbwUzaOwQo3L7U+zq/u0Bwxh4HsAkIIzISDeyF0xi1kFLWg3shp9ejo27NwEBTpyd8zYzfifw/M0znrW22lGYbiUAACAASURBVBZz4NuJfLb4GiFDxxrFk7xr7JYDJad+mMC0BZl4DhjDkC5NqGeqQ19rR5AEiZkFloLo1BOmSxQDz3848MSgImveqwybk0+DhDD8uw5nQJxHrdQCBvk55rz6GvNvp/DerJE0E5Kd1xh0Ko7+RIa6JemxrtV5kKoL/RcCT+FwdP7yUQycthPT9jOYPSIFL8dae2eeaCZlqMxh05yV5Id0oH1iCG6/EPTQ5K/nvRc/YmOeNwNmfcrAOK8aW8me6BX/6E36myuZtd2Lbp0i8XBSc/Szobz3cwDdm3vhk96FeC8nbBRbmGgMPD/5TXGhJwk8Jbr77Px4GJN21OG5T8bTM9qTBzoexvWokzMZ9sZazHt+yLhnGuNlb4ah8jyLxo9j3hkX+kwYQ68EPxyE9BDlW2qLC7lYgaaE80vfY/zci7j2Hse7z8QZVXMl+hIOfvYqEzdY0nPqRPo0qm+UFX94VZ5g1WYN8c0icLi7jLdGzeNqzBimj2xNSK0VrEpOLt2EMrkZkR51a4lF/ZXAEyrY/dEA3l9VRtJ7XzK8uRMXvhrOpG229JnyLr1ivWuVV3nqG4aPWQ1dJvJOvzh8nnjBREfBrumM/HAbNr0n83bfRnjXBKE8xexX32KtoSPvjOtHvLeeQ5+M4KMtMnp89A69G1fJsT+4lKdnM3LsKjTt3uXd5xLxdawSYnpw/eYZT91Vlr7xGjN3SEj/9BOGpLiR++1I3l8noeMH43gmwa/2VtHKU6zdpiI2KZx6LjbVW22rzngaxYUE9T3FLfZ/PYHpGcVEvzKBYe0icH/sCuzvB57oCtj76Sgmb7Gg64fv0CfOj5rq9sozcxj99krUbd5i7LPJ+AviU78lLoRwfn0ar7y/gvuN3uKzkW0JrScTkjOSl5OH1tELdydbo6rwn7+UHJ/1KhMWXibo1U8Z3SUar6cRkPnzL/7Tv/yVuJCTCXpFPge++4BP19+jwaC3ebVTDJ62pugK9/HVm5PZTDveeetZkoJqLn4oOff9m0xYXkHKqLE81ywYZ4snEBeqecbTRE/Zkdm89cEqFM3fYuzzqYTUrRm4yTm7YSfysBhCfWrs6Hhc7f+mM54muiIOfDWWKRt1tH5rTNW20hpFUp5bwDvjl1OSNJw3+qcRYnWWuW99yKqKFOPuj2ahtb94y89msLuyAZGhvnj+4ovx7zai/jabF+zGNiGJqJD6cPp7xk/eiTSuEf4R7Wgd64ens4b9nw3jkzO/9cXzyQJPoc6Hvn6HKetVpL35Js+lNcC5RuSpPL+Q8ROXUdh4KKMGtiTM1RLkguLrR8w9IKHZsBE826ohbjJTJMIZ0priQn42oC3j0voZfDznMJLUYYwe0JIwNykSfRkn5o5j8soS4ke8Sf9W4bjUnIzLz7Nldzn+ESF4KHcwdcJsTro+yzsjuhEvCEE9BCgnc8MuSoIijDkka25//UuBpxDDHJrFmI9+4pLfS0wa2YWgu4uZOGUdFckjGDWgFWEuNfyuKpPF4z9g2Z1IXhg9kDYN3WvNpf6o01YFnt9woMiPFoNepl+bSLwdLDCRlHPgi9F8ss2Etr8MPO9sY8leSxrGRhPub8r5he8xbSuERwcS3a4VUQE+uGgPMusXgSf6ck4teI8py+4S9cpoBrSLwr0W+0y27S3DOySYAF/H6q22/3Tg+UhcyN1Uj+rOEX6aPoPVl93oMuJVeqQEGccmg/wOObklWLp44O6Qz9YNN/AKiyC8gXvVQuXjAs/qL45zjzrQ892R9Hl4FlPPrY1TmfDlTkzaj+X1Xk5cPSrHx9uS7PUzmXfIhk5vDKdPWnAtTQbFha3sK/QkIMQHDnzGpG8PYd3lDV7rm2YUJ3p4KS6ybW8hngGBuBZt4OOpq7gfPYQRghK4ew1hQlUWKyZNYsnVQPqOeIGOjTyx+k1xIUB+lO/fmcIPZ1zpN16oTzB2Ej2Vt6+Rr7DCydXlsTld/8gGhTOeu1fsQxIQTlRMMBaZS5kyfROV/mE0aNKeZpGB+LvrOTL7beMXz65/5YyniY6SYwuZMn0F+WGDGD64E7H1ajLJZtXHk1mc402v4S/Sqcmjs+V/WI/fuUEMPB8DR3NpHkMHz+SwPJHxi9+nY6DzY1Yy9Nxe/jrPTdlOUdSbLJrSi2CXGoqDNSeg15YyZvAMfnboypRPXyahvkPts44GLUUnfjCmlFC2eYdx/ePxEhIHC4uuJWdY8dN5fDq3J6qeQ+2k2Yo9fNT7bdbbPWdUrA13/8W2OKEM6pN81X8EiyS9mP1JfyI8qgYL7b2DfD1mHIsuudFn0scMSvLGvtZKxx+ZlZ7ya/tZ9uVMdtv05e1X2hi3jv7qALr2HhnjBjB5wzXsOk/hq9Gt8Xf6h0RG/qjIv/q/gbL90xmzqR4vD+tIhKctmvNzGfH6Ugoav8KHI9sR4iJDUryBcc9M40baFCa9KJxhexB9qDk9azCjf9DQaeY0+sd6PVKlK85g3DMfcyxgOF+8K5znFLbV6lHe3MnXE7/khOcAxg5LJ8zVuio/WmkmSyZ9QIauJUNf60kTbwcsdLfY9fkEpi3LwnPQVN7tG4dPnapB1lCcwfhnp3Am7A2mj65KQWI8e1mZzdK3RjL3pJTUUe8zND0MV2sTVHcOMmf8VGOqg1EjuxHrZVe1sq0r4OjipVz2a0+bGG8czUs5vXgSHy8rIXHkWzyf4o+jMWu5gbJzq1h23oOWraLxdq6dI025fyoD312Nadcv+GiAsI3219GE5twcXn19nlHVdvKQRPydBI4Gyi8sYdLbs/hZ1oVx7w8iJaAOhvxdfPv+TI67PsPooe1o6FGdR670AssmT2KDJpUhQ3sS7+f460Tyv2MHemUee77+gFnHXOnzxiu0jfSo2vJuKOXisilMXqsiecgr9EwS6i1BeWc/c8Z/xhGXPowa2oGG9arElAylF1g+5SPWVSYy+NU+JAU4/aocqkOfMXjcasy6zWBiv9jqsxZq8vd+zXuTlpLj1pN3JwygaYAj3DvM/Pems8eqA68O70ETH/sqH6Er5Piy5eR4taRFrD8uMhM0Z7/jtTcXomgzlYn9441pWoSFJPW9vXw1ejLrbtWn97tv0ze5qg61LyWHPh3Meyt0pE//kP6JATXEZIQ7DSjzdjNn0kyOOvVkxCsdiPKs+nJuKLvIymkfs74yjgEv9yYp0Llq66xGOPf5Bt8LqraThpDSoOqLp6H8IisnT+DrA6a0GTuBF1qEUFdq4Ma6j5j43Q7y3Hsz/u2+JPg7/vmtsapMfhg9ljmCKucX7/NsQsAvcug9tVP4x3+gOf89o8b+QGnq+4wb2LR6K6we9f39fDN2KmuuudJ1zFj6CYGkpWAvc5k66zC2HYfyYpfGeBsFiwyUZ69ixpS1lEY/ywt9UgmpTlmlOT+fN97+nntxE5jwYtojVVtDKTsmv8L0PXb0+nAMPZr4GSdyBtU9ji2czIztBlKHDKNXUyFli9H4KDq1hjVZziSmNiKoug/+FiBDyQ6mDZ3GbpueTBzbi7iHZzM1ZC54g3HzbtNo3EReaBH2UNTDULqTaUOnstu6JxPHCNtqhfOcBlT5+1kwdRYHpW156SVBmdW+2qYusW7GNNYWhtN7cF+ahboaUwTdP/YjUz/djq7pIF7um0qQU5VAn67wFOvWZOGY0JTYkNoLfX/U0IbyY8z5cBOW6T1o2zSUuvoclk8Yz6Isd7qMGU43YVHGtJRd017jszM+DHnzJdpEVX2JFLZJX1g4lgnzbhI5ZjyDWzfEvTp4NpTu4tPXprHTogvvjnmwrVao8wEWTv+aAxatGDxECOwcjD7aUH6J9V98wtr7DejxQl+ah7khNdzl0LypzPjxKFbtx/DGgNZECKk4hPtLd/HZ8OnGrbxjR/Ug3l8Y84WdFldYP2U8c/aUETpgLEO7xePrYIbm/gmWTPuMbcp4nnu5rzFljLFf64s5s24tWfaxJDYKw9O6ggtrv2DG4qv49hnGAOGcp/G8qIGK7M2sPysjIi6G0PoPVIWrCKuOzeaNDxdxL3YM77wobNl8zM4qzSWWjRvH3EsBDH3nFWM6FYGjoSKHjM8/Ytb2SuKHjmVwhxjqmd3l8MLP+HavhNRBL9KtaQB1qkBxecMsZqy6jX/XAfQRmAuB+B81dM252sXFTJg4h9NOvXlzeB9SQhyqMgwYStk7YzSfbjHQZuwb9E1rUP1VzUDFyflM36gnsUN70qLcMFxexcfvL+SMQ1tGDBcUaZ0wLd/Ll6M+5Xjd53jtlU40ri/YpwF1wSmWf/o5W8qi6fPSM7QIF+y5iv25jA1clDWkSeMIfOxN0WQtYeLEuUZV2zEvdaTRgy2UhjL2ffEmn23S0OLNN+jXIvRXX/z+GIGG7KXv8cHcXIKGvcngjrEYd/IKaXWOzOejT5ZyxrI5Q0cPJD3aneIdXzBtzn5MWg1nYEQpFwtcCYuOJMyotizgEr6kf8JmVQtGvvEcLcOdMNHdZNPUCczcqiJ11JsMaBuFq4UEQ/k5MpYuZcVPBzFrM5pXu1hzNduCoLBQvHQH+G7GIrLdOjJ4UGea+FTlyxTsYmfGWUyDoolu6IutPIvNX3/O4iw3OgwZaPz6aFx3NVRwecdGzpoGEhXTEB9pIceWfMnsnUoa93uBXs0b4CQMtIYKrmyezZcrruPR9ln6tovF00awHWGr6SQ+/PYMbgNG83L3JHyFLeaGSq5s/prpMzdREDGQ11/pSryPLeTv5Nvpc1hz0oIWI0bwnNBHnnBL+oM2MlScYfGMTSgatiA9vTH1JFfZMP0jFh6xIHXYq/RtHmrMJX7w63f5/KAVnV95hR7Jfg+PA2ovrWTyh99xzmMgo17pToJP9QclQaX8m3f5bH0pCa+Non96JM6mYFDf5diyWXy3vYLo3oPo3TIM56rOx9Wtc5m5Ipe6rfrxTIfGeBmZ/PVLDDxrMFSdXcFXKw6Refo4Z3PuUqm3wi0kgqD64bQbOoTWQULOTQ3Z677gpx1nOX/6HJfvVqC1cMY/vAG+IS0Y/1pnXJxsareM9i4bxr3Kdv83GdM7xqju+svGM2jlFF7aw9KFW7khCyAiVDjEfJ/8YguCmrchMcQVG2N6DD2Fpzax6WgO184fYOe+i9zTuRHboimRgf7EtO5Egp+g4Kohd+ciNu7ew+bNx7mJL83aJeLnKAVlEbeu3EJpG0hy1x60EkRdpE96/kVF1tqZLN5+knPZN8i/V4BCGkzH1ycxsmMD6tZI0q2/vY95Xy5g/Z5T3BRkIq3d8Qv2xzeuJ68915T6dZ4iwfNft/XaT9Dl8/PyxSxduoaD103wTWpD9wEv0q6BnO2ffMf9ZoPp0cSevB3r2LVvC+t3XqS0TjStWqTSqkc3GnOaDVv2sHvTZk5c1+CWkE5a09Z07xxI6aHt7N+7lfU7z3PPIoi01kk06/QsrRu6YmuuoeLOObYtXsXxMge8An1w0t4n90Iu6oCWdGmXYMzJef/IClasXMum/Re4VSLBt81w3nmrF43dNVxYv4LNu7azdX82RdYNaNEqmeZdhEmYM4ac1XzywedsPFOAzjGQJint6PVCLxJ9bNHdPcO2FSs5cNOK+qENqG+jpPBuBdKQVNLig/GwE1Z2DWgVRVzet4LFW3OxqB9KcH1b1IW3KTYLoGnLBELq2WMpzHD0hZzbupWj2Zc5f3A3BzNvo64bRWpyFIGBsbTokECAkw3m+hscWLaB3Ts3svnYNdT1UujQPAx3WwmV96+Rk1uASb0EOvfpRMIDO9erqbh7nh1LVnO0xBbPAB+c9IVcvZCLyi+NTu2SaFDPHivTJxeOqDIAPeqKu2RuX8qaI8XYePrj62yg4MpFrih9Se3clsQwTxysqtMN6NWU559hx8q1/HzXGq9gP+oairhy8Qoav1Tat00izNOhdjnkl9i1ait7tm9g+6mb4JtGiyZ+1JUZjMJe1++osPVPplP3FkT71kUmpM4waKgwvmc1+66b4xkSQn07NcX3yrEMSqZZXAPqWedzeOVmI8ctx66icmtCi9RmtO0l5IWrQ+nP3zL144XsvVyBmUcYCWmd6fdCe6I8HLAoOsfO7UfJyjnP4d0HyLylxKlhCokxwQTGtKBtYiB1batXOvVqKu9msnP5Go4UyvDw98HZUMy1rFyU3inGOod7CflPDeQdXMWmXdvZtOkYVxTuJLZvRrinPSbyAm7k5FKAO4079aJjcijutoJ96bm/dxbvf7mFXEUQfSe/TqeG9Z9a/l+emcEPa/aTeSmbrOzrFChk1Bd8cIM0nunfliiv2rtG/m738aeep7nGodVb2LV9I1uPX0HuHEPz1DTa9uxAkwAnyo/O5ZOpP7ArqwRT91DimnXmmYHtiXKzpDxrF6vX/Mw9S1d8fesiKb5Odq4Cz+R2tEluSH1HK8x0Nzi0Zgu7t2ew9dgVKhyjSUtNoU33jgRrznHowG62rN/F2TwD9ZPSSGrR2Xg2qb6TFG3FbTJ3rWHNnivgGkSIrwPa0vuUmfkRnxpHmLcjVr8la6kv5sLOzezZtYn1u85yS1+fhLQkmnfuSzPHPA7u28P2jC0czy3HISqN1NR0ugpn6i8c5uCuTWzYdZY8vdfD37SM9sbZSkPlvSz2rlrL4TtmuPj54mJSyo3sXOQeCbRJb2rMgS2tTjtj0FRy5/wu1q3ZQ67BhYBgXxx0pRSWm+Mdn0JcmDdOT5zTVcfdkxtZvWwJa3ZfQukWTbMuzzGwYxRmx+fz4/UA0ts2xbvyONt37WTz+t2cu2NBcEoKKend6eBVwrEjB6vqfLkM+8hmNE1Np1uHBuizfubQrk1k7DrDDZ0ncc2SaNGpDy1jfKgr1SK/n83e1Ws5nG+Ks68PLqbl5GXnUunehFbpKUT51qHszGbWrV7Jhj1nuXZfR72mgxj5Rj+aBZlzdccGtm7bzJb9F7hj4kNCajItu/QkLbI+lnlbmf3JF6w8eA25jQ9Ria3p3r8XqaGumBVeYO+6NezJ0eLsH4yPI1QUlGHq3Zik+Ah8nKvzWSpLuH5kAyu3ZKKo40ewnyOU3afYUI/YlAQijP5MGBuKyd63hyPnLnDuyAEOn71GuV0I8fGxhDWIIaV1PCGegnaGnltHN7Bt5xY2bjlGTkkdYlqlEuXvjLmiiLzcXO5pnYlM70aH1Ejq17Ey5qTVyAvI3reGDQfzwMkHXxczyvNyyK1wJbZVa1JiBH/7FOmUNDc5tnEbO7dksO1YDkXWoTRNaUbbHh1owCV+3ruNTRv3k3lTi0eTFBJbdaZnc08qT+1g1eKV7M6qxCkihY7PDaJjrJRzixZxpV4qLZsFoTm1w+izM3adJd/Un4SUZqR360hSeH0cLXRU3r3A/g3r2JOlpI5fML5OEioKyzDxiiUxviF+DoWc2rSdXcayXaLIJozkpqmkd29PqOlVTh7cyaYNuzlzTYVbo6ZVZWsVi//jtBwe47i0ecfYvG0HWzK2cTy7GNvwZJKbt6ebcS6i4tzir/h83kZO3TVQN6gRyR370rX+FTI252Dq44Ot3gK/xFQSogNwMisle+82dm3LYOPes1xXuxGbnETLzr1o2cgPm8LDrJr/I9uvyGiQlGDM6VpaqMSxQRAmmRtYvecmZi7BJHXtTssmIbhbqSm9fpzNq7ZyttQG7xA/nE0qKSzS4xqVSHxUAK42ZsacwMrS65zYuJqtZ0ux8QnGz9mUyoIi9K4NSUiIJsDNBjOj7RSSc3A9GQeuobH3xs/Ngsr8y+SWORHZvDXNGgVQ19ocyZ1TbN22g80btnAsqxCbhs1IiQ3G1UpFUd4Vrt1VYR/ekk4d04jxc0JqKsFQdJzFM75m9ZF83Dq+wcs904h44jQregrO7WDDykWs3HGBMvsGJHXsR//OTbDLXsHybEcaNW9OGJns3b2djRv2cOaGAe/4JFLadqVTvDNFJw+wc6NgJ1kUWAWTmCzYWjvCrG5x9vAOo52cypVTNzqJhNad6dGqEcEeNugUhVw+mMHGA1dQ2tbHz90S+e1crpTUITytFWlNgnCxNv8dZeOnGxHFwLMGL4O6krJKFRpBPVYnqLSBiakZpqYWyOxskRoDPwMaeRkVCjUazYO9zhJMBIVPcysc7GSY/uowZhm7Pp+LvP2zNPNz+U3ZZSFlhrxcjlpdwf27JWhlTrg42mJja11LlVWvliNXadGqVag0WgwGE8wsLTE3M8NSKqu61xhAVCJXKlGqtOgxxcLKokqF1KBDp9UjMbVAam2N5YN8j09kO4+pv8QMK1t7bGW/kNzWCYqCFSiM7xcuiVHFzszSGjsbqyfeD/5ExXrqm3SoKiuorFSi1oGphSUyG1ukFqAur0RnZW1MoiswVAoM1cI5JzMsLS2xEpihRq5QolIq0ejAxNwSS0spMmszDML9xt884m4ptUFqTOpcpdirrKhAqdFQcf8e5eb2ONpKsZLZYC21MHLRqiqRV8pRCM8wSDCztMHOXoaQs1ojr0ShUFapb0pMsRDKJLPGSsgSrpEbmT/4n7lQJhvhf0Jwo0VZWYFCKaf47n0UZg44Ottja22DzLLmwkNV7tCKSjXqygLuFWuQ1nGmjr0dNtaWNdI96FEr5EYb1KhUaLR6DCZmWAhiCOYWSKWW1YmmhfrKUaqUqDTCPQ+EcoSzi1q0WgMmFlKsra0eCZgYP77V4FRwn3JTO+rYSZHW4PTUzW78gQGtspJKhRp1RQEFFWbY1rFFaiXDxkaKRfVk9uGzH3JTUHq/ELmFg7G9pNaP2qtWOQwalJUKFEolaq1gXIKwSVXbCwmitXqhPa2QSa0eKVQ/qO/D9ilAYWqHo7MDNjY2WAvtg9B+NTkK9miFVCY1Pl+vLKesXI5KqwehHSylWNvIquqjV6MQVKI1GtQqNVq9wXguw8LCHHMLK6TVwkW161yJUq2mwsjeljq2MqO/sBbatfosh8BRqKdSpUFneCRCIySy1mm16E3MkQq2afHIvvSqCsoqKshet4WilJbE+Xk+9Qq9QbBPuRK1RotWpzcqapoKPtjM8lGd/5xx/HO/EpS65VV2oRL6rokgHGKF1FqwOVMM6grKyytRaqraT+i7QvsJ/hytispKBRp1BYUF5UisHbC1FvqMtbHtHviVWs9/4K9kMsxRG32VQlk1tgn+zsJK9tDfGPuESk6lXIm8+B6FchNs6jhhb2eDjczC2C9/+9KjUcir7MDor0wwF3yS1BorU22VL1SqjP1cYm5htEuZzBzUKpRKxa9/Y2lWNcExVPlohUZNZUEB5SbW2NvKkMlskEkFsaPay7dCwnPBZyrlJdwvqERiUwcnBztsjH2g2vc+YesK/k9eWYlCJbSTOZYya2ykFki0cuRaM6ysLDHVK41+2MhUD2aCgJGVDKmZHrVK+Psv6iw1B40KlVJR7ddrcKpZZ8G/q1VUFhZSjgw7oc5GX1NV56qyyavGVYPgXmTGOYKVcbySV48NVWOPuYWFcWyQWpghpLKoKK8wvtuACWYWwtggw0oQXUKwTaEvyym5X0glMhyc6mBnUzU2PFAvNy7dqQU7UaGqLKKgRIWZrSN17IVxRJiDPFD31KMR7FytRq1WV50FlphhLvgbMwuspFYP79WpBNsR+kW1DzHOZYRUJIIPqRp3rWSyR3Ze7cOF3wk+XFVRRFGFAamtLTLBP1lLjWPhU32ZMaroK1AKY7owr5MI/tPS6FvN0dTuO+ZC35Eik5phUCmolCtQC/MpM0vjmCCzNDXOG3SC37cwM+ZaVQrPVmvRCfMwC2G8lj3yiUa/IDCoNLKXG2TYOTlgZys8yxwzie6xZbOSSbEQ2k1Q4hbmo0K/FvqXlQyZ9I/67KOOIPQb43zCOJepHheEPirYm5kBTWU55ZXV/zM1x0JqjbW5juKbOVy5o0Tm6oO3V13shI8XgpK90Kcf1FfwBRYWxv4jtTDHBDXKinKKC+9RUFSJXloHl7pOONhbY6pRUFpagc7cChs7W2QW1YGOXoOiUo5KWUFRYSlKE2vqODpgbyfYfM15i+CHhDmvIH5WSInCBOs6dXBwsMPaqub5Q2F+o0CuUKGsKKa4XI+lra3Rl1oLY+mDHLc6YcxUVI2bgsaCMF6aC2UyoNdpqsdxgXUNX6RXI6+opPzydvbfDSSsYQQNHopA/bHzEcqlkFca5/dCfxFY28gsMdUqkGuFuZ4FZga1sa2M/sU497QwzvtlliboVUJbKqpt+JGtWUi0v/ZJ1f6/yrfXZlJSocfc2gYbG4GJ7BGTP67CE90hBp5PhOmv3aS/t43Za81p3z0eT6cn+Mpn0KMTJlMSE0xr5Nz6a6UQf/3fR0BwYDr0/Kfb2WAMCgyYYmJq8rtKj0KgpBOCFBPTWpOP/yzLGpwEif6nmlH8fkmr6icsMAkc/ujBBvTGiZCJcXHpD2//05Cq34PJH7bPn37FE//wH2JvKGX/4s2YJ6UQ7l0jbdATl+t/9MbqsQETIV1FbYGvv4uIQa819ol/t8/XrM1T2uD/F+PnU9b572p8qt9rEBaJf98n1hwb/ilbfJJqPZ0Pf5In/lv3PDn7f6uEtXqlTmsMyKo+zjxdOhFjm9WY4z4Ye41prH4hXPhoMdSATicsYAhCm783bzFg0OnRGai673cEb4Ry6I2+7vfvezreBiqOZbBH6UNQWBhBv1Q6erqH/cfv/meY1K6GGHj+3c2qL+Dw3E9Znt+Q54d2JMLFnNzF33I8sAftG3rg8FTnKP/uwonPEwmIBEQC/z4BfcE+Vu61pHFiON7ujz8b/++XUiyBSEAkIBIQCYgEnoKAvpjjWw6j9gwiNCzgoe7HUzzh//tbxcDz725i/Q2WjxrGInk6Y997lpDibSw57ER6lwR8nKR/2x7pv7vY4vNEAiIBkcB/hIC+kOPLM7gTmEpCuDdO4mLcfwS7+BKRgEhAJCAS+CcJ6Ck9t5kdM9zlFwAAIABJREFU1+0JioomzFNcVH0cbTHw/NttUEvxmQ0s2X4dg9QMU9tAElrEE+JuVyXIIl4iAZGASOB/mIC+4AInbljh5VcPF3vL393q/T+MSay6SEAkIBIQCfxfIqAv4cr5G+js3KjnWS209X+p/P+hsoqB5z8A2qBVIldoqpKsmlgglT0S4/gHXic+UiQgEhAJ/N8hoNOg1ptg9pSCL/93KiiWVCQgEhAJiAT+9wjo0RrVJk2f+tzr/xIrMfD8X2ptsa4iAZGASEAkIBIQCYgERAIiAZGASOBfICAGnv8CdPGVIgGRgEhAJCASEAmIBEQCIgGRgEjgf4mAGHj+L7W2WFeRgEhAJCASEAmIBEQCIgGRgEhAJPAvEBADz38BuvhKkYBIQCQgEhAJiAREAiIBkYBIQCTwv0RADDz/l1pbrKtIQCQgEhAJiAREAiIBkYBIQCQgEvgXCIiB578AXXylSEAkIBIQCYgERAIiAZGASEAkIBL4XyIgBp7/za2tzOf8icsUqHRITEyRCGlADTp00no0jPSljpU5JkL5Fbc4fzKX+yodJsb7DOgNdvg1CsXDxhKz/3gdDchvnuPMtWI0eglUpy816LRI60US4VMHqYWx5I8u1W0unrzMPaXWWFcMeizcw4j0dfr1vf/x+ogvFAmIBEQCIgGRgEhAJCASEAmIBP4KATHw/Cv0/unfVlzh0M5DnDuzn607z3G7QotNcBoduvemT3o4LtYWxpjOUJbF9h++YfaqY9zW1SU8vgmRkUm06RCHj4P0Xwg89ZTlHGTPz2c5sm0DB3MKUVqH0rpDKonN29O0QV2sfxl4Vuaye+Esvln+M3etAmicGEfTdl1pEe6GjeUvgtR/mrv4fJGASEAkIBIQCYgERAIiAZGASOBvJSAGnn8rzr/5YXotKqUSteIyS8aM5LsDJYS++jXv9YnB29kSU+MnUECv5s6Oqby9REPa831pHu6OndQKmcwSM5Pqe/7mov3R4/QaJUqVmrJjsxj57lLOGlKZ8M1o2jTwxMGi+uttzYcYVFxd+SFTDjjQqk9XkoJdsLeRITV/zL1/9HLx/yIBkYBIQCQgEhAJiAREAiIBkcB/FQEx8Pyvao7fKoyGvFVv89LHW7gX+Apff/I80fVsH37JVORmMH9NAUFtWtE4yB07S5MHu1v/9doZ5CeY9dLrzD8BzT+cy5h2gdSV/jIYNlB5cQ3zd+iJbdOUCN+6WJv/99ThX4coFkAkIBIQCYgERAIiAZGASEAk8H+cgBh4/h9pQH3hTj4ePI6VOU70/HwWQ1Pq42AhQZO3k/nLbxKY3oZGga7Y/LcFbAYl578bxohvD6NKGs+cCZ0IdrGuOptafWlu7WLBinyC0lvRKMAFmZnkvyZw/j9iHmIxRQIiAZGASEAkIBIQCYgERAL/1QTEwPO/unlqFM5QycmZLzNq7ikkLd5n9jvt8NWfYtFPF/Bo2Zb4EHdsLf7EV0JDBafXrCTPpxWpYe7Y/uZ5SgOlmRmsyqxL5zZRONlbPTE5VfYCXn/5Kw5UxDJ63gd0D3PDxrTq54aSUyydfwyH5ukkNvDE7s/U4YlLIt4oEhAJiAREAiIBkYBIQCQgEhAJ/BsEnijwVOZncuZKAQqNHkGi1M4nmnAvO8yUNzl39jolKi2G6tJLzJwJjA3GVWZG2eWTZOVXoNIZQGKBS3AMgS5SzIWgQ1/JrXNHOXb2CvfK1Zg5+hCd3JQwdxssqoOSB0B0xTkc3LGX0zfKMZha4BgYR2pyQ+rZWWAq0VNx4yznr5eg1D4oxeNQSrB0CyHaV8KNM7nclavQPbxNgsTUEjsnV9w83HGxt8L0MWcjdSXXOX3kECezb1OmMMEhoAlpzWOp72CJ2T9+lNKAKvcn3nzxc/aWRfHap93RH7uOR1p7ksI9cfjT22t13N3/DZPn5hI64DX6JPpg/6vg00Dp2cVM/Ww31p1G8HJ6A5xkT6GVq77G0jeHMGN7IWEj5jCpbyQedqagzGXT3I3IY9rTLNoHJ6npP/ylU4+y+DY38+5QVCZHpdGir2EyEpM6+MYEYXnnAlfvlKPUPrIjicQUS1tH6rrXw93FHqnZL4J8Qxk3z13kRrEcYzf5jcvEwZeoBvWwszJ/eIdeWcLtG3ncLS5FrtSgrVUoUxx8owjxsMXK3CglhSI/kxPHznL5bilKEwfqRyaSFCE80wyJoZK885ncKKpE/TvlQGKFS1AE/q42WFb3N11JLkd27+PUtRI0mFPHvxFNkyKp7yitbd96JSW387h1p5DSSiUanf5h/xf8g4mDDzEh9bCRPqrj0zo3fWEuZ3LyKVXUagRMLW1xdHbD3cMVe5kZpr/atS3nzoUTHD9zmTslSkwcvIhISCbcS2gzCfrCy5w4l8Otu4WUltsR1i6FAPNCrpw7Q1aeBluvQCIahlKvjhXmj9G00pXd5Nyxnzl5MY+SSrDzjSG5WSP8na0fc78eZckd8oz2VolSo0Nfo20lJg54RwbhUHGNyzcKqFD9boNh6RJIuI8Z97KvcrtUwUMyEiluwaG4aG5yNa+A8hrPMXHwpmGwJ/ayKiEydGXknT/OkeMXySuqxGDvQ3TTZjTyFwS/fu3EdKVXObZ3PydzC1ELNuEXQ2JiFD7OMsypJP/CRa4XlPP7RbekbkAYPuYF5Fy9TYlC88jzSt0IauCCNu8qebWeY4Kdd0MCpEVcvXGbYvkvfhPqi4udFQ+HCn0RV89eJr+kEs3Dwajqvb7SYnKv3KKoQo3BxBr3oBC8Xeyw+sU4Y+xbty+Rdf0upQodEksXAsP8cLH/CwJtuiKunsshX/ALT9AJTOzrEx5gTUlODpdv3KagtBybkFYkBckou3GesxduorSuR0BEBA28nJA93ki5lXmSoycucLOwAr2tN5FJqTQKcjEuTv7y0pVd4+T+A5zIKUBpMMPBJ4qExGj86lpjLpFzOyuL6/dLUT4aMH9dE4klzv6h+FgWcSk7h5u371NabkNwy2QCrSu4mXmGizcUSN0DCG/YAC9na35dFCX3LvzMweM53CtTgY0XkclJRPg4Yf1wgNVRdDWT3FtFVD5qaKSugQS76rlzPY/7pcpHY7vEHq+IIDwdbbCs6gCUXTvJwYMnyLmnQG9mj09UIgnRftS1sUAiv0121rXaz3hcu1k44xfqi7TkKtfzC6lQ1xpIsLSpg5OrB+6uDlhbmNXa4WN8nK6c/IunOHY809h/9Db1aZiYQqNgN+NRGeEylN3kYs5N7pepMJjIcPUPxsetyo/Vvgwo7l7m0rU7lMi1YFkX/wZ+uDnI/p55ib6MG6cOcfDYJe7JdZg5+NAwPp6oANfH2tMTmPmjsa/oGhdyb1Eo9M0//KEJtp6hBHo5Y2clwVCRz6VLN7hXqqgxl/vlQ2r/Rvivvvw2WaePciLzGvfL9Nh4hhPXtDHB9RywMqI3IL+TQ861OxQrftfosXDyIcRHRsWNG0b/9dAMJFbU9QvC1aSQW7fuUCx/9BwTu3qEBNSnrr1VlU/WV3A76zTHj5/n2r0ydDaehMU3pXFIPRyqClT70pdz8/RhDh3L4m6lDlN7b8Lj4ogOFI5ZSVDcyeHS9drvfEyHrSq7t4yKvBvk3a9ddme/IHw9HGv0u6on6ItvkJV7k/vlj9pLYlUX3yBfPBytjfamKbrMqaMnybx6l3KlKQ4+kcQlRuLnYoNxCvMXL33JDTIvXuJq3j1Ky6X4JsUT4qzl7sUzXLhegZmzD2ENQ40+/sHc5tErVRReOs7hY1ncKlaAtQehcQlEBbph+9jC6SnPO8uRg8eMsYzW1A6v8MbExQbjYW8JxTfIvpJn9FdPYr82HsH42avJv3qJK8byW+GbGE+Ii557F8+Qea3cWP7QiFC8XR8/RqkKrpB56gwXr9+jwmCNa3AsTSL9cbe3rDV/VhdcI+dqHvcrfmfkkdjiHhxAfTcHjCfgDEoKr2Ry+vRFrt8vx2DtSmB0HJGBHthXOdC/5XqiwFNdkMWxg/vYtmYdey/Z0mHqJwyJr4edrpCr2VkcXvEVC/bcxbVFf7o3TyCxiT/OUlNKdk1lxJTtFLnF0bZdK5qnJRJY1wpz1TV2zf2c5fkR9O7XhobuJtw9/CMzV5eSMGQY3WI9sDYagZ7SzLXMmrkDXXwverQKw81czd3zO1l/1JTUfp2I9rAi+7thTDvlQdPWTYmob0vlkYV8ueIM0uSXeSHdH1tVHkfXLuFAnQF8MSIOSWEe57fOY+aqMxAziOF9YnGT6Si5foYdG/ZR4tOW5wa2J8JVGHiNowSFp1Ywe1Emzi260zrGC1tDCdk7FrHksBlpQwaTHlbXuEX0H700d9g4cTCT1l/HLLgtL4x8mY6NvHH8iwGbXlVC7q45zFh8i4YDh9M3qWbwKQSdS5j62U4sW77A8+1iqF/H6tcT/t+tuJZbq98ynlHN93+Jbz55nlh3FUd/WMwlr1a0iQ/C1cacf0wHyVDBlX2rWbx0N/dcYohvFGZ0SjJzDXnb5zNnUw7WCX3o0SqJxLgAZOU3uHp+OwtmruaUJpxnX+tNYy9b9CU3Ob9rI/sL69HimedpH+1RY+BVUnj1MpdPZ7BwtwWtuybj52qDqeIaW7/7ho0XLYjp3ZvWTZOID65S6q28sp81i5ax544zUQmNCPNxxU5mhiZvBwtmb+ayLI6evVqSlBRPoDFAVHJz30K+XnYNvw49aR3rhUXRcZbNWkNB1DO80D0eb+vLLBz9CcftYklpGo2vg5KTS2ex+oSEmAEDSA9xQnf7BBuX78O65wcMTQ/BzQbKsjKY8+02KiM60rlVFF4yDfcv7GXTUT2Nu7Yj1tcRK8UVDqxZwvKdt3GKjiM2zBdXexnmmlvsWjCHzdlWNOrVg1bJVXW0/rXXf+Luoa+4w5XLmez44RvWHFcQ8szL9IzzxYFS8s7tZvP++7g1602/jrF42ltWTeyUNznw09esuOJNerc2xPpYUXRiOXPW3CW01yC6JfphV3CcjO172JmxhZM3PWj9Qjyudt6EhYXibavg8p7lLP/ZQJO+A+gSL6QsejDw6yg6t54FS84gjWtLyyb+OJqUkbt3BcsPaojt+zztYrywF4I3QyXXDq5j6bKd5DtE0LhRBL6u9lhbaLm1ayHfb7qIeUx3urVOITnel6K1HzDzZ0vCk5OJ9ndEfXoF3606hq5hP55rF05dbnNq4yr2W3ZiwsspOKrucn77D8xec5zy+q3p0b45TZMjcTcpIi/nCGvnLGRnjjmRPXrQJrWpcTeEsCihKzrPxgVLOW0ZS+uWcQQ4m1J+eR8rlx9EE92bfh2ERbTqABUD5Zc28/13WykJakPH1jF42+gpzNrPlqNqItun09i7gDUTPudnswYkNI0lwFHD2ZWzWX1MQ1jf52gb4Ybkzim2rNqHefu3eDHVFe39TLb/OJt1R8uo17IH7VqkkBzpgWlRHpePrWHewh3kmDSka890UpomEGSr4Pb18+z48TvWHS3Fo2V32rVIJSnKh7o21e1ePXm7dzWXC7sXM3flYe46p9KzSytSk2PwsVFy51oW+5cvZMPRLOQRL/H+ax2Jqm9XOyBQXWLLF18wZ3Mudind6NgihaQY39rveWILrr5RX4FQrvPbf2TummNUBHSjf49kQtxtsTQzxaC4yva5s9lwWktI5260TkslIdBA7p597NuWwdbj13FOe5Y4T2d8QoNp4OuA6uoB1iw/jLphV57pnkygs/RhAK4rzmTLwuWcNImgecsEgl3MKL9ykLUrDiAP60qfjk3wc3wwQTFQnrONhfO2UuDdjHZtGuNnZ6Do0kG2HVXSoFUr4vxLyfjwSw7q/GjStDGBzloy185jzc9yArs/Q7toT8zunWHb2n1IWoxkYCMTLp3cx44NWzhxzYmUfvF4uvgSEhSCbx0N1w6sZuUhJWGd+9EtJZi6sgdbX0o5n7GWkyoPQqMi8HUyoeD4CuavyMapzQCeaR1JPVvjijWV965x5fwOFs9dy5ECF1K6tKNFWlMi65lTln+FY+vms3hbJvrQTnROb05qYggeDsJCSTm5OxYyf/NdPFPa0SouAHtDMTmHtnFcHkzzVvH4l21k6lcHUHk3IqlxMHX1mWyYv4afywLo/Ew7YrzMuX92G+v3Qeprg2jhZ0bxxV0snbuGwwWedBjYk6ahrpiW55N1YBsH822J6diHTgkBOFfXVV98ka2LV3BCF0JK8wQauFlSee0Q61YdoDyoPb06JhDgbIWJopAbV7M5uGoRGYfPURYykLeHdSXO3+HRgotgZurL7Px6Ft9tuIhVXEc6tE4jOcav9sLM09pt9f2G8ivsXvQ9W/LdSUhvQ3yQAxRf5uftgi2n0jwhlHq2T7EI/csYquIeN65msnPJ96w/VIhHu350axZJfXtLTM1AeWM3i+au5Vi5L627pNMiLZEQT8eq+aGqhFvXcjmzdRn7lWHEx0URWNcM1a39LFuwgePl3rTunE6L5knVvzFQkrWdZSuOog5IpllSGB5Wcq4f3sDa/cX4tOlJh+RgXKR6Lq+eyjd7SnGNSqZJA1cM2Zv4afUBiut3oGf7JvhIC8ncsZ79mnhe6t+GIFkpmTuXsmDtQW47JNC+bSuap0bjZVXJ3SvHyVi4mG1nFPind6ZN6zQSQzxxtLHAUJLNzmUrOar0JTEtmXAPK+Q3jpCxeh9FPq3p3jGZEFfpQz9lqLjKviU/sOmmI41bp5MY4oikJJejO49RWj+RtKRQ1Dtn8O3uIpwjmxIX6grZm1m05gAFnm3p2T4OX1kRF3ZuYL+qCYP7tyHEuowLu5bxw9oD5NnF075da1qkROPn7oD0F4tzhsr73Lh6gd3LFrDuQB62TdrTtk1Lmsb44+4g4fahVSzbegXryOY0jw/GWVJM1p41ZJyGiA7dSY/zo85jFjifxjx1d8+xZ+9utm7YxvEcKbFd4gjwDSDANxj/upB/LIM1+4vwat6T7i0bPrJPQxnZOzZxvNgWv4ZRBLqaU3I2g0UrzmAe35M+HeLxc6hhy4YKru1fzk8br2IX05I2yWE4m5Ry5egujpfUo0mzJBo6a7h97QK7l//Auv35ODfvTddWsfg6WGFmitEWly9Yy6H77jTrmE7rlskEWdzhxOE9bM3YyvFLUqI7xxHo54+/TzABLhJuH9/E2v0FeDTrTvdWUXg+7F8q7p4SynsKSWgarZtF4KTKZtui9VyyaUKnHm2IqW/3UPtFW3GPm1fPsmPlXkrrRRDTKAw3SyW3Dqxm6YbDFHo0o13bdJonhVC/rh0W6ruczviJVacMhDRLp1lDZ5SXtrJ0XTayRp3p3jaW+nZ/vq/XbOMnCjwNeg1qpRJ5cS575s/hcN1nGf5MI+rZmKLTaChYP5ZnpuSQ/OEXDGvqjbO1GaaGYo58PZkVqkR6d0kkUFj5kwpfBkv4+YvRTNrjxHPvjaBdmAe25qBT3mHH1OF8dTWJd6a8QBN3O7i6hg/GzOZa5AjGDU7B31WGGXoK9s1i/PQNmHb/nAm9/Mie9QFZTQfRIcwLRysTVPun8Pw7GTgPnsf7PQJxluqQZy3ivVVOvD28NXUdLJGfnsVLI35E1/Vrpr8QhbutCXqNipIz3/POhLWUpbzFp681w8vBgspzPzB+4jbsnhnL4FYN8BC+tKJDLS/k9A8TmHbUlyHjXyLV14F/NvOHntJ9U3lx7BIyzVoyad47pAc4I/0bso3oVCVcMQafNwkfMIJ+yb7GFY6/HnRWmZv2bgbvDZrEhuv16D/rA+Jv7eCMLIm2KRHUr2P5zwWdgCZzPqPens95p568P6Y7Ud6OWJqaGPOdlm/9gP4fnyRk5DRGtBZWscyR6HVo5WeYM2w0P1amM33KCzTyccBUp0FVeo6fxn/AmoLGjJj6Ks0F/sb1BgN6rRZN+W7m/GSgbdc4vFytkRhK2DJxANOP+vHy9DdoG1at6qvNZOGod1lwug7dPhhDtxhvHK1MMZFIMJRtY9LzUzgZ/CqTR6bTwNPeuEug9Mg3jJ+8A8uubzK0UwzedSyQ6FTc2/05b32VRdirExgUf4fFn14gqkdrGga4IjVR8/Png3lvrRXdP59A70hPbHQKLi//iDXWgxjYJhjXkk1MGzebbP9BjB7UglBPW8wlegoPz2XSp2tRtXqft/pEULH+bSZ8fwr7LhMZ3SMWH+eqnQESQxk7Jg1k+jF/hkweSXq4Fw5/VY3YoEOrUXBu3kjeWlBM6keTGJQYgJOZHq2qlPOL3uOjVXeJHPYRQ1sH4yot5fh3E5i6zZR2rw+lU2M/HC1M0Knusu/Lt5h1IYQh775Aqq8dekU5Z75/g4k/ZuHU/R3G9mtKsLsdliZ61JX5HJj9AbP2m9Ny1FieSfChjiVUXljK5I82Y5L+Cv3bxeDrKPgAPWp5EeeXTWHGQUe6j3iBVmFuWFz6iXfGf88J6468M7oHjQOcsTKtyq9bsWMKQ6YeweuF93mtQyTeDnD8m+lkhraneVQw7jJT1EdnMmziakw6TeGdvrF42xtQXF7J9LVW9O/XAn8vWxSn5zH6nYWUpnzAuAFJBLsLX6X1aDX32TrpFT477Mbzk0bTMdqXOoKKtPwiKz7+mM36lgwe0I5YP0cshS/AagXF55cz/bMD2Hd9lYFtInC3MUVzYzMz3v+O8x59GT6wNQ197LGQ6Ck6soCpn6+hLPkt3uguYcf8LILS04gKqYe1qZpjs4bxwWoDbT96l75NfLE3KLiyajrrzHvRu2Uo9e1UnP1+NON/KCJx4nj6pzTA3filXoumYCtThn7Kobr9mDiqi7GMFiYGdFoFZ79/gwkLC0mYMI7+KaG4S4Wv3TUX+oT+p0GRtZh3x87lZtQbvDukBRGeNpgZn6HixtrvWHH8EJtOOtFr3Cj6Jgbg+PCjvIHyU9vYsW8t36wsIWnMGAamhVNPGMtqvedppkhVfkEnlOvsAt4at5CChHG8OyiVEFfzqtVpQyk7pw7j07329Bz/Ol3iAnAyB41SScXZH5nwwUJOS9syasxzpDWsh52wHUgr5/bBeUyZtQdt0iuMejaVIBcrkGezZtpUNiqTeO75jsQHORvb2CC0ceYqPvtiP9L0IQxoH42nrSmavG3MnDSH045deGlgOxr5OWBhoqf42E988uUqChuNZGRPKQcXXcQ7tSkxEV5Ym2o4+d3rfLRCQer4t+iXHISjQcnVtTPYIOlA57QwvGzknP9pAh/9cALLNq8z6vmWRHraG3cyaeW3OTx/Kt/uUtHkpVE8mxaCi5UE7fX1TJuawX3/Tgzpl0awmwyD8h4Hvn2PmYdsaD9qGF0b+2AvpHjWadEqzvHj2++xMD+K0W8PpHmkF1JTCQadhsIdnzL6sz3Iur7NiB4JBAkK8CY68rfPZOp3J7DtMIT+HZvgL4w7+mJOLvqUr1bdI/rVkfSwOczyLC8SEmNp6G2DmeYk80ZPYkV5MmPHPk9KAycMymtkfL4efXpH0mICcVRdZMn4Ccy/Gsrwd4bQOsoDc4MWddlFVk+fzsocT3q/PYyOjXywVV5i/YxPyChrRO9nO5PUoC5WQhtpFBRfWMuXX+3FNG0A/Ts2xtvWxGi3NzcuYNXP+9h42p6OI1/j2Rah1H34dcZAxdld7N63lm9XFRA9dCSD0mPwFuz2r67kavPZ9fVU5h2V0mrwADomBBp9qr7kFMtnfMXK2+EMGd6PtHA3/nQsYdCj1cq5sGgik+ZfJ2T4GF5oG0296gcayvby1ehP2SFpw8iRvUkJdakeu4W+o0en1VJxZCnry8OIiQ4nyMkEQ/k+Zr3xGdtpzYgRvUkNE34jQXF5AzM/W09RRA/6dk0hzFXwmQY0yhKy1n3FN7t1xD/bn04J9bm2+FvOOEfRpEksvrZmaM/8wLjJS7gXM5LRA1oS7gLKa5v5dqOK5q2aERtaF8WFpXz44ffk+r/M64Pb09hXhqmQU11bxN4v3+KL7XpajBxB77RwXCxNkQg7vr6awfqCULr07UZquCtSc8EWlJRkbeDrr3ejbdKX57om4i8ERNrb7J09nbmHzUgd0J8uTUOM7WEoPcOqL2ex/EYAA4b1wfV8Bhcdw2kU1xg/Y9kXMuHjxdyOfI1RA9vQ0BWU17fw3UYlKc1TaRzuguLiMj768HtyfF9kxOCOxPnJMBPmSL90d8b2UpC1bBKTv8/Ge/DrvNApHl+ZCWVnl/PVNweQJPagZ8dEAhwsjGOSuvIORxd9yU/n69Dy+X60beSF9V/5RqNTo1BWcHHlVD75fi+K+CG8NrAj8b51sBQwKe5xfMkXzNlyj8A+w+jfLhZPawm6vG3M+nwtuY7NeP7ZdKLr22JQFXB04TS+2akmfvDL9E5rgJMx2NZyZ9/3fD5nP/rEZ3mueyqhgh+hjLOrZvHN0iv49HuJfu1icDdVcnHFx0yZdxHPgSN5sWs83tVfBw3lB5nz7gw2ViTy0vBnaR3lioUQO6gquLhqOp98v5vKxoN5bVAn4v0csaou/4llXzF38x38eg6lf4dGeFlD+flVzPpyDbcCuvFc33Ri6skwNagpOr6YGbMPYGg6gIHdkwmwq4ZrbKsKTm7YTplXAGERoTibGqg4PJf3ZmRQGjeEV59rQ5Sb4B8rubh6JjNX38S3y/P0adeIejJTDOpCTiz5jDn7DST1H0S3poE8ePzTjoRPHXg+/IFBx/+j7q3jqsragO2L7u4SkBYpCxQBUTHGdnR0jLE7ERBQGhW7uztGx25FDOzuwO4CkTjE4Zzz/fYhBMd5xnmc5/3ed//L3oe19rrXve9r3VWY+56M9H2kvbKiaftGOBtrINobTsekDIKmLWSkvyU6+XfZv/komfaBBNdxxtJAo6Kth/j+WkYPm8+zeonMDW+MfcXpq5Tsw/H0TLyJX+I8hjfU5vrsgcTtUOHn+dPp7WOBjtyjKOX1rvEMmZIJm1zzAAAgAElEQVSORb8FJHW15drK9Wh26kYdcwPUFaA4PYWu4bswHbKO5E6OmAhSXniJBfOe8GufFhga6yC+tYj+g1dQ0mkZ0/t5YiE/TQXJk7UM7z2Hm+5hrEpsj6Phe/4YO4w5D+sSN2skQfaGlZSsjOLH6xkzcBWiNpOY0Kc2lrr/fXjh3y5k8QtSFy9k7e79XHqpTdO45cS0F06N/wXyFOYuwGfqUmZufIlHn5G00j3HkgVpP+DprDQjaSapyf2J35aBhps/tYK70KejL46mpeEZ/8ur8NRkekZt4aNvLIujWuJsqlGhUEWHE+iadBnPyFmMCnHARBAg4RLfZcXg4azI+4lZU/tS29ag9CRJ8ozNowcw97I9g5cm0LGGBdqVX3/BMVZuVKN5Gx8sTTVRIJeDsd1IueDC6NkRtHA1KwXVwnSm9Yxmy7u6RC+OpKWbGZrl70F0lOQuSVxyD2PamGby8HSFkodsGTuGhXdcGD09jOY1zClfdtnnY0zuN5HLbqOZ1FeR40d0aN62NjbmQhGnYs7N7M34P9TpuiCRLp426CpC4dWlLHsYwM+NTXm6bgyJW4sImTSRvg2qY1gWbfDmwATGTD2GdqfJxHavyYul/YjZ/AafqIWMbeWOecXXQ0RqUjcmXnBl1LTRNHM1L4PxH11VMfdWjmTMsiyCp0yibwMHjEoXgedbIhg2+zyW/ecT09kLiw/biAmbzy2H4Uwa04qaVuUFrGTkHJ/CkIkXcBg6gWHN3TDTLCn73Q/4J01kQJAzphWWkxTR3bVEj1nJPfveTBrXCW+Lz+xPDGPODUeGJ4+gubtFpcMeGcXPthE3agXv6ocxvl8g1g8WMGD8Rl54hDEnsi0eFWOBgtRJ9Jp4jupDJzHqJ3csNEWcWLkFhaDm+NhboaMI4gtzGThuK4odZhHbvRZ2+sKCXWPVikeEtA7C2tYY8Z2VhIat5HPjyST0qY+DcfnRdC5Hk/sw+bQ1/SeH08bLGi0FCS/3JBM5+xq2QxIY9pMnVpV0hqz4OdvjQln1ui4jBTh3UuPqwjAmbMmhYWwCfRu5lr0fKW8PTyFy+mGUWyUwrqOYU0dVaNi0FtVtdFBEzMV5A4nbKqP1tDi61a2OgSIUXV/NqoxatAh0w84U7q4eQ+TyLAInJtC7oRMVQ887yuS+KaSb9yU5oh3eNtpl+1TMvdVhRC7PJGBiPL0bOn955isRkzzeTNToRbyoM564QcHUMCvXx1Le7FnBUSRcWLWPgnrDCO8bjItpmfdPmsm5w9dRerePKes/Uicqmr5Brpj+Owe8lNxbS0TEcj74JxDbN1DuiSy98jg2eSBTTxjTPWkM7WvbyWVAbvo82EBkxFKee4YTO6QZHpZfQqmkBffZEhvFimumdEqIpIufLaLDU4iZfRGzPuMY2qY21SopJlnxC3Ylj2XVU3cGRvWniZsmN5ZFk7LpA7XDY+gX4oGF3FiS8i51JjHT91PSZByRnRW5dEKRugE+ONnrydf48uIRJG4W0ThxPD0CXDAW1vjmetY9cJd7kRzNFcnYGEX0ksfUCI1jUAsvrMr1KlIKHmwhKXo5Vww7EhP5K/UdDeHh78RFL+GsdnsSo7vh72yEEjKyDk1m1MyzmHSPYVQHAcbKlGTJfTZGRrPiVW2iYvrJ4afijR6fzojJaej8EkNoJ1/sdRWR5Vxk5fhJbHrrxchxA2jmbSW3FZC+J232eGbvLSIwMpKfVa5xRsEHPx9Xqgv7rvgKy0fHszk3iJjoXgTWMEGRIm5vWE+Gqz++Hi5YKD7i93FRLH3szuiYQTTzsiy1ESSv2JMUztxUFdokj6N7oDNFR6cTP+cs+l0jGNrBF/syu0N+BiF+xd5JUax66MBvYQNo7mWFhoKUdwfXkVqcz/lNR8mv8Rsj+rbA06o8TDOLS8duIH21nzlb3uE6bAz9mnlh+cNmiIzcy6tInLSBFzWGMXbQT9SyLv2f0vfHWRA3i7159Rk9tjdNPH4APEslnYzNscQvfYJbaBT9WnpjWb6Y+SeZN2oqR5TbED6mCw2d9f8Utlx4bit7i93x9nDFUVA4+aeYN3oqRxRbExbWhQDhGekbjs5KYF66Jh1Ch9LR3wkh26f0kiF+tZ8ZMSu4a92VkQObUHzmCEVuPni6u2CoBOJrq4lOWs/7uhGE9w3B00wQ+jts3fwAjzq1cXW3oSTjd5Jil/LQZQThA1pRy7piEqTPHcP0Q9AifAxdg1zQV5Ty9uhckueeRK3tSIb8EoDTlwEhE7/m4PQ4Vt42p/OogbSuY4P06lomTF7PY8f+hA1qSz3bUjtG+uEUS5JmsSuzNkPDu2Lw8BIlLl541XQtHfv1NYxPXs8bn9GE9W2Jt4Uw9rts23KfGj61qOFRjZKH25gQt4QHDkMZM7A1dWz+kwCV8GhbMolL7mE/OJwBbetiLbnLH5MnszajOr1G9aVVXZuy0Hbh/UoR3djAhKk7yfTqx4jfQqhZoZf/WxuhhCc7JpG46ComPcIY0qkB1Su+aVIKH+9iZuIyTsgaMSq8FyGeZig83cO0pEUcKQokLKI3zb0FnSHj0/H5xMw+Cs1GMqJbMK76isjyrrFp0jTW3bOhx5hBdGhgX2pvST9yeulE5v7xjpqDQunbpg5WahIebZ/EhMW3se4XyoCOflQrf32isyyNms6+/ECGhfakaU3DMvkt4cnOySQvuozhr6EM+aUhDlXGv4fZyUtJKwlkRHgvmtcs4ficSSw4KqHJiOF0D/HAsEy8ZHmXWJM4k0MF/vQb1p3GbpX3SDFXdx8gp5oj7p6CxxZEZ5cSM30veQ2HMPK35tQ0UkTy8ggLJs3nqDiYISN6EuJpVKZPZeRfWk3yzIMUNOjP4O5NcBP22A9e3+XxrPo/ZJQU5PDs4CymndCn3cCe1H6QQreJAnjOp7/FHTbP2YmkzUi6+TtirlM5hFLCo7VDGTjzIrZD15DUSQg/+UIdkvsrGDJ0LSq9VzO5zRuWDRzHtoIQpi4PI7CafgXwSUSZvP0oQs3ADAPtYm6fuoVRLS/MtUtDjr6A53qSOzmUgqf0I5dOPMa9nicaWuqIby2m/+DlX8BTq4h3d9PZuWINx3McaTNwIG19LNB4/Tth/aZzyWEUKyZ0xMmkakVWCs8wtVs42xV/Zubs/tQVvFM/uCjffFzynjOr13HXMpiar1YQt/A4WW7DWTy9B14WX1qr/Oi/roDPdZd4m62IR/eR9Pmvwmu/HomMjzsj6TnpADkew5k6/hfq2gkn7P9j6pQXMLrCuvgEVjx0oH9cGB1qWaFddmJcAZ5Rsxjd1AHjSuC5cvBwlleApx7i9w84u3Mla1OzsP2pL/3aVwrzLP+EZR9i9R5jWrR0x9xY+FD/BXjKsrm2Nomk5Q+w7x/D6I61sdYp84JUgGc408aEyMFT+mQzEUNnkW7Yg3mJXfCwrhQmKMlgw6gxrBW3ZUZkLQrzbKhZwwJ9bUESK4HnwkS6eJSCpzTzKmeemOBh85DloxPY8sGX2PljCHExKzXIBLupIIv3H/NR0TNBX1uV/OsbmJC4jPu2fYga8zN1q+mWhaKLOJbUjQkXXRk19X8Bnp8IniJAsQMGxe/JOLeHtWtT+WAdQq9+Hahjq8ObbZGMnnUcnV9mE/trLaoJRmPZJXm4kbFhqxG1nEp8r7rYGUi5v2oUoUuzCJ48gb7+gie1krwWXmPJ8LGsuVWNfgvi6Gh8mekjZ3DKqCez4rviYysY4JXvv8j8QeP4PbcRMZMHEmj6mu2Tkllx25JuUaF08rUrDcEFCo5NoteEquB599xdtJydsTAofZ/fBE9pFtfPPsG+hjO6BjqI76wiNGxFKXj2rY9D6TGtHGTk4HnGiv4pZeApfcmu2JHMOq5H15lxdK1rj36VEKoiLs0bQuzmbBrGTGKAbxabQ+PZ9NKT8JljaOlpVXEoIin4xIfMfJR0jDBQeMqVB5o4OllgoCeE6H4bPKVZ1zn/1BAXR3MMdeHe6jGM/afguSaMyGU/Dp5pBrXROL2Iddcs6BE1mBaelvK5SV6e4OgTS+zebiRx2WM8I///AM8w2te2rQKeURFLeVlnHLEDGuNuXvnLUsjNFRHErLiEcbdpRHetxv35Y5l1RI12KePp7u8sNzq/XEVcWTyKhA1vqR2ezMCG+eyMSmT9YxeGTw6Vp2xoV+z7bD5k5qGkbYi+4nOuP1TH1t4SYyHCojJ4Jo2nR8NS8JR+usnFp7o4CPfpK5SB53O8I2PpH+JBlaEX3WTN2BhWXjCg8+RxdGvojIEsn/dPX5KrboS5qSHaimLycrJ5m7aQmAVnMOiaSHgXPxz0yqn8PhujBPCsQ9T4vn8LnqILixmbuJYHDoNJDu1AXXvhoESu5SjM/kBmniJahgYoPb/OI7Vq2FqaYCCA+DfBU8qnWxd5pmOHnYUp+uXg+cSd0eMF8DRHmvWYywc2sPHwC3T9OvPbzwE4G2dzOCWS2QehReI4ejZy++oApYhryyNIWvcM9xHxDBI80xoyOXge13RF5dJ6fr+sQ9uRg2hb11Z+4Cl9fZq0J0ZYvNnJ9FV3sR/6b4GniMvLIpmw+g7V+ifJPcfVy09EJIV8/phJnoIm+vq6aAoRFT9keJSD51PcQiP/AjzbloHnV7pXSAlI306qkrscEqsL7phvgCdvDjFj3Cz2FzcmOkqAZdOq4cpF11kTncz6h470j+mNm3IROhZWWJobywHqm+ApzebulWeYWltjZG70n8Fz3himH1SgZXgoXQTw5A1Hpscye4+IoOgoejXzxKzKIVcRN9aMZ+KaB1TvP47B7T3J3BJDyoprmP0Wx6gugTiV7wVhPTKzyEMDfX1lXt9+jLK5JRbmJvJv+RfwDCWsb4tS8JRmc+/qM4wtrTG2MKoCnmEDW1P7u8DzPvaDw+TgaZqxmaSkpVw2+pXoUQLs61aRCaErw9zo2ezNbUBoZJ8y6PsRoSkHzxtY9g1jUCUvo/xXi+6xdUIyS49KaToukt4tvTFDxIcXr/mspIOpmTE6yhJEOdm8S19FyqJjSJuGEvpbM2oaK1JwbS1Jk1ZwSb8LUaHdCK6AOQmFOZl8ypWhpmeAnpZQZ6aEx9snkfwfwTOIYaE9qoDn012TSVoorGcogzo1wK5yDmXRfbZNmsDSw2KCo8bSy+cjWybO5o93PowI70urOlYVB21IX3BwxiRW3rGi56iBtPer9oVBZHmc35VKsZ2zPLdeYMZS8NxDXsNhjBTmawRvjsxhwuzfees5gtB+balTcWgC0hcHmT1pObctezJiUEf8Kqj6v1+//wI8hY/MeRaOjmLTR2cCPayppnaX1buy8Ps1CCNpIc8P7+OxXT9SJvaklkXlhOJiTk/6mYiNr7Bs2YtmboZUqVFTkkdmZiEWQd1poXeAyAGzOWPSi9UL+uFprlNFUchkMhTkIVBSxEUlKKqqVIREfRM8hbC4ohJUVFXkz5WC51LeunaibV0z1CWfefv8Ge9ltgS270hjbxv0NZQQn5lKtzEb+dgggVXjW2BnVHbSWP7OxddZ0GsYKx97M3ZdPG0cTb54rv77dan6pOwTlzes5pJeIC0b1sRCnMakAfHseGRG13nzGexvI2+t8u9cQjjdYsZP2MaN9/r8FDuJIU2d5SHMP3aJub1oACOW3cVh6FISu3hgWf4h+7Ef/vunZWJEmc+4cfY0VzLekPkpH5mKNoZmxqg/O8Kag9kEJc3/Jngue1aNVq3rYSnkQb55zvMPUqz929CuaS1sDf9cvEHyfBsrz7jQupkL5oaCofYX4CmcsooyeX7jHGcuP+BN5ifypapoG5pirP6co6sP8Skwjtll4Flybia9IteRoRdEl2YemOmW5+IJ0y8hPyuLQlM/fm7hibG2JqoqQtiu8LdvgydSMUUliii92krkkFkcU+/I/FkD8LU3/KLQBGiv2GfCibyIrOc3OHf6ChlvPvIpT4qKtiFmxhq8SF3LoUx/xs3+H4DnkoeYtWhJPRtdFHPf8eLZeyRW9fmpXRNqVTdGU7mEi7P7MH7tHbQadiHEw6JqInxJPp8+FWLs25EWta0x0JBUgGejycn09XfCuPJHX/qWXeMHMmN/CU0mz6K/9iFiEtbxxG00c6Pb4WFV7okrEz3xbVYMD2PF9Wr0XxhDJy8LlLOfc+vcWa48eMXHrDykKtoYmBqh/jKNTYcyqRs5ndFyjyeIi8UoKiujqFga2vRN8CzTc8oqyigoKpaB5zIemTWnWb1qGGmV789iMg6t58g7H0bPKANP8SUWDoxm3UNnhs2Lop23DeWOo9IZiLmzYhRjl17Fqv98Iv0esyxmNodlPzFt+gACnE2rHKZVyIRMTLFYEWVlRRTlwvZt8BRkrbik/L6SUvBcdh/jJiHUszet8NxT9ICjG47w1msUU772eArgufQeRk1CqGtvgnpRNu9evOKzmg21mraiiY+Q667M33k804wa4at2lkUT96DUdizDOgp5K2IepB4nx8ELy/sriZhxH4//m8CzdjSxA5tQw7zsYEq+ZlLe701m1LRd5DSIZcogM86mTGTNbRv6zYjk57r28gOmL5eYe2siGLfkAoY9ZjC24RvWJ81hf1EwySmDaFLTAtVKd/+nNa7weFYCz9I1VkBZWQlFRUkFeHpFxjKgaU3MK3+fpO85MGEUM3d+ou64FIa28sZaQwGZ6DU3049x/OxdPsh0MLd3xDr7JCv/uItVzyTCf/Gl+lfgufyGFg0a++JkoVNh6BY/PMbWI69wHpjMGLnHU8arXUmMnbWHvMBEkgc3x9OyymyRyRQQzAlZSTElKKOkpFiqP78JniAVFyNRUEJJSQlFyUO5x3PJFRXqNq6Pk6kq+e9f8fJ9McY+TfkpxBdncx1UJddZGRrP6qum9Jgyll8aOFHpfEyux+9viCZ28Wm0O6eUpgAYIQfPE9p18NK8wbrpuygMGsrgX/xxNJDw8MRJsq1cMX/6OwmzrmP7b4Gn9BV7J0Yyd0c2frFJDGxVC+uqAoJM4d9qe/Yj4CnhzcFtXDT0xLumK9WEU6RvgKfk+mqiE1dw0aAriRHdCHQ1qHp4WPKA32PjWHJcldZJY/lV8OSrCOtbppO/5fFESkmxBEVBBpQUy8BzCRcUahNY3w3rcllFzJOT2zn21IZuMWNKwVNyk3VRiaw8p0unpAh+DXbDsMp+LSFjSwKJi46h1DqRsT3deL4yhjnb3lMrMoHB7epRTa3Khi1bDxkl4hJQrDT2Co9nJfD8euxyj+dizkm9Cajvjo2OmJwPr3j9SQFT9yCahdSV15koPa8v83guPovEKwC/mjaoPDzO3tSrSAOiiB3WAT+7r+zk/DMsHjuFDXdt6Zcwkk4BjhUHXX9vwH3rjkrg2SeMQR2/hLeWqsePpM0Zz6xNj3AcHM+wLg1x0FJAVvCOu+dPcOL0TV4XaWBq54C16DJbd19Do2UYoYI3VgCxQzNJmLWFlx6hxAztSH37ql0cZEK91AqT+8fA0/S3UAZ/DZ7STI7Pi2HWhgzsB8YyqOYL1s9exuFMe0Ka+OJmWdkGkVCQk02BthuNGvviXq1SDrj0JUd330DX3g0PT3t5JJro7JIyj2c5eEq5vTGelCUH+GjXjGC/GlhVjoWWFJDzuQBtl7oYf7zMxQuXeZJduRCiIoa1OtCjYxN8bL+yjf5icf85eEpekzo5nIl7Cwkel0xvH0VuLo8hedszbH+NJ7pnXTSvLWTclOOotolj4tAAqumWF4Eo5vyULoxZ/xqfyBWMbV4Ng4oQnPIRKqCsponK642M+m0G6UY9WLFwAN4WX5Jm/05Qvw2eVZ8q93gWtZ1Ncg93zIQY8BIxuRk7mDPnLFqthjKkgzeGN2bTI3Q97/0SWBXbEvuvwbP4KvN+G87qJz6MXf8/AE9ZDre3rSBNsT6thKR7Qw2UZLlcnDOI8NXXUWk+iUVjm+Fo/CV89O/ez1//Xcbn6xuYMusE6iE9aaySzvpdb/HoO4oe8pzPH4BPyXO2hPZnVroh3RZPp1cta/T+pTC275uvFHGhiNcnFxA35TAlQSMI7+WP+bVZDJh6A+/o2d/2eOY0ZWJCD7ytdUtzP3Mz2DtvAadVGtN3cEdq2+hWyW8RX1nN2nfBtPG3wVRu+f0VeJaOWiouRPT6FItip3KkOIAhEb1oaHmDuf2mcsMzosLjKb44h/4Ra3noNITZY1vjaq71p1NmoTKzhrrKV7k9fwGeZS9N8uJ3IgfMJFW1LXNmD6J+daP/7LEXgFX0hvSF8Uw/VEiDIWH0DLTi1tyBzLjmzuj/SajtR/zjY+hRz04eoiQR5/Fo30KWpCvg32sAHepZ8mjpIKLX3MVuwCzC2tTEsipZyWerpKqJuqoA5OIv4JlSBp6VnUnSN+yMHsiMg9B8xgz6ah4iJnYtj1xGMXdcezytvwbPmywfFs6KG7YMXBjDz97V0FUUclFFvElfStL0A+TXHcDo3o2wubOQ4dMv4zQ8pSzU9s8HRt8Gz6/0l9zjuZyshvFEda+LfYV7K5/j04cy64ItA8tDbcWXWTQoirUPHBkyL5oO3tUqvGrl4Hl7+QjGLruOdf95RDV4yrLo2RySNmPy9MEEuZpWgZK/3m9/AZ5VHhDCZgWP5wf8YiLp5utQllMD5J9g1vCZnLfqz4Rvgeey9/iOj6Sbn1DYSYqk4C3nN8xhxbFPOP06hiFtfbD8+Md/CLVdiQCeQTVUuTIzktWZDRkd+iu+Zs85eQZcfJzRvTmHoVPu/T8Bnu/2JDJq+h5EAYmk9Dfh7ORkVt+wos/MKDrVq06F3Vt+uLA6jHFLL2LcYwaRQe/YED+bvQWBJKQMIcTTksp27H9a42+CZ5UHSqqAZ/+mNbGoAp7v2J8sgGcO9eNTGNzSE/PPl9g0bz5/3NEioGsP2jRwxlRXA8n5BYROS0O7cxxhnf8MniueezIqrAcBbqYVB2b56fOImHUag19jy0Jt4c3uJMJn7SanQRwThrTEy/r7ZvtX4Fl1uqXgufShM4PDehNc0wwl4VuR/5TUlSs4kV+Ddr06E1D9DVsi4lh12YTuUyLp4v81eIq5ty6K2CVn0PllciXwXC8Hz3o1dLm7OJbVLz3oN6wHjWzfceZ8CXZuThhkLCVs2nVsh/xLHk/pG/ZPimD29kzqjktmcOva2PzJVvu+L+/f3/Uj4Cnm7vbtvHTyxtPNpdRr+C3wvLGGcQnLOa/XhcSx3QhyKw95LBud+D6bY+NYelyVNslR9GxSGpZYfn3T4/nVxMpDbR/Y92d472Z4WZQbOCLOLR3PvGPKtIooB89brI9OZMUZbTomRdC9cY2vwFPMg83xJCxOQ0UOnu68WDWeOVvf4hmewJD2vtiVFpf42+ubHs+vx14Wanu3Wh+G9W6Bj6USUkkh76/uYPnKgzwzbsGAwZ0IcDFGVaE81PYO1r2H81tLH3QvLSNx9lZeuI0gdnhH/Oy/skfz0lk0dirr79sxUADPho4/lufJ34HnB47NFsDzKS4j4hja2R870Q12LFvElosSvNr9SodgD6z0NJBcXUP87AMUBI6Qg6e7cNhzeBbxszbzzG0kMcM70aD6f7Kv/xfg+ZG0ubHM3vAIx2ExDKz5io0zl3JE0piwkd1p6imE/H91Kaqgrq6KitKXv8jyL7Pn8GdsnD3wdDeRO+++BZ53tySRsvgQJY3CGN6jOR6mf7b1lVSkvLqYSvqlu7zOq1zDVxFdl0CaBdbG2fz7OOQfgmcRj7bFMXbmGbR/SSS+lz92+spkbg+ja0oG/hPnE9rIDj3ZO04vCCdhew5+oVMIa+Usr7wqP6XdHUWvxCOY9F/LtJ41MCtv6FjxDqVIpIooFp1jRo9QNmUGkrQ6iqa2BpVixsuMdqlU7iX4+von4Pl1jqe0WDA6ezPngjldZk6mu+UZknulcMKsHyum98DdoqrnlfxUkjqPY69WV+bP7kctq+8H5L/VGBTwcPdSdn/2pnXzOlQ3ETxsgrKRUXhvFWOGzCc9vy7hyxL5uaY5Wn9qD/D3/+HLHeXVa9NQb9aPni2EU+gCec7nrE2vfhg+ZZ8OEt8zgX2yVkyfPwx/u8q5sv9knP/9vSWvDjEjajqpij8xNroHDZ2MkaYmluZ4/m2obVmOp1TM211xDJ59Br0Ok5jYux7W+uXUIiP78Cr2G7ageU0LjOQf6v8MnpS84uj0cUw/okDzyCh6BDhhLEtjgjzH80uorezDAZIHTGC/eifmTu5NHTuDqqFCwu6SSFEQiv1UKYbyn8FTyH2eNyCC9c99iFg0lp/czP/ksZdKpfLfLP3dEl4dmUnctCNIm4UR0TMIF1MZJ5L/z4TalobEyhC/3UPykDmka7YiPrknTg8WMnriXpTbz2JCHz+qlydAVNErCvLiTQp/B55CPvjgKNY9cmPkvChaW1xlxqDJHFLrwIxJffB1qOoVRnSK6X3j2VHclOTJA2joZCI/jCh5ncrc2BkcFjdiZMRvNBIqDJ5IoXeVUNsfAc/vDLWVfeBAwhCmHlCk9fSJ9PZ3qhpajIjT0weQuE1Eo6QU+vvls33MONZmuDBizlh5nmh5GGb566wqExXm2TdzPKvu2HLw/Ic5nt8KtZVJKHi5i0mj5pEmacS4lEEEqR0nIfSvcjxXcty4EUGedqhdmEXE7Hu4DRlDa/XnvDXzwKO6JerpUxj0/wR4FnFtyWhiV93Cpv9UIn52IGPBaKbtKabJhCT6NqqBaZWcDxFn5wwneUsWfuOSGRBQwr7oWNbctqX/1HA61LP/U9GIv1rjHwbPomusGBPL6huW9Jo8ls6+xtxfEcuUjY+x6xXBoPZ+8sI/Qqsk0YkZDEs5imanOMI62lL8ToqZpQn6Wk/Z9A9CbQuvryAqdiU3LPsyMaITvg5fh2xKkUpLdVxV9fmtHM8/We2l4FkRaluW4ykT8+HwTHFNGfMAACAASURBVKLmHkLkG0pM31q8XT+OaTvzCIiNp18zIQS58v4v4PyC0Uzc9BafsAQGtvTGSl0ItV3PSQE8vZzRvbaQ8XOuY9V9GO2MM8k0dMK1ejW0Lsxm9L8JnhRxc3U0icsvY9JzAmO6+ONU1T0LUinSsu/C9yHQX327fwA8Zbmc3p6KkrsX7i72pZEc3wq1zUxl9tjp7MjyJSJ2AC19rKq29ii4yLKIiWx8VoNhsYNpXbdaRcqJMOp/Ap7fzPH8U6htJsdnRzNjm5BjPZ4BrWtXFFQqfUsFXFoaScr6J7gMjWFwOy9yt8WRvOw8ur/EM6Z7I1y/zrX7i/X4J+Ap5Hh+CbWVISl8w5E5sSzc/ZYaQ2IY3MEPOy1JWY7nl1Bb81e7mBy7gOMqrYgK60Fjd6MqYCR9fYAZMXM4UNSY8LG9ae71VajzPzbr/gY8i26zKSGZ5afUaTM+nJ4h1Xi+eQoz11xFr81wBnZtjLu8OCIUnF1C9LQ95AWMILSHF2rZYjTeHGHRonWcUW9PdFhPmlTkZlZ8ASvpi/8BeBbfYUvSBJYdV+Gn6DB6+OaxK3kaG566MiRyMB3q2/6poNe39HXRnX0ceGmGY00vapYlfv8ZPCH77HKSp63jidNgwod0or5d1dYsArtJpSApLqRYXILkq85vCipqqKsJ0Pt9muAfgKeUvBuriB67gnt2/ZgwrjO1rHXlvety9lQtLqSnAsWZV1gXHcWaZ870mxRPJy9TtJRBmpVGSt9xHDYdzMIJnXE11axiQOdd2MR+WVNaemnweMVwRq36QOOUhYwMqlY1nDTvIhv3iAlpVQtj3apu/R8BTwEUDsf8QtxuGS1nLWVkfTUupAwg6aQ1Qxck0KFGpdAwQT1cms2A0bvQ7j2dhK5Cnum/5MaT5ZOxbznbX7nQqk0DXMx1UKmcDyl+xc7x/Zm87y32AxYwvU9drIQX/19dMnJubWbqzGOoNulLz5Y+FS1TJIWfeHh0CbM2v8azz2i6N/xWn8+//6cFZ6fRJ2ITH/xiWRTZAieT7zsZ+ftf/r47ZPm32ZQYy7JLhvwSF0XX+tXlvU8LyosLfS94Cll0R5P4LW4HBcGTWDSqLspvnpFn4oSdqRr3NqzjXWAb6lczKyte8B/AU5bPnU3JJCy+hP4v4xnbrQHVhUqLBeXFhb6Ap4L0E+nThxO/X4MuU+LpWtuGKpWt86+w/aAYv0YemBtpVlL6fwOeMhG3VoQRseIZtaNmMrKZUE6+kvLIv8K2A4XUb+SFhbGmvHLfpLglXNL9mciobvg7GqKmWPB/LMezIhcz7xiTeyewPachsXNG0sT8EUtHxbNXuSPJcd3k+cOVd2L+1R0cKa6Lf01LTLTKQ23f4588iYGBzphUCiPLu7iA0HEbeVc7jEmjWlDDJJ8T00Yx8Yg2XSaN45c6dlW89YXXljA68g8krcYT3aMB9kKp1Py7bEtJZOk5TdqMjaBboDNG6koU/inH8/8AeCqU8DFtBmETjqD+cyJR3Xyxr1w2vvA6y0dHs72oGWPH96SBgwYP10QTvSKDGiMnM6KVB5aVcvHJv87Ow/n41PfAxrw8V05unv2fBU/hsOXdHhKHTmNvth8xs0YRonWKxL8Az9e7l5Nm1JhG3g5YSi+zJHwC6cZN8LN3oflPdbGzMKAoLYVBk//v8ng+84wgfkgI7pWKC5F/heVj49jwxJWBiSNpU8uSotNziZp4AFqNI6J7AM6VE5cLb7I6IoZtuQGMjOxFI1ctHm+II2b5HewHJDKiXdViRIhusudoLu613bGzqgxplYoLVQ61raKGyz2eT3AfIxQX8sSyUv5S/tXljI9fxyPHAcSObEcdq8esCY1l1T07BkwIpX09+zKPvITn2+MYO/ccRj0nENZWiesnSvCo6051q7ds/gfgKROKMSWMZ8XNavSKH0n7unZVisKJbu7hWI4b3u7Vsa4MWH8Ralt1umUez6/BU2Cg9LmMmbiRJ87DSRndBrtXa4hN2UtRk3DCewbjalIpfLroNuuj4/g9sy6DwvvQtKYZagpS3h5Yxwmtuvj6uGGrcI1V4yeTpl6P2o41adG8NtVtjBGfmsWoqULxsH/J4yn0tL2/lUlxS7lm3oPoUT/jV73yXhdxe18an51q4uZoK88d+++vfwaeQq/VBw8/o2FhhbnuS/bvfIGDjyduzmUFpr5VXEiSxdnFcUzdnUfDUWH0DKmJaSXoL7qzkcTETbz26Mfofi3wsqhqU/7r4KkoIevsMpKm7OSz33BC+zTHo7zStfAii+6yOSGJzS9r0Cu0Hy19LJA93M7UhCVcMuhM+KhfCHCqvC8LuHvwOJ9sXXF1tq+S3/3fg6e8chGpM6OZtfkh1QcnMkLILdX5M3ha84JDsxJZeFqLtqHD6RzoVCnUX8qnU4uIn3mE4uAhjOzehBpViir8N5LzpbiQac9weXEh+0p2i+jWJlImruSqQUfGjPyVIIfXbIufwPJzOnSMHs2vjd3K6hxIebV/Kglzj0KLsYzuasLzSyJsrFXI2LOQ5We0aBM2gq6NXauExRfcPcKpTEscXF1xMJb9QI7nZQy7jWFIZ6G40BdboOD2FiYLOaY67Qkd9SvBLsrcXD+JaZuf49p7FH3b1cWqck5owX3STmdhZueMi6NQmE3edJUrB07x2UzI73StsHH+DJ6KSHOvsyllCpufOvPbqP60rWddxdFXcC+NM59MsXVylbdh+9Hru8FTKL0+I2oS2x47MnRuIp29LSuqzGbtCKPzxHv4T1rCmEZl+YayEnJvryRs2Erum7UmeuJwgh30UVMo4FXaPKJTzmHdL57R7dwx0VCWhw1K3p9l3fqHuHVph4+Qs5F1gTUxSWyXtCImvid1rYQ2D8ILzebGlvXcrN6B1t5CPldVrVeQlkiXyN0Y9l3D1B41MK1SdrT0lRVfm0ffoauRdF7GzH5eWMgrisnIubmW2PD5XDXuwcTJffC11kby7CBzxs/jpstQ4oaF4GSkLjfsZdk3WZ8Qz16l1oSO7kRtq1IQ/9FLmveU9I3zWHhMm64xgwlxE7yZXxuoJbzbOY4+E/bxwrAjUxaG0tjBsMop3feNQ0bO7S1Mm3EMlaZ96NniC3SWP18ZPr36jqZblT6f3/Nfiri+cBBjlt3EdsgqJvwqhEL+Cy/qe/61cI/oCYfnJzNz62Ns+08kuktdeb9CYQT5h+L5Nek8rmFzCG/p/AW6im+yZMBIVuf/xKzp/eUeRgFkZDm32ZwQxYLzOnRMTOY368vMjF1FhutQJvU34uy+d9RpH4yThX6prMqy2DuuJ1POOzBi/jhaCWspX0oRTw8vYNK0bTy07UPSuC7UszMobaqed5jEX5O54DyaGREt5a0FFAQv95tTLI2dxmn9zowZ1YFa8rYnwsb5yMVNW8iw/4nmtWwxqtJfp5D0yT2J3a5Kx/kp9Kxd7avCMjJKMi+zMXkSf+QFMirqN/yFVhtyAf/M7e1buGnRlKY+dmi9S2XxhBlszbDmt6RoutQXWnXI3yJHE7sx8awDw2ZE8FMNi38pz1nMraVDCV+ZTfCUFPoL7VSEsxVZLne3JBMz7yzqbWOI7xeEkxAec3oZidNOodNuFMN+rks1ecEb4fVcYuvv97Fu1oxa1U3QVCwLtV10BY3m4cQOa0lNcy35+ko/X2NdYhLb3nryW/hAWnpaoK0so+B5KkuSF3LZ/FfGDPkJD0vtMnm4y7YpE9klakDfIV3wdzRCrfAZx5amMGvzPcx7xBHxqz+OhqUtg/KPTqTPhNNYD0ohrK1n1VyKMnkuPD2DAbFbkbaaQXJvP6pXFA76IvDiG0sZEbGanMaTSerXAMfyJFVZNocS+zE13ZzeU6NoL+RzCrUkCl5wfMlEFl00odPoQfL+i/L2YLIc7m2bxuTtedTrO4hfApzlBbZKsq7x++TJbJUbwb1o5GJS2lxdlsPd3du4YdSQIB8HzKuEWRRyZuYAEn8X02zqBHrL2998vUnF3Fo+kqhVWQRMSKZvgDMm5dX5sg8zsf9k0k16MTGqIz625YaumFsrRhG9MouAiYn0aehS+kxJJpdWJzJh5RVUm4cTN6gZzjl/EDlmKc99IkkcGoK7RdnJrSyXCwviOaDzM91a18PJUMLdtdHEbHqGQ7doRrT3wUZXiezDExk67Q41wsbTv7E75pXz2r5X33zjPvGtlYyJXMk73zgSBgbL8zXllyybIxMHM+24Pl0nRtKpUm6mUNU2KmIRZ6UBDI8ZSuvaNqVrJs3h5sYUUrY8w7HLKPq1qUU1PRVkhS85uXwKi8/p0nroQHkBGnmRdVkOD3bMZtr2LDy79Ze3DDDRUETy6Qbbp0/j9zc16TW6N01rmpdWa5blcm/fdm7q1sPfxxnLSpVXoZDz84aRtCmPwMR4+gTX+Ebl3zLwXHgasf8wooe1pU5Zfzlpzk1+n5zClid2dBxROkY9xafsiI1kfrom7ROi6R7gIm9zI/t8le3rNrBt4wV0fkkitGUhV67rUdfPAyeLZ6yPGM+qV7WJjOtPYw+LshQBGZ9TpzJySiqaP8cT3qU+DgJIykr4dHM7s6dt4bVbD4YJbSUsSg/oZLn3ObjjOlq1G+Djak3V6Z5n0cgkNn9qwLj4fjSpVD23YpnFZYWOhKq2cYNp7m0l90bI8jLYMzOJBUcLaTAimgE/eWOu9Ib0VdNZelqdkIEDaFffHn1Bictyydg9j5l/vMOlU1+6CHmxmkooyHK5vCyFA8pNaN8qAHdTKRmbE0nYcA/zdmEM7+RHdQMlPh+bTuj0q9gMDGdASx+s/4Vm77KSbG7vnMOszc9w6CK0pfDBSp5LLiPvwUF2X9fA07cWrpV6B/53W0TMvQ3jiF/2GJeR0QxsXRvr8nYqn9OYHTqNIwqtGCvPzdTjzcGZpCw/h2brMfRyfcv1D9b41PLEtazSr0x4Zsw0eY668ExpWK2Uwtdn2DBzMacUG9F7wM/4OxrIv5+y3IfsXziT7a/sadOrGyHeln+yt4ouLSNywnpee4cxbkBLvK3+fMgvvreJ+LhlPHIZQeSg1tSyLt/jOZycHcaMA1JCIsPpVpbPKSt8w5n1s1h6AgJ69adjoNCuRi44PNq/iDlbX1CtzW/82sIHS0HPlmRzZ8985m56jE2HQfRqUwcbecSgjLyMI+y7roxr7dq42+tVOXQturyC6AlreeExmiihcFD5uCotlvjeZhITlvHAUahg3Kasqq2ET9d/Z/aU5ZzIq0PfyMHy3ta6SmLub0kgeel97IeMZWDbetioSsh7cIDFMzfwwLIt/Xq3oU41bTkAlXy8yu9zFpJa4Emn3l0IrmFa+i35oasMPBcc5EON3wgb8QsNHUuj6KS599g9bzqbbugR3G8AnYOcMVJ6xYGp8cw/WEhAaAS9hb2oqoAs9xb7f9/MlnXpKIeEMqyDDs8eqODgVgNbyWmWztnIffPW9OvTDl+70mhHWd5D0vZfBwdvank5oK9cwoOtSUxYchPLPuFV8jVlOeksjp7O3twAeXXaZp7GFVVt5cWF5u/nnWtPQod3IdC5bPx599k7fyYbr2kR1GcAnRu5YKymQPHHa/wxdx4HM93o0K8Hzb3LqutLs7lzaD+3FZ3wqeeDo4Hg4cvl8Yl9nM40w9OvHjWttcocfDLyTgs5nrv43GA4ob1b4mki6MdiPl77gwXz9/HRuQN9fhOqH5fqR2n2HY7sv4WCYy3q1nJE+Pkfvf4ePCUvSN+4ie279nP6zmtylJ1oHZlMZAdPDETX2bn5ACdS93PyXg4GPi1p3jCYNt2CcdEVI8QNJ8w8xL1cRUzc/Alu1YVRXf3QVS3k+cV9/P7HWT4aOOHhZoN63nve5Wni2jgEPydTtFQUUZCJyX9/j7RN6zn2Wg8nT1esNES8f/UJVedGhPi7YqZdVjVX+pFr+w5w8fFT7pw8zMnb75Fa+RIS6EV1h1qEtKmPrZ46ypKnnFi/mxMn9rH3/HOoHkKHpm6YqEvJ/fCEBxkfUarWkA6/tpX3QdNSFqy2QnJeXufgxh1cLTShurNtaXXNOw8pdmpGh5Z+uFjoyXtF/chVdG8Xizakcu3WfZ69esuHPC1cO4aSNLoVLsaVPMPSN5xaPp91u45z5dknCtHGytkNB/t6dBrZnQY2+t+/sWW5XNqwlCt6QTTzr4mNgbo8xOnrS4DPjNR1bH3pwcBf/DAz0Pj7qebfYMfSHZx/+JgHt+7w9GMRuk6CYnShca++NHc3RV549X92SXh1ci2rNu4i9WIG7/MNqfXzIEaMbIen8hOO7T7O6SM7OXzjHequTWkmyG73YLTu7OXI8TQO7L3Ak5JqBHdoTA0zbcj/wLMHD/mAJb4dutKmgStmkkvMj1zMK9fGuEnfIPbsQPsGpS18sq7tY2fqCY7sOsbt92q4NG2Gf3BbfqnxiSPbtrP76AUevs1Hv9bPDBg5nHY+KjxN3cPxU0fYffgG79RdaNysIcFtutG4pgk6KmJyXlzh0LYdnH2jhW0NV6ppFZL5Phc15wCC/VyxEHrMCso38wZHDl8k49FtTqee4PZrMaa1G9PQ2wnHWk1oWd8BQ63yXoJiRB8yOLl1E6nP1LB1d8VGu5jMN1ko2TegsZ8+T/ZsYuuuI1x48JZ8fR/aDxzBsA4+qD5NY//xdI7sOsyNN6o4NQ6hYeO2dG9aE2Pd78yj+sb6S56fZtu+NNL27uPC4yKsgtoQXNMKHYV8Pj7L4NEHGeb12tK5rT9uFjry6sjS4hxeXj3Mjh2nea1hg6urLdpFWXzIUcOhYSPquVmhL/RPozzH8zXuXYKx0dTDzMQErZI33D53mdc6pc2Y67mYoS30IxXGJy0i981Njm7ZxeUcHawd7DCSZvHk3iMKqgXQqoU/7ja6fDq/hXWbdnDk/APe5Orh1a4fw0Z0pJbmC07uO076oV0cuf4GZccgmjZsQutuTahproe6LIvbR49y8X4Gt86kkX7jJUUmPgQ29MbFqRbBLf1wNNFBpeQpp/84yPHUvRy48JgCk3qEBAcS8nNrnAuucPLUCQ7tOsqN10o4BDWlQZO2dA3xxFJfleLcN9w+uo3dFz+hbVUdO2PIenKPRyIbGrRujr9HNQzVlUuLqggFuT4+5PT2LRx9rISVqwvVdEv49PYTira+BNWviY1hqa6QZt0m7egF7mXc4mzaKW69LMDIKwj/Wq44+QTTzM8JU11VSp6ms/PgcVL37ufiYxHGdUJoFNiMDm1cKLx2itPHD7Ln6HVeKdoT0FSQ+64E6T3lxIkTpAq6/VEhFg1CqO9qga5iEZ/fPONVnipWdVvSrrE12RfSOZO2n/3nMvis60WTxoGEdGiPr95LTuz5nd//OM7DEmvqNOlAz36tcJeks3jVK7x+bksDq0+cO3CcEwd2cezmB7RqBhMU1Jz27RrgbFY1j/sfqSvxM87uOETa0b0cvPCIPANvGgc3onmnNrgUXePE8WMc2nucW68VsA9ojH+TtvwS4o2NoQYSOXgu4bFtGwKqG2BoaoiRtoQPdy9y5aUG3q060Kx+jdK+0qVCSlHuW+6mbWfPhQ+omVfH3kSB7GcPeJRngW+L5jT0tsNIo3yNSxBlPuLszq2kZkgxdXbBVl/K53dZKFjXoWF9T2yNhV6HwuH5HU6kXuDug1ucO57Ozef56HsE0KCWGy61GhHi64y5fnl4Vhl4Ls7A6qcAqhsZY2pkhI7kA/cuXeGlmifNO7Sgfg0r9OT7sYTPGWlsWraOE+/NqBPkh5OemKyPRZh6uCI5t4EtZ3MwsHHGr0NHXItvce3cUfbvv0hGrj7ejYMIbN6Rn9wk3Dt7muP7d3Ps2gsk1RrQqGET2nRtiretMRoSEVmPzrJn61Hul5jg6GqHgTSHD59kWNYOwM/TDmNN4RBcSvbdk6RduM39m+c4lX6DZ3n6uDesT60arngHheDraom+moxXF/Zw+Ngh9u0/T0aOMXVbNMLL3giVgkxePHzMe7Ehni060jrIqyyKSEpx3jvuHt/J3vNvUTaxx95UkZwXGTzKNaN2sxACfKpjoqkC769xYOdWtmw7xv0CM7yD29G9T2u8lC+xeu1THJq3JKB6AVeOHidt327Srr9B1TWAwKCWtG/bAFcr4aD/H0nrVzcLHQyyeHJuD9uP3KPI0AEXe0NkuR/4JLXAp6EfntVN0fyBfmglL86z/3Aah/ce4OKDT2i7NyIwuAUdWrshe3CO9CP72X/iBi9KrPFt1JDGbTvjSzqrf7+NhosDWmJlHBo2pr6XPYbKn7l3XNhr+9mbdp3nJVb4BvnTpN0vNPGpjqlmidyePLlzL+ffgJGdPWbKebzKeESOsQ/BIUHUcjRBq0LnZ/Mg/QQXb97hpqBbrj0hR9cVv/q1cXfzoWETP9xsDFEvecml/Uc4dmgvhy7c55O2B4GBQTTv+BNuik+4cvYYB3ancvVJMRa+gfg3bUenpj5UN9OkJO8990/tZt+5V2Boi72ZCnmvHvLosxFejUMIrOOIqZZQOFN+SkVJwSeeXtjHjiN3EOnZ42JvhELeRz5JzfBs4IeXQ6ntLDhnMk6f5MLNO9wSxn71Mdk6Lvj51aFmDW/8m/hRo5qRfOyXDx7l2IG9HLp4n8/6QnEhD+yMVBDnvOPF6xwUjD1p3KYZDTyrofvxGoePHuPgnoNcvJ+JlnsAAY1a0r5VfdwsNcnNSGffzqPcztXF1rk6RgpZPL33nBKbujQJCcTLzgjNf8M7U5HjeQl1v/q42VpgrGuArmI2j65e5RmOBLZqSaCPLQbCNw0JuU/S2b5qPUefaeHWoD7upgp8/liAvosjirf3svPkS1RMnfFr24GmvjWwVC8i+9klDmw/wq1cbexcqmOsJCIzS4KJhy++Pk4Yfb5B6tFjHNh7kIt3P6Du4k/D4J/o0ModleeXOX14H/tPXOdpoTm1A/xp0rYTTeo4Y6EjpbSq7QVU6vpRQ6gGLh//Zx5fu8pTaXUCWrUkyMcOA0Ffy5dfTP7bu6Tv38vJeyJ07VyobqyI6FMOmHtQz9cbR9MiHp5M5djBg6Rdz0THrRaeLlaVWgeJybp9gqPpN/mo54l/A3+Cf2qBv5cDJioi3t1L5+Ce49zL16GaiwMmSgV8+izDzNOXet5Opbz1Iyql7Nm/B09KKMjJJS9fRLFEhkxBGQ1dA3l7BSVpEXm5IgoKCygukaGgoo6GmgZaupqoKMoozv1Edm4hYqkMBSVV1DV1MNBRl1dAlIpF5ObkUyTK5t3HQtQMjTHS1UZLRws15UqNa4XeoXmfySsSDKH3ZJdoYmhqgK6OLtrlRpJ8MhKK8vMpFJdQXFhIcYkUmZBsK8Qdq6ihqV3aS1QwOgty8hEVFlBYLAFlNTTVVVEUGv1KxIjFMpTUtNDR0ZTHK1fobZnwXA4isZj8Dx/IVdXHSFsdNS1ddDRVK/qU/siayIrzyM4VUVQkRiKVIUMBZQ09DPW1UK1CgyUUfM4mR1REiURI8lVAQUkJZWV1tPV10RCg/bsHIhgruYhVNNFUq9z65lvwmUtusTI62kJs/Hf8B0E+PudRKBYjLpHIY8SF6p1KSipo6urJy7B/z89891S+caPQ+icnN5+CYgkylFDT1EZHTws1xIjyCygoEFEklqKgrIa6ugZaOpooFueTLyqgoFCMRHhGQ700dl0oGCEWI1NUQ1NHGw1VZRRlRXx+eZ/bjz6hZFINBzsrDLUEeRL6opb9TkERJVJQUlNHXUMLbVUporw88guKEZZPKHqjrauHlhqIRfkUFBRQIMgAyqipq6OhrfPlXUnFFOTlkl8oIvvdRwpV9DE00kVbWwdt9UrrJylCJBLi8YspLCyWy5MwRzU1FVTUNNH6ugiRTEJRXg55RcWIMj+QLdZA31gfXV1hn0FxXi65+QWISweMhrYuulpqKIhF5AvjFWSx0hx1NIWmxN8hI3+1uCUF5OYJ6yP8T+HdaaAuNwiEpuFiSqSKqGrqoP3V3pOKC8jLzadQJLSEKEBZ1xBDPR20dbTKnhf+YTl4fiQgcTxdhRYWBe/5mK+MlrYG6lq66OloyJP0q8xAVkJBbg4FxWLyMj+Sp6SDvrY6Glq6aGupyUPhy+VN0C1SlFDV1EZXVws1BTEFcnkroEiYkCBvahpo6miW6TsJxSIRhcXiCv0lVVRGTU2tVH9pCTJYehhXkCeSy22hWIJMQRV1uYxooSorlP++qNJaqKlroaOlVqafBMMll1xRMcX5WfIWEtr62mgI9wh692u9IchEfrlMfORzsRq6xvroyWWiUhErSXGZrBVRVFhMSbmsqaqgov5F1mTC2gj7SlSIWCJFUUUdNXVNtLVVkRWW7sUvcq+GupaO3DstksuX8IwMJVX10orNlOprYY+oCntKQxGxSIRIVCD/BsgUVEr3jpYWGooliPLzyBfei0xRfr+OrhaqCsXk5UpQ1dJATVFCQb7wXkvXR/iWqalroK2lgUrl79E/VUYyMYV5IvkcKo9LU75ewh4V5l22d1TVURPGpqmGspKCvI+n0E7lhU8Y4d39cTYo5MPHfBQ1tNDQ1EJXt0wHVRVSSgrzyBUVUZyXRVaeIpp62mgIv6ujWWkPlE1Evsa55BcVkZ+ZyediFXSMDNDTK11j4ZtZ+nktRlRQSHFxEUVFxf8fe+cdV9Wxvf3voffekSpVQLqCIBbE3mPsXWM3drH33mKL0dg1mthrjC2xY++KFRAEbPQOp72ffUBFYxI1eq/3/Z397zmz98wza9asZ9aatRT7jkKfCHMsyLF2+T3wZajtI7yHjCj1YBalkZavgraOtkKfGQiZt8vhKpcWk5+TTWbac9KyCkHXFEtzE4wMdVApziNDyESuqYOBkQEasmKKBFkR9LNMhJpWqV7V1YASQY4KCimWSJGrCGtDGx09HTQVMgNyYRy5eRQV55OZlk2xDqhRxAAAIABJREFUuj4mxoYYGuqhpV5GyAUKX1JIQVExJcXFFJeIkcpVUNPQQENDA01tnVLdL9zjLspTzGGBoGPlKqhraZWOSyZFLMihYIPo6Sn21tdbuFzRLq+gmOK8TDLzQVvYT3R00dfTVSRAU6AuYJKXR15+kUJu1YV1KugSFTH5eRLUtLXQVJNRJMht2ZiFBHPCmhL0WHl8P1RsX/9fjrSkgLy8IorzM0nPLkZNzxgjI0MM9f7l2hDmQ1JEvmLdldpsKoJMaeugWzqZFBYUUFgiUWCroamJtq4+2ipFvEi4R/xzMbpWDjjaWWCgMM5llBTkU/CONgr8FQIgoSgvjwJB3jNLS5Do6+mgo6uHnq4WGuUSswgHOSWCni0uUchBiViKoJMFGdDQ0ERbR5hrwSstKZ0D4b8lEmSC7tEs08mIKS4S9FJxmf4SxqeLno5mWRIYQRbyS2UhP5PMPHmpvOjqolcmC28a+m/OR0Z2Maq6pfNhoF9+zkv7LqzV4pd9F6mhoVnWd+1SParou4CXYu+RIFNRR1NDAzVVkAv2jhSFntYVdKS64HUtKpX3gkLEEhnC3T6FvAnYCY0EuyMvn7ysDDKy8pBqGWJkoIeenh66OmV21McLY7mWL0Ntr2PZsT+dGwZgVSLoOznq2troCvaQ3pv6TrH288p0TGYBcm1jzM1MMTbSRVVcQFZmLhJ1bfSNDNErW69yWQmFgv1YlE9WRjZFKjoYGRthJOgLDXVUpC/xKFLYuMK+rtjTBPmVFJViWywp3Xc0NdHS0VPwDTUVSRnxvIJZ2350bhyEtaSs/4Id+o7+KwYvl1As7GWF+WSnZ1Ig00LfRNiT9dEV3iu9xZbpqzmdbkZgw3qECYdpeqXRfS8fmTiP7BfPSIm/zu97jpLl2Z5ObRvgb62CXFI6fwX52QqdK9PSx1ghW4Je+nt+8CHT+h7E80Ne9xH/FRS0kBRFVe0fyJscmaRUAakKKdv/hU37Eb0s16S0HzJFKvUPIXj/7qvK1l8wAjIJJYpDDPVScvAfkU05UkEOUSlN6f/Jvll+nQklBT7Zi/+zEyiXIhGYcLm08q878Jp41pg5nR5CHU9VqcKIVaTG/8chl9MBQgmUf/z/f3bo7/M1uUxIECCM933mWBivFKlchKpQOuV/ccDvA8oX9p9XxDNgNON7R+JlqYpUkUBMKFnyz6UsBMNRSALx3nMsLV0D/36OXxLPRCqPHM83Qh1PtZfr6+/lR5BLYd3KVVRRK7cWhfIuwkL7ZEtNLkMqLT0cUvuP6ew/C9irOVJ5WZLoCxPC8paPIE+lAvVft33kUqF8j1xxkK2Yvw+GTTi4EuZfhIqwnj78BR/8xX9q8FIWhHJZ73Noq/j/FzIfb4/tZd/kIhXFOv70W8Zr4mndVSinEoqDhpCY9J/1XWnfytZ+uf3sb3XMK33xqeyt18TTvNNQ+rQKw/E9+1+KddmejKis9FOpAMtzYti4OQEzjyDCQiuir3DuvC3ccuQyGRJxIanH1rLnmRshNWpRxbHcvZKy8coFnvMZbJz/PvH8p9Wo/F2JgBIBJQKfFAEx99cNYsiP6UTMmEYPoY7nZw35/qSdV77s/wgCkgc/M3r4ch6XEc8363h+ySBIiPt5NNHLH70inm+UU/mSu67smxIBJQL/AwhIeLR7BpN/uIFVl6EK4un42cr9fA44JCTunc2UZVcw7ziE3q3CcPoE/ZelHmHXRS2cvfzxc/nnmpqSlKPsvqCBq5c/vm76n2Og73ynknj+x6BWfkiJgBKB/zoCJXmkP0/kxPIJLNr/Ao+eo+nTJARPW8M3Q/z/6x1VduD/LgJi8tNfkHRqNTMW7eGxQ3uG9m1BeOUKGAohzl+Ad+Yv50acT8aLJE6vns7SPYnYtR1Kr5YR+NgZof3y7tz/3YlVjlyJgBKBf4uAEBabnsy5TQv4Yfst9Ov34Zu29QhyMkZHozRR6Rf9SArISkvm3OaFLN92A926vejZvgHBjsboav67/kse/c4fSUL22Uq4W79H9tniW/xxKp8KDm64uRr/x2BTEs//GNTKDykRUCLw30ZA8uAw6/ef58GjJ2QXSlHXM8LIJohm7eviY234p9pY/+3+Kr//fxABSRzHNh3gXGwcqdkFSNR0MTS0IaBJG+r42WHyCU7GPxeqkvhj/HLgLLcfppBdIEFN1xBD6wAatY7Cz8H0I7Kuf66eKt+rRECJwP8iAtLEGHYfOsXlu8lk55egoq2PoZUvUc3rEOz+qTLqfz5kpEln2XPoFJfuPH6j/5HNIqniYVNW9eDjvi+XFFIkUUVNXaip+R7vkAs5QOSoCtfEPknSp/f4ppCVRq4IbFY+SgSUCCgR+P8fAXlJATlCsg5ZObWnovHnpGb//0OhHOGXioCQUVhIkCUkj3rVRxU0dN9OUvPlDUAuJA3ML00E9brrGuiWJfj54r0RXx6kyh4pEVAiUA4BIUldfkERxUIOh5ePijo6ujpoCkm/vnC03tl/kTraQjKk/4H+fwp4lcTzU6CofIcSASUCSgSUCCgRUCKgRECJgBIBJQJKBJQI/CUCSuKpFA4lAkoElAgoEVAioERAiYASASUCSgSUCCgR+KwIKInnZ4VX+XIlAkoElAgoEVAioERAiYASASUCSgSUCCgRUBJPpQwoEVAioERAiYASASUCSgSUCCgRUCKgRECJwGdFQEk8Pyu8ypcrEVAioERAiYASASUCSgSUCCgRUCKgRECJgJJ4fqkyUPyYM7/dxTA8FDdTvS+vzIPsCed+vYF2YAgeVoZofumpxD7BPBcnn+XwXT2qVnHD3EDzg+tFyZ6c5+BNLXyruGNtpPX5sq8Vp3Du8F10g4NwtTT8FyUMZKSdWMOuvDCahLtiZaj2cSjKnnLx4E00fIJwszFG+33SfH/cl5StlAgoEVAioERAiYASASUCSgS+UASUxPNLnJiSxxxZ8QtPfJrTsKozptqqH0xyPv+wJOTe3cvybVmEdmhJkKMRWl8a+ZSlcXn3Ts7GZ1AgKYeISISGvgU2Ds54VPbD3doATbW/T/QvTj7K6i0puDeqT1UXC3T+4f/vxF+Sy/39K9iREUzrZlVwMtX+9OSzJJk/1mwl2bU+dUPcsNT9NwWJpcRvHsmSjCYMbBOKs7nmR4qVhNz7B1i9PQ2/Vk2p6mKG9ueWFVka987fJDEjH/GfCkbJEYpIqahroWtsi7OrE9ZG2qh97j59JHrKZkoElAj8jyMgKyQt4TZXrqZhHBhIJQdzdJX65n98UpXdVyKgROBjEFASz49B7bO2KSD2p1lsKYqkU/OqOJlqofqFFj+TS3KJ++17Vt/1olOX2rhb6PJFObOkD9k8ZAgrT6cit7LHQk8TdRURSAvJTk8jM1eMyMCRai260a1dDVxNtHknn8yPZcu8reRXb0vjEFfMdT72IECOJC+OIz+sIda9PR1qe2Cl95FexHfKYAF3f5nPttxqtGoSipulzr+UHSlxG4eyML0pQ9qH4Wyh9dGSL5fkEX94BetiXfi6fW0q2ejzKUf+p47JnnPrxAViH1zn5G9/cDOlGMvQJtQOcMBMRxWBeUqLc3gWd5ULNzIxDmxCx86N8LM1+D/hvf/oiVQ2VCKgROC9EJDkJHPn6gUunL/Ilau3eZicgapna4YOaUd1D3M0v9B9/b0Gp/yTEgElAkoEPhIBJfH8SOA+V7Pi+78waWkKNft3IsLVHG2BKH3BjzT/AbtmLiax2gC61HTFTOcLOsaV3md93758f6qQqtHz6FPTGTMFd5IjlZaQE3eGXet/4sDNHCzrDWPywHp4WOi8RZ5LeLhlMsuTQ+nevhbuVrr/mszlP9jFvO8fEdSrMzU9LD7ZyXfJw21MW5ZE1e7tqOlpje6/PrH4dMRTQF2aH8feed+TENCd9rU8sdL7nMcUUkoKiykRp3NkRj8W/JZHyOi59K3jjqXCNS94PWVISnJJ+mMF81aeIt3xa0aObkeIo7HSKPyCdY6ya0oEvmQEJFkPOb1rM1v2nSI2JQeZjgk2Tl74VQ2nRs2q+DhZoKfxsYeXX/LIlX1TIqBEQInAPyOgJJ7/jNF/7h/yNI5MG84h634M/tofW0P1LzDE9m04pGQen0/0Vh3aj+xAqMMXZLS/Ip4l1JyxmuH1XbHQfk3kZeIC8lLPsmLMFLbdNaDJtIX0q+WMqdbr/8jTjjIn+iCmPfrzVbAjxuqf4CBAmsnJ70axXaM1gzqE4Wyq9e/nWZ7GH7NHc9CkK31bBeNoovHv38mnJZ4gJfPUYsZtVaPFwLaEu5r/i/un77ssszkyqSvTd+cTPnUxA6ME4ll+DuVI8+PZPnEQ3/+RgUevBYxtG4SD0Wf1x75v55X/UyKgROB/CAF51nW2LFjEzltS7INqUKN6IB52ZhjoaqOlrYOOtiZqqqJPoJv/h0BRdlWJgBIBJQLlEFASzy9IHKSPthIdfQHf0cNo4WPNZ3UIfcJxy/MusmTgEvJbjeeb2i6YlSN3n/AzH/6qfyCeihfKCon7aST9Fp9CvfEcFg+sgZPpy8RBUpK2j2LsuUoMGtQSPzvDTxQeKif/0lKGLsmh8aieRHpYovMv+aw0aSfjx57FbeBAWgTY87F5gN4E+VMTT5DnX2b50O/JajCMblGeWH32i07liOe0xQxUeDzfBruYGysGEL3yDDnBo/lhbHN8KugrjcMPX3HKFkoE/u8iIM/l8rpprLpiQPVWLajp64CJrhaaaqqI/qV+/78LqnLkSgSUCPz/hoCSeH4xMyolftMghsf4MWFsG3xs9L+s+5J/h5M8n7Nze7EotyWTBzbAzULnyzDa34d4AnkHJ9Bu0m6yq05g5ZiGiruRCjtBGs+WoSOIqRTNsDYB2H9CL5g87ywL+y0iq/F4+jb6twRMSsKWEYw+7c6Q4W0IdDD6RAT50xNP5PmcXziAJen1iO7XGC8bvU+fYOkNWX0f4lnI+YW9GLfhIvLImSweWh9Pa+0vQ4a/GP2k7IgSASUCf4eALOME3887g0GNxtSL8MLyi0wKqJxDJQJKBJQI/HcR+ADiKSMn8Saxj7MolvwpTeTrUagY4xzoiY2uRilxkheQevMCF28m8CK3BDVjB/zCqlPJWhcN4Q/SF9y//IDnBSVIX75FpIuNlzfmefe5l5xFUbnvqRg7E+CmQcrN+Lfa6JS1efDuNp626Co+WPrIijJJTUrheWYOhcViJLJyYxKpYuwcgIdNWR8/Zo4KHnP5eAx3883xrxGKq5k2ZN7jQsxVEvK0cPAPJ7iiKVovQzdlKewY+g37K4xmco8Q7Iz/IsxWlkPChdNcepCBilVlQqp5YKUr58WN05yLTUPF3IPAKsL9OY0Pv4tYmMLlE2e4m6GHZ43qeFnrv5FoRZyZyKM8QypYGaCtXv4up5zMA+PovkGbXtP7UMvZ7D8QQvkek/JexDOfy4v7MmLNNUw7/MC8nlVwMFYvlZGUnYzusxeLIRPoGu6Eqcafj62LUq5yKiaWdB13wqt7Y22gVe7AQExmYiL5+jZYGOmg8QZkmRya2JON6l2Z0LsOrhaviU5hyhVOxdwhx7gy4SHuWOiJyHpwkfNX48nWsMe3WhAVzcq9T5bK7lH92G82gNHdI3A2+4swW1kuiZdjuHTvBXILb6qGeGJjICLt1hnO336B3NSVgGBPxRhKkyz9DfEsSuXaqRjuvNDGNTwcb1tDtMpd2RRnJpGYp4+NpSE6bw6crENT6LNBRLuxvajracXndZD/M/EsSTrI3FGz2B1nQ7upk+hSwwXTcvWB5IVPuXv5MjfjnpJVKMLQzoeqYd5UMCxNRiXLiOPKrYekPk0jO88Az/rVcVHPIOHWDe6mlKBfwRUfH09sjLV4Y9mUibA0J5nbl89z5W4yWfmg7+BPeI1AnM103/F/GcXZz0hOfkpGTj5FYimycrpLpGKEQ2VXDPMTiUtKI69Y9jcLRYSmuQtejuq8uJ/Ak5xCXqlakTaW7p5YlCTzKCWN3HLvUTF0wMfdFkOdMjmT5pB8+woXL98hOSMfuYEjfuERBFY0R/cda0aa84jLJ09zNS6dYtQxcvKnWqgvDmY6qJNP6p27JKXlUVxeJ789CpEm5hW9cFBP42HiE7ILxLzU4CJtK1w9LJCkPCIlLbfce1QwsPfBrYLRO/v19xpFSkb8LeKeZFHw5zTJf24qMsTexw1bY92yUlhScpNjuXrhMneSM8iX6WPvF0b1IBfM9TT+fPgiKyb7eQqpT9LJzi9CLJXyGg4RKoZ2+LjokhWfRGpW+czNIkSqGugZm2FpZY2FsS7qb931luelcPdeEmm5xfy1dKhgYOeNq50xeoo5lFP07D7Xr9zgQWomBehj4xVMiI8DprrCXiUlI+E2ccJvr/ARoW3pipuFlKeJKaTlFJXb4w2x83ZGJyeJ5NQM8t+7jSsVTMqVF5MVk/M8VbH2svLegZOBHd5uFTDW03iPDeOv/yLLTeXOtYtciU0kPVeOnp0PIdWDcLV6nYys8MIqfrjlQM3IqrioxnHx3A3iXxSAjhn2ngEEedljosCq1C56ev8+ic+zKZK+aU+JNMxw9nTGykjn3cnuXnZTXsiLBze4euM+KekFoG+DR1AIPo5mijmTZTwiNj6VjLyS12tDxwpXdwcsDFXIiLvLI0GehUUv0sXa3R07vQIeP0zkeVbh67l6BywiDVMcPZyxFuRLMSAZeal3uH7xCrFJaeRKdangE0JYkDvWhpql8i3LIik2jpT0XEpeDblUXnWNTF/Jq8a/Si8uIzPxDvEpaeS9+ogghy64O1hhqJpB/N1HPMnMR0h0L9K1xtXNHktDIcN8MWn3LnL20n2eZhch17XFOzSEysKd3HJXbErSEriXkEpmvqBzROhau+Fqb4kBL3h4P5FnmQWvsBOpGmLn4YKtmR7FKfeIS35OdpEMROoY27vjbGtatr5KSIu/x6Mn5dfCn4FXMbDF3cUOc4Oy6zmyPJ7eu86ly7dJfJ6LVNeWSlXDCfKwwaiszIAsM4m78cmk5b6WgzffLELD1AE3J1tM9MrkU/HeG1y+fItHr94bRpCH7av3ftyCkpGVdJf4lBfkFr/S2GiZO+FiqUpmagpPM17jh0gfGw8HSI2jQEMLSeZTHiWkkFUkQVwiQd3QBlf/YHwrWmP4L8oqyLIecy8+mRc5xeX2EQucXR2wMlEj69EDElPSyRP0lEgHSxdX7K2MUeQpzH9K3MMknpab93fMHHo27lS0s8BIYfAUk/7gCucv3SUlsxC5jjWeVari62qNwTuvc8nIS77JhbOXuJuai0SQK68gggPcsHm5vl5ym7wUbp0/y6U7qeRKVDG0q0RglQDcbN8qeyjL49mDm1y5fJuEZ9lIdKzxCA4j2NMO47KyA7LsFB4kPOZZVtErXITwDRV1HQxNLLGytsBEX+uDKwJ8APGEwudxPHh4jf1rjqHboi3h9sZoi4pIOPA9y36NxzCsE62jqhIiGMva6qgUJnJszSK2p3rRqm1dvK1EPD+/iWW7cwnt2Y8WgUIClFxS793nxsHVLNtzE3mlFrRvFE7Var5YilOJv3eOHcvWcSLFmGqd2lAnNJSqrtpkxT/k5qHVfL/7FjL3JrRtVJ3QcD+sJE9IuH+BHcvWcjzZ6HUbdwt01FXIizvBjp+2cirNmuCwANztzNHXVkOcdJjVyw/yyLg67VrXJiS0Kq4WOu80FP9xwckzubR1L89cAtA48T0/Z9akR3UZd59q41LZDye1W/yy4hgGzb+lXbg9hoKRm3+CGR3mkt12PsObCplT35GkR/yEs7sPk2ziS7CHPgnblrBHtTGtbROJ065MVcdcjv24lhtO3zCucwjWRh+w2YqTObH9JCUeQZhc+5GldyszYFALfF9mH5U94cCUYazKqMPkMV9TyepNj6z47ir6DzqLz8SJdKpizyd0Dv4j3H/5h38kniU8i1nNlClrOJXlw8CFU2gTaPtq4RecmkW3uek0nzGUJpWs0XtrSsQpJ9l9qoiK/ibcWv09dyv1pV8LfyoYlhHXJweYFb2KF9XHMby1L7aG5ZPpSLi3ZgAjzngwYlxnQpxMEFrJsy6za99T7L3VObtmK2lV2xOqkki6lgOVfCuieXcba49pEdWrHdVdTEvLkhScZm63ebxoMoXBzbyx0X+X7Dzlwr6jJBl4EuBuxOM9y9knq01T26cka3vi71hIzNoNXLXtyIiOYTgosjD9BfEUp3B692kKnHwxub2eH++40b1fCwLtjEqNENlTDs0axeqn1Rg5ojX+dkZveO8l99YzePhpXIaNolOYM6af4t7sXwrB3xHPQp5cPczPP67l9xQzIjr1pX1dH2wNNHiZ06so+Qy/LN9GfIUomkYFYq+ZybUdK9n3wouWXVsQ6myCeupFfj16nD/2H+JKsjVR3UOwNLCnkqcH9vpFxJ3czvbzENy2M82qOmH8aoOUknlrPxu2XEMzsB61gpwxUc0l/tQOdpyVENimI/UD7DAUDH95Pokx+9i67RgphpUIDPDCyVIgUGJSj29i3W93UfVrTouo6oSFOJO1ZxrLzqvjWS0cv4rGiK/vYNWuS0i829KhvjcWomdc+20nZzQaM7Z3dUyKn3Pr6EZW7blMToU6tGxYk/BwX2xUMkl+cIE9q3/ijweqVG7ZkqgaEYS4W2OgrYYs4za/bdjKNQ0/ImsFU9FMldy40+zecY4S/1a0byhECrwMXZeT++AQ61cdJsM5koZR/jjoyci4f4Yjl8T4NKhHsEM6eyYt4pyqO1XDAqloKubWzlXsvliMZ+sO1PexQvTsOod3nUK94Qh6RFgheXGboz+tYt/FLKxqNad+7ZpU97NFNTOZ+Et7WLvxd+6reNOsZV0iIqrhbmOA9geXQ5KR9zSB+NtH2LRqL5fzKtK8S0tC3a3Q01JHjQIeHV7Lqn3XkXo0pVndGlSv5oGNcDghyyT2t43suKKKd+1aBLuao5YXT8yuXZwt8qF5+4YEOZXejZcXJHLh1+1s/z0JXXd//L0FAqKLuvQpp39ez8FbcryaNKdOjeqEuhlQ9DSJO3/8zOrd58lyaEbXVmG4mqsqSMCZw2d4alyFpu2aEOxk8rqEUVEGjxPiuH7wZ05Jg6kZUgl7EzWKHx9n85r9XBe70ah5PWrUCMXdxggd9WJSz21nzbZ7mIY3ILKqC3q5N9i3dj8pjvVp2zICdwstCp89Iv72UX5evYeL6ZZUb96A2jXC8bVVJzsljkt717H56B2o1JSmdWsSUc0Nw5LnJN0+yi+r93IhzYzwpg2oVSsCvwrq5KQmcHnfWjYfiUXu2YSmdWsRIWAqELLCJC7+toMdRx+h5eKHf+WKCpw0pE+J2bqRgzckuDdsRlStCELdbTDUKdXJH/7IyLpziF+2X0bqHkGNEHcsNYS1uJfdMXm4N25DwxAXTLWkJO5ew2l9V3QTL3A5QRPvyDpUq2SFZmES5/f+ynUqEdU0En97IzSk99kx7XtOFdjiH14FDwsZsfvWs/dcNg4tetGzTU08zHX+OnKlOJWLO9ay444BwXWjFLKQd3s/P+1LwjqyDS1rVcJcnk5i/G3++GUt+86lYxHRhHp1ahHu64i5PqT8uoiZa47zxNCf2lFRRNYMxCHnEAt/OEW+jT/VqrhjLrvLbxv3cDbLkcZtGhBgr0H6zd/Zf0pGWN9uNA11xZgs7h35hZ0XxFQMr0GIpzUaBYmc37+bs9ku1GvdiFDFff580h4lEHtsC+t3n+W5dX06toqgkpU6+U/ucfb3GFJ1KlO/TVNCXS0URv2HPzLynyeREPs7W9ft5dxzM8Ia1yeydjiVnSwxEKVwcPFM1v6ejL5fbSKjoqgR5IKVfjH3Dv/KlRxjXHx8cDJXJfPaXjbtvINeRFvaNgjE3qD03r8k6xG3Lsfw+/4DnLhehE/PYfRsWhUnjRxSEx5w6def2HLkNhL3ejSoG0nNqu7YmuhQeGUjcxfv4GqRPaGRdYiKDMfL3hRdhWiKyX2aSML1I2w/mY9zYBC+bhZoFD3m1LZNHLiYg0NUE+rWqUWoZwVM9TSQZ93nj207uVhoT9WIanjZaFHw+AK/7Ykh0yGSlo3DcbfUhvwXJCXEcnzrevbFPMeqXjua1aiMrbaEgvQELh/aT4w0hO7dWhLhaQZZ9zm2bScXCuypWuPley9ycO8ZMuxq06JJdTwsP7YUnIz8F495FPsH2zfs5cxjPQLr1yMqqgZ+9joUPX/ElQOb2HLoKvkOUTSqF0XNMAee7F3AptM5ONT+msY1vLDRV4fiDO4f38rmA3dQDfia7q1r42Wj+1ERVPL8NJISbnN8+0b2nU7FoGp96tWtQ3VfZyyNVHh6ZDnzVx8iTtOLGnXqEVUrEFebshKCxVmkJiZw8+gOTuc54RcUgIeVBiVPzrF70z7OpVlRo1F9oiLD8LA3Q189j/t/HORyug4O3pVxsdQg6+YBtuy6gVrwV7RpHIJzeQNankfi6R1sPhCPbuVaRIVXwkw1h4RLJ7iSZU1wRBi+jsI1MDn5iWfY+dMB4nV8qFkvHE9hP350mROXMrEOjqCav6PiGpYs+yEnd+7iXLYVARHhVK6gTVHyZQ7vP8Nzy3CaNq2Jt7UOooJ0kh/d4cSOn9h7MhHDGq1pUUewgwp5/vA8J2ISUXGtTYvmEXh9QJTmBxFPuVSCWJzN0SXrUGvTiVArY7REMjL3RNNu5g38Rn/P8ChnLAw0UJVncXbJCGYcM6L9hEE09BYMeqGSRSqHZw9hWWIYo2f2oIqVLioSMXkXF9Nr6M+otlnBzI7e2JhqoSaXIhY/Y290R+bd8GX49yOIqmiFgXCaV9am99CfUWm9nBkdvbE101a0KXlxkvn9xrD9RVVGLx9JXRehjSoiyS3WDBzF+ttWtJs5kmY+thhpqimMTHn2ASa0ncXNwGgWDI6kopWccBI/AAAgAElEQVSB4qT4Y65myJ4cYP3vZtSp70nhnqH0X5uIQ9NvGdQulIqWRmiJcjn7XT/mPAxj9KROBNoYoBK/kYHfHMBh7Cx6hdtj/CdPgZi4vRu4ZFqd6t4OWOqrkf/7NLrPu4hOaDdGfBOFQ9xyek/Yg7TBNBb2DsPmvYmnjCeHNnBcN4yafhVI/6kfQ3aZ0ntJNA1dzRX3D+VZR5jaaTLnPYezaGQ9Kpq9FYqYtZ+x7VZCz7kMbiAQ53+oixn/O5v2XiI5q7DcSf77bDMiUDMjsGUbarqZlSntv2j3kniezKVS18G0DLDBUODi0iKynz/h0e0YTpy6SkKhLfUHjKVfc39sDNTLFJeUhE2DGbDfmsHTehHhbPZmplPZE45uPI52SASV7TPZMnAIuw16MHdkEzysdBEhJ/vINHpMPUvFbxcwtKE7lm9hkvXrOLqulNJhxiAaeVqhI5Lx7NBGjhlGUKuShMOjv2XdAwui+gyibYS7wmMmyjvPskHzuOs/iOjOoTgaayBN+Jlh/fZj8e0kxR1b8z/l6ReT8OvPXDIMJsTLCRtDdQqOz6bPgrOo+Hdk6Df1qJi0loGTd1JQcxxzetfEyUyo2fku4inj6dHNnNAMIszXnuytQxixU5dOc4bTxMsGPcVa+oNZPaYS49CXWcMbKaIb3pCGrN+Y1HUVJW0mMaCJNzZCo8/2lBHPXalYRDUn3MUCRQUboaTO0zhuXU+g0MKPqJYtqVfVHSsDzVekU551idWTZnNEVI/+fZpTxcUUTZGUoqfH+X7sMu6592Jk95q4mEBBQS7X14xk8k93MPlqNCPaV8dDqA+rKqckL5lTK6azPEadOoNH0i7UEWNNyL+zjTkzDyCN7EnnhkE4m2qiJpJRkp/OjS2zWXLOlJYDu1PHywqNB5sZN3ENlzQbMHJIK6oIGa/VVFERycn9fTZ95pzDttskBjb2w8FYxOXlc7nlXp9a/kL0iSol55fy7eRdyBtNZ3T7YBwNZRQ+2Mm8vZp06VCHihX0Kbi2muFjN5JVfSLjuobjYaONKjKk4hccmtGf72IsaD95KM0CnTHRVEVUcI8ds2dxQFKTbp0bEeRiipaaCFlJPuk3tjF/8VmMmvWjaz0frPVUET8+xOKpP3LDohX9utbH38kIDRUZGefXM2fRLnLCoxnWUoWja2NxiaqJf6UK6KqVcHHZt0zbIaHu1DG0r+qMoayAuJ3z2afxNa3reGFvUMSN1cOZsDGD0HFj6RxRCVsdNUQyMRnnVzBm8ibuO/Zg2tAWij5qqqp81J07uVSMuOAG60aM56f0aowb343qHhaoqQj7hIysI7MZOPcURm3GMahFFVzMNFEVFfJgx1zm/lpEtc6daBTihpmW0LcSCtJvsmP+Us7qN6RXtwZUttUibuskpq8+g6jWUAa0DsPDShs1VRVU5Lkcnz+ABadNaD12EE2DKmKiqYKwJxfc2si4cWtJ8RvB2F6ReFmpI5MUk317G3Pn7CTJpTNj+jeicoWysHYhm7Owf57ewI6iqlQPdMPJWBV59u/MHzifE3otGT3kK6q6maGpKiLn2kbmzDtAQbXu9PgqHA8LbVRkRbw4/SPTlt/Aqs0guglzrClV4LNx9EQ2PAlg+Ohu1Kpsh45g6EglpB2Zy7AFJ9FvOZpvvwrFzVwDFaEvijaT2PjEj6GjulHb115RJ1kmyeDSyvFM33gL605TGNxKaKOJqoqUh9unMnPVSaTVB9G/bQSVrF/ilMfJhYNYcFKfFiMH0jzEDVNNYZ18jI6RU3B/D4vm7SM3sC3tmoUpxq4urNGCDGJ3LeKHUxrU6t6FhkE2JG1dz4mHp/n9njn1OnWiWXVPxQG8Yq4zYtm39AfOqNWkU+dGBFo/4Kfvb2JdJYQAXwf01SVcXTWCmVuzCYkeRdeoylj/1YGcPIcbm+eycF82/p2606qWN5baKsiKX3B29XR+vGJG8/7dqO9rg6a0gFs/TWDapmf4DRpCp0g/KmiroSpO4djqNcRIPageWQ1vO1P0dDTh+gaWX7MkICQIfyd91MTXWDdqBlszqjB0RBdqeZkhL0zg16W/IotsSK0qTuQeWMzCvZn4tGpP04hKWL4cc2Ys+5b8wClRdTp2aUIVJwOQiCm88wtTJq3hoUtfRvZuSEAFTYW85tzdxaIF27lv3YphfZtRxdnw40iEYKcW3OKXSdPYlOJD3yFdiAqwU+hLceox1q89g9glnJrhlbE31UNbUx1SDrF4wR6SrOrSrUMUPhV0kRU95+zqmSw/pUrNfn1oFeaKseDhkkkoKSqkICuJi3u2EFMSQKPmkQTY6yrGl3FiCWO+O4lGo4H0bVUdD1NBD+QSu2MVuxIM8KtZk2A3awzfuP8rV6wRSd5Fdh/Ix7WyD55upqjKcji9bBQLD4qp9e0g2tT2xkKwWYvj+e37Rex97kaTNi2oWdlasWbk4kIy7uxjxYoTSKq0pWPzalQ0FCERFxK7ZSoz1zzEufcwejQJwk5dWJclFCQeYuWvRYRE1qKaeyFHli1i7zM3Givea4WOmorivZl397NixXHEQW3o0CIMl4/0Lih4RGEs26bNYN1de7oO6UHT0IroCt+RZHLtp1nMWXsO7aYjGdi+DpWtpFxas4RLWt6E1amNj6XgEBIMDSnFuXfYPXc2G2M0iIoeSvtIL8w/5sBCLlVgdGfbDGZviMepa3+6NqmKg446apInnN64kdO5tgTXjsDP0Qx9HS3U1VTKohdkSBV8ZAe/Zjrh6euPt6Uq8twzrBy3kAO5ofT6tiN1/awU973lqUf5YfFuHhhE0KljfQIc9JEXveDCxvms+KOI4O69aVu7EqaKcUh4eno9S1aepESYz1Y18TLXQlWew81dP7BiSxz27XrRoVEQVpkxbFy0kpPFwbTu1IqaPuZoqcrJubGbFcu3EGfXlp6dGhFolsrRlUvYk2RPVOuvqONng666gH0hmfd+Y/XKY+R7N6f9VzVxN1ZBIi7gwe55zF55FZO239L76+o4acmQFOfy8MBylm25inbdAfRuXRMPk/eravFBxLPUNizgyPcb0Pu6LQHmRgpjPGffcFpOuUnVySsZEWmHkaYIyf2NDO63hITgiSwZUQdHk7JwC2GDPjSBTlNvEzppMf0jKihO9MXXl9Ct7zrUOm1kbicPzF+5l3LYP7IF068FM/7HaCLLZU0VX19K977rUOm4nrmdPbEQ2siecXrjL+zds54j2XWZvmokkY4mpaSh6ATTW41ke24Npq4dRR0nk9chofkHGddsEjdCp7B0aA3sjF+e0n+oRSzj+a8rOWTehCa+BtyY25Gxv1vRc/54Wla2QV9x0i7h7spv6L9ORJtl02nvbY3Gle/oOvwm4Qun0bGyDQZvLR551knWbimgerNwnCz1UBPJSds9ko6zblB5xGJGNHTFVPaEe/G56FnbYW2iozCI3uuRPGT7j5eo2KweXubpbB3Ul5VZDZg1pwfBZQl1is7Np9uIfZj0WMqEVpWwfNv9V3SaOe0n8qjeAsa388Ha4O8FUJYVx5Xr8bzIK/lA4ilEqRjiHBCAs+lb4atvD/Yl8TyRSIGmAboapYcMinIqcjV0DU2wqVSTlu2aEebjqAh5ex2VJubKom6MulGF6RM7E2D/ltcubgdrLjrRIMoLy8ztjBiwgvTI6UzrGYKjIlS3iAsLuzNmjz7tF0zg68q26L81p8Vn5tJ1Uhw1Zo2lnZ8dhqIXHFp7COOoevgY32Vpj/EcMWzPlDGtCXI0Kg27ktxj/YBvWV/UmNmTOxHgYITs8lJ6RV/Ff9oEOgU7KDbH8o88+wwbt+cSXC8UV1tDheyk7x9Pj9mXqNhvDsObemMpesqDhBy0LSpgbfIyPO8dxFMSz+41l7CrK5wuZrNrxLesel6DCdN6UM3ZVOHxLLq4mL6j9qDZZg5j2/hh94anV4gyieG7rlN4EDaF6A6BOLzd4fcS2vf900uPZw5VRs/imxoumAvJheQyxeFVcVEGD49vY/P+h2gHtaJbl9p4WuihhoT4beOIXnIdx34zGNzEF9uXiZBk2Ryf04c5FyryzdQB1KskHBqIubt2MMNWPiVk4jR61/LA4tXhkYyC2PWMHr6We07dmD76K/ysczg4dQSLrjnQZ/JA6vvY8jrIQU7Jo21MGLKO5yFDGNMjggoPltFr7CaSvIayMLrpaxIBFP4xk27Tz+LQZzqDGnljo1PAiTVbEEXUxd+5AoIDXHxhCX3GboNm8xjXIQgnYxUousba1XHUaRyBnYM54ti1DB22mqzaM5nYrRouZi8FKZffp/dg1mkbus8YRhM/O/REUlJ+ncGo765QodcE+jfypUK5RFHykkR2TBjGhidB9B/TnZquWlxfMZJpP2cQMmYSPWp5YqlQyjKeHZlD9NxDqDScxJiWYs78rkZYnQCc7QxQQcylpX2YsFVKw9njaV+1IsLeVnR9HeseBFA/whNHC7i7bhjRq9IInzaJruFumAtkJ+0iu3fuYdf6QzwLGMTMEc0JsNf7qMPEV9ImvsPGYSNZ/SKcyRO7E+5h/sqbn/fHLPrMPIlZp8kMaRGIg74K0pTfmDtqIZesujJqYBPF919pRnkJSTunEL32Mb59R9Et0onElf2ZtPE+zv3mM7xlEI6v9GghJ+d+w6xTFnSaOJimAfbolql3yf3NjBqxguSAUYzrLRDP0hBoafIuJg1axEmDr5kxth2hLiZvGPKFZzazWxZMNd+KOAjfyTvGvD6zOGHUnvHDWhLkpI+K5BF7p43l+/OmdBg/mOZVnV/tTfKc0yweMocY07aMHNC0FFvJXTaNHM3qJ1UYO647NbwsX3nt8o7Nof+s4xi2nciQr4Jxejk2yT02R49idUoQo8b3oJaXFWrISL+8h717drDh4FO8+0xjaKsqZW2KFYcRU9bfxu6bOQz/OgRnw5eoFnJ6QV9mnzCizdjBNA92VByGfdQjS+XwvPEsOWtEmxH9aVbVuZwOl1PyeC+zRq8hwa07Q3rWQvLbVBZsPkJa5aFMHNiCKs7looLkJSTvncm4NXFU7DKMHjXyOHlITOWqfnhUNFLI+dWVQ5jyczbh40bTuWYlzP9iC5Uk7mfuhKXE6Ldi5KCvqeZqWCaDcnJjlhI9RyD3w+jbogqO+jIe/DyO8WufEDhiBF1qe2Ocfp0jB6+Sa+FFoL8n9mbClaJSkArO/MyeYh+C/T1xEfRyyVXWDp/M5oxqjBrVlVreFoqQ1NubN/PAtSqB5ilsn76IGL2vGNT/K0JdDF5Htwhj3jeHCWvu49hxCD0a+WGrLULycBuTxi7ngesAovs0wr9CqbzKUvYzM3oRR0T1GT+qMzW9Xq+tD54/yQO2TRjP2mRfBg3rRh1fUzKuH+XI1WxMPAPx93LATLgO9nINxe9ixsQVnBBFMSq6E7W8LBQepIzfvyP6uxNoNx/Ot1+H4fJKzgQzQkpxfjqPLp8kJkEN92ph+LmYI49ZwvA5x9BsPpQBX4dRUfSImIMniVe1xzfQD1drQ7TUy0jL2wMrucSuffm4+QjEU1iv+ZxZOox5B+XUGzqEtjU9MFKR8fSPpUxfdBw1gdy2icCt3B4rL0nht/kTWRdrTatvv6FxkD06IgkPt09h8vL7VOw3nJ5NgqjwMghA/JC922Ox9qmMxfO9zF90HNVGA+jTpgbu5d8rTuHggkmsvWXJVwO/oUmww8cnRZQ8ZOfUSfx4x5Few3vTpIod6sjIuH6Q3/ZuY8NvyTi2i2Zwh9p4msh49iCOIn1TzM3N3vSEC/pp5kR+OKZGg1FD6VjHS7E/fNwjIW7ndKatfojzN4MU5Nw88zYnjlwmTd8F/0AfHM310PyLaJmiS3s4lO+Im7cPnqYqUHCWH0fN49f8CPoP6UQd71L9K3m0n/lTl3O4KJwhw7tS31/Qd3IyTyxjwsIjSCP7M7BDJJ7GKsjzbrBl1lw2xFrTbnAfvgp3LrUTZGnErJrJ4u2pVOo5hO5NK5Gxew4L1t3Cqt1gerUKx1mxH8tIj1nN7IXbSfHswaCejXGIX8+cxUcR1+pFnw51qFTO/pKLn3B0yTTWXNGnYd9etKzmjK5IwqO9c5i27DKm7QfTp3U4TooEjTKeHlnIlIV7yAoZwvCeTQiwfj/W/+HEU57Fr8t3Yft1SyqZGirur7wkniGTVzJcQTxlxG/sxzfzL2Dfdz1TvxbqO77W/tK7q+nbfwMaXdcxs7075roqr4ln543M7fgu4lmFCT+OpHZ54nljKd37rEPUYT3zugjEU0zCgZ84o1mJgq3RrImvpmjzingKIbCrxjJpTRJeg6YytKkPFsLJuELjHmRc08ncCJ38r4lnTvwDsi0csdK4w8pug9im3ZnF09rgZfXS6Cjm3Oz2jPgFWixfTM9AWzRjptN2XBKNlk+mjYeVwlh848l9xP00I+xtDdBS3Jkr4tzcjkT/akGv7yfS3NMSXRWhPqUcFZUPPNGXPufBQynWDuZoPPqJQQNWkddwNtO7V8HOSIj5FxO7sg/friuh+cJZdPa3pSzq5HUXSy6xqPMIrofMZmrXAGz/6TRMODUUS5D+3T2uv9IeIhXUNDTKPA1/o2JeeTwzcO86jo7V7DARIkhVVNHUM8JQSHGvo4eBgd47NoJiTs9qz+SEKOaPb4d3hTdPX6UvHhAnscLOTJOkzYMZujqLyKnT6FbNqbTkivgOa/t9y/rCRsyc3pXgdyT8Kbm8hG+iL+M3ZRJdqjhiopJLQlwmZhWs0HywlgFDtyD/ag4T2vu/Jm/F51nUNZqfi+sxd14vQpxNkZ2eQ5eJ8dScN5Z2vnaU3xsV6OQl8TBNHxtrQ3QUdxeLuLiwB2P26tFh3ni+8hPIiXDiKkf0huy8g3hKXxAXL8GighmaSVsYMWQV6TUmMKlnOBVNBQNCIGCDGLo2m6jp0+gS6oTJ25VJSq6w7JvRXPYZx7huoTiZfs7SJf90x1NGSd4zLq6ewKxd8Zg2jmZM1whcjJ+yK3oQC4/r0uq7ibQJdMDo1ZqU8nDTcKLXF1B31kQ6VRVCZMXcWzeYYT+mETFzGt3DXDErP6yia6wYOJL1txzosWQ8LS2usmDQPIWRP39iOwIdBeOz3FN0gaV9xrI1pybjZvYiwjKFndOnsfqOLe1HDqJViFNpCO5fEM/Ys7HoubljbWKgOAx4J/GUpXP97COcPF0xMDH4G+KZx+/Tu79JPGUp7Js4iAXH9Gg9bwLtqjhj9MaeU8SlJf2ZsCWTamOm0yski63DJrI5yZsh84fS0LfCK+IkLUjn6Ys81AzMMVF9xNX7OlR0tcHEsFSe3kU8ZRnXOZdgjIerNSYGcHf9MKJXviBs2iS6hQshgkkc33kOiVUmB7/7hVj7Hkz9jxHPKQxtEYC9vpzUfVMZPv8omi1nMbZjKC4mb27MxZd+YPD4n3lRdQRTetfB9sUe5s1YyQ3TVgwa1JYwF+Oye/aviWfniYNp8nfE00JKetwlDm3axJHHRoS27UrLMCEKpfy35eQe/4VD2lWo6uWMncDO3kE85Ul7mDLiOw7L6zNlbEequZu9JhbSeHaMH8v65yFEj+1GDU8L1CT32DRy1N8QzxMYtZ3A4HcRz+RARo3vSS1vK2SPT7L3XBGmGUdYvvUWlh0FsvqSeMrJubmNBbNWctWwGQO+bUeEm+krnE5/15fZx/898ZSl/sbskfM5JGrIxDGdFWGIb8xe8VVWD5vE5uTKDJjYHbNzs5m77gKGrecxtksNPF4d3JSu6+Irqxg56Sceew9kYhcXJAUG2DnYYG4iHHK/L/GUkbx/OmMX7Ke41nhGdqlFJYvXvZIm7GLahDWk+A9jRPc6+FhRjngOo5l1Mgd/Ood6WCPqR/hjr6+BajnFU3DvMvfVbbGztcRUOBh6J/GUkXnrEol6tmjc2MC8pb8hiRpPdJfaeJXri2LMV9cwespGHnn2ZXzfJvjbaSOJ28akMeWIp42MjIQrHP1lM4fjtfFv2ZmvanhirQhN+cinPPEc0gK7p0fYfFaFqg3qExHgiL7gBS/3ark4n2eJj8lWN8baygx9VSkFuVk8O7mSKctOoNF4FEM7vMujI0dalEdKzCbWHsvFObI5NSQHmLn4BJrNB/NNmAbXt+0l2aE29aOq4Sl4zP/GISAc5uw8Isejsg+VXI0QCcRzSRnxHFZGPHnK0QXjWbg3n+rR0XSt54vlG1AVc2P9OGasv49Tj9H0aSF47qTEbZ/CpBX3qdj3LeJJHg9uPELTTMStzYv4YW8e4SNH0rW+35/ee3PDeGasv4tDt9H0aRmC48em4y8jnitjHeg5ojdNq9hD6jkOns9G6/kpft57BY36QxmkIJ4qyCQS5CoqpbatYt7klGQlcOnAVnadeYFFWHNa1AtWlKb7aN5JeeI5kFbu2Zz8+QziypHUjayCs6Hm39xllJN3bh/HpU64eXvhJhhhr4hnDfoP6fiKeMol+bxISiZTxQBLK3MM1WUU5Gbz/PQ6Zi3/HXHNbxnStT4+ZioUXv+JaTNWcd6gFdFDOhJZ6aWdIKUo6wVpOXK0jEwwUrvL1qmzWH1Oj5ajBtMhyuuVvSItyiItLQeZlhEmBgXELJ/Koh1pBA0aQfemQdi8ITsl3N48hdlrr2PZbgR92lSnoq70T8TTgSwe3/iDHb8c5K7cgwYdvibSz/7PvOAvlu+HE0/pI3754Qy+7ZriaqqvOM38M/EUc2bGVwzfnIJtw67U8zThjSsW4lxevCjEukYHGvtbKBI9lHo815JRuQNNg8x5nQughNg9KziYFcn01dF/QTzXMa+LB9oJu9kSW4HI2nZcndGJuberMH5FOeIpCGvecxKuxhBzLYG0rCwK5JromwpKNp7ffjxATr05LP9XHk9KF4mqKiRs4tuey8hu8h1zegRi85KtSePZ1L8niy440PenWbT2sET1xFTaTEyh6YpJCuL5p1NamQSJXBXVl+G/klhWfdOfDbKvWTizI7425U4aP1hXS5FIRKiqSrmzqi+D1xfSeO4sugTblZblkD5m29AeLHocwbQF/anmYFyWMKPch0qusKTLcK5WmcmUboFU+Cfi+cF9/IgGr4hnDlXGr2N0E7fScFeRCJFIBdW/9QgXc3J6W6Y+rseC8e3xshW8L+UeISxGpIqq9A7rBwxmXW59ps3oRlUHY4WhL03ezqhvFvIodCKz+gkJf/7sQS+5upReIy7hO3kiXaoKBE0IgZMjiE7ilmEMWPacmtNm0D3UEZOy00npo58Z0WchMRbd+GF6e3ztDBCfnEWnyY+oPX8s7Sq/g3jKpEjkpeNVRJxJ7rJ+wCDWFzRkxtTOBDkY/8VdoneH2kokKGTl3vpBDFubRe0ppYTbRDHwFHaN7sPih4GMmtWfmq7mb4YoCxCWXOOHXqO45D2mjHh+7P2r95GJfyKepZtYccJWxg9YzB8v3OmxaALtfJ+xsdcYNt7WJaxtXXxsSqM7Xj6S3HTSC8wI/qoBgfYm6KiUI54zyohn+WHJnrJnbG/m/yYhcuYCeugfYeKkDTx0/5bFo5srPJhvOGbEt1kzcDirrtvR8/txtPK1RjXjETfPn+P6w6ekZ+UjU9PF2MIUrcfH2HzoBUEj5pZ5POWIiyWI1NVQLduo30k8kVFSLEFNXU2xoZd6PFfx0Kou9ao4YvbSpYaY+4c3cuSJL9/OG17q8RRf5oc+Y9h4vyJ9F4+iub89+m8OgNg1gxn141Wsuy8iOjSRVeMXckhWj9lzelPDw0Jxp/nlI5fLEQnCKRNTLBGhLoQRK9bnu4knshKKJSpl/5OUEc/nVJs6me7hFcg4vIdYfV+CHB+xftgCzlp1Y8p/nHhKubp8AOPXxuLQewEjWgWW82CWjlx8Zz0jR67gokVnFo1pU3qHLvEWF89d4+GTNDLzpajpGGNuqk3qqV848qQyA2a8i3gu56ZeOFGhLpip5/E8OYmnxWb4RzWmTlU3LPVf31su/bKU1P2bOW9dTUE8bYQT7HcQT+nl5Xw7fi2XCKR53QAcFXe/yx65hPyMdAqMA2hUL5iKlnqolBHPVbf0qV4nBJdXh61Q8vAPthxOxr339Hd7PJMDiB7/DTWdcji27zbalfxxTN7MuIWnMWo3oRzxBLm4gIykW1w8f40HKS/ewOnJ6W0cTfWk19R/5/EUX13FsAlruW7dhRkjWxPq8tbhkOQum6PH8mOMAa1mD8Xt5lKWbryJdbe5jGgTisvrkyoFYJJ7mxg7ZgVn9FsxN7oNgRVNUVVTLduHyojnhoeY1qhNsKsVmsVZPE9+Qq6GHf6R9aghlGfRkXN91VAmrxYM4mbUCayIuU65hSQuIDMzHyPfBkRWccP6pcdzTQJWoW5YGZRw+/BF8tzbMPjb1lRzKd2vXk2puASxSBU1VSE8WdDV7/J4Csu0GIlITuyGUUxdfQnTDjMY3i4cNyGSotwjufczE8Yt55ROC2aO6ki4p1kZ8fyBi6JAalXzxEozjxepyTwtNManVgPqhHqWJkz5WE+1Auwyj+cDM4KFRGgltzl6KRfXrwfRv011XE3+nLxRSCIXe/YEJ8/d5plYFwuHitjmnmXT7psYtRjN0A418HhrfIrdIzeWHfNmsu6SDHtXVyoZJXPoxBNMA/1wttLm+ekTxOuE0X1oTxoEVODvKohJHx9g1zULvHy98bAXEgi9g3hKb/LT6CmsPqvPV5OH0752pbe8fBIebJ3E5GV/oNp4EiO61MHbXPY3xFOOpEQCslh+GT+d1TG6tJw8gg7veO/DbVOYsuwoooYTGd4lCh+Lj6R55Ynn8N409hFz9tAtZBUq4Zz1K3OWHEEWNeQV8XwlUuKn3D57mdv3HhL38CGpxUa4VqtH/Rr+OFvo/n0yrn80F8qI56pbaFd2w95Cyt2jV8iyb0TfgR2oVcnsz3bvq3fKePb7bi7puCgODR1EC4AAACAASURBVCoKe+dfEE+FzBQ+4+6FU5yMucmTYm3MHJypUHCZ7XuvoVF3MEO61MPHDJ4e/o7J3/1CUqVBjOnfijDncvoXOXJ5qU0ne3qExRMX/j/2zjo8qiva4r+Ju3sgCkkIEQgS3F2KFigUt0JxD+4Qgre0FGhLaUspNSS4uwZ3gkMSiE8ylrH33ZkEEgiWyuO9b+6fM1fOWWcfWefsvTYb7ocwZMrndKwVQJE7C+ZX5VV+nT6X1QeNaTFpDD2aReBSpAlV3P1rPnNW7EDRYAKj+7SkoodGTzxXHEAcVJOaFXywlqaT/DgFqW0wNZo0pmaED44Wxu/sTfT+xDPvLKtXpdKyW108HK10i/HiiOfJ+Z0Z9XMSUeNWM7aJDw6v5M4TYWJhjZUQeynsyOe72oo6fc30TmVxed47c9g9rTuLrlVj2mtOPOn6HQtaZLP/QBblm9Ym1EPNzvEfM+/yy8RTbyUapYzcxwf5MiaW/UZNGDGhO9EuZ4jrFsv1WrNY8TeJp/4rWlK3xNBzznWqzV7G0Lq+z+M2Nc82E9N9NvttuvDlsv5UKmWH5ngsXSfcpvGXs3Sut8XpwxTuN5rHGxnTaynJjeOIHVhwMvnWnvXmG1S3WPf5YL7NbcWC2N5UKqXPW6nN3MX07jNJCB3PknFNKOOSr6hW+G2Kkyz+NIZbDZYwtVsEXm9xtSUvi6THqYjlL9Qo3630IjC2wd3HAwcL0zdPToWIZ/S0dUz6SFAAftfZLI+TC7sz5WYdYqd9SmSpAnemoqVU3V7HiCFryG4yj9l9ChRxtWTunkm/WacoM2IRo5qHvBLfKbwl7/QSesdcp2bsZLpW9HlxYqRNY/uUPiy4EsG42GE0CHLLdwnXkBo/hQFzdmHcZiELBtTE38kU5cnF9J58nRrzptAtqtB7XgOoJulPJg5YyoPq05k1sBaBr1PBfZOqreo260cOZ01GfabP6qsX2dGJI+1lbt/ZnPT7PD++s5jUOnln+KLPJK5WncWE7pXx+09cbSXUem0eT+EQ+BiLe09hfYKCOjO/ZkxTBZtGxrDumi+9F4+hVZg+frXIJTLBwsoSQYVROLEoOPGsPXc2fYUTz5eJ58QBLNqhpcnCRfS23s3UqetILDuUZRPbElHatujGhvIyaz4fy3eXStPvqyl0FHYTjTQo5RKSj61mzqKd5FTqw7Ae9fC5uZJhixIIHDw3n3i+auPFE8+i1SlwtU2vOZlxXavirw8yEY7MObRoGMtOl6bfvHxXW+U5Vn4Www83Axi0PIZ2AvEsMoEpubpmGBPWXMCzz3Im1HzId5OWskPViHlxn1GvnDvvJn32GuJZpOjKF8RzxlTaWN3gQro3UVXC8Tc7StzAWI65/+8QzwsrhzD5+yuUHrCE8R0r4/eSO4Ly6veMGb+aBIF4TupCpUAHHfmWS5I5+f18lm1Lp/ynQ+jeMJB7341i6Skvek0v/sTzQdgwRvesQ4irMWq1Esm9vaz97ih5FTrSo4PgOl1YEETJlQ2/klShJlFl/dEdzhVHPM+vZtTk70hw7szMUYL7rf0riwuRsTlWluaYCH6LBSeejyMZObobNUPcnp8SSo4sZ+zS47h0m178ieejKMZO6oDT/cukukYQFVkGyxOLGbbg0CvEM38iRy5N4dTaBXwR/4ygLoPo0TiIB+vGseyEC10n/03ieeFbRk/5lgvuPZk7vjM1yr5EPJXX+Wn8JFYft+Pj2LFUvP8dS1afwfnTuYztUuMV4qm8/iMTJ63ihG0n4iZ2o3qwUyErziee69OpMmoEnWuF4IwatfQJJ35Zyc9HswnqNJQ+LSPI/iOGGWtOYNN+GsM7VifwFTIkwsTcEgszU4yNVPoTz1UJWDUdQP+OVTA/8y3LfjyHeaOhjPy0HiFuxcznBSV7DfHU/63k8vdjmb7mDE5d5+ri2l8mnsobPzNl8iqOWrZjfkx3aoU6Pz/xvOHbl2G9GhPhKdirCsmDA6xfdwRx2ZZ0+7gu5dz168sSXfnEc9Vpcxr1HUD76pac/34pP581pe7gkXRrWL5IPmdN2nn++GYlv10QUaltF1rXDsXT3hJNwrdMXLwHmo1hZHHEU5PG2R8XsXT9NVw/+oweTQPI2f0VS38+iapyTwb1ak6ZjG189dU2kgI6M3xwO6r6vy4fuBbJmT/YmRtEeER5gnTjb3HE8wo/T5zBmmMCQRxH14ahCJ6dLy4ltzZMY8bKA5joiGfjtxDP/CeVwntnsuaYFe0E4tmw/Cvvvf3rDGas3IdR82mM7dXk7xPPqz70Gd2FgKw7PLUOIKxCOewvrGLiwp2oG494lXhqVShkchSKPPKUCjJv7uHXXw6S7N2Enp+2oJLv3zmAySeeK4+irtGDvl1qYX9lPV/9eAJVtGCrzYj0el2aNRU3t27hoXcQ5SPC9KeIryGemvRLbPluFb+eziOsZSfa1AvH29EKzYUfmblsO7k1P2dEPvF8tmcp05b8wv3gIUwa0omagcV/X/N0L19MXcIv94IYPHkIH9cOLD5bgPIaG6fPYdUBI5oLxLN55Esu/SoS/5jLnK93kFc/hjF9BeKpzT/xPINt+4H0bhONj6lwSCLlybHf2XAgGbd6nenUpALeNv+Sq602czurN3nQvkMYznZ63/xXiaeWp5vH0XPmPtz6rSOue/lXYwIF0QqNcAqTP4QVxHiWwNVW23E6TY1S8WrSguggQTwki61jOjL3UpWXTjzzO5jqMbvmjyNunzltpk6ia/UAnDS7mfKPuNoWdH8Jh+d8yuSDAYxYEUPzMi75qoIansVPou+sI7j1XsrsbhXwtDVBdX01AwcfovzMefSpVhqHNx4CacnaPY2e084SNukLRjUKwFkXtybmasIjPEIDcbR6f5cDzdNNxPSI5U6NOcQNrYWfk759ZSfi6D1uO879v2Rqh3K4F7dll7uHGZ0Xk9NlMWPbheD+lsAa5a2tfP3LMe6nS98zxlOEyMSNGt370SzcHUHc7LXX3yKegursYEYcKMP4mf2o4e9UzEJZw7Mtk+gXe5PK0xYwuG4gLrpjMRmnFvdhYrwD3RdPpoMQ31nMDCrZO5PuS7JoO38M7QVhnoJ7JEeJ6zOZAx4DWTDhI504j+4vTSq7Zgxg7j5bOsXOopugHmwqQnXze4YN24//2On0qROI8xtX9Fqy98+h/4yTBAxbwMjm5fSkWCvm+vnHuAb542gjiMoI1+vTqWiebWVavziuV4hh7pAGlHXTn+jKTy9jYMxWrD5ZwMROFShd3AaEZD9zuy8hvdVsRnYMp9TbNilKtPIoeOhdTjxBm7GDmX3nsumKBS0XLWdoI2cuxg1mXrwxHy2ZS89qga+6DGvUaESCW7sgLvMW4ilP4KtBE1iXGMyQ5RNo7XmBxYNj2W3alrg5vahWxrnoqbP0KIv6TuVPeUNmzh9A7SBX3W6rKvkAK6YtYqesFoNH96BBmCeiw/PpUyTG8+8Rz1djPItxtdWmsmPGYBZsF9EybrYurrKIazFSji0awMzfJNSZPpd+1aX8NWYSP94K4vMlY/moohAnWrRhNRqNHssiQjDvQzyfUmVgAxxE/tSsUYlQXyfMc/cyr79APHsx4z8/8YTUHXMYERuPqtlcZvQVSGHRAUt2fClDpm8ks+ZkZg9sSKiHIOqlIuXQSuYujie7Sn+G9WxKpLcxxxfpYzzf6mqbH+OpyXvKrgWjWbFfQ51xU+hZPyQ/rlbYIRJzeMNuLKpGExqQ3xbFEE/S9rF45Hz+ktVn+oy+1CvvXuSkWjcsqTWIdN4UhYjna2M83+Bq+zCc7vXdMC9TjSpRYfg7WyDZv4ChsQexf+nEU285KlKOrCZ28RbSK/ZmSM/mRJU24eSyf8jVNm03cSPj2CKtx5RpfWkY4VG07rKTfDV8Fr+mRDFqxgCqZvzK5Ng/yakzmSn9GhPu8VJbn1rBqJm/kFxhFDMGtSCyVOEzide42gqnyrf/ZP7kVRzS1mf8lF5Epf/K1NjfyK4xicn9mxLu+fLpnQaNRt8eIlE+8fzuEeGCa13TCFwV99m7Yi4rD8io1G8MfZoXil9/eax9I/HUkLZ3EeMX/Im41kQm929GxEtlkZ9eydhZP/MofDhTB7UiqrTFq662+TGeWuUz9i2dyIqdOVQaGkPvZpF4v3Jg8Y6TQT7x/O5+OQaN7keziu7k3d/LN/O/Zn9ORXqN1p8+6uZcrZhz6+awcN0VXDoMY0DHupRzsdCtTWXHvmTU/B1omo5hZJcQjDPUOLm64CQI/aHkyYFVLFy+meSQrgzu15bq/rbkHlzG+EUHMW09gmFd6lLGMpOLvy5k8S/XcGgxlKGf1CWo2M1eBVc3byHZN4Lw8sG468ynOFfbdA4ujWHR76lUGjOJ/q0q4V1EjFLG2dUTmP/jHcoOmsxnbaPxtXyTq20+ppp0Di6byOLfnlFx9ET6C3GgL703YU0M839MJHDgJAa1q4ZvSXOhFZx4XvGiVR1fXIOjCKsQSbC7FdKjK4hZuANVoxfEUyuEZOmc1YpOGpq8NI6tnsEXm5MJ6TuOfh9VwaekZSpwtV1zg9K9htGvbTReyoccWrOIb3alEtx1OH3bRONX3GJOm8uprQdR+wdRvnyQPtypOOKpzeHiL3EsWZuAdYvP6N+lEWFuQjoSEbKTq5kUt5nsGp8zontFrMQqLJJ2s3KlED74EeNHdadxuPNLmzH5fT3vOhvnzGHNITNaxYzi06bhL20agG5+1WZy9OvpLP7lIaFDxjOwfXV8iohRyjn/w1QWrL2Kd8/xDO5UmwCrV11t9TGeWpRph1kzawVbHpehx+gBtKnu905xv+9w4qkl5+FFbko9KRfoisnF7/juaTM+qe+FQ74axqvEU4Q6fT/z+kxkr8dgVszuSDnXortXuWc2sFPbkKaRLtiaFxIXem/i+S2P3Rvx8eCBdBJyLeqSNmcRP7YDcy9WYXIRV1sBq1yu/jSNySvP4959JhM+qYqPvRlG/1iMZ34nzrvAil5DWW/SjZULulHeI/9EIy+RX0YP4dv0+oyfKail5sfwZMYz8ZPVGH+2iOFNA3Ep0nm0iO+f4sx9a8pVDsbdJo8T83oycYsjvVbPplOoh24A1TzZzrcH3WjdMhz35ykMNOQ+SeQJbvi522H+hhxZ6tvf8/mA76DrSqZ3KYeHroPlcenrAYz8SU37pfPpXlx8p0BRHv7C6H7b8J4wm761fHEqJn9f4SlDm5dLpliKUshh9oa0sMVOMyJjLO0dsMlXJP53iCfoVGfXaOg+bzjNg92L6VBqEn8YwpBvVbRfPo0uEaXQcai8y6weNJKf5K2JnduTysXEdwqk7vGvYxgU787waf2oHfhCNVd5cSWDRv6Eqs0SZvYU0lHoaaDy7kYmDV9DcvQwJg5oSLCgLin8kbWDaT3XoO42iyEty710qqsl58FZEu6bU6ZCEJ72ak4v6s/kv8z5eNlMvaiRMWiSdvHDYScaN9KrQ+uH99cTT3Xij4z8/FsUbRYzqVsFfHQjbR5X1gxl7DoJTefOomc1fxyLCdNRP/6NCYO24vz5ZPrUL4vb84FPjfjBLZKNPfBxt38pV+w7Ljheue1diKeUm79MY+KyHSTat2HmoqE0CXVDfmwpI6fHY9p+NpO6VcWviPu4hIub96GoVJ3yXq5YP3e1fUr1GXMZUDcI10IbAJKzXzFq4s8kVxjJ7BEtCHPL5WDcSObttebj2RPpXEUvc15wyS+uYtT438lrFkNMj5oEOJmB5AZ/LpjJqmPmNBs9hm71QnC1NEb+irjQf0A8RSpS9y9m7JzdmHeYwfhPogko3NjyS3w7MoY/ZA0ZPbEHtctakfjDRGK+vU3osLkMbRGBV2HvA+klNu+RUDE6jFIFY6Xe6ouN8SzazPknnt9chIot6TPgE+qHCirqRiDey/z+8zkqEM8x/5W4UEGMpxGq1IMsHzuP3catmTihKzXKOhXaYJBz5fuxTPk1h9qjJtC9bjCu5iC9tYkls1dyVNSQwSO70zDcAytj+XNxoXclnsKi9cjiwcz55QnhYxYwtIE7kqQcbEuXxt36Ppt+e0xYzUqU9XfRl6k4cSFNFie/msCcTQoaTRhPt7ohRU/ypVfYcUBCOUGkRlBn/xsxnqvO5FG+WW/6dW1EeR97zIxEiPfH6YlnlylFXG2FSUN6ewvL567kkLoOA0f0pIlO2VPOPxXjiSqNI1/GsGCbmkbjxtKtXrkidVdc/ZHJUzaQVnUQo3s3ppzJWVZOnMc2ZSNGjf2UuuVcChFVBdd+nMT0X55S8bOx9G4SjkcRUvX6GE/1w03MGreM+OzqTJo9iKaByfw0eQ5/iWsxYlxPGpR3K+IuK72yk8OSsoQF+1PK4VVxITchfvHxUdbOX0Z8ciCfjP6cNlX9io/PeiPxBHX6UVZOimWbvB4jxvagfqhrobIouP7zVGasTyZywGh6N43Q1fmVGM984inY64kVo5n3420CPpvFsI7VCSipMtQr4kIeGKulJB1fS9zSrTz268SIz9sRHeCAifIq64UTxHPOfDJlJJ1qB+nmREE85fHWOUwW4jXbTWJUBztun1RQJiyUoEB7FHe2sSL2G/bLoun9eQ+aVy6NjYkIydGi4kJlbEGZdZ345QtYexJqDhxF9ybheL5EkDSZZ4g/kItvRAShZZzzbacY4mmkJuP4KmYu2Iy42hBG9G5KuHuhzQfFDX6dMZNfHobQY2RfWkR5YyFSvcHVtmA0VZNxYjWzYgWxmMGM6N2MiJfeu3HWLH65H0S3Ef1oWcm75Dm484nnygOp+DToQb9uzagY4KRT0c45+hUxcdtfEE+HbM4cuIyFbwBlAku99E0lV36awpzVJ7HrNJkRXRvoRHlKdr0qLuRlrEaWdIr1S5azKdGDj4YOpmPtIAT9SMFd9s7dLExdPPF0TGFv/H08gsoTHuatb7viiKfyOr/NmMPq45a0GT+Cro3K54tBakjauYgZy3ehajSakV09eZwgwdvLhMRtK/n2uCWtRg6jS0NBXOpF7WQ393EszQO/IF9Ex5Yx95tjWLYayZBuDQkpeiP7j6Xj4ReIW3o8Cxb+wdOIvgzr25oor0J53/Nu8de8ufx0szQdh/anbTUfLF8rLiTU8Sw/TI3l+7NOOjG3ro3KYf8OToVvJ57qO/w6ZjTfP6rM2KV9sd65keTan9Ik0Blr3WylJf3PkXSac4moqd8xsakvjrrTNxmP9y0jJvYsPv2nMKJ1eVws9UI+6tST/PTTbYI/bkNFL30C5ryEJXT//CfMuv/Aop6heoVa3esz2Ty6A/POVyTmu0k09XuhRCs802PIOnLqzWTRyMYEuVroXS+16Wwe3Yl55yOJ+XYSTf2d810VpdzbsZxZcb9zv8wg5k35mKhSevENcncwqe0MzlWewlfjGuLn9Ab3k3ewavUdIT3Kcs5YtGTOiuHU9RPytEm5/dsspv2uoOHnQ+kQ7avL4alrJ+VNvvtsKKej5jC1u5DWo9AqVHmJb4dOZsO9cgz+aiyNzc+wduFafjvrweffTaKVkPNK/YRDP+1GXrUFNcu+SHisvv8H08Z/ywlxCP0WjOejUHesX3MarknbztSecaS2Xsr0rnplWvm9eGLHzGWrqiWLlg2menHxncJJ19FYesZl0GHeKFqGCEJH7wDSv33L3zrxBOWt7xkx4gShUybRVVCLfYVEaUjfMY1+cSk0iZtG1wqlsDeW82DbAibM24S8yQIW6uI7C3XsF9SCE3G9WZTammkjPqK8V4HwlJp760cxZPkxRA2nsXhEI8q6WiKSJrJp/gz+yKlB70GdqBHohEWBJJ/yNuuGjeREuRjGfxqNX2E1H+UV1o2ZzvobfvReMprm9lf4Zelafj3pRJ+vJtAmzBtbdTJHN+xBEtmI6kJ+xuebBm848Uzfxex+C3nSYA6TPq2Ej6Mx8vs7WBwzn82S+sxa+Dl1i4vvFGzlxGIGLHxK08lD+ShSr7qqo7kPtjB3ymoOPy1LrwVj+Cjc660u5281Ic0T/hw/kMU7pdSauYIRzULwKDzhy5M4t+0Hvlm1ifN5IXQcPoYejYVTfROQJXF09QyWHrXjo+FDaFfFJx8bNekJv/PHTS/qN6pEgJsVxgUnnl+fw7zpaKYMbk6Yh7VuQa/JvsjPs2ay8Ul5Ph09gBYVvLE10SJ7sJdv5qzknEcXRgxsQYS3oKYrbMDf4I+4uWzKqUqvz7pQq6wLFnkPOLA6lqUbruHaeTJjutUmyFkfByXZN5c+c47i3X8eo1tH4F3MYk1+bDEDp/6GqvkCZvauQeBzN9oXCCovrWbYuLVk15/LzL41KVNwhKnNYvfMfiwQTttiJzx3q9XIHrJ/5VxWJbjRYfgAWlQsha2+Atz8YxGxf2YT1WMAnesG42JphCr9HBtj4/gzozL9R/WkXogrupSmWjE3tv7BJcca1KlYBo8i7jpyTiwZyIyNChrPn0XPl0Wb8snplW+HE7PmDmUGTWdY2yr42ennGm3WbuYOiOWI06fMntCBKL+XYrXfakAv3aC8wvfDJ7D2WTUmz+xPvdCCE0DBC2Uug2MP4th1DmM/zlek1ch4dGA1C1aewbHt5zo1SX0+QC05t/5i2fw/yYjoSt9P6utSdSgfH2btwsVsuGhPm7H6OCtXS2GOkHJoQX/mH3Si64zRtK3s9zymVnl9HePHr+FRVAzTBFVbT2G80ZJ7axOLpn/BQWU9hk3uS+iDH1i89gIunSbQyy+R40/LULNaeQLd9d4KAlaxg+I4aNeZ6eM/zk9noUWecoJ185ZyyKgh/QYJKqr5KvHqDC5u3sR1x2hqVw7BW5DtVl5l3eiJfJ9ShZhp/WigU6jVrxOy985naOwBrDvNYMzH0QQWLIyEZ8ZM5Ltrpek5ZTjtqwdiL2waoCVrbyzDYvdj/fF0xnSq9vwZ+eMjrFu0lF/OW9Ny1Gg+bSykFBE2naUcWTSI2P02dJw8mvaCCm+J5yINskeHWBv3Daesm9O/f1sdJrqQgpzbxH+xkD9Tgmjfp6t+c0CkIPn4WhZ8eQKrZv3o164a/rqczlpyE7eyYsFvJJVpT69uTYjwsi6koC7gk8fZr4cz69dsak+ZRI965dHp9CifcXrtPGJ1rrHDGd+vGeGeRqSe+omFy/ajrtmLAV3qEOSi93DSZFwifvM1bCrVpHJoaexMlFz/KYZp3yVRYWwMfRqH46EblBQ8O7qKGQv/5I5TS4aN6U79UPcXuV4LzF5xhlUjZ7H+WRXGTelHk0jPop4ZGhmPj/zA0m+OY96oL33a1SDAUSBBQp238fXi33ni14Ye3ZoQmV9n5c0NTJu8iltBQ4j5rCVRpQX70yK5s40vZn/BHnEV+o8fSCuByJW07ZTX+WXSNL5/GM7wCX1pWsFLPxYrnnF8zQyW/HEL+2bDGNFDiH98xrbZk1mxHxqPH0ePxmG4morQ5lxm6/r1bPzpOBatYxja2oSb1ywJqxBOGdvrbFi6lHVHtNQbNopeLSvhbSXYnxbxoWWMjduHaesxDO9Sm7LCpqxwcp24hUUz13A4uxzdRg+ibY1AvRChUC5xIge2HEXsU4VqlUPwLBAC04o5snwMC7eraDz2RTynRv6E4z8uY80REbV69qV97bL6zX5tLnd3fMOy3+7j3aIHXZtXxNtGGAuV3NwwnZmrruIzcIL+FPSVtGugkSdx4qdlrD4MNXv0oUOdoBfv3bmK5Rvv4dm8uy4/cynde0t4KW/y24wZrDppTZvRw3RpUJx0oplaxIe/JGbhNuT1RzKye2PCXNTc3/M7Z/GnQqUoAvM98XRrhrQEfo6LZd1ZO1qPGUm3RuWLboy9V/FU3No4k9lrbuE/YBT921TVK/9q8kg7uZb5S37jsnk9Bo7sRdOKnogPfs3iNYfQ1htEj0gJN1OdCA6vQLivPrxIKz7C1zGL2JZbm6GjhY0xF4zUj9gRN4MVO6TUHDGG3i0r4mEm2NpVdv6+gQ3rjmLcYBiD2jvy+LYx/iHl8FUfY/XyDdzyaEGf3m2J9tOrZWtz73Bwx0U0/kJYQiC2kuvsWPkFv950o1m/3rSp5qdX4dZKuHtwBxfVfoRHRRJglcapDV/y7QEFlbr04eOG5XDJzxV+f++3rPj1Fo71u9K1dVV8dfOoijt/zWPO1wk4fzqKQcIpqI7jSbm/dxWLlm8hKagbwwd/TM3Ad3N1fjvx1GZxJHYE36RWplVEHvflFejcqQY+gqtB2jm2/LmPo7s2se9qBjYRLWhRuy4tuzWmnKMlxnmZ3D+1jd83nybDKYiwkFJYSlJ5mmNBUN2GRAvJt7X3OLh+G0cObyP+5AO0fvVp1bAmDTt+REDaQXYfPsbuP3dxOc2asOYtqFm3FV3rmnNx0x6OHI4n/tQD1KXq0LpxHRp1bE1A6n7i9x1i79YDXMuwIbxZc2rWa02nkFTiN/zBtn1nuJ0iwalqFwaPHEKrMC23d2/h0LG9bN5xkVTbcJo1r03d1p9Qv5wjViVKbq/h2eYYes29Rvku9XA2ciMkyIW8O6e5kOJAlY8+om64D466ibLgknFmcV/mJH/E/LGtCXIrlAhX/YAtUyexUVKF1nXcyH2qwr+aDw83/sZtrzrUKmNK+sNMHCo2oHp4aZwKvVeTvJM5Qxew75k51YauYExL/yIKw0X6pUbMlQ3zWXLAhGrNauBrnEly8gV2rN1NVt0ZfDmuCYHFxXcK6WHWDGLS1VpMHduesPdIJPte48L73vw3iSeys3wxYC6Pm81kRJtQPIuZBTXiq/y2YDEHRVVoVN0fU3EKyRe289OuDGpM+YJRzV7N36mrhuoG3w+ZxNXoiYzoUIFSBflzNKlsn9qX2IuBfFTLFXOPYAJcVTxMuECKbRRNW9Uj0s8Zy4IcUrqXyUhYPoj5jxoxZUQbwrwLxQuqH7F99jQ2ZpancGRRNQAAIABJREFUcS0v8tLVlK7kTdLmzdx2iSa6rAXiJ1nYhtehWoQvzlYmhVw5Xk880Yi59vsilu3TULFBdQLMxTxNucjOn/aQET2BhWNaECokIH6lzVTcWjuCqZcqMnp4B106mIJ9EE3aEb6etJjtGRUYOGsQjYLd3slto1izUN5m5+qNHDx/gXMXbvAkS4VdYBSRZT2wsxCEa0CVm0VmZhYSbPAKiqZhq8ZULVcaZ6uC2GENedkPObf7L+KPp2DhG0KIry2KjGfkmPoTXSeacqUd8zcAClxtnxDycX18bRxwd3PFRhBDOJXAY6soWnVoStUQgdjn93uNHPGTy+z9PZ4LYlu8A/1w1mbw4MYdJN7Vadq0JuG+DmSd/o31v25i94kbJIntiGjTl8+HtiPK6glHdxzm6O5N7D7/BJOy9WlUqwGtujSgvIc9FtoMru3fx9mbiVw9vp/DFx8jd61IvVoVCQ6qSN2m0QS62mKmus/xP3dzaH8820/dQeYaTeP6tWncoSVlZRc4euwwuzft5sITYwLrNaJmg9Z0ahShyxOsyH7ClX1/su1cFjbegfg5a8l8cJM7uV5UbdaEmpG+uFjm46lVInl2i6N//c7BB8Z4hYTgY6ciKyUDUanK1K4eTmlnS51AhCbjGof2n+FG4lVO7D/EpYcyXCrUo2ZUMGUr1qdJdBlc7cxQPTjOll0H2Re/jdOJuThVakL9ek1p1yoI+fmDHNq/i+0HLpFsFEjtxrWo37ozDSNK4fje7lgqHh7fxJ6D+9i27RSJuU5UbFyfuk3b0zJYzsWDhzm4K54Dl5IQBdShoa4dGhJRyglzhZikK/vZFJ9AppUn/v4uiLIecutOLu5VmtC4ViR+Ttmc/3MDG//ayYlrj8i2Cadlr8EM7lgFu5ST7Dl8mN2bd3P+EfjXbkTNhq3pUs+JR4cPc2hfPNtO3ELiVoPmDSJ1m0CyjEfcvZNCnmMkjdt/RN3I0hhd/o45a27iGhWMeS6UbdiU6uVL42CcxfV9Oziwfwdb9l/kCf7Ubihg1YmGkT44WSgRP77A/i3xnHhojEdQML72asRpORiXrkSN6DB8XUxIPrWVPQf2sm37KRLFTkQ1qkvtpu1oHqLi+okTHNq+mX3nH6Lxq0WDWg1p1bkOjkknOH5wj+6ZW1n2VGhUn7rN29MiWMnVI4fYv2MbBy8/gfxnWnYMJe/sXrb9tYPj1x6RZRVK856DGNyxGg6pp9hbgNNDLb61Guhw6twgAm/nwgo87zGRaBTkJF/l4KbtJKSZ4ubvj5uRmEe37pDjWpEGjetQIdAVa1N9n9Yosnly6SDx20+RYuZJQIA7JjmPSLwjwbViPRrUjiLQrSBdlb4csnvH2Ln3ILu27iQhUYFXrQZEh3hjb6QgK+UhyTkmeEY1oVXjapTzttelPtHkiXly6QDb4o/xADcCg/1x1IhJFxvhFVWDquH+OKSfY+eeA+yJ38Hpm2Ico+pTp35z2javSlk3GRd/XMKib3dyOd0Yr7Bq1GnVhW4tKukEpLJvHuPwmSvcvHKKI4cvcC/HnvI1axAVVo7I2g2oGuKNYz5x0ShySLl2iK3bzvDUxBU/fzdMch6TeEeMU4X6NKwj1NkGM1EyCdv2cmj3VrafuEGWUxWa1I8iwNUEecYT7t1NRmZbngZtW1Mvyg/n/IOK92gtnfv14zM72H9gl86mbmbbE1GvLvVbtKdp1SDcFZdYv3Qh32+/QJqRJ6HRdWnRpQs1HB5x8Nf1HEx2IrJWNUKcNWSlyXAMLoPm/F/8dSINa6+yRLesjWvGLc7s3MrBc4mk5HlQo9cIRnRvSIj5Qw7v3Mve7ds4fOkx+NWgTu3GtG5flwhfK5L3rmbpsg0cuSPFJiCKGo3b0be+C09unGPfrv1czHQkrHIkgR62ujFQ5wimSuPK3h0cvZqNS+U6VK/WgGYtahDm64RRbgo3jsSz83QSOPnh726KJCmRO1kOhNVtRJ0qZXG3MUP75Cy79x1gV/xOTl9/hpkgEFO1AtXqNaW6kEauiO6FBkVOCjePxLOjmPeWr9uQOpWD8BDUkEvEOlU8SdjNgf072bbjFNdTLShXpy71WrSneagx988c0eF36MJ9FF5VqVOrMa06NiDCU8P9k8e4dD8LI3tXHK1EyFLvcPHMBR4o3KncshMf1RfGPrMSxQWrnpxj77797NRhlI51WG1qN2hB22bRhHipuLZxBUtXbyEhBdzLVaGW8D3ve2zfeQOtTwCOxub4VK5F9UpBuJqKSTy2j4N7thF/4Dx35R5UrlOLRq07UL+SP9bPjvPnD+vZ/9CacjWqU95NhDhdil1gAKJrO9hy9DGmbkFEt2pDw+hQvC0VZNw7w67N+7mWY4tvSAAuxhIyBLfvclWoGlUWT0E8TqtClnGPMzu3cOBqDjZ+wfi7GCNNz0DlVI4q1aIo62mry50tKPnfPLadXScfobL3wd/THFnKXe5k2BBcqyH1qgbjaWeO6OlF9u0/wM4t2zl5NRXryPrUrRKCh3keWcn3uJckwapsbVq0akSVIDesX5Nq5uU+/HbiiQZ5xgOuX7mL2Mwd3zL+eDvlJ3BVy8kR5yKVSlGoNIhMLLG0tMLG3lqfpFu3WSBBnJWLTJZFaroCMydnnG1tsLG3xUJYPGvzkGTnIJXKkCnVYGyOpaUl1nbCgkhCrlSKVCpHqRZhammlS39hbyVCniNBKpMiy3v5mVxyJMIzClSaF8/YmanIEecgkeYheHcaW9hg5yC4a0JervC7FKlciUZkioWVBVY29ljrEk+/37CnvzuXQ7M/ZcpBP4YuHU4NezUZqTmIrB1xcnTA0dGumPQdWiQJXzIkNp32c4bQSIgJff5tFdKMNNIz0siUmuHg5oqLsxWaHDE52Wmk5hhh7+qMk5Mj1mYvlVktJTM1k+ybW9gra0P7Wp44vdZ9RYtKksmzlGSeZiowc3DF8spKRsWeJmDkcia0CsbtRbLBF8Co77Fh5ATOVZnAyLYReL6csLIkEP4jzygRP3tGtkyDhZM7TkLervfZQdVKOP/VcBY+a8nkQU0I9ii0GVBQPq0KaWYqKcnJZCrMcHC15NrqMSw64cNniyfQurxnsae/6nsbGDcpgQqjhtOmQqkXbk6SI8T1nsI+937MHVYXd1E2z3K0WAmS2Q6OONpZPs+59gIiLZLzKxkV95SmkwbStFzhbwrlSycjI40MqQn2LoLtWINEjDgrjbQcI2xdnHFydsDmeZ7Tgje/gXiiRSXNIlWwlQw5JvYuWF7/jphFJ/DsF8u4dsLJWzFgq+/z2/gpJJQfwuB2lfAp7L6qlpOdkYlUbYGdsx1W+Yu5EpmCNo/czGwkcgV5SjUaQdXN2LSQWqqQylOti0/TGplibmmNja2VzhX9pSgSlNIcsnNlyLJSyZCbYOvohJ2tLXa2Fpjmj3OCS6heXCiVGtNi6FzJDztZKmkSY6ysLbCwtsfBzipfiKhQjbRKpNnZSPKUSDPSyTW20SUWt7Sxx85aeL8IlTSbLHEOUoUaLcaYW9li72iDuUiFNFeCTCJFLoydJuZYWOjHXwsTYSGsRiH8n5eHQi5DoRTqaoKFuTmmZhZY2+SXRyiDbhwX7lWjNTLDQhiDbW0w08p147tUIozBwriZn4Iov2y6OA+pGLFEQZ4kgwyJMdZ21lhYCmmKrLEsINnP+4saeW42OTIFsox0spXm2DnbY2dvj62lPkWS7lIrkEhkKPIUyGUKnUu+kak5FuZmmFlYY22lv1dQN83JFconJU+4x8wSCwtrbG3N0MolSCRSZAolakwwt7DAytYOa3NBdOV9rUqoZ07+fJSHSivCzMISS2tbbMy1yCUSHU5ypSZ/DrPCxs4ac1N92gYhAbtYnIsiT0pmRi5GVnZY6+Y5O2wshUWcCll2NuIciW4u1QqCPbb2ONhaYKSSkat7f34bCMIxwjxobYxSItHNXbI8Id2AMHcKuAgpBoV0VRqMzKywFdrD1BgU2Ty+fYN76RrsPP3w93HF1kLYaBLsJBeJVKKbA59jZWOHtUU+VholshwxuTIJ2WmZyIxssHeyw87OHhsLU903n+Mjy9PNvYXxUejmcSlywb6MBTu11NmpsVKKTCpFUswzekwFuy30jJ0FWlkuubkSvT2/hJOAhURnq1qMzS2wsLLFztpc109LfAkLOrEYiUKBJDMTicgSW2tLLG1ssbMRxuOi79aJF4pzkUnFZGTJMBZwFNZFtvlt/VJRNHlSfftK5DobFsptLihNCzoYKhUakYmuz9vk23xBPQq+I5Vk674jsrLDUehHdjZYmpkgyrcboR/lqTQYmQp42GArlNlEgzw7kyyxTN9vTMywsLHH3tZCVx+1QopUJ+IiRy70H40RJhbmmJuZYWFljaXQhwoNlELy+RyxBIVColPVxcIGayuhzrZYC8JTujqrkOXkIpUI44wKjZEZlhaCKFVRe7WxLWbceOfG06KU5SIR8JTloSxsh0Lf0CoQZ2UiFtaBGr0Ik7Vgw2Ya5DlZpKelkp4tAysnXJ0dcXSwwTgvl4yMHNRmVtg72mKikiPNkSBXqtBggoWtg25sNxcpkeTqxxzBZoXx2NzCCltba8zNRKgk2WRl5erHamMzXZta3/uD+WvPIPWqQtNGAqF0xlp38vdiDlbkZPIsOYl7F/ewdZ+UqP596NggDFcjLSp5Djm5cuTCuyVazK2tsbIWxj8bLIVQpPyxR7CvAjsQCeUyN8fSWmhH/XhR9Cr63myJFrNi3vvOTVLkRi0qof8Wah9Tc4v8cRTy5FIkuXr8tMZm+vlMGL/MjFAJ85M0l+zMDDKyJeRpTXVtJ8wd9vb5Y1WJ1uvC+CzX2Yyu7fL7irAmEPqKuakWhViYg/Vjs4CfpbUdtuYqMh4mcu+ZHEtXH/wEwUtrU914mieV6GxBqhDmCmPMzAVOoe8LxloFEnEWGamCrUnRWjri4uyEk6MNxkoJmRk5qEwssHNyxMbCTL8Joc5DmpODVBh/M8XIjaywd3DA0cG2aF/UCt/OIUcqQ5qVhVhuhKWDPQ4ODthaCeNgAUBCGwtcSaabj7MlGkytrbG2tsHGxgargjA2lVzXVjrbUaoRmVlgYSbMV1o0Kn3/MrG00Y2HbwrjKwHxFB7RoFQoUGOK2SuL03c0P40apUqNyNgE4+eLtXd89v/abXnn+bLXcH6z6M6Xcz8h1M0SjUoYbEwweUPdtfIb/DB6Fg8aTeXzpkLu06Ijglat1BFwE2Exkx9kXfCbsakxxi8FXheGLffQD2yxak7zcFe9K/TLQ434Jvu3HkNcpgkNI9x0LnAiUSq7Zwxh0bUIxsQOpUEZF71r3EuX8sYPjIp9SOMxA2hUzl2f4Pb/xaVFfmMdMXPuUmvcIJqW18fS6i/BVe4A249l4tewIeEeVugcT57tZt7wRVwJHcGsoY0JKojDLIKHklvrRrPwQX2G9muiEw8qOPVTXviaQaM2oO2wiOmfCm4yGgTTMTIRUmMIIjbFX1r5TX6OmcedGqMZ0Lz8K6ezgp0Ii0EjQb7/ue2o9GTiuaT/y+8unnhqxbc5tP0Ymb71qBfhhY0uoCGNffNGsuRiGQbNFGIkPYq1A+Wtn5mw8C41B/WhSYQ37yiC9kFYk66vaYS0QwUpEAoX6wXxrD1HiHMui7ORkMZGuN/oeX99fUWEgVyFGiGVwXvm4f0g0BGIvEpnq4I9FYxPb62vtqhNfiBV+feKoRXUAIUOLaTGek0S+X/v67rFQp6QssnU9I1z0ZvaTa1bcBthbPIudv0vVuY/f3VBHzXSjQFv3ZQW0lipNf9+W2uFdGjCppIxJu+bw/ufxvB/2b7/bnV0Y5hKjVZIKVNoHBPSPQnXy+I2f+97glvpGn58UJoK1apR2d9OR/pfWcZphfzsKpTSh+z95i8yKzWkfq2KlCqkISCUW60GUbFzU8lL+W+9t8Ql0gr5xoV5RoNWSIn3lnVRib/zjg8KawJhg09kImxqv994XiJb02pQq9X68feN6woBJzX64Uefmuy1a0eNGrWQw/0t970jJO902zuceL7Teww3FUJAlbiOof2/IqvFEuIGVKFUYdWQNyKlIu3wUqZvdaP3yLa63Jx/I4Xyiy9p0zn80x4sGzYl3MOxGPKoIXnzVIYtPYZtx1hmdY/C286YzOPLGRubQEDvcfRrUk6XgPwV49VmcXTxJLY5dGNgh8r4OhQXz/h/2DxUaRz7YgbxDt10J3SlC+SGNcnETx/OF0cs+Wh2vsKsSSYnvxzHorM+dB3VjyblPYp1PdBmHWP51K3YfNyfdlX9cRKCnHWXins/j2TIV0+pM3s+/Wr64/wWkaYXyKpIO7qCOVvt6Ty4DVE+xeRafe9mKD6PZ0r8LEYvP4Rpi5lM7xmNr6MJ2ae+JibuFF6dh9O3eYQu+XdxtnJCwNKyLb3aVyNQiFF87zJ9qA8oufXDSEZ9k0oB8SySTuVDLbahXAYEDAgYEDAg8L+AgJonOzZyxj6MCpFh+L011ZuKx9uF+yOoEFke/5IKL/0v1NTwSQMChREwEM9/2B6UuclcXj+Dcd9cJ/jzhYxpF6kjY2/dHc0vh1b+iD3LlnK2TE/6NQvFTa/g9DcuLekn17MlNZLm9YJxt301cbJwop2xcz4LbkTQqX0dwktZI72ykSUrDmNUszs9WgsukcUldNYiufg9czeoadKnPdGC4M27VvRv1Oi/fVSL/PFevl5+Gp8uvWkiCN7oAs4z2BMXx43QdrSuUwEfGxnXfl/CyoNQtVt3WlX2Kz6hrlbC5XXz+E3RgG7tquty6+m9H5Tkplzh99kTWHXJlz5zx9CuSiBO5u+elFcrf8z+FV9yuvTHusTAXnbFtfX7oFc88czcs4jF14Jo1bouFX1tkV//g+VfH0JdubMuID3A2aKY+A8tkss/ErdRTu2ubakR5IplyYJE3qcC/829Sgnpzx5w+JtpLNv6lJC+MQxsrY/HetV1978pkuErBgQMCBgQMCDwISOg4u7OXTz2CSEkOFAvJvWWS3FhJ4fy/CkbXBb/l3ICv+1Zw/8GBD4UBAzE859sCcUNtn+/nQsPHpGSlYepnSP2frXp2qUO/oLY0jt9S4M8+RS/rNyDWct+tK5QWGX0nV5Q9CZNGpeP38U6KJTSLtaYvoYYanJvc2jrUe5JwMRUg0xqjl+VakQG+eD6mkBybcYZflh5GJsG7WlUsZBCbwmK+UE/opGTcnoDq/cY07hHayr6OGAu0pCbeIgdR++SozHBRCtFZu5HVNUKBPu6YSPEB79SKS0ZZ9ex5rAltds0IkpQOs4nX4qbO/l5xznuPkwiS26CjaMDvjW68HHdMrjYvOvmgwZ5yhk2rt6DUcNPaVnJ97kARMnwLd7VVpObyJHtx7krVmFsqkUmM8cnqgqRwX64C7ZSjI1pMxL4ec1hzGq0omHlAJws3p1Ql6zs/91TqsQ9/LjtNLfuPSFLosLUzglHr8q0+aQxYZ72uvybhsuAgAEBAwIGBAwIvEBAi1IiRWVqhpmZ6TutD7UKKTKtCaZmZuiEnw2XAYH/gwgYiOc/2WhaBTmZuSgE/3PdewUVIyvs7a0KiZC8wwe1eWQ/PMe+w+mUaVqXEFdBEe4dniv2FjUKmQoT8+IJwYtH1MhzcpGrNLqfhKB5SxtBlOI1fuvqJE7+dYxcv8pULF8aR8vCaqglLeuH+5w2L5tH5w9wNM2XBrVDcRcUv9RycnPlKDVanYy61sQSGyu9IExxlzrpJFuO5eATVYFyvkWVabWKXLJy5ag1Wr3tCKZjaYe9ThDpPRpfm4f40QUOHE3Dt15NynnaU4xq+jsCrSZp8xxWZzejd8sK+DgXBJUIAjGCSILeVrSCwIKNlU7ApNiSqlM4LcQPe0USWd5Pr5z7HlV6x8L+r90m5KTNzhEETfR46C5ji0IiP/9rRTN82ICAAQEDAgYEDAgYEDAg8MEgYCCeH0xTvFQQTR65OXmYWBentPkhFFqFVCxDZJFPOP4fEYnXoSsoNOfmGWNlJaj0laDCKilimQgLnbrY+wWiv1eLa/KQ5OZhbCUojf29k0WVJAOx2kqnDGlSYtdYQc1QBuZWepXPEkD3XvU33GxAwICAAQEDAgYEDAgYEDAg8MEhYCCeH1yTGApkQMCAgAEBAwIGBAwIGBAwIGBAwICAAYH/XwgYiOf/r/Y01MaAgAEBAwIGBAwIGBAwIGBAwICAAQEDAh8cAgbi+cE1iaFABgQMCBgQMCBgQMCAgAEBAwIGBAwIGBD4/4WAgXj+/2pPQ20MCBgQMCBgQMCAgAEBAwIGBAwIGBAwIPDBIWAgnv9Wkygec3znDexrVqess/X7q9Jqkjm17TJWlasR5G6HuUE6+99qKcN7DQgYEDAgYEDAgIABAQMCBgQMCBgQ+JcRKBHx1OY+4OLFe2TIlGj0eUOKXCKRKVZOHnj7lMbTyeq1uSP/5bq95+s1pJ35i79O3Cdbri70rAiRmR2upXwICIkgMsgDG7O3KIXmPWLv6l9JKv8RLaIDcbYsibKoEvG1LXzzRw41u7ejko+9gXy+Z4sabjcgYEDAgIABAQMCBgQ+FARUpCde4Pr9Z4gVxSwe31pMIyzcg4gM9sHZ1vStdxtuMCBgQODDQ6BExFOTcZVDBy9w+8I+Nh+6Sa5jFC2bVKK0kyXGIi0ahYSsp/e4lHAbddlGdO3dmWq+dpgbf3gAvCiRmsR1Qxmx6hSpRh74utvq8zFq1ciz00nLlqA2ciCgVjt69e1MzUB7zItNLyHl2s8L2CitR7e20QS4CJiUrN5apZjb21fw/e0IevWqTxkXq3dKMlyyrxmeMiBgQMCAgAEBAwIGBAwI/FsIqHl2/QTnL18j4fB+jl++j9g+gvp1qhBSygHTl9eIeRlcObibk9ceo/KOpl6tSkREVaNahD9udgV5pf+tshrea0DAgMC/gUCJiCdqBVKpjKdbJtM37iDWbRYT178yXnamiERatBoNalUe4lubWTxnPYmenZk681OiPGwwLSEJ+zcqX/Sdam6t6cfAL06iqj2RhYNrUcrBHBFatGoViqw7HPvjB9bvvIG8dEvGzhlCgzJOWLzkApt3+1emf/GIOoN7ULesK5YlZZ35hVPn3uT3uV/ypM4wetUNxMnS4HP779uC4QsGBAwIGBAwIGBAwIDAP42AOk+GXCEnedcypn+1mbs+PZkyrAM1yjrwyupGK+HE1xNYujEBm9YzGPVpA8K8rbA0N8XYkBD6n24aw/sMCPwnCJSMeOqKJuP4vC6M+SWbOnPWMr6JL47mRVmlVvmUP8d2ZsEhIxrNXMvYxqVxsPhQmecL4qltGsf3Exrh52TB89Jq8pBkP+HYivHM+uMubh8vYKmOnJq9uEebxt45Y9jpPpgRnSribW/64r8SN6eK9P0LGf+7HT0ndCW6tMP7x4uW+NuGBw0IGBAwIGBAwICAAQEDAv8kAlrSdy9gTNxGbvsPZN7YTtQsjngi5fgXI5i/7gwOXRYyoUd9Ql0Nm+//ZEsY3mVA4L9GoOTEU3mFr3sPZM2t8oz6cS7tyrpg9fJ4oH3GnyM6MW9XBhVi/mTex4G4WP0fJZ66ltEgvbWW0f2+5JRtR5asHEz1Ui+IoPrBb4wfd5KImDG0D/fE5h9yLdbmnGLpkC9RdJnOgPoBOH2w5P2/Nl/D9wwIGBAwIGBAwICAAYH/Wwi8IJ63/Acy/12I5yf5xNPFQDz/b7W1obQGBIoiUGLiqX7wM8N7LuSkRx/WLO9NuJvNq/GHOYeY020cG2850+mb1Qyp4YX9B+tr+5YTzwLcxNuZ2H4a22R1mfVjDE38ndHzQDV31w9nzNEKTJ3cmXAv238uHlOby7HY/nwh7cTsYc0IdLH8B05SDV3BgIABAQMCBgQMCBgQMCDwXyNgIJ7/NeKG7xkQ+FAQKCHx1JKxbQJdp27HtO0KVg6rjtcrbqUaUuInM3BGPFkVRrBkVmci3K0x+VAPPHk34pl7ZimfDf+eq569+GZ5X6K87TDRHYY+4Y9R/dhaaiKz+lWjlEMxbrayJ5w7fJwbGTaE1q1NqIcNZoU275SZD7ifa09pDzssTAvv6mnJiI+h94+2DJ4/iHp+Trzk1fySPalJu32BxKcS8tQFynFGWHmVI9RFwp3bT8gWFIkLnjJyxL9iMJ425vq6yJK5dOQw5x+IUajB1q8KdWuG4mFr9iIGI+82xw5L8Syt4v61GzzOVKBSK1CoLHD1D6dytXBK2ZtjItKX5c5TCYoiZQkh1NcZq0IAaNLvcCExBYlcRUGpRebuVIr0Q/7kGolPc5GrXijhiUTGmNs64eLhhaerHRYmRq8QcnnKJY4ePsfDLDkqkS2+letSPdQTu0JKV+q0RC4lPiVX8eK7RlaeBIf64Wytr3Ne6jVOHr/AnZQspHmmuAZXpWb1cjpM9AfbWiSPr3L9USbSvOfIFtPPRZi7lSU8wA2rgjKos7l7+hDHLjxArBJh4hBApVrVCSvtgEWRDqNBnpXCkydPyRBLUajUaArJSouMHPGNDMLLzkLfju94qbLvcf70eRKfGeEXXYdIH1vMjE10MTSi/P6qEd/j7PFLPDMPJKpyWdxtTZA+usjpszdJkpjjE1WLymVcsC7cntnCMwk80PpRtUYYpRxEpF85yakrSSjtA4msGo6Pk+WLuG+tlKRLpzlzIxPHiJpUCnTF2qzQgKHOIemJBFs3Z6wtTF+JB1JlP+Dy2QRuPFFg5RlERKVQSjm+eL8m+x4JJxK4r/GlSo0wSjsYkX71FKevPCHPLpDIKuH4OBe9/+yJczwW+VMlOhQvB4uim0kqMUlPpNi4O2Fjkd83tBJdHc7ezMI+rAaVyrhhU7gOz9tEQ07SQ3Is3XGxs8SsOO8IVTp3Lz8gzyUQX087LIsZPJXpd7n2SI17QGlc7fLLp5WSfPliNXUIAAAgAElEQVQMZ29kYFdcGdQ5JCdJsXZ1fFHud7QVwc4V6fe4cuEytx+nozB2IiAqmopl3LEpPJjlv0+bl87dC+e4nJiMxNSL8OpVCfK0w0JXXw3i++c4lXAPVelKRIf54GScwfUzZ7j6SIaNfwSVw/V98JVpQyXm4ZVznL/2GJmFG2UiKxHq44TVazc2VYiTH/DwUTIZUhVakQgRVniElMPHxUZXHk3OAy6cukSykQ/hUcF4O5ghf3KVhIRrPMgU4R5ejaqh3jhYQG7STa5cusb9DGM8I6sRVcYd28I5rzQ5PDh3kgsPNJSqVIXQ0k5YFmljFTnJSUitXHC0tSoyD+igU4l5dPU85689QmruRpmIKH39isEYZRb3LyVw8eYjxEZuhFSpSnlhbNXZi4achxc4cykJUalwKgR742iuIOlqAuev3icdd8KqVaVcaUcsRbkk37jM5ev3yTDyJDw6ijIeb07lpRKn8PDhY1LSc8nTihDC7izdgwnxc8VW38hFLlXGPa4/lGPv44Ono3Uxmg8qMu9f57HSidLe7jhY6UcyrSyF62fPcj3NiqAqUZT1ciiir6DJfUqyxAJHB1us3pJ7TJNxn2t3k8mU5L2YZ6w8KBvsi6udiIw7N7ifko1MmGtE1ngGB1Pa1Vb3PW1uMrduPyQtR87z6eyVWhphWyqUsqWcsNFN1ArSbpzmxLlEnooVYO1NePVqhPm5YF3sgkjfZidOnCPxmQyNiT2+4VWpWiEAV5tCc7DQujmPuHD8OOcTU5FpjLH3iaBqdCT+bkXXFoId5Cbd4NLZc1x/lE6O2ppSYdHUqByEh525fizVZPHw2l2SMoS2fD4DIzI2w9reGTdPT9wcrDAz+SdOHP8p4qlFkpxI4qOnZMsKZyN4qVFEdniXC6SUi13+2klDbvJNLiec49qDNB0e3uWr6vDwtLfQ46GV8TTxNg+fZiF7fWODyBxn3yB8LHN4/CiJtNxCdmXhin9ZN0TpSSQVeY8Rtt4hBJZywS7fg02Tm8KtS2c5f+0BaWINVt6hVK1ZmSCv4jIaaMh5fInTJxK4lSJFbWxH6bAqVK1QBnc7M0Syp9y5/ZCnWdI32CmIzJz+h7m3jqpq+/73H0oEQZDu7i4FsREwsLu7COlGQcIu7L7qtbu769pid6NiBymc+o5zAPvm5z1+47f/csg+e6+19l5rzWfO15wbMztzVEue8+z5G4oqvj73mrqW2OjJ8/7Fi++vI6eOkYM1JroaVUGXHyeAmE/5N7lz7xEv3hRSVNOS+r72aAtecfvaLZ4WK6Fj4Yizoxm66so/B2jK33L/0lku3XnBx8+gauhIXV93rKQFP3/FD+Jinl87x5mLd3hVLES+tilOdeviYSO18+BT/l0ePn9N0T+poiynjqG9JRoVL3hy7xHP33yiqKYFfvXs0RG95o60/UWKaMvab/7r9ks+8+7RTa5evcPTN8VIaulj61kXVysDan9nuFfw7vE9nrx4R7Hgzys8y6sbYmtlip5mZcBJ8vkdj29e4eqdfN4Wi6mlZyuzpawNNL5Jw5NQ+uohD56+5EOp8M93d2l/7aww1desfJbStj++xdUrt8l/U4y4lh62HnVxsTZE46+h4x9bENIT/yN4lnBqbC8S1n6k4dilpARbUuc7+aeYj9fXMzV9HmdrtSQ8cRBBjnpVG+G/at//hyf/PXhWvDzF4tGZLD1ZhEfsbLJ7umOgVmXilx5jXK9JfOw5jYS2tuj+qDsWPOP4phOU23tTJ28Bc+55ERXVHhcDtSpwLWB3djxLPgaRldIFhx8iyIJbiwiNPINHTiZ9vU3Q+EuyEFP4/B73r+9j+bwdXBPaEtK9FQ3r++NmIOLlw7uc27yQFcfyqe3bky6B9fGrb4++FLI+5LFpfR41HH1wszNETVTAmVUL2VrgRO+RvfC30Kz8rEvxAcYNXcxDiwA6dw3EU5p7Ki+m9NUV9iz5jUPvrGgXFk47Tz0kb+5z79p+fp+/nasVNrSWtsW/AR7mdb4DbHFRAffv3eDIygVsvViEaXAv2jWrT4CXGeIPj7l3/RAr5m/jqsCZnqFd8DJRQ/LpOTeO7eX0BxOade9NK3fDKkNfwoe8zWzKU8De2x1bQ3XEL8+wdtEWntv3JKx3QyzrVG4w4sIX3L93jQO/L2Dn5QqsWnelZWN/6ntYoKUi4MmBZSw//AmbwBAaOhmgWvGKK3vXsfuRMa0HdKOhrTYqCgJuLksk94IGno39cTPX4HPeehZuuYy8V1/6trBHU/SCvF2b+UOtCznhwVjq10JSeJc9ixdwsNiZlm0CcDGpifDtHU7ty0OuXntaepujqVzG41PbWb/xKK+03PDxdMRMtzYqSgJeHF7B0v33UPHpQofm/vj72aGv9ovF/JczSUDBH6tYtPUJRk1a09i6gktHb/H+2SnyarUnYVAQtvq1kBM948BvuylzsuXNjjU8ceyKP7e5LzTG2dsDS8EJFi+6g03/EXSoa4qmFLSE+exfvIsSJ2te79zAC6dO+Eie8LaWNW4eFojOrmT9Ywe6DWyFp7EGSnJlPNi3gXNiB5yEJ1hyUJm24d1pKC3QJdtsxLzaN4nRq8sIShxBKydD1Ko3IUkJjw6vZsWBl+j7BtDYw4Dis2vYcMOQVv07Ut9Ki5rifPYv2UWJgzVvdm/kuWMHvCVPeV/LCld3S8TnV7P+kS2d+7fGy1SDGtI+L91NqYM1r3dt5Llzfwa19cZMs7qEv4iCPZMZs6aMgIRhtHYxRl2ujPt7NnJe0RGXiuMsOahE6xHdaWSnV9WHrw9B8v44s0ctoqBeLKEd3GUQ/JOR/mA9mRmruG85kPSwYBwMVb8DMMmniyzPmcaWZ44MyxhKgL0+KnJlPDywiXMCGxxEp1l+WJEWw7rRxEH6t6pxPDCVzNXFNI4eSmtXE2r/Uzuy9Cl/bF7NjisSbOr7U8/DklqlTzi//wTFbp1oU98O/VrVFxPx4dZ+Vq86RpGZH40beWJYcpbNhwTU7xKMl5Uuis8P8vvuQqzM3nBw+3OsW3ki//ITqmbOuFlJyFu3kYcW7ejZui4WWtJCbzJrkNJHx1i38gDPtb1o0tgLo7ILbNpwHa3AnrRvaPfD2lvB68u7WLvuFG+0nPDysMO4Tk1K8zawZFch9WJi6elvi478c46sPEiZnTXvD27kgXEg3krPeCbQwdbdHSvxOX5fdg2D9p1xKb/D3Q9qWLm6YFJ2nKWrHmLVdQDt61ujLduchbw4tJJ9hRaYvD3MzmdWdOnbFl8bbarrcIpeHmBm9ho++kUwqJ0H5hrV4yah9PEJNqzaT76mB40be2H8+RKbN15Ds1l32jd2QO/L3iKh+OER1i3fy3NtD/wb1cVSqYCzR+6j2zQIX0dT1F4fYc3BEiwtP3Js830MmnlRo+AFFVrSeWgN51fy+1UdWnd0RXj/Hh9ULXFxNaXs+DLWPjSnQ7+O+Nvq/OTorHh9hX1rN3DypQb2Xh7Ym9ShZtllNv+2h4+eYYzs0wgHvR+rjgp5tHU843+/hm63ZIaHeGKm/q0lKaHw8mqm5m7gvnlfEoe0xM20FnJljzm67SxlJtZI8tZzTNSAnl0CcTepVflOiN9wdHYOa994Mnhge7yt6vxcpOabySWF1McPbnBk3TJ2nv2AftO2tAhoir+b1JCEZztzGb/0OK+1vAhoHkhAUy+s9NQr973PH8h/9ICr+9dzUuBOw3rOWGgrUv78BOuW7+LyZ2tatAuiaRN/HIzroKpYxK19O7hUooutixPmWvK8v7ydVVvvodW8N92D3DFW/wbQJUU8PLKGFXsL0PcLpFldazSROiaPkPfZliYBvjgYStVllc9+7fJ9FOj50TzQB2sN+PjwPEcvlWHbNIB6DobIzBPxR+4cXMfW80Ks/BtR10GfGiVPOL9rB2eKbWnZtTW+NjrUpIQ3Tx5y68gGft9+mjcGLenVWeogV6Kk4C5nDp+mQM2dll3b4Guji+r/KZXofwWeUP7hGY8fXuXQhpN8dqqHt5sNOooVFPyxgVU7L1JsHkhIcABN/B0w1lKjhuQjdw9tYOv5cix8G1LP0YAaZflc2L2TM4WWBHYOob6dLiri+2ybPJ/jn/Rw9a+Hg56Eu3tXs+P0e0xadaaFtwUq729yZNdJRH6D6R1oS81Ptzmy4Xd2/VGAhm9rggIDaORhQs2SVzy6uIvV6w5yvcySwDbBBDTzx8FEG7UaEj7dPcymLecpM6tHAz8nDJVLyT+/l12nP2IR1InW/vboVheWlBTz+MR6Vu15iqZXAAG+dmjJFfLo4jEuF5tTv6kf9uVHmDX/GO+1XahfzwF97nFg7Q7+eGtEcKeW+Fip8uHmEfacFOAzoA9BjqoU3j7CxhU7OP1MHe+WwTRv3hhPM1VKXz0mb89q1h+4TKl5IK2DA2nq74CJjvqf1BsR8erqEY4f3ceeAxd5oOpDez8bzK2sMbWxQFtSwKW92znzyZxmnTvS1NXoS1qapOgOR/Zc5IOaOU4u1ugofeTG7nVsv1ET3y7daVnP4jvbV/ppx1MbV7L3sTpuTQPxc9BGvvAxl47nUWRSj0b1XdCuKODxzSNsXrWDPwp0aNqlPU09LdBQVkRRrpznpzawatsZ3hs1pZW0bw3sqPHyImer2n9fxYu2frZYWllhYmOJjuQlefu2c+ajKU06daKZtP3V9nj5K67sXs3my+DQqDkNnLX5fPcAG/c8pHa9dnQI8sTky3wXUvTqCY+vHmLriUKMXL3wdNSnRvlzzmxZx56z7zFs0oqgoAD8nczQUa+B4NVl9qzezGXsadC8Ec5an7l/cAN7Hqjh064TQV6mVF++/OMLnj66xpEtJyk0c8PL2xF9JQGvzm1l3Y4zvDNoRIvgYJo1cMBUtzbKgtdclbY9T4xtw0AauWhTfu8gG/c8QM27LR2CvTCt/X+a9F9W4f8GnoJrzOs/gkU3TOg9MZZgizoyb6BYUEbh22fcvXiCU3cEmPoG0yrAGzsTLVR+EY36x1QpeMCh5Tu4VFBE+a8+HPoXF5KTU0Snbmd6NrWmtspf0Vo1eJ7ms+dQ4rq6o6deo/JzKh9fU/D4OqePnCDvYRnGIZGkRbTHzVCN6sCk6OEKRg7dhXnaJIY1NKXOd1EOMQX7fudIrQYEeJjwdsUIorbqET43iVZWOjKDUPLxAFl9xnDOOZGZiS2w0v6msJHU3PqwnZQei1EcMY3oltboVFqRf3qIhRUISi4wZ1giayUdmDG2D+4W0iq7IBRU8Gp7GoMnX8YxejqxLe0x0lRGUV7Ew7WpZO4R0XBIDN18jdFQElKSv4+p8bO55RhGdmQQVtoqyBfvITPhKl6Du9HQ1QxN6bdN5UAsLOPDhYXEp66nwDOaWckhWNVRRFhykbkjElkrasfUnD54Weqholj5my+HWIRAUMr1xZHEL/1As/HjGVTfGoNaStILIyjOY2F4AqtKWzJp4mB8zDVREFVQ9v4yKzPGs6uwPlHSiLBU/ix6yIa0MewRNmBgdHfqSXNxhSU82z+VlNk3sBmWRUQLW3SkRpz02oISLs4NI3WVgFZTs+njY4meqgIfziwke8YVzPuG0rWRI0bSCKdEQOnHxxyZO441b+sTFtcdHxMVLs7I4Zp7F4LdrdFXVaDi9HSGpW9HtVsuo3u4YlhLRMntdUzYrsHIoS0w1/vE7knpLL5lTp/YgTR3MaV2DTnEb0+zOHM6u8QtyEjuinPRDkalLyVPrS0psZ3wstRGRUlBFl0o3JfN4IkXsQkfR2RLZ1mxK8V/VO1PwvuLy5k47Ti12g6nT7A7ZrXhzYHpJE3ZzFvfdKZHBWGnX5OK678z44QRbdtYcmt2NAvy5LBtMYwhnepja6xJzYrT5A4bx23vRFIG+GOpXYOKa8uZcdKINiE23Jkbzfxzinj2iWJAK08sdVWQFGwhM2YHar1TGdLCHp0Pe1m0Q4RfsD+mj+YTPukpjbNS6OVjjqZ0rZO852DOMCZecSE2J4wAe70qY7iMBzumM2nDa1y796edvyOGtRURfzzDgqTZPPIZSVT3ehg+W8PMkwa0DrHl3vwY5p+Vx71XZXus9FSRFGwlO24Hqt2TGNzKEa1HK5l5woBWrS25Oy+BFRXtyYjuhJtp7UpjV/KOA9mhTLruRFxWKM3s9VF8vpsFW8up16oR5o8WEjnlGY2zEunhY0GdH+Cu5OQ0wjNPYRyaSURLZwx/yn2XKkYmkTp3A3m1ezErZwB+NtpfI9mSQi6vm0bu/G3csxzGtPSe+FhqwvN9LNklwCfAD/OnS4ia/Ai/UYn08rNCSzaOHzg8PoxJl2wIHxNGkLPhn3itv19aJCV32DFzOpueWtG+bwcauphSp5Yy8uJyPp5YQO4tJ3p2aICjsRQGJBReWc2U3IMI6vekV2tfbPXVUBLeZXXmRhQ79yLYy5RXa2dxSjuQQLvHLE+cx2mhM10jB9LK2wb9WvByxzhStinQLnoIrdyMUZOHsge7mTNlAy/sOtCrQyOcTTSoIf7EuUWjmXfPiUER3fG30fliEJXdWMu4CSu4pd+ViIEt8JQ6zhTLOCstWHJCj/7pUbT1NEXp9mpmHdUgoKU9+b+nsfBMKebNhzCooz8OpnWoKbzEwuhxHCvUwrxZT3oGe2FnrEGNijPMGTmFmw5hRA9siqN+Dai4zbo5J9BsGoD10xWkLy8kIDGCLvWsqPQvSHh/aCIxky5hETqK4S1cMapaz8se7mXe1A08s2pDz46NZaoHaf/OL8lg3h07+oX2oJG9rqx/snOnrCPfql3VubUpvbKOGTN3I24Zy7C2LpTtnssxtcYE2r9gzegFnC42pdngwXRo6IRpnZoI8xaSOO4oHzRNadxT+lykkV5lBGfmEDv1OtZDoxnQ3Bl95W/eh7KbbBg/iZXXtWgfNoCWda2po6xI2bl5JI0/ikavFCI61MVC/YeXXvyK/TMymL/mNModJjFqcADO+l+/xSgpusrWmTNZuPkGBn3Hkdy3Efba8hQcWs6+Ukd869nwdk0SubccCYvqRxMnPdl8kHw8zozYiZzR609CWBu8zL530Py0Scr2mRKurRhF9qq31I2LpXczN0xUlFAQPOfwosX8IXakUYA/LmbaqKvWRKnafpGIZftn0R+r2FLqRX0vR6y15JEUHmFG9DSOKLchLrorDRx0UVZUQJy/m+lTtlNg3prBvZrjaKiKuLSAkwvHsuBsLVpGhtKhniUaMntOyIvD85m66BzKQQPp07Y+dtrKKEg+krdmOnM2v8Z9xEh6NHNG680RFk1azDnl5vTv1xY/e22UFSR8vLiWGXM28dotlPBeTXHSE/Jg50xmbH+PS+eetG3kjIGqInLSYonvbrB91gL+UGpK3/4h+JirgUBA6c21ZGUu5YFtKInDW+NpUgOx4DOfbm5hZu4WHph0JS60HT4Wtf8S8P/avvvfgadEun9XFHF23TaKnL3xdLZHW0FC4fFZJE89gCQompE9muCsXxNF+XIe7prDzO1vcGjfnXZNXGT2hbxYIBuPnXMXclKuAb36tcXX5BFr5l6ijltdfHysZbbQleVpTFz7Gs+oePoFuqBLGY93zWOPoDFBAb44apdzc20W45Y+wHp4DAND6mGppoSctI1vjzInJZeDkkAiIrvTzNVAptIqf7iH+TO289quDV07NMXFsBZK8mIEJe+4uWM+i09I8O3Vl3Z+VmgoCnl5/DdyF59C0qA3fTo0wlG3JgqST1zZMIt5G59hPyCULnrX2XFdAyefevjY1EZJcJVV6RNZW+BGaOwAWrjrISl7zN75e6ho0Jwm9V3QLb/B+uyxLLtrwaCYwbTxs6aWkhwSwQcur5zApGVnUW2XyMhezXEzqImiws8Ks+pnLiwvobTwBpsmTOb3UwL8hkbQL8QXS6miCCHFBWdZN2sJRz440T28L8EexqjKiXh+YA6ztt5Hq9kAerbwwFRNTNmr06yYvJAT4gYMGt6Nxg5alVFS4UtOLZ3BkhNCfHv2oUNTZ3RrKiD5dJUtc+ax8YklvYb3IdhDH/nSm2wcN56lt80YGDOUdn5mKMuMTwmFJ+eRPn0PJQ1CiegdhLthTRCWUVZ4gy2Tp7L8+GfqDY6gX1s/rGQKLSElBedYN+c3jryzp2toX1p4maBKEbe2zGXOlqeYt+tDt5Y+mKopIP78hnOrprP0rBJNBgygvb81lf42CWKREEHRBXbuK8TU3hVXJx0UJEWcXpTOzJ2F1Bs2kt4tPTGsqYh86S22zZnN1qfmhPTpQUsfU9QUxJS/Ocfq6Us4p9CEvgM74m+jXhkZFQsRCoq5sHkX780dcPd0RU9BQtEfi8jM3cmnesMI79sSTyPpvCjl9ra5zN38BNOQ3nRvLW27IuLyt5xfncvS0/I07DeAjg1tqtr+j+ntlyf+J/AUPV5FZP8pnFDwpX9Pf4yrpRoooFJHFwMDfbQ1NdGsU4faajVQ/I4u/kODxR+4fy6PB29L+YuI9K87iCKaNnXxtvk+uvbzydXg+QcFFapoSiUA1TJDkQTFWrXRMnSgcZdetG3ogoVMyvKVmirOT6N//HUazRhLH1dDvnMMCB+wccE5rDu2wlnnLesiR7DoUwiTpwzGu0qq+/nMVAbEb0d76FzSuzh+EzmoaunnE0zons7TkFmk95TKXv9BmEJwlfmDR7JM3I1Fk/vibPh1oyjclUKP7Eu4pcwhvoU1OrKItYDbS8KIWnwP+/C5jOrogJ40giF+xZaEvky/40vqzGiaWWqjLHzClWsSzO2N0aj1vaxYcHMxYWELeOSdwrzkVtjoqiAnuMaCISNZJurCvIl9cTPW+JNNS8S9ZWGEz/tIixmTGexjhma1v0BwkyXDI1hSEkLupMF4mWtWGuKix6yJHMrMPGvCFo2ho6MBaqLbLIuIZMltW4bPGU0HJwOZ4Sp+vYXUftO45Z3E1OhArHWrAV/A9fnDif5NQId54+nrYYJGeR5LYtNY/bkVY8f0lYHuV2WUiMJTUng4gX6/HBI6WHBj5RoUW3XA21Qf6bBVnJ7KwKTNqPaZz5geLhjXllqLF1mw4BHtuweg+mgFMekbKAvKIWeoP5ZalZJCccFuciInc1S9GxPG9ML56QIGp6zllXcKc5JDcDT4aliVHsiid/Z5nOKmEhVsi97fOCSq33tJ4XkWJWWxQ9KGlMTu1LXUlMlYPv8xlSFp+9AcMImUTm4Yq4u4s2IKh40609GrkM0xSax5V4+Y7AhauBpRSzpJSo8wvncW173SGDOiMTa68txbOYmDep3o6FPKtrgkNotakZzWjwa22ihL503JQcb2Hs8tn2SyRjRA7ugc9qqF0N7fkMeLI8k8asSw8dGyyKaMyUrPMmNYGkcNhpEdG4KTUS3Z+1N6YxVZGat55RNB/ICmOOhXfTdX9IQNieEsLgohJ60r6icXcVinAx18ytiRmMJmQTCJqf1oaKdT1Z5DjO83gRse8YwZ0RDxgdkc0WtPW+9Sdsansl93CJmRrXEyqhr7kj/IHZ7BUf3BZMW2xcVYmSebctmj2pK2DUx5vjSKrOPGDEnphYeBNnW0tKktNWxlS0YFVxdGkLpNma6ZCXTyMuOn6Swp5PiMOZx8dIxdD92JGhtJiKsxtao2rMK8jWw4eYl9a06g3CGbjEENsdGR4/HmmexTDaZ1fWOeLY0h67AeA7OjCHGr+m3ZOWaHpXNYqx+jo9vhbqr298ajpJC8ZZlM2PgW7xEx9G3uioGqQhWAF3Pj98lsVWxJ95beWGvXQPL+DEsyJrLzc1MiY3vR0L5yjCvydzE19w5u/bvRxLGM3dMPotEqBG/hPjLSNlDSOIaEgc1w1Kspc6qUHpnI0IlXsA9PY1iQEwbi26zPyWLVM1cGxwwg0M0QVdmAisjflEbMwvc0HZVEL3/rSshGxJNNo0iYmYfR4GxiOnpjLh3oimv8FpPKFlFbUhO7Uc9KjYdrJ7NX+ux8RRxIz2D1CxdGjAojxNsMNemkLz3FjBGZbC/xJyJ1CC3cjSsVPIWHmTx8ItccY0gaFoCTQQ1E9zcw+7AGzVt4Iz6YTsbuWnRLjaCdl1lVlL6Us7MiyT6gTvdR0XTwMa98/mW32Tguh1WPHegfPaDSGKvq37PN6cQteo1/UgJ9GtmhXXGXLROy+f2hLf2iBhLsaUItBQkvj85nxpbXOHXrTxtPEQdn7kE5qDW+HCY7fRXPnIeRHNYWH3N12VpW9scMRmZtpbBuGInDWuNhUpkOU3RkChETL2MdkcjQYFcMv3Gkip9sYUzCLC7q9mV0XGfqWtVGgQpuLEsgfcNnApPi6dHAljo/OMclhSdZuPA4dw7t5onTEJIiOlHXstqRU8S1bZs5dW43G07K0zw5jUGBLhjIP2Xngn0o1A/A1/IdG9Ny2K/ciYSRnWT3lQUhLy4kPnMvSh3iGdnFD6t/FMIXcndVCmnL3uCXkki/Jk5ovrvCgX15FOs64eXphJlOLWr8yefQPp9eyzaBJ/XcbbGURqtLjjI9fCKHVbuQEtcVP+vKtgkfbCQzbSF/qLRhdHIvGtnroICYd/snEzf9D7R6pDCyky+W6nJIii6yPH08q/KdCEsZRktPE2RBLvFrjs1MZ/qOEhrEJdGvuTnPV49h4sonOIQlM7S1FyaVJ/L66CzGTN1BSYM4EgY0x1FynFkZMzhVqxNR4Z2pbyN9VlWHpIL87RNIX/oQ6/4xDGrpJnOACO+vJyN1AfftRpI0ohI8ZbPs+Q7GJc7gkEII6Sl9aeIo7ct/Pf534FnZgs+c27CDcicPXBxtZY6+khMziJt4APk2CUT3aISdpjzigkPMzprBiRrtGRnRhQa2Gt+Nx7Odkxmz9C5mPaMYFFDO6f1l2Hu542yvjQICrixNImfVK3zikxgQ5Ia+ApTfWMe6uxZ4+3jibCrP/fVjyFhwHzBOhkYAACAASURBVLvIRIaEeGFcbb+UnGB27GT2S1oRE9uTJg6ayItfcnR2NjOPKtJ6ZBhdG9tXOSEqwUS6Zk7LWMYdk+5EDA3BU/Mua8ZOZMU9CwbED6edr0VlUU/xW07Oy2LGlnd4RsTTvc49LgrtcPNwxUFbAQRXWJGSw6oXHkQmDqKlhyHylHNr/Trumnng5emKqcIDNmVlsOi2NSMShhJS1xQlxHy4uo8929ezfHc+Fr2SiekdgMOPntRfvQbCh2zNzmDBZV16xYfTuYH11wKk4jLub5lEzuJTKAbGEtO3Oc56cjzePpGc+YcQNo0nrn8wrvqKIH7P0VmpzDosT3BUFD2a2qMhL6H4yhomTlrOHZO+RI3oRH1L1UoF29tTLM6ZzpZXbgyNHUyIjzHKogdsyclk4U0zhsQNo52vGdUur5I/5pE6eTefm40kqk8gTlpVtrXwEdvHjWH+RS26x4bTpZGNzK6THeIyHmydwtjFJ5ALiCamXxCOFUeZM242B4UBhI7sQ5CLdpW9KKHo3BKyph1A1HQ4I3o0lb2LX46KS+zYU4SZrbMMPOUp5czCFKbuKKFReDR9gl3Qkhfx/OBsJsw6gKBZGOF9g3HRVqzag4u48FsWufsraDg0lB4BDlUOTukdyrm0bQ9FZra4uDujLQ+lpxcwaspOihuGEdmvBS7a8oieH2Le+NkcKG/MsIi+tHDT+dr280vJmb6fioZDGN4rAIdfqLP+7SrwH8BTwtudSfTJ2I04aDwzwuvLvt9Zecghr6hEjRo1qKFUZZj82xb98nwxwvIKBCLxl5yMf35ZORSUlGV5CX/Nv18jnkXOg0jr54uBhnTBlUdBWR1NzVqoqKiirqmJujS/7IeAY/mxHLqPzqftgiy62+vLIOfLIXrN3btCjCz1qPF4BZHhiykJmcy4wXUxkeXGCri1cDgRyyroNHMSfT2MqP1jcLbiPLl94rnaYCpjB3hiWOki/etDcI35gyNYJunGoknfg2fRrhS6Z1/CPWUOcV/AU0LFp6fcfVSMhpkVhpoqUFHEp48F7JsQyqwrbiQsSKWVVP6IEIE0H/HbqKWknLe3jrJx+UbyJB507N+Vxva6lQbavwDP+8vCCPsleN5iyfDwSvCcPBgvs9oIXt/j7I5l/H7gNcbBAxnSuS6mGsrISyr49PQuj4trY2JpRB1VaVc+8bFgH1PDZ3LFKY6ZqSHY61dDnIAbC4YTJQXPuZXgqXx5DqHxy3jtn8mM6IBvILVq7Xm5keQB0zhvPpyZY1oguf8YTVcXjDQr5dO/BE/xWy6eeIS9hzlXF0cxatVbfDNmExNs9xUahcW8fv6KYiUtDHU1UC7OY0VmFkvv2zB4VDQdvU1Qq0p2+AKe8VOJCvqn4Ckif2s6sVPPoD94Msmd3avkH0IerIwh6rcSWo3LoLc02qgo5u29u3zWNUPrzRZSIxfxtsloMoY2wka70iAR3PqNqKg1yHWdRHI3d0w14O3tGxTpWaL3bhtpUcspC8kktXddzKu8CKKn60kePoO7HslMjQ5Ao/Apn3XM0JOcZ2Z4NicMhpITLwW6SsAU3FxCVOwGFLqOJbGrR6XkQ1zAnpwYph1Vp9vYNLrVNUej2jMguM6S8Fh+e9OIrInDcBK/4bOeBbrvtpMevZySlhkk96mHZZ3KiSbK30Bq6Exuu8QzObo5daTt0TVD+/0u0qMW8ykwjdiunphVzTvhnZUkpW1GrlMOyd29MZf2+c5NinQsMJC/zLyoMWx5ZkCDls3wMKrgzpUXGDTvTcdGdugpP2FdQjRLPwWSPqoP9ay0fs7JLb/EomlXMKt9gblbP9MsPYV+9W3QUgRJYR6bN9xHpfwEC9e/wD0uk1ApmNUU8/b+Pcq0TNDlEnOjcjiq3Z8xce3xqAJMwa1lxCWsR9wunfhudbGQhZP/+hA92UZ2Yi7HVToyOqELniYqVHx8Sf7Du9y6+YQiNRt8A+rjJM27UxDzbHsWidOPU6tjKuGt7KhV+oKH185w9lYRur5tadvUGSO1Qu7fKkTbVI8PezJJWvqBJslJ9G5gg7bs3RbxbNMoomdexyYih5EhLiicmEzylIPU6JBOYk9/rLWqNl7p+rk0hqTFz/FOy2F4cycMqvJRPt/bxpSs33ho3YW+XQPxMFFH8dVOxib9xmv/FJIHNMJOV553d2/yScsU3Q97yEn8jRfeMSQPDcBJv1LiK7y7gsSElXxoEE/SwCbY61a++xVXlxCXug2FTmlEd66LhYY80pzx+6V1MNT6xMGcRJa88iUqqjt+NlWeetE91qVmsLmiBclJPakv+38xrw5MIXXKfuRD0kjo3RBb7WqHnoDby+NJXvQU96RMRgQ7o3gql9RJe5C0TiG+d2Psq84Vln7gQ7GYmrVrU0vpEw9uF6JprMun/TmkLs7HPTKFwUEuVeMj5N6qJFJXvKFudBIDApzQkwFmBdeXxpG+BVonx9BVGmn5dj/7fJ+dU3JYes+Mdn26EuRtRm2l1+wZl8qyFz5EJw2kqZPeF8Ou+u0qv7yMeZd1ULiwjAOlPkTEDqSZiz5KSCi6uo1tdxUpOrWc7c9sGJwcRmsvU1TF73j0oJTa+trIXV9C2vgD1OiQSGTX+ljL5qKQe6tTGLW6kEZxsfRqbF/ldPi7t/pb8Iynnd5T9qw8i3LDEIIbuWMmdTz/qW9XQtHxDeyv4YmPiw3mUs3/F/DsSkpcly/gKREUUfDgCR+VdTAx0kVdQUhp0SdeHZ3P6DknUe8ymvgeDbDRlKf0wiKSM5dx23wombGd8bVSr3IKCSl995LXn+RQ09Whjvx1liVnsfyGKYNzYunkZ/XFcSUsfcfL15+QU9NFR1OVDwcnkzp1N8Lg0SQPCMBJ9/v5Xn5pCclZK3nqHM7o0BA8TFQQ3t9ARur8r+BpJObD4zwOrl3NvgfKeHTqR5cmThh+0Rf+3Vj/6u//Y/CUFHFq80EUnNxxdrCSRWWqwVOhTQJRMvCEl/unMHrqTj4HpJI4ILASbL45yi8vJS1rJY/sh5Ha3wH5MnUMTIwwkDmofw2e4g83uPhYBVMzEwy0K8FzzIL72P4EnieZEzuJfbQmJqaHDDx5eZDcUdPYWdqYhKSBBLnrf78XlF/h99QcVkr3/tRQApUOM3Hsb+Tp9mZUjFT9UO3AF1H6/iVvPoGqtjY1X97koYIBRsaG6EqDCt+AZ1TiIFrIwFPMxxsXeaJihLGJETryVeB5y5LhicNpU9cUXpxh79lPKL86zprteSi3jiO6d7N/CJ6P2JqTzoJrJgyMH0EHP/PvpLnlN9eQk72Io/ItyUwaQICbLoLilzx5+gF5TUOM9DRREpdS9Ok1p37LZsEhCc1j42Qgpi1fxpUVY5iw+Dya3dOI6tXsKxCJSnn/6g2fxCpo62ihXlMROeEDtozNZOGNn8Gz9I95pPwSPB+zffwY5l82oF/sCDr6W3yXclB+ax3jshdymCDSE/vj8mY12dM38dojkpjBbfD+4nEA8dPdTBu7hNtmA4kc1p56pt8qPU6z7WAFlg5uuDpK0wRKObOgCjwjqsCTAg7lZjFjw0vcI+MY2NYHoy+vrpj83VOZsOQWxv0jGdrRjy+XlxRzducRRGa2OLlWAulX8Awnsp8UYKHg4EzGTl9PgVsE0YPbUdfk67wQ5+8hd9wSbhr3JWJYJ/zMvrb9v8x8GSlKJF+yyP/hNUo4mdOThLVv8Bn9O2PaWaNdrT3/h1f4/+dp30htG2ayfHRrLKurx8opoKAgLUbx58fnI5l0yyig/cLMSvD87mQRQqEcCgoibi0eQeSyz7SbOokBPsaVgCnKZ0PMIHKfNWXc9DD8zer8nERdcZEZfeO47D9ZBp5Gf53kWdnQKvBc+sqRru18ZEnz1c0qv7mdRbvf0zhz/jcRT+mPJJTkX+TowWNcfFCEkrYxVtaGFGybyJpHdUlekEJLm+q8u8rbVOSf4+DZe7zIf8DtWwXIm3kR0LY1/o6GqNeokmNUgefSl/Z0bltXVoxKWign/3khKla+BLduhrOROjXkRfwdeC7Kt6R9O1+M1KDw5VOevBRg4BtC+yBvLLVVv0pNJSXkXzzKkWMXeFCoRB1jK6wNC9g1ZQ0PPROYlRKC3Y/gufg5Np3bUtdYA+G1razYexu93guZNtQXC6nV/+1RtJeMHlkySezE2WHUM6pd9WHryj7/EjwRU14mQEmxgA0JI8g9rELnebkM9jWnioEq7yCRVBVAkf67gqJXD7ly5gzXHr/l46dSJEq10NLXRvnxfpbtfk/DjJn/HDxF+WxODmf6KW36zcyiu6dpZYRe/Jpdo4cy7YEvaTnDaGhdKVkUC4VIQ3VvdqYTOuUB9UZnM6SxDToyI1XIo7UJRC34QPPsMfTzs5D1QywQIFGU582OdMJyn9IgI5OB/lZoVa1ZRUcnMCx9E6I205g42A8zDTnkFOT5eGQiI3POYBqaQ1SIVIIqtf5EPN2YTOTctzTLSqefn6XsHqKnWxg9ciqn6vRh8pgeeFtofvFeS6XrYwdls6tGR6aP74+3iTry0vbszCAi9wl+o8cwsIE12tXtOTaJEekbEbSazIQh/phrStsjx7s92YRNvoBm40DqSYsdVUslL21mw+matB+fTf+q64gEAqTWavGJaYzM2oUoIIbYHvWx1pbj3rpspp7UpnvScAK1LzItfDr3vBIZPawpdno/F88R3FlF7hF9WlreYG7uMTQHjCGijSvGqkVc2bSJB4Ze1DgxhTmndOmXFUtbdxOZs0skFFaO47EpROecwmDIGKLaumMsa7iI/M2jiJlXgH9qGv0b2n7p/5+vbCKeyZwUhylzbk2wjwXaNeUQFL/h+cM7PCrWp37XPjIZmI5Uxy96wtZRscw4+hnnkNbUszVEu44OeoYG6NTRoI5WHdRVaqAgJ0YolCAv94Z92ZHMvO9J3KjBNHbQq8qDLOLU1HCy1hfTNGccgxupcXZsLLlHVOg4fjS9qiC8cq4Ucnj8cMZvE9NiUjYDGtihUz1VhSW8e3aHi0d3s2PPeZ5LdDBQfsm1W0oEjslheJCzDMKk77hEXo63e3OIyb2DY2QKQ78Amojn28YQN+cRHnGpDGomBTTpjYXc+j2etLVlBKck0L2+TeUcFgkRIo/ch4NMipzK2Ro+NPazx6Dq+1qSD1fYsekUCi0yGD24GQ56StJwEruy48k9qETbnFH0bmiHdnUfJIUcnRTO+C3lNB+XxcCGtbkwIZ7p0nOz0+jV4Jtzv3uQ1WP8lgPjYphx046w5OEEuRlWGlDi5+zMimPefRcikofQ3MWgcuwFt1mdlMra4gDi4nvRwO5Hx4gUhJ5z98Ix9u7Yy/l8EVoGyry6fhvFZqmkh7bE3fj7VBHpWN3fMJtjtRtifG8FS44q0TYhnI71LFErvsaOrXep46jEhQWLOKHSgYToLvhaSY3q6j4UcnpWApOOqtEpMZKOvlZVa5a0DwkseOgiqyURUN2HvzUyqsBz6VNMGzmir1bG9b3nKXHuTWykFPo0fwLnr5cUUbB7HWf1fPBxtsVEqjL5E/CUvZ6lBdw4fZwT527xRqSGnrkVRh+Os2zzDfR7ZhDX3R8bTXixI5ukadv41CCD7NBWuBt/myMrQSKpLPYmfr6TcQnT2f6pPqNyRsgio9+dKZEgJ/OyC7j6WzyZSy6i02cc8T0aYvtDpEp4ZzWj0uZzSq0zE5L70MBBuwo853FBoS4BDRwwUC7hzfN8XpZq4Ny0FYH+ThhpfFWE/e1Q//KE/zF4igrYv/Esddw8cXYwl6lkfgZPMdeWJZG1+CyaPXIqHTY/jsfddYwZPY9jyu0Ym9gTX1sdFBUVZfafdDx/FfFEXEG5QOqEl54nqgTP+eeQq9sMf2fTr06biocc23iARya9SYmtBE/xtRWkZS7itHpXxiT2pqmj1vcKFOFdNmRkMP+IEm3GxBNYsZsZMzfy0jOR9LD21DP/VgP/9R2RCMoRoIiCokKlyuaX4AniinIEcgqVbRfdr4x43rJkWOIw2jgL+WPfNcSmTli938Wk2QcQB8f+Z/Bs72f+HbiJ3xxkRuo01j+yJz1rJK38rWT2Z9mrW5w/cZyzN15SoaKLqaUxJefXsv2yKq3i4ugd5Iw2BeyfOpoZ657jGpvOiE71saj5zYv2rf0kW6r/L+CpT7/Y0J/AU/z2MLPSprH2gQ2jxozA/Mlyxi/Yx3vrVjT3c8L4WwgQlvD+XRG1HJsTUN8Fs28cvuJn+9l+RQNrJzdcLKUFhH4BnqLrrEkfy6K977BsGYSfs/F3jCEsec+7olrYNw/Az9X8q9pE/Ioj289T09IBVzcb2W9+Bk8xN9aMYcL83byxbEHz+i6Y/Krt9vXQ/3iVvIt5PP70bTEkOep4tKdH+2Z4mFXl3f/NovDvwVNwlbn9Q1l804rQFdPo5aRLrb93mv+3tenLr8r5+Pw5b4rKZRW6/rz+08+3kUMRNQNTDDSkOua/asY34Nk4m5UZbbD6F58tqTg1gV4p9wmak0MvZ4OfpXOyl/8uy0NDWVzalqmTBn2piCv5sJcxfbK44JzMjMRgrHV+3LSlEfMzTOmVxL2g2WT2dv6HUtuqiKegHdMyumKvX+1BldYGymbI1Bt4pX4b8RTx6tRipszcQb5hCP37tsDNVBO1miKOj+vDxAsuxM1L/gk8JYJSikrKEQgqqPj8hmubFvL7eQUaD4uhh59pZSWv6ohneRsmp3fD0VANOZGQkuenWDF9KWdFPgxKDiPIQZMXK8L/MuK5uDCQnIxeuBurg1Ca+/mAvfMXc04lgIFD2+NhrE4N8UtO/zaV2dueYNCqP71aumNaR42aopNM7jeeCw7R5Cb/AjyXlNFy0ii6uhohOTSWsCkHqNlxNtOG+2FRTU3Vr9Gn3aT3ymanuCWTZ0fQyEr7O4/er8Gz6seifNbHDWH6oZp0mJPL0PqWX6Ds1/u0iIrPxTw/voDsqQeo8B9OVN8GGF6bTeiUK7glTvvn4Fl0iHH9x7BToT2TJw/C16LKsCw5wZRB6Zy2iiYnKhgHg28/21PEiQlDyDxjTeT4KIKqi9UIH7I+IZJFb5oxOmugrJDPF3+YVC46cSjZ5+2JGRshy8usrEFWxoVZoaSseINf+lRGBtqjJ/2DpJATk4eTddKEETmxtHIxrJTmSN6xP3sYk667k5gdShM7XdkGVnR4HEPGbIc2kxg/uD5W1RQpvcOFWYQnreJ9wwwmhgdgp6eMnPT6k4aRfc6WqOwImjvqf2nPxTnhpP7+krppUxgZ5Ii+TLJczKnJw8k8ZcLglME0sdNDtrdJ3nFoUgxz7nmSIM03ddD/uqFKPe9Tw8g+okXvjFg6eJuhriDi9tJI4pe8xDdtHL0Ut5M54TQmoVlEtHbB6Kf8ThEvtk9jI61p7/aU3+Omk99gNMn9/dDJ38aWB0b4+dbkj/HpbBC0ISOlhyy/86uEroiTU8PIOa7HoMwYQtxNKoFZmic7LozJVxyIyhhBcyeDv6mOLaMQLswexuiV76ibNIq+DWzRVZL6RUQIBYVcWT2Z364a0jVmKMEuhtQSnGbGkNGs++RP8uh++NvpoVylglFSrMxL/vaQFJ0kNyybM6YjSItoiatR1TtXdomFUWn8nu9G7IRIWlreZ15oFls+Nydz7BAZoH55z8ousSAylZUvfEiYEC5rx5dad5IS7u+ZT+6KPJQ829KphRNvt+Qw76Ixg8ZE09bT7Kt8Svrspkcw9qQBA0ZFEOJpWiltlnzk6KQIJl0wZ+ioMFq6GVcWahLeZU1SMqs+NiExqQ/+dt/k4AIlf8wkOusYmj2jGRjkUpXHKebD0VxSZt/ENnw0oa0q5Y0UH2d6WA6bixszOmcoTZ30v8JEWR6LYkaxMt+dmLHhtLB5xILwbDaXNGV09mCaOv4cXfx+jE8xKzKHkzr9SBrZDq8q40Dy6SjTIydyznAwSeGt8TCtVH8I761lVPIK3jWII75fY+y/UHz1VSWU3N/H4hkruYgrrTq1wOXDTibNO4du3zQiO/4qv7OAvbM3U9EwGJc3m8madRenkbH0b2bGmz3buFfHA0+1POaOXcunRvHE9mn03X0lxaeZGzOWI6qdiYvqTD2ZvFeasnyE3JjJnDcaRHxoCJ6m//RTY1XgufAyGiHDGdzRC6Uzi8hdfR31lpHE9G6MrU51QasfV2QBNzds5JlTPTztrdGVOgj+BDzFby6xYcF8Nl9VpG7H7rSWFvHTUEV8YSGJ0w5Ts0PqF/As2JFDwvStfPIbTVaYVOL6LVR8bYP4xU7Gx09n6wdfUsdKI8Mm/PrMavC8gFbvcST0bITdD6AluL2SUWkLOVWrMxNT+tDAsRo853PHYhAj+wfiaqCASCSg5Mkx1q48RYlDG3p2lhaPqpQ2/rfjfwyewlts3ZSPtYcbjvYGsqjhz+Ap+gKeGt2l4NkEh2pZZVUnBHfWkDF6AcdrtGNsSj+aOOt8070/Ac/vBkBYFfG8g/ngCPoEuWFQ7UAqPcOSUbM5ptSW2CrwFF1bwSgpeKp1ISOxD82cfgBPwR3WZWSw8LASIVkJBAt2M33GRl66x5Ee3pF6Fr+wFX/1QP4EPL9vehV43rRgaHx3LD8+4KWqFS4eDmhcXkjKlH2Ig2P+A3gaMzA+lF+CZ8o01j11JCMznFb1LXh/dStLF67nosCVVl3a0tDFCE1VuPp7OjP3lNMkOpbegVLwfMn+qaOYsS4f5+h0Qjv7Y/lXaUb/R/DsGxtKpx8inuK3h5iVOo21j+1IyxiB1ZPfGbfwIOJmcYT3ao6zzg9gJAcKNVRRqSmtw/HNWnppGwc+mmPn6lalSPgVeN5kXeZYFu0X0iQugh6Bruj+OPnkFKihqkLNGopf56XwLrt3PMbAxhk3V2PZvPgVeN5al8X4+fsQNIkhrFcQrj8oI6Qbg0INeHHhICfP3+JF8ffgWdu+KS2b+mD3nc345yvDvwZP0eOVjOw/lT80erJgfijeRur/6tMN/2mREkgLW6zm9LNPfBb/S/CUU8SgYX+GtnKkTq1/WFzoP4Cn8NZChocdxzl7AoN9TdD4RTRa/GoLyX0m8rDReKaObIBZncpIR9npyQxI2I3O8DlkdKrKq/xxoIoPkNF1KiW9Z5LY0Ra9ymSvvz7+pdRW8uEEuVGZbH5fl+isUIJcTVBXkkbvStiX1pmcc87Ezk0mSOUVj+UtsNSp9f3nLmStEVH2fCdjR0zjtFZXxo3ti5eJBkp/IrWVCItlBY3C55xDs/NkJg/x4fPW6D/J8fxRaluV4yku5/nm0YTNPo9O5/Fk9/NC5epc4rM28NY7ivTQFria1q7MyS3ez5juWZy1iyI3uSVqb54gZ2GFnpoSd36Q2qreXcLI8Pncc09iTnLrb2S5lcMuerKGuKG55FmGMTujM85G3+fL/SV4Usb56UNJWvkcr9R5JLSyR/9HABGLEcvLf1lEhC8OMXPUFPYLmhGV1I8mjvpwOLsyx/NfSG1FT9eRNGwGt92TmBIbjL1+pbFWcWU+4XHbqNVvPAlt65B/owgnV2tqa0gl13nMG57ITvV+jEvqiKtxZV+FD9aSFLmY94EZpA/wRunedUpsHDGvo07NikvMH5HEbs2B5MS3w6XqN5TnsSAskdUfGpI0LowAO93KTyMIbvJbRCxblHqQldQZd9MqR0mptHjRaI4bjSA7pjnKD65T4eCC2snJjJySh23kZOKk0dEvc6KEC7NHMnrjZ5qPGsPARraV1Ual9w1NZrdGPzLj2uNmUvW8yvNYGJHM6rf1iR8bSqCDfmV7Kq6wMDyJHTV7kpnYCY/q9kjzO0ekc0x/KJkxLdB8dodSawfMtTVQEV5jSXgi22p0IyOxMx5mtVGQgfNwxu+AkMmZeF6bzrQ9NemalUgHwzfc+WiCg6UuGtXVSiXvOZS7hPdNuhBgX8q22AT2aA5g9AAT7p0pwMi/AS4qp5kYNZf8+qmMGuCK8METVOxsMdKqTQ3hLZZHxbNJrhPpiV3wMq+SY5WeZVZ4Oke1BzI6Ohj1J7cot3XCQrdOZR7tLw8B52cNJWOTPG0mjKJnPatvCiUJebAqgbiF93CMGMfIEFeMFE6TOziD3SpdGZvaHW/LP8vlrrxZ+ZVFxKTsQLnbaKI7eWNelZ9XfnkxcakrKfCKIiO8Bc6KR8gZMZXzJkPIjmuHh5naF/VG6cUFxI9ez6eG8aQNCcBR6mSo6kv5nfXkZK6hwLUfw3s2x90gnzXxKWwStSEloQumb2/xwdgBSwNt1ERXWBKdxnb5DrI8vbqWVflfny+wYGQGe1W7khrTCe+qoirCu2tJS1rJx6bxxPeph8qT23w2tcJYRxMVuQqu/xbL6C0SQlLi6OprVZW7Vcq52VFV+Z1RhOi/4UGpGZYq55mXMJ0z+v0ZE98Bb/PKAhHSo/TSIpLS1/HeL5qUIYE4KhxiXPg0zhkOZExsB7zMv47Frx5hxdWlJIzagrhNEjHd/LCq8rZ/vriAuDHST6KlENWlXmWuojQyuS6NtBXv8I+Jp3d9NfJvl2FiaYxOnaq0hPK7bBqbw9qn9vQY3otAL0Oer0shff1nmifG0tXyE/c/GmBjYYhOVYlFyYejzF/+Gu+WTXAW7yd91Hbk28fTz/Yl115q4V7Pjdp5M0iZexeniCQG+irxLL8GlhbS+yojuLuK1OT1lDaPJapnQ+wqk3gpuzCfhMz91OicwMg2Bry5X4aptRn6un+Xu1wd8XyBZ1wigwJd0f78gP0zx7HwpBDf4QkMDHapUlz8MKqSIk5uOICSpzdONuaVxTZ+BZ6SQi4szWTKyjsYdItiqBTWtGvKJLylx3OJnLAfpfapxHW1RvxGjPrLbUyctpprhgPIju+Kn82Pc0eMWCyHXPlVliVnsOyyIf3GxdGlvs33UmhpMFssRk5OwruDU0icvJWiInD/JQAAIABJREFUhmmMGtoCN8Pv6zF8PjePuKzVPHePZoxMalvzZ6ltVY6nuOIVB6enMu9AKXWjUhgQ5IrRd18z+DuD5Nu//2/BU1J4iq2H5HF0d8beqjJv+FdS27cHp5EyeTMf6ieRNqwVHkbfq00+n19IUs5KHjuGMzqsHT5mKt80+t+A5z+U2r49zIyUKWx+W5f4tGG08jb+vlJs2QUWJ41l1UN7RowKpYXqMSZkL+GcRjdGx/WiiUya+e1R9Y5IPxf17Zr+b8Dzhgntm5qjY+uJs7s7dgaqlJ2cTfLkvYj+h+BZcWM1mVkLOVnz/7F33vFRFV8b/6ZnN7vpPZBGek9ICAmd0EEQUFFpiiBFmnTpRUUUEAsidgFBBUG6FEF6D51QExISUkjfzSbZ+n7uJoGAQUH4Kfru/TPZO/fMM2fOzJk55zndmDm+Ly29Mvl+3gKWJUvoNPRVnk0Kx1lkirFROYc/ncD8jQqajxrDCxGWlKotufnLRyxZfgirnlN5vU/SndzMGjiE/ZMeB6NHDLV1oS7HU3l+FXPe/Iy9Zl2YPr4vMSVrmDV/FTeCX2P80B7Ee94byVTX2FSSsnkLWS4BhESE4q4PXagr1LaQg5/NZMF36QQPm8SrPRvjeW+Zttr9rcZAJzvKlj0q6vuHEhZoW8WLcTvH806obdHBz5nz3gquBw5l3JCeJHjfe+gmyA7qCgUVSiXqeyoGGpuJEIst75sTf69leEjHU0fBxon0nrkFXYeFfD6+JfVt66ixdtdXyrm2az0H07NIveFK51e7ESkwHOqy2f3JN2TFDqBbjDPSOmvd1aBXSWl+MQqV5k7tyQe0cUKArKmVHfb6nI0/ctYe7cZTV7iRyS98gemwhYxu76sPR7v30Vz+iqGDvsK43+fM6hWIiz4RVMmZTwYxeoWWnh/Oqzu/U3ByMlby+oDN1J/6NgMTPe9hzb3fnvHhcjxVxz7gpTHLKGgyi4/GtcGv5uZVk8qK1way+HI0k5ZOomXOVjaUmaGsbET31l7YS+9x6CsPs7DPOFYVNGHGZ+Np08ARS/X9yIW0ZK8Zx4B5O6DjAj4Z1RT1xtcfzvEEZDtm0W/6z1QmzWXJ6KbcWjmYCd/eIn76R4xpF4BT9WmYJnUFo1/9iIsRE/h4YhIF2zdhktSBCDcbUj+7O8fTWnWZVRNG8Wl6PJPnD6eVX+2yAlryt87k1bkn8H1tLuO6hOJ6z9X/HzueQnL854wf+w1ZCVOYPzIJ/9tER8J4lnFqzTYqE1sQ7uaASJHCmrkzWXrIiq6TJvCi4ExZmlBeQy70EI6nNn8j0/vPJ7PVO8wc0AhvYROnK+PU0tFMWqWh67szeM7+GMt2O/Bct0bUc7FCfW0FY4d/TXnnt5naJ7Y6VKQqzHb0l6W0nTmNPuH5rF2aQtizHYn0csREeGfEEgpaz2POgMb46GMHdRTtf58xc/bi0Hsyo7rHUE9anasnsOP2n8axoHHMGNoKf70DoUN25CNGTdmI6MV3mNRNxN6vj+DdsxNBGd8wfNZxAsbMYVibQFyq55w6awtzx37MpcCBjB/SnjBXK324kfrqd4wfuYRbLecyW39DWi3PgUWMm7MXu+cnMrJHLPWtq+RRX1vJhFHfIG8/i8l94vCujoVWX1nO2FEr0XSfxfgeUg4vO0q9ru2J9hVK7exjfr+3uBQ3mUkvJ9LAwRRh0/3usNn63J4pM9qQ9+UMlhW0ZuqUF3A+9R177TrRVJzCr79l49X5aZo6XWDF9yUkCgyHXkbsnj2I969H0S1YjGPTzjSL8kV07H1em3MMnxEzGNK4kA2r8kno1oIQHwfMlEf48JXpHPEdyZShSQS7CqfiOuRHP2HM9PWY9pjDhO5SDq84hkeXdjT0qyZwqtOMaLm5fhqjFufSbPob9EmoIe6pIrTY+c4I3tlQSevZbzOwZSDOxpdZMWY8a02fYdro7kR53nGghBvt81v2UhLciDAvZ6xN1KR+P4lxS7KInz6TAc0D9bepAvOuEFb5zm4ruo0dRc94H2zUB1n06hwO1xusvxkN86i+2VJns33eRD4558WLYwfTKcod3aUtrNyciUf7ttgeWcSC9WraTxxLr8QGWOdtZM6oJWTFT2B8Xx8u/7gTy6R2NAryRJz+I1PHfEVBs0lM6NcU/+qbPvXl75g4YQXy1pMZ3zsRP4GsAzXXvn+DSd/JaDVuLM9Hl7Hlm/P4tm9NdIAbIk0aayaP45v8Joyb2E9PsKS3kupr/DBpPN/J2zBh3DM4nvqR485taBVSwE/j3uKg6wDeGN6JiHrVTp46mx3z32DJaQ+eGz2Yzg3rI608xEfD3+SAywAmDe9EZM1vhfZ1xZzbvJci/4aEN/DA1lRN2uppTPoqj/hx4+nbIqjqhk6fGzmRyStKaDZ+PL2bBVaF9gpEeFOEW9zmjBrzIg0rtrL8vDetYkSk7fmNTNfWJNkns3jhespbj2b0i0LuXD5b3xzLp+lRjBjXF/+0n9ltGoVr4WlSStxo1akZ7mlrWJsfSVKzaPzN9zF/xCIueScRYOdBYrtEogKknFnyOu/sd6TPxGG0qNzJupxIkppG4O9ijur4p4yctReHfmMZ3CWG+noqeDknv5jEnJ8qSZo4jmfdzrH2mD3NWsQSUlvv6tTr35MLOZloKMvYy1dzP2BrfjB9xw2lixCxIORVK7K5fK0UK3cPXCQ32Lg2g8BG0QQ2qGLWrdPxVJ1l2bjpfHXOnf6zx9AzoUF16SItmT/PYuKHB7B5fiZjultyfr+KkEAjjn27gK/PedJ/2gi6NfK+K3JKcX4re0v9CQtyRb71TWZ+cZZ6L01lePf4uxmEFRf4ZU8p/mGB1BedY+mUeWxVJvH6uL60DHGslcZTScp305i1MpvIV8fxcvsIXC0FcqF7cjyrHU9hTTr48RjmrriK37A3GdmjMT4SI7TyLFJztNi4OFftsx5ob/aojqcORc4V0kpEuHi4Yn1jC+vTfYiMCibAterU//eOpzHq/P18Nv1dfU7lyLH9SQpzuguPi6tmMue7TIIHvM6ATtH3ONaP3/E0VudzcOlM5m+QkzhyDP3aheNcq1hl5cXveXPWSjKC+jNqYCei7DJY+85svjzuwLMTR+oJb2pzaZWn7GB/sSf+gf54177NfQjHc+meQrxb9WFA7w5ECaXITIyQ7V/MpPe2omn7F248T7nSd8Iwuif41CorVs75VW8y98tkbHuMY8QLLWiQvYZZcz7jiLQnE18Xwo6ro3i0Wfzy7jQ+3mFE+4ljeM4pnRMKTzxMUtiwWHDCezB2ZC+aB9Q+qCnn8s79FHo0wD/AFwfdI4TannCoJkfyvUv+Cz/M1eeYSrqNYeSLrQgwOcOKt+bxY1ZYFStwQ/e7DhHKL/3G4WJXvP398ak+ONMWJ/PLb8W4BoUTVs1WXqfjaaylNHk5c+f9QFbIAEYO7EpDj9q+VzlX9hymyNkTd1uQyUyxd3HDLvdXtqY50yA0grB6VfPi946nMdrSk6x8+11+uBFE/1EDeSrO465oqPLLezhS5IynXwC++vXv0Z6Hczx1xeya1ZfJa3KJmfIdc57+8/xO1dX1rDrrSVPf03w4+Sjhb86gV4QL4sKNTH35BxwnzOOVBKFsx6N15NHffjTHU8iL+XLwSI7Fvs30PlG4/44dSCg3tompfd+joPvHzH4xFBepMRVpm5g39m02qjuz8KNhJNSV3ylwtu1/h77zinjuvbF0DnC+ww72Rx1XJvNx/1GsMHqWT+e/RLh7DaOdjqINE3nhrROEjl/CpM7+esdMffkbhg9ZzKWAkXwwswehwoYdHcVHlrH0m59Yc8qDEV9Mo9mV9exzCUSx/wYRPboQ4+1QXRC+akOTs2chE6auJi9uPAsndakKyVGeZPHLo1iue4Yl7/XXs9rqt2/5R/h88lS+PWdHjxlzGdSiPjnLhzDisxLaLFjA4ARv7Gp0Q3mGpYNG8o2iM+/PH0isl10Vnb7sAj/OmsRHh6zoPvNNBjT3JP/7kQz/+DwNhn/ItJ7huAn5Vbpijq1YyrLVqznlPoxPprbk+qb9uHftpGf8vbh4IGOXqei6+F36x9TH1kRNUfIK5sxZS2WbsYzrnYB39UGLKucAn81YyGGnHowc0lUf3ntvceOKvXPpP2UdFs9+wlv9oql/D5GLTnmLY8vmMO/nSlqPnUjvRB9s9clXOkrPr2P1aRdatYvGS3yLPZ/NZeH3F3HrM5OJLybga2ehD1ss2z6L3nMO4z96IeM6Bv3+1rQu/VCl8+PEEWxxGs7UgS1o4GRCwbEf+XzJt/yc04hpC4fQ4Mxydlh149nmAbhJjcjZMJWhC9NoPH0OA5s2wEF/UFTJofkvMSclnilT++Cb+j3f58XxdLsovB3MyN0wjaHvbUMWO55FE7oQ4maFNvcAn89awlnPHrwqMLO5S+4wBWtS+X7saDZYD2DqsPYEu4qg9CxrFszjs41yWs57l5ecjrD8oCvduyfgZ3aU90YsIrvlZF7vFYu3rSm6sitsWDiP9aWxvDCgp561VqRPctGSK+SbvvcLJTFjWTjhKf23tXkH+WL2Es54dGNg3/aEu0urSyRpyd00g9cWphE3eSav6HNaq8BUnfmM4RP34T1qCv08TrJqvyNduiYQINzoqi+ybPRkkkPH68u4+NgrufzDDKYtLyBOYIRtbsL2yeP5xe4VJr8ayMVVvyLq2AHTXxew7LgtHUb1x/fKbq65taZNnD+uEg0XvhjJxO/ScOswktH9WxHoYols2xwGf3yLpGljaF++lZ8yY+nWLooGgrOuSePHCWNYL+7DpKEdCXMXQ+k51i56j883lNBkztu85H6S7w860vkpoZbcnRD8OtUleyeLJi0lq/EIRvZKwFcfcq4m/8iXzHn7Z/LD+zJ6SBeiPKwxM6ogZdkkZu71YMDYfrSsDkPWlaWxb81PHFNH0qFzIoEuVpjqctk6ezgLNucTNmI+Y7tHU1+q5dahL5n76SmcOr5M707R1LM2w1hXwJ75Y/k4vREjRz1Pgr89pkIY7caPWPhzAWHP9KNny2CcxRqOfTKGxYckJL3SmNyVK7no0YvhAzsS4WEFqd/zxth1mD03kYFRN1i/04hWXZoR6mND0S9vMWphCiGjJjOwTVXupxDBkb1hNq9/fI3IsVMY0CoYoWKKwKJ58P0hLLgUyYjXexOQ/TNrs0NoI5QPcxFB7i/MHbWISyEjmPRqG0Jcq4MhVef55vUp7HEewJj+vlxaewjrpHY0DpFw+sMJfJwazdARL9A00EHfv2ubF/P+ulsEd+9Dz1ahuFiZ6kPGkz+bzMILIQwc9hxNAh31Yce6snQO/ryOIxVBtOnYhGA3KWa6W+yYO5pF54X8zldpE16T33mTzbPH8MnVUIZPGnQnv7PiEB8Pm09KyFBG9A3h1safuBmYRGPdHj744hDmLfoTX/ATqy840W3YQL0jLCGNNVMmsE7XldGDYsndsgttQ3tSVv1CikVzBvUPIvtIGvbxzYkNqY+19iLfTZzCinNSmg0ZRb92EXhYydn17giW3IhlxPCnMN2/iYygJFrGhuAmMkKTvpZZE9ei7TKCgUKpFokR8pQNLFm4lHW5MYyfOQC/qxs5ImlGUmIkPn9KmqXiwrIJTPsqj0aTJ/NS61D0PDPaCnL2LGHGgg3ccOnG6HG9aR7kQMG2hcz96jg2T4+lX4MMjuV60iguHH+3qlBHXfFO5o94j12WPZg6oRcJ/rYYa9JYN30Sn+y35Kmpk+jdMlifU60rPcP671bw44rDWPWcwejOGs6clhDTKBiHom189P4ackJ6M7RfeyLcq8JZdfIr7Fh/CvOIeGKC6yMqOc26Re/zU3YQL7zWn3aR7tVpCXKubN/AaYtwGkUHU1+qInPP17z/2RHE7V9hwNMJ+NgKt5465Nc286lQuse7G/16tyOi2hYL4abTp3zGlcCRvDG0EzH1qg4Ay65t5qM3P2JHSRyDJg2mizD2Rjf59aN5fLX1Co7dJ/HaM4kE3E5O/qPNiZqMn+cw5YOfuVTvZd6Z3KdullzhcOu9cSz8/gQ2z73LlAFtCdMznWax44N5fHNYRMfR/QnIPUWuWxQxEcF46A+ZdZTsXsi497Zj1GkSY16sDqvVlpO5dxmLPj+IReuXeblHExrYVeFRlrqVpQtXk1GvE316dySqXq21Sd+VSk58Np63V9wkatwUXukYjfvv9q0qLq2azszPrxAw4g0GdWlI9X4fXekePhz7Hts07Rk7rnd1WK2W8sz9fLfocw4K5TBe6UlT/yqOD508lW1L32fNdQ869O1Nh5h6SEzUFJ5dzycfrCbDuweDXupMw2riOJ38Krs2n8I4oCHRYT7cLjmtF/0EX096mxUZYYx4YxCdY+v9PodZdYkfZ8zk86MSuo0dyQtJoTiY67WvqjTNe1tQJgkMtG0IFehR/+xRV5ELLdleQNhL4xj2bDN89VhrkV/ayCfzV3Ba0oqXBgklUhwxzdzEu9M/YqeyNaMnCCVfXDA30iE7v4XVK1fx3X5T2o4dQTfpdS6Z+hMS7IFy76d8/EMq9boNol/XODz1efSCru7ml1M6fKJiCPe1w0xziTWzZvP5uXq8PH4o3RNqiIJ0lO5bzJT5m1C0ENhp2xHmWMNqW0Uu9MnWPEL6jWXoc83w01ce0CK/vJklC5ZzStScfoN60TJYSP+pIO/Eaj5avB1Z2DO83Lsd4a6iKqbd4hR2bDmLkX8McVENsDMzQitLZd+WAxQ4RxAfF4ZHNQcAOhkHP53MwvWlVYcRHSIRRNJV5JG8+kOWbC8htOcrvNg+ApdqNuuSlJ38ck6Hb0Q9SnZ9y3d7NDR5tS+R5VfJs/UjLDoSL31YU1X5mGnzN1DaZASvv9SRCCFmV1dJXvJqFi/eTnFwd17u24GIGtlLLvLrlrPoGkQRG+2H/b0b3T/Tgzr+/0COp/bWYb7/Ziun0lK5ePo86UUanMMTCfcNod2AvrT0FdgM6/q6juLkvVxyjsT95DyGf2PJsAUjaellh3rvHPq8V0bfRePp6OtQRRv+jz6P6HjqFBxd8Apv5z7NvAlP4e9UR/6Dppgzq97h/T2WNOuUiKdxIdnZJ9n81TaKW81h8QShRmZdMftqLn4+hDfON2P2pJ6EuAoFpP/oUZG250e27d3D5g2HSFN70qJrEk3adKeTbxEHdx7g4Laf+OVUHuKwDnRo1pLOLyQRbF3OxY2fs2TVSXRhSbQV6LRlOeRVuhMTImfLB8s5axVEkF8MXXu3wbP8Avv3XqIQCU7ONpipS7mZcpSDyTcxD2zLc3276tn9cvavYdve36pkoQFtugilH0RQWczN1BuUmnoQ17kHrdxvcWDfIQ5s2cDBKwqcE7rQtlkSL/dohPzMJrbu/Y0tGw6SqhaKPCcRIhT7K8sn/fIVctXOxDz1HF2bheAmNUNTeJZNny/hhxMaglu3Jc7TDHnuLSrdogkq28onK85g6R+IX8NuPBNUzMFDR9m7aQOHU1V4NO9C66ZJPP1UIzzFarJPbWPtugPcFPkQElQPcflNLp/PwDioNZ3aNibI3QaL27V3Cji381dOXE0jZf92dp/OQuUWT5vmUfj7RdGyQzw+9uLq8HQdSlk2Kbt/4qd92Uh8Qgmob0VlQQ7FRp7EtWyEXfpWVq/ZyM7DKWSV2hL9zGBGDO9GpHk6e7fs5eD2dWw9mY1lcDvaN2tJp+dbEXLfws41OqOm6OT3LPrmIk5x0Tircigw9SfWLY1Vy87hEu+FqsyNpGc6Eu1tj6WxkmOLXmbGkSBGzhxCq+ocS2FTnrvzPab+pCS+oR1lFa406tSaKC97RMYy9swbxJuHXWgd7YjEOwRPcSlXz6Si9WlK+3YJBLlZ3xOaoeLW4eW8v+wctrGJBNtruJVZjHWgCzd+2khecCOcFRV4tu1GklA71qySrIMr+XzNNaRh0fjbykm7kEa5c0Nat00kzMvhTv1gId/03Vd585AzLaMdkXoH4ymWcfVsKlqvJrQT5Kk9jlRy7INBzD7qz7Cpg2kVVJOfKhx0nOCLiR+S4hmHh1aNZ1I3kiK9sBfic3WVZO35ksWbivBuGIKD4hInLqrxT+pKu8QgXCXCxmQWi4470cjXiArHJnRqG4Zy+wf8cNMWBzMN5u4xtGoRg4+TUNpCR8mvC5i6yZik/r1oEyYUqzZCnbWD92esQRYeglW5iOjOXUgQyLz0rL4q8o+s5IPlZ5BExRPiqCM/qxiJvzNZ67eS5xeNY6UKz1ZdaB3pXSX3Hz3acnJPb2XlmhNUeoQS6iWmLOMspy7LkYa0oFO7xgTXs9OfjOsd86IL/PLVCo6pfQgL9UAkzyUzW47YL5bGDUPxcZHqx10n26fPazxonUi4sx0+wfWwKkvj/DUV9RLa0SYxVF9TsqpZLeVZR1j9xU9ctgwkIsCO8vSLpJU5ENm6DU0ivHEUC2zjaq6tns+q6+ZYlt4g0ySMzs92oUmgcxW7dsUlfnpzAfssQvE0VuPStAtt4vxwEWs4+elrzNnvTr/xg2kf4V59ul3B0Y9e4+3D9Xh54mDahdf8XcPNHQt4a0MFEVEemJk6EdokgXBvR/13Kk8sYeTsg7j3H8egmjxOoRs6Gae+ns4nZ5wIdTfG2Ks5HVtH4+tkgfLmUdZ8+RMXzfwID3SgMkMgb7IjvGUSTSJ9cRLqDeqx0KHMO8WmZes4Z+xDSANbNPnZZBdUYB3YiITYcHxdpFgIiUTKk3w+cjb7nXvz+qu1bkcrjvLJ8Lc47NaPMYM73rk11dxk1/tvsbEslHAPS8ycgmmcEIFn6TY+/j4VY7NSsm4aE9SxJ52bBeMqOMJUcGXtOyz6zRj/eqbo3BLo0NKes6s2kmku6LAYt4jmNI31w0UqHCKUsu+jWWyqjKPHs51o6GWNqZGa7N0fM3f1LXwaSNBYR5LUTqijWVXmCXUBJ35czMoTxgQ2DMXVtISbRSK8HXPY8WsO7kEOaI09adK2JdF+zvp61fd71DeOsmXnHnZu3MSRS3Ic4pJo0aoD3TrE4eeo4NSyhbz35TbOF5lRLyKBFl160cXxJN/9nIZteBCSSiN8myeREC4QqZVw8bft7Nm9hQ07T3FD60XTpGa0fuoZWkW4Y3xjF99/+T0HCl1p2DyeAFs1Rfnl2AY2QH30R9Yek2Nf34+4Lj1p09APZ3MFeZcPsvnnPaRqnfEL8sZOV0p+kRan8MbER/jiJBEwVFGWd4WDm35mb6oWJ79AvOx0yG4VoXUOp3F8JD7OQj1IwZcuIevcHjb/kky+hTPe3k6YyLK4eq0Eu/AWtG7eED8XCeZGOSRv2cmeHRvZcjCFYvt42reOwdfRlIqiLNKu3UQhCaZl16do1dAHB3090EKOfjOPj9ddxePZCbzaLa46ZPt+6Ku4tusHtuw5zLFjp7iQlofCzIWA0CB8w1vzXK+2RPs6YqHNYP8PP/PrgaOcOH2B67lyjB39CAn2I7hZD17sGEzpLx/x9VkRQQHWaEy8adwqkUhfB0xLLrFv52/s3ryBXSevo66fSMtmbejyTCsivZ0RKUu5eX4Pm7clc8vUES8fZ8xkN7maWoxNSDNaNY8lwK3KRuktT/EVDu87xvmL5zm6dy8nr5ZgHdaUxNhQgqKa0jIuEA97SzRZJ9j+629s37iFIykFSCNb0byloFdBGKclc+S3rWzccZzUSg/iWzUl6ametIryxVmspPTmBfZt2kZyngkO3t64mJZx8+o1im1CaNK6ObEBbkgtqipF6FRl5F89zNYNv3Gl0h6fQB8cjOUUFGpwCImjUZR/1TxDS8mVwxw4fo6Uc0fZvy+Zq0VSQpokEhseQkRiC+KC62NvqeFm8nZ2797Gpi2HSckTEdqyFS07PU2HYGPSjh1g15ZN7D55HaVHPC2ataVLz1ZENbinesO9Q17teC49YUl8Yig+Hi7Y2FtjVHyNUyfT0Hg1oX2HFkT7OCAWFFVdzJU9q1m+cg/ZduEkNg7BkRIKFFJ8vXWc27SBQ3kiXP0b0bFbEnHBHlhW5JN6ZCsbf7tEhY0PAb6OGJcVUKS2JyiuEVH+TsjO7+K33b+wecthLuSJCGrRnFYdn6Z9sBk3kg/yq9C35FQq3RrRvHlbuvRoRbSfKxJtNavtUVPiEsJoUM8Fa0H+klROJ6ei9kykXYcWxPg6Vskv6IqgW+f2sW3rAVJVdngLt63GCopKtDiGxBIX5Y+z8hoHd//Gr9t3c+qWFYExUfqa0GZGuir+GnUhF3b9wr4zBdhGNyOxSWvat08k3McBE9lNzu/byi8HUlHaehMo9Le8iBKNI8GxcUQGSEn76SOWHVdRr4EjZhb1iEpMJFbgRJBd5fCuPfy6eQO7T1yj3CWOZkJ/u7fSR+lYCfv38/vZvnU/1ypt8Qr0xdG4nOISLQ7BDYmNFi4hzB8hr/uOgjyQ44m6jKLCUsorlSjVGrQ6MDE1x8zUAomDPRLz35NG1HxCU1GO2qSYbVMGslIykrkjWuJtZ8zpD/rxxqW2zJ/Zi2DnqpIJ/+yj05cIyC5SoBM54e50x/A8mFw65Mc/ZPi7RTzz9giSGjjUupavaUGHSl5A7s1sckuUWNg6YXnuU8bMO4rfmI95o0sATjV5XrU/qklj1eiJJDeawtjuYbfZEe8vlw6lvJhSeRllCiUaTLAQixFLbLC20FAmk1NWVkaFUgNCbLbICmshJ8/UCI2imIKCfG7lFVKmNsPGyRV7WxtsJSAvyKWgzASJjR329hLMUSIrVVAuL6SwoIjSCg3GQukZGylSG3vsbMV64626SxZTLK0sMRMSXbQCQYlaL4PUxgaxUQWlpYJsCirVWkwsrBCLrbC3sUJTXkJpWXV/dKZYSsRVzp5WjbJSYFC1RGJri8RCyAkQrLMaRXEBBfm3uFUoR21mjZOLAza2dkjum8tLAAAgAElEQVSQU5hbQJmJFda2DthZKJHJFSj039VhYiFGLJZgYyOuklOloKSohNKSQopKKjCSOmAntkBsY4eNxOIOi65+QNRUyOQoKiupUJRTqdKgMzFHZGmJuYUIibWASe3CyzrU5SX6dpWKIgpK1Vja2mNjbYOdjRgqSiguLqWsUo1W6LdUYAa1xtJISVmJgJWccpUGTIUYe6E/wjjev7DzbU1UySm4lU9hQSkasS12dg7YizUUZqaTW26OraMzLkIpF31bOkpTk7miFPK2XLAW6MmrG9KUF5CZlonMxFrfhqOgF8I7lSdZMmQim637MGNIS+qLyylQmCKxEiER+vc73Koa1CllFOTmklsgA2sn7IXfW4vQFGZyI1+NyM4BZxcHJEICvTD8ShmFhSXIC/MpVllgbWeN1NoOW6kIs9o1+CpP8unQSWyWvMjUIa3wsqqSx8pKhNRWGEeBfKx2eLyO0rRTXK10xtfLBRvRnT4LzmVJVhrp+WosbRxxcXXUU7bXvK6pKNHPh8IiOYgliC0l2NrbYqXXTR0qWR43MnKoMLXB3tkFR2tLfShfekYxWNlgY+eAnfSOXmkVhdwqM0ZqI0VkXl2mSlOuH6vMUrCyc8TV2Q5xzf9u45hHXkEpWqkjDhJxNY5ZZOar9DomzAepxe9LQ9VlVwQCseKiEhTyIvKLVZhaSZFaWWFlbfP7sdTPvUJKS0soKKnERCzFRiJGJLVGIhKIFapwrjz1Ga9P3oBZj0kMauOHTWUBZaZixCIptnY2SO4tW6VVIissolReSEGRCnOpDVJhntjWwkVwfGXZpKfnIMcKO0cXnB2kWOpz1YVHhTwvk4wcBaZSO5xcnKrrq+qQpZ/hqsIeLy9X7MQ1uXCCHpzmWoUDXl5u2Amb7RrdVxSQeT0LmTCOdvY42FlV6b7ev0zn7NVy7L08cbUT16r/q0NZmk369TyUFtb6cChHqWAP9cqMvKiIElkhBcUqzCVV/bOt7t9da6TgeBQVUyIvpkhYsyyssbUWxsMaqbiWTdLJyDh7FYWtJ/Xd7PUF4asmWinXz1yjwu6evws5+oU3SM+UY2Jtj62DA7Zic0y1ZeSmp5Mj0yEWWIpdHLCuNT7qsjwy03MoM5XqMXe0NkWZf4PMQqG0iw12Dnb68bx9iFCUT5mRGKnECovqEkia8kJuZmRRohNh6+CCk53wv5peC2taIbfy8igo1WBlb4/ESoLUUkdJTib5lWZI7ZxxcRTG+o9LuemUCkplcuRlCpQqLcYWIkRiCdbWwpqio7y4gMKSMpQaHUZmloilttiYV5KXepnrBRokrt74eDpjIxx0oKFCJkMul1NWoUSjE9ZaEVZSW72um2jLkRUXkp93i0KZEmMrO5wc7LCzk2JcUUJ+gRythRW2DkLZhyp8dJoKZMUllJcrKC6WoTIV1iIbbO2sEVvUYCiMofDtYkoVFSiKi5EpTbGys8HG1hZrscVd9k+YvyUlcioqFZQUl4GlFWJLMRIbm2p9qZobilJZ1f6gUo3OxAKRqKodnUZZhZW5FdY2UiyFPV/VVpuKkgKKZEpMrR2wlVhWR4zcb3eio1ImzGEF5ZUq1PoSeUaYmJphJthJWyliC+FWX0lZcQmyMiGnTNhzCizvxpiZmWFuZYudtQjkN7l6KY0CtRXOXj54uthWOQCaSuT6MRH2OEI/LKtK4Qn2U7DBeudNQWmJnPIaPIS9hkjA4575I3RDU0mZXEFFZQXl5RUo1VqMzSyxtLDAXGSFVL+fMdK3KRP0Sq6gUqXFyNyySq+klhgpyymTyygrV6IWdEQk0ttOiUiYq3qBKC8tQVZeiaKkmDKdBVZiEWKpDdZScfU6fAdTQUfkxaUoyoXxlFFpIsZW2KfZ2iC+Pc8E0YU9UzkVFRVUVAi5eUaYWlbJbmklwcrCHBNjHSpFlQ7LFZWotEaYW4oQSayRWhqhVAh9qsHSAkthv1gLy/vuQ2sczzOuvDisL+2iXVEVFVKmNcVc0D1h7ZBW7RGrjRKaChnFhfnculWIrAJEdk442NljKzXR752F/ZGZyAZ7B2tE5oIt1qGplFNSoqBCUUKxrBJjUdUcEOyhpbkx6nIZcmFchL5pjDATWer3wlV9K9P3u0pPqvomtZHo55mxutrxTHak19C+dGjo9ifyV/VCqypHXlJKWVkpRSXl6Cwk2NrY6DETW5qjPfc973y5nwL7KNq0SSTCxwmJhRCRV4OkWj9H8rJvkn7uN7b+JiO0T3+ebReJi4kWVbm8ap9cUkRJhQ4LiR02NtZ6PRH6qyq9SeqlNPIqLXD09MHT1Q4rYW+g12M5clkZ5UpVVX8tq/sr2PIa2UtLKZPXLft9yhrf3xW5z38ezPF86GbvfkFXvJ2ZvT9B9+p8ff6jvVkay4cOYVfom7z1csM6w1If8ZP/yOu68gt8PfYtbrSbwWvt/HCs5UTqSi+ze9MBSv3b6fMKLIx1YJTPjlnDmH8hivHvjqR1A4cqUpN7HtXFb3j9nQzaTxhCmyDnv+F2WIdGpUStAWMzM0xvO0oCXTfVVO21jKBWjVqtQaMFYxNTfW3PP0yn/TtHR6dBpVTpnW8zM9M7eb7CQsY9Cfh/IpdOKJOgFhxJM71D+sd1YR++kzqNCpVGh7GJ2Z+W73n41ut6Q6t3/HXGprfHWCeMpUbYCBhjXKuDQt81Qk1b49/3W5BbWEz1elK9hujzIEcK9TvfYoqQEyrV6Rc9gd79T3VDVyWX1tj0Ds4Ci6pah5GJSR252jq0ahVqrTGmZkL7v8+vVl9dwfhRQv3O2fp8TS9rquW5u5+1UfqjPgubPrVai5GJKcbGdZRaEvqgn0BCKaZ7DwIEeQU8a2MmzDlh8avS0T/KRr8to6DbwkGJHtM63qgTR0EuQW6TuuX+0zmg0n9T6Hft8a7zNa1Q61cwCnX9Vk3qqkmME+p3Tn2DPokNsEONRqD2r0PH7hqX6nbvP08ELFVohbZMTOqYp4J+/R6D+433H+mBVqPSOxu/w0LQD/3w16Vf1eN/n74Kc1DA7UHsgH6+6jG+X1+Fb2nQGd873jo01fr5e/3VohEOzO7R3Sr7VDWH6+JLELDQIvyv2g5Uz1njal17EJult7E6ofRY3Xaiqr/VdqB6Xun/JtiWOrF+kK8+2G+06kqUKh3GZsKh+58f7t1rS1TV41DF7lw1X2uq2VWVP7nn0dsQtR7TP15Tq/Spxr7+IZfFH9qlB8PhyflVdX13nTFm5mb3HBw+oJS18fgTu/OALT7iz2rWBuMH0+e7dOT+a9kjCvXXXr/teHrwklDHM8ELs5p9xH3md9WHqtZzYS8krDNmt2141f6T++zbbttCYW16HGNZ43iedK4iF2ri/YDyV8OlZ36vsaM19kynr1X83TUHguKa6AnELEzrWKN0Oj2TtLLsBru/2kB+aBNatGyEV626SXpbqcfo3j2GFrWeAMgYE/3+/QH3E3cbrKq9rr6U5APs2R5SQ/4Wx1Obs5oxfTbjP3cu/aLdME9bztih63Cd+D7DW3hi+0fEQg/ZoX/25yryflvE7M2uvDLmacLdahh/teSsn86IDw5i/ey7vNknCjepCUWHPmTc3OM0GDCRge2CcRLXcVKrK2b/wslstOnDsGdj8bT5MzKnfxYBw9cNCAin4HmbpjNkQSrx02bXygn9p7AR5JnBsIXXiJ08k4HN/atrkP5T8hi+i/YWv8wZzqJL4bw+dRCtgoV8HgMuBgQMCBgQMCDwn0BAncb6t6az9IwH/QXHs3FNXuW/pHfq62x8ZyafnnSmj76cis8DlB/7s75pubn9J46J/AiNjsKvdr3MOl9Vk7VtLcdE/oQJv9dTaP/7n7/F8USZxoY5b7PbuhXNfXXkHl7L8mP1ef2zaXT2exLyOx/fQOrK09n2wYecDHiJV9oH46wv4aKlcOvbzE2J5PmeLYiob4Xi3I+8v3gvxk360vephnjezmW669iBstNf89YqNe0HPkNjXzss/vS66PH1xdCSAYGHRkCnRJZzgQ3zp/HpMWeemzaCpxuH4i6pFSL20I0+wgvV8mxcMJ1PjzryzJQRPJ0oJPL/Q/I8Qlf+K68K4dR5FzfxwcwlHLbuxrjXetIssp4+fPq/saz+V0bK0A8DAgYEDAg8PALq8mIKbhxm5YKPWXvelo5DB/Fc+1g87WqH1j58u3/XG0L6U0HmYb5fuJg1Z6W0HzKIXh3i8BLSx6pTA/6aLGqu79zJDRcf/IMD79R4/YPGKs/sYF+5B96BQfjZ/vNJiX+t33e/9bc4nhrZLXKLFSgUFQixpOc+Gc3S8hdYOK0HgXWR8DyOnv1jbQh1LA+z8rNdiLu8QpcoN6RmRmhKL/HbpoNkVAh5ChoUZeZ4xjQiMtALZ+saAo27hdYVHuPbJXuwSupJ22gvbCweLrznH4PA8OH/twhoMg+wZtNhUlIzKVGZY21ng2fjZ+jWpAGO95Sb+TtAEuT5abMgTxYlSiEPrEqerokCSccf1fX9O6T7//gNDTcPrWProXNczSxGaSrF1ro+8T27kuDvqi9dYXgMCBgQMCBgQODfioCGjIPr2XHgBCnpBcgqjbGys8cjqh1dW8fi51pdKuqJ7Z6GG4c2sPPAcS5cL6C0Rv7ItnRJiiXA1eoRDkh1qMoUqEzNMLcwryaZ/GMgdJVlKLSmmJlbYP7olUyeCNT/946n6ixfvz6X8zETGdczEPGNH5n55kF8Xp1Iv6Ze2Ojpmv9jj7aS4vQT7NpfjH+H5gQ6CoxxaspLZJQL+TgCgYDOFLF1bdKLezDQZHN43T5kXrHEhHrqSS3+g0j9xwbe0B2Bca+4VKHPz6h5TEU2WFvdIZX5O1ES5CkpVeiJQp4Eef7Ovj+Z3xIW3hJKBdKz20Nigsj6HuKUJ1N4g1QGBAwIGBAwIPCHCOhQlpUgV1Qg8FfWPCYWEqwFUshqBtgnF0RB/lLkivJ/qfxPLrI1kv3vHU/1ZVZOXkxmdEeiLG9w8ngWtgk96NoiGBeBFvy/GlulrURWWomZRPI7RrIHUguBtbBEgZFYgkhg6fuv4vRAYBh+ZEDAgIABAQMCBgQMCBgQMCBgQMCAwL8Zgf+946lTUpqbwY2sIiotrLGzFajVHfUlGf6zTue/WSMMshsQMCBgQMCAgAEBAwIGBAwIGBAwIGBA4DEj8L93PAWBq0taaI1M9SUtDA7nYx5FQ3MGBAwIGBAwIGBAwICAAQEDAgYEDAgYEHiCEfh7HM8nGACDaAYEDAgYEDAgYEDAgIABAQMCBgT+pwgUXoUjp+BmPqglEJ0IYV4g/o+wxvxPwTM0/l9BwOB4/ldG0tAPAwIGBAwIGBAwIGBAwICAAYEnD4HM3bDuGoQ1ghBXOP8DfH4EWg+CZ5qAnYHS+8kbNINE/wsEDI7n/wLVykwOb7+MdWI8fvZWf60wujabo1vPI24YT4CzlP8i+a8AfWXWYX69JKVRIz8cJBZ/naZam8/+r39G0awrib7O/NVKGdqcY+w4b0l4bACuNhYGJuH/xfwwtGlAwICAAQEDAgYE/t8goIXNc+CdozBwCjyXAKrfYPB00HSB6QMhzOH/DRqGjv7/RsDgeD7u8Vdm8uuXP3IzuAsd4hvgKDL5i86UipILG/h8nZwmfZ4mpr4NFv+xeiqqzF/5enUW/h3aE+/vjPhRCvNqrrFyzCKKnxnD8/He2Jv/RRpgVQkXN3/J+pI4nusah5edpcH5fNxzxNDewyOgzOL4L79xIV+JTqfF3CeRVnF+uEjN/qJ9eXgRDG8YEHh4BHSUXN7HnhNpFCiUVJSpsQtrQcs4/ydfd3WlXNm/h+TUW5QpK1CobQlt3orYAFd9be7H/egqi8i4cILkTBFhceH4uFo/UJ2/xy2Hob3/EQLZyXAsH0KiwNcZirbCK7PAti9M7gcB0sfwYS3F189yMS2b4oo7JcRqGtbpdGBkirnIFldvH7zc7bEy/6t71McgrqGJ/5cIGBzPxzrsClJWvceP8ua88HRjGjiKMHmE9UmnLOHSlk9Yfi2Sfv1b4uco5j+TCaBI4ccFPyJLfI4uCQE4ix/R+GmusGzEAoqfm0DvBB8cLP4q8DpUJZfYtnQ5V0N682KrQJyt/jOoP1ZtNzT2NyGgK+L4V+/w/a2G9HwqHPWhr/jiVxFd3hhMxzAPJP+xA6m/CVXDZ/4mBCqLblGi1mFkZIyu6BRrvtqOIronz7ZviJfNkxxeWEnxrVJUQultEy3Fp9by7XYZET2eo11Db2zMHh1AVXEGF04e4+iRoySfSiFDbkvcc4N56Snh0NPccKj06BA/OS1oVVCpBTNBcUpg5RxYJ4N+r0GHCBA9DkOupeDyUU6ePc/pQ3s4cCqVYmk4LZrHEuhujXC2r9MoKSvMIOV0CrfMGtC85/N0buyPk/hxfP/JgdsgyZOLgMHxfIxjo7zyI7M+zqDpkL60DHBG9CheZ7VcatlF1sz9hOwWI+nf3Bf7x2KcHmOn/1JTSq6tnsOS9Ea83Ls1Qa5Wj+Sg60V4bI6n0Jga2cW1LFiaSePBfWke4ITBJv+lgTa89BgQUKetY9akH9B0ncDQLvW4sWohq7MCefaVp4n1svtrofyPQS5DEwYEHgQBnVbw3IwwEopRa8q4suYd5v4qotOQfnSMqofVE7vf1VEluiC7IPoV1s2byy7z9rzSrzPRnpK/HA2junWOXet/YsO2I1wtAmtXbwIj4mjcJJ7IYB9cbS0xM9D/P4h6/ct+UwknfoVft8G+G9DkRejTHjykPK5TBo2ynIqKCgr2LWXWhz9xrX4/Jg7rTkID66qKEjotGrUSeeYhfli6nN3XrWk9eBQvto3ATfxXD+z/ZcNgEPcfRcDgeD4u+HX5/Pr2eLY4DWF0rxjq2TyuEDg1+Tvf4411tvSf9CKN6tn86zeauoJdvDdxM3YDRvBsrBe2fzUstvbYPVbHU/A9C9i9cDI/Wz3P6BcS8bZ/hPzTx6Vjhnb+HyKg5vqayYz9rJDWMyfzQiNPLEsLkGktsbGRYmFm/Lj2K/8PsTV0+Z9AoOLc10yeuR2LbmMY8nQsXtJ/y2a3kgvfvsGcrWZ0en0oTzfy5uFF16G4up0vl/zA0QIJ/vEtaN4oBC9nWyQSKVKJ2DCn/wml/Nu+qQNFKZSWwpVtsGQrhPaGlzqCh+ixSiHb/zET31nBZe9XmTn6WZr4Se9aK3SaMq5vWsTsxRu54tyTyRP60Sbc5V+/v3ysIBoa+58gYHA8HxOsmvQ1TJp4kPCJ4+ke7ob0MUYQ6WSHWTT8E5QvzGRQSx/sLf8tC3Vd4Gq4sfYNJu8PZvSYnkTWe0x5LI/b8USH7MgHjF1SztNvDKRVgBOifzPsj0nPDc38zQho89k2ZyjvnQnh9TlDSQp25V89/f9m+Ayfe/IQ0GT+zJwxS7gaOoKJr7Yl3M3iyROyTok0ZK2fw4RPLhM4bCIDO0Ti/pCi60pO88Oib0g2j6J9p+ZE+LhgY2WJmYnhAOlfogR/XUyNGoQ7cmPjqttNZQ68ORS2GsPMGVXhto8xq+e24+kzmJmjBMdT8rtDSmXKKmbP+pRN13x45e3xvJgUisMTG4Hw16E3vPlkIWBwPB/LeGhIWzmKsfsjmTb1eSLcpY/TfoBOzv53BvFxRS/eHNFenzv6r/WBNGn8OGYc+0MmMuF54Wb4MXnoj93xBJ3sAAuGfoT86RkM7RiIy5MbE/ZYtNjQyBOIQMVxFg+ZwhbxC8yZ1IMoT+u/HN73BPbOINL/QwQ019cwY9xiTnu+ysxRXYnxsvqXrGca0n+awaTFJ3EfMIMRT8fhLXmYlVhF2oZFfHvJlWYd25EY5ITI1LDL/38xBTRp8N47kOYHw/pAhBsYVcKHg+CjyzBtPvRqAn+Zm+L3KD6I41l5+lumzfmcrdlhjHzrdXo1D8TaoJL/L1Tyn+zkAzmemltXOHUtj3Ihy776MRK7ExTiQNmVK2SVVqC5TaBljI1PBA7yS2QUlKO+/YoRYrdggh3LuHo5i9JKNbdfMbLFOyYQN7H5HYdNW0FxdiZZeUXIFZWotbo7vxfOjWx9iAl0w9L8IY6IFJkk7z3MZYUTUc3j8XOwRFd0mWOHTpNRJsIzKpEYXzssH5ZdVZvF2rED2eD+BnMGJVDP9j5htloZ148fJPlqEcauYcTHC86MjltnD3D0UiHGjgFExwp/M78n51FH4cY3ePk7Ka/NHUoLb/vHaZ8eSf/Ks06y//AlyuwjSYz3w1EMxVeOc/R0OnKL+kQkxOBjL8Ks2phpb67jjcE/4/T6TAY0vT/7rFZ2neSDJ7hWaIxzaCPiglyRkM/5g0e5VGCEg380MYGuSCyqSYn+wPGsuHmKA4cvUSgOILFJCK5Si1oHAyqKMzIok7rjbHNHTj0oukK2TH2FVaKBTB+chJ+T5YNvkDQFpJ65Rq68Es1thEW4BAXjWHGdtKwiFKo7rHPGNl6EB7gjtaxyxCtyznHwwEluFFegQoJnTDMah7hhbXFH35XXDnOozBk3dTqXLmdSVKFGo6xEY+GIZ2hD4sLqY2tpitH9ZAkMxsvRqlapHi1FqWe5lltKhXA4W/2YO/kR5mVK7qXr5MgqavVHmIgWSO0dcXZ1xclGhOnv8pIqyDt3iAOnrlOkUGEk9SSqaQIh7tZY3M6B1lCYeo5rOaVU3gbLCJFLAEFeDljp+6wk/+JRjp6+SnaRApWZA36xTYgPckNag4lOQXbKRTKKyvSEIPd/LHD0C8HHWULNq5rS6yTvO8jp68WojEyx9Y6mcXwY9e1FekKG24+2kpLcLG7mFiJTVKLSaO+yS0Y2nkT4uyMV/VXmERUlGSmcOXOFfGMPQtwusXT6txQ0ncbYjtYUpKVSaOxMUMMY/Fykt+VH6PvZY5y4XIR1aAIxDZyR1A5h18jIualA7GSHxNIcStNJPnKSTJ0nDRsF424ruvuwTC0j+6YCK+H3InO9s6stTefk4WTStfVpGB9KPbuad7TIb5zmWPJVikV+xDQKxsPWElNdObkpJ0lOyUMUEE9MgAvWtam5VYVkZFZg7eKItbjqG6CjPPs8J05cpFAaQnyMH87S2iQrGuQ5OZSJHbCTWN6nzJSa0px0bmTmUlSmQqvP0RPjGhCEp5OkDnZwNYVpF7hRaYeXpys24jrst7qI6ymZaBy98HCypmqa6ijPucCJ4xcplATRKMYPF+vaIfla5LnZlInssZOIHrokllaWwemjZ8kxrk9YdADutuaU3zxPcvJFMktNcQ8XMHW9C9Oqd06SpnQjslEoXg6mFF9M5sT5GyjEXoQ1DLtnzgtpBTIyziVz5nI2WvcoGkf6YCcyxVS4hROSG+99dJUUpV/gzLmrZBaUY2zrTURsFH6uwpy+58daGTfOnuDUxRsUqyT4xiUSVLSW6XOWkxE+jjnDOxFZ745dVcsySTl5kouZCswdfQmNDsHT4Y6N0spucOb4WbLxICQqAA87CypvXiD55EUyS4xxDRMwccPG8j67Z7WMrJTTnErJoMzMCd/wKII9HbCqo16Z8K1zJ05x8UYhKokvDROCKd0wg7e/uU7w67MZ1iWG+jVhMLfbvUGZmQM+YdGECLarVrs6+UlWfLgH88Q2JPoak3XxIumFYOsdRnSYN46SmjkAuvJcLp1M5uItSxo0jMbf3ZbaXdLK88hRWGBrI0V8H7p7tSyXzBtZ5BTIUVbnqoqc/QjwcsZa9ID7Jm0xGSmpZBeWobo9tGKc/fyp72yNcWEaV9JzKC4XFgwjxK7++NV3wloQVldGztWrZOaVUvEH9thI6k5Qg3rYS6vmTmX+Zb1tuiqsB4hxD40nTo+PaZ3rr1aWydkjhzl5JQ+F1hSb+qE0bBSB771l6LQyMs8c5UjyFW4ptJjY1CckNo6IBs5I7xl/rTyHy2eTOZ2STr5Mi5V7CLGJMfi71VQX0FJy4xLXbxYgU9ZmjzXG3MoGe2dXXJxtsTI3rbJrmqswaTaYNoVBz4GvLWgzYfIQ2GsHs6dA6yD9hejjev7U8VTlcOCLuSxYfhijliMZP7gbcV6SWuuAjsr8NC6cOcuVzALKdFY4+0cRG+5TZZO1JWSmXOLa9ZvcKpEj8mlMbIADqtxLnL8ozC9HvIJDCazvqN+n/e7RlpF75SwnT6aQfqsUjeBTxCbQMNC9zvmrVcooyMkhN78YeYUStaa2UhkjcffHx0FHQeYNcovK796n3PtxMzvq+3kiLr9J1s185LfH0AgLBy98nU0oyckmt0hxpx0jCa7+vtRztqmOOtJSlnuV88knSUm/RalGhGtgQxrHBunXv98NpVbOzfPHOXriEjlyDSbWHgQ1jCXST9jXGVFxK43UjBwKFXd2jHXpgpldffzqW1GRk0VWngzl7R9ZYO/li7NpKXnZd7djJHHFz7c+zjZVtlZZeI1TR5O5nFVMBSJcAhsSG+GHq/X9UgS1KOWF5GbnkF8sp1ypRqutpfe/w+aPtfiBHE9tSSaXLp9lxzefsvk8BHXtRYcmjWkc6YIq8yqXj67l8+X7yLZL5IVnW9OocTyuqgzSzm9n2aebOK8NoHOvjjRJSCTSRU1W6hWOr/2U5XtvYpf4Ij1bxxPfOBAXYcEvS2Xf2lWs3VeIW2w8EQEeOEgsMRXKlHz9BTuv25LwQk9axjemcYAzljUezZ/NVl0xJ9ZsINcnEtO9S1ld2ppXmmm4mG2BT2g4XibnWf3lfmy7D6dXQn29Ijzwo9jD2y+8S/ELCxnf9T7sYKpsjmzYSaZtGNH+VqStW8pW8848657BVfMQGnrK2PvVcs43GMjk3o1wsTG/6/OqC58xZPRRYubMpG/Delg/povCB+5jHT/UFSfz86Zs6oeacvDLNZQ070eCLpU8C0+CQ70xvfgTy/ZJ6TS0FwleVQtn+b65vPRuAU+/M46uwa51Ekuoco6yeWcG1sFR+Ekz2PjZFmdrcwEAACAASURBVEw6dMcj6zpmQdHUl+9n2Xdn8X5pPM/H18dOGKv7OJ6qrP1s2K/AO8KOc98s5VrYEIZ0i8K9GkBtzi+898ZX5DefwpieYbhZ1zaQKi5+8RrjD4cxaWpfGnnb8cDuhFZG9uXLnPt1BV9sPE2lbwd6tG9KQpNI3LR5XL9yjA1ffsfedDExz3SndWITGgvOtYUxxafXs/YkNIgMx99Nijb3KKu/3kC2/3MMfqEpPvZVRq1s1zyGf3EFt2ZP06NNNPVtLTDRKsg7u40Vy3aR79mJV4Z2I9rViIKrVzi3cwVfbjpNhXc7undoRmJiFN4O4tuHAqBFnn2Vqxd+44cv1nOi2I2Wzz1Fi8QEYrwsKMlI5cKu7/hiwykqA5/llR5x1LcBWVYK+3ccositOT1e6ECE4FQKAuqKObN+Had13oSFB+BurSPv6Gq+3ZCF7zOv0quZHw56siwtMuG753ay8otNnFZ4kdSjPc2aNCHK2wGxJoPfli9nd6EXTds1IcRdjPrWOXau2cZ1l7a8+GwzApzEmKhSWDn1Q45ZhtI4IRJvWyVn137BhpM6wp9/kTZBjuhyT7H954OIu01mUPtg3CQgu7KdZV/toLhBa9q3DKeeWEPhlSPsOq0junM7YnzssaxI58imNazdcxPbkBgigjxxshZjps5m36pv2XHJjIhu3WjVpAkJwoFI9QHCQ80vVQ7HV3/L5gw3Etsm4KU8zrZ1m1m7Mxe/js3x9wmncWwwdllb+P6wlKS+/8fcW8dFlb7h/29CbOnuUFIFRQXEFhDsDgREbJCUDmksBGPtXLtj7S5cu7vAbkVCYoaZ72tmUHHX3XX38/19X7/zJ8yc88xznnOf+7rv67qePjhbaFBXvoz8g1s4U2mOZdUZVh+rhceYgbS31K6mh4t4cyiH1HUltAsJwMtajnOr9lFibsTbAzt4aTUM3x4SF80vq7uKVwdySFtfQvvQUXjZGdBQ9Jwjq/ZTYm7I6/3beWY+BL8+bTBVg1dnd3HsaQOM1d5zbPNx5N2D8O1qRsXZ3VyRN8ei/BQrD8nTJWAAHax1kPlXiHh9UHKNYlyDA/BqaiittJfnH2H72QpMGldxbvVxFNz86d/RGp1q0wvR6yPMSVvHJ5cg/Hs0w7BRzThdyZsre9iw6TTv1Kyxb9YYPdU6fL68mRV7i2kVEsoQl8Zo/PEhFj5iW0Y6624bMDR+LO52+tSveVpxEVdWT2XOlseY+ccy0s1GasJRnn+UHefKMDIXcWHtceQ7+9Gvky261V8WvTnKL2nr+Og0nhE97DFS/hfvFNELTqw5QKGhHu+P7eapkRstlJ7zQqCGqV1zzLjAutW30e3lS6+2FmhK+NfCFxxbs4+P+rq8O7GPl8adaVbrA8V1dGliZ4b8ta3seGSIx2BPWpvJipfC1xfZ9utO7jWwp2M7SxTunOPemwLOXK9DpzFDcW9ujHKNDKrs2Vl2rf+NKwIjWrRphb1pA8qeX+FoXhFW3T1xstajYXUIFb69zI4VW7lRy44OXdrQRLmY62cKqHyxi2VbL6HkmcXkkR2x0VZEUjh5cmoLGw4+poGdK20d9Km8toMdN5Rx7d8LVxtt6vOSk+sP8EFHhw+n9vNUryMOdV7zSqCMsW1zzOUus3HtLTS9htGrnSVa33HSxXx+cppt6w7wuIEtzq4tMKy8xm/bb9CgbT96drBG56t7uZB3V3awaut1FKzb08nZCpXi65x7XMHzXcvYcUERt4xk/LvYoa0opkxy3vUHKahnjXO7lrLz7rhBA5e+9OxgU31eMUVnl7H0Ui0afH5NcW0drBxbYaNZwa09O7hSpzW9erTDRrc+8uWPOfnbOUq0jRFd30aesA0D+naVmhnJHp13nFwwhfWv7fD17U0rc9XvklzB2+sc3LyVvOf1MGveDEtDNeqW3WDnqn28txnJeO9O2Op+n1/8ZZwSlfKm4CG3jm5i9a5zvNd0xdO9Ex1cm2Oi1RCe7WXe1JUcf9GIZp0607lLB1pYfCkwVfDxaT6Prh1i66kKrJ0csTPXQLHiBb9vXsPeS6UYd+1Ol04dcLbSR61BLYrvHGLfpWJUTK2xMlFD4cN19mz4jQeN2jNosBv2ho2+A0al+SfYtHo/z1Rb0KGzIxYq8hQVXOTk1TJM23aktY2eVPYkLing1MbV7H+mikPHTjhaqCInLTZepczUhQ5tbNCT6qNEfLp/lK3bzlNm1BqX1pZoK33m2YUD7D1XjKlbXzydG6NRR47PbwvIv3WCLat/4+wrTToP7UM7O11qlb7hwbnjnHtRF1v3fjLH2PpVcGEHHCkADQuwVIcbe+HwK+jmB32cQe1f8rb/4eXyd8Cz4t0d8nasYvWum4isvBg+vBculto1trSr4PXl3azbeh1F23Z0cLJEpfwehzfu57G6C737dqapdim3jx7n+IE9HL74iHqOfWhjYYypmSFmxqqIXl7mwO5zlBh3pE+fjtjqfgO1ok8POLFtO+eK9WjRtg3WOrUpe36JQ3vP8cmwI7282mKpXRd5SXHvxVWO/badI/dE6Fo3x66xHqr1lRC9vcDuTfu5VGxIh25d6dTJCYvKMyxfeZy3yta0aWWNtvxDjm7axenX2nTu40Er8/oU3j7B/tMVOHgPo6ttA4rvHGPb2l2cflqfFh5udOncnuaG9Sh/k8+lfRvYcugqJYYd6ebWlY5trTHUaIiS+BMPT2znt7NFaNu70NpWlzrlz7l8aD/nPujTrpeXNGZ98QIVlz7h963r2P+oLjbtOtPGSh15SZEw7yrF+o64OtlQlbeAZUde0sDKmVY2Osg/OsKWXXm81uxEL482mDf4xN0T+/i9vDnDhrpj27CE28e3sm5XHk/rOdDVrSud29tjWL+Cd/mX2L9hM4evFKHfoRtd3TrjbG2IZiMlSu6f4NDFt9TWt8LWXBPFT7c5tGUXtxRb0HuQF63NVL5t4yQu5+X14+zZdpC7Qm2aNGtKY301GiiJeH95L1v3neejrivukrlxtsJQs9FPaYR/CngiElJZUcy5WaOIWq/IoIVTGGanj3o9RRAKqHi5ldjhM7jhEM2cSDfMdJSpJRYiKDnL7FGRbFQYyC9Zw7Ez1ED6lYo3nJweSPymtzglzCfC3QId5dooygu5tTyU+OU30RiYSkRfO/RV68gqr+JC9sQPZfr1lkTOCqWzmQ7KtRWlbnM/c4he7WXlQTW6eNpQtj2MwJUvsOgzgfED2mCuo0pduSLysieQ86QTsUnDaKHb8Kf30Kp6tIqJo3ZjlDCNsa6GqP7JLEfAo12ruaDijIutCTrKipQeSGPkrKsoO/sQOrIrJvmLGJe0HWG3DHLHukir2zUP8cedxA5ZguK4mYR2k+wP+vc/XJB/lHW7LvHiUzl/2/z5weTJKWji0HcA7S3UpPfrx4eI1/t/5UijDnSxqWRPVBCrnhjjOW4CA5yboKtWF7miPGYH51DgEkmsdyv0leUpWB3MhF36hGeOpZ2p+p87t4JH7F17gYaOTtia6dGoVilHMgOYe6kejt5h+LmZ8XRZIKlby+g8OZvR7Y1R+yvgKXrF4TVHqd2qHc2MCtk4MYwdKqOYHtUTS+16yCHm0+EMApLzMA/NJcJTsq3LdxknH3fF47cEfLNC8LLSrk6af2rFIayspOTifEJi1lHRbSqTfVthrlMPRaoQVLxm9+TR5Fw0Y8zUCDztjFCro4B8VQFbklLZW9EGn+DBOBmpUktYwrP9OSTMv4n5qGQmeDSRWp+XHEgj/rItQ/p1wN5U0qmX6IRECD9/4OLSaFI2PsM2MIeIHpZoKAkoubiA0Ni1lLlnMdm3DRa69f6kLRIJK6n8fINfw6NY8daFhLRRuFrqS7tnIkElpVcWEx6zmk+d0kkb5YKZmgJVlZ/5cGUtmdN3U9gqkORxXWisWZeq/K2kpe/mc0tvAoe4YKymhLDkGYdy41l4wwzfpAl4WGlLiw/S65ZcYnFIPOtKO5M22Zc2lnrUUyjk4rJMfrmkTb+AQbRvaoiykjxi4Wc+5h9l8bQNvGs1mqBBThjXv8T8rKs06d4Fe0s96itWcm72eFJ3KNJrWgKDHYxoWFXCvY3T2N1wBL4S4Fl8iDnpi7imOYDxI9yl81hbXsT7M8uYMus3KjrHEzGwOeX7k0lbdg4lt0kE9W+NhdaXuSvicNYYss8aMiIlGC97U9RqKyD/s4Hpy1ISf+L6uhnMOapAR19vPBxNUeYNB6aFMn3rfRp5hhPp7y4F4kqlJ5gdvoT37UMY378l+qVHWL67EoeOThg9XkJYdgFOiVEMa2OGmgQEiD9yZMoEpl2xImTyOFw5zOKT6nR1N+PRklhWl3sRHzwAe+NGssRW/IHDmYFMu9qE4GSZrlT+9jrm/65F5y7GPFoSw/JiDxLD+qL3+hhHXmpgZ2+L6t1lpC64iZl/DCNsnrD7SCX2nZwwfbKcsNwnOMeGM8TJHDVpreE9BzMnkn3dkuCksXSx0aG26AWHlu2m3L4DbUyf82toNg8dowkf7oKFhvSH8PHodEKyzmM8Ponx3ezQqxEHy25tIGvKKm5r9WeCnzsOknupWMa5ueFMOaGB7+QQejoY/Wn7GUnxKSf+FzZdqM+AnBT82lui+TXuiSm6toU5OQvYccsAvxkJDHWxQE3uJYeX7aasaTtam79kdXg2D+wnEerrSpPqsRYeyyZ0ylkMRicw3qsZ+v9CJF55ZyMLTjbEtZMFz9cksvhMKfrtRzCin6u0k1ZPeIEFYdO4ajaKEP8u2OjURnB7g/Q7bTs14eW6JBadLKNJv/H4dG9NE0mF5dUupsf/hpxnICN62mMgvMGmWXM5InBm0BAvnCzVkH93nEXJuWzKtyIwK5ieLYyqQbjEFGcvC2dt4pGeOwN7d6S5ibq0UCaq/MTpJXO5bdEbL9fmGDWUQ1x0nc05sznw2ZGBw3riIgGOClV8PL+D+YsWs/2sgHYx0wiRmAs1qKDgwEJmb8xH32MQvTs2x0i1NuJP51mRupB75t6MGtIBsw87WHKqPm3aN+bVxhSW5BWi084Pv37tsJMUqISXWBw5g8sGvgT5u2On9637XF5wkMW5m8jXd2OAdOyq1BYVcWFFGovvmDB49FA62GhRW05M0Y3NzJm9jxKHgQzp5Yq1Tn0Uqwq5uHM+Sxdv4WyFKxFTQ+nT2hTFx4dYMmsjj3S7MqBPJ9l5xUVcXJHOotvGDB49hA422tSmiDMLsliTd5OPhr0YPsgdJwlbQ0lMyY0NTJ97Dd3+IxjQyQrx6TXsL7bAsVVjPm5KYNYtc0YH+tG5qbY0JxEXnmJu5DTyVIcQPqE3rUxqUJXL7rI9O5tVl+rhPsoXL+cmqNdRpPziEhKmHqZ2nwiCBrpg/tN8ShFVAgGl19eQkrqGV/ZBBPu64WBUj1qKQl4cXcaKkxWYunTEpZkxmsoNqCvp8skCCVVCAYKi06zfXkrTVg7YNNFAQfyJ47MjyT0kh3tYMAM72KFdRxEF8XMO5Oaw86kubiOH0kVSAKr6zMuTS5m26Ax13CYwpr8TZiqyyobw5QmWzVzCGbl2DBvei7Y2mtRREFN4eSNz523llU0A44Z1wU7jPaeWzmTZaTnaeg+nZztrNOsoIC68zObZ89n60hr/CcOk81v1aB8LZ+/gdeMe0nXSVK8+teQl3Z533Nw5n2WnFXDxHk731qY0lBMgKL3NprQ0Vtw1YWTkWHq0MkRJJKC88DY7585l5wMd+oSNpVcbMxoJS+BTITx7Cm+LoFYD0NEDA11oUOf/mqvtl1eKDHiu4pJcSzw72GOiIXkeqqgoeceTWzd48EEJE6du9OjeHnsTDep/beKIKb65lXmzd/DCojfeg9yxN2yAoqiMN6dXkbPsIvXdA/Dt2QIduc98urGJGTN+5XeBCwETffBsbYZavVogKOHFmXXMX36cItshjPVxp7lePSjL5+Diuex8Zoz7gD50ai7JLyRxpJR3t3axdGkeVa0GMqy3C+YNnrJv1kyW7n2Hjc8oBnm0xKihkhQTUPI7S+JzOVjZnjFBQ+jcVAeF2xtZdrEuFg5taNNEhVrCa6xLmc76p9aMDvWnm4M2lBWwf/F+Klp3pINrUzTLb7E5M4sVtw3wDQmgl4uFdDxiYSXvji8gZfY+PruMI3C4O/Z6ElZcBY8PLmH+9qfou/WjTxcH9BsqIS+qpPT9bfYsXkaewIF+3n1p21gFReFrfl81l2XHynAYOIy+nZuiXVcR8adr7Ji/kM0FJgwZMwj9+/u4rmRCMydnLFWUqLqxnozpayhoEkDwyB600IHPBftZvr8Mp/YdcW6uRemtzUyfspybOsMIHNWPtk0aoiQvRlj5nlMLk5m7p5jWY4Lw9myBbt1aKIpfcnThL+y4Ux8Xn2F0a2lCQ1EZr39fzawlx6ls5ceooZ2xVq9+xgr2Mz93CbtfNmZIwFC6SQzVlBSRTH/p2eWkzdrDp9YjGT+8G/Y6daglzUH/+fg54Ck9j4Brs30JXFELnzXZeFtqfutWFf1GdO9UrrVJZWFMZ2nnRXpxwVV+8Z3ASgUfVs4cjqWWxH5cxJu8NWzcto2V+z7hPm0ZkV2MUJF2GMs5kdqfqE0ldMhcQYybCapfq5al7I/tTeo1F1IWhNPeQOWnkLVsCkS82bOYfeo96WXfiGvTvYk7pEPAjEQG2OvTUMqlE3JnUQDjf62F97x0htjq0OAn2SiV53Pwi7hOu1kZDG+my3dNM0n4/XSKleuLcO7dHnPtBijKiXm/IwrvrGs0jZxNtFdj1ITPuHGvkAYGphhqNKDWH7diKT/BlMHJPOkxm6QhErro33MyRB/vc/7yQ96VVFKzI/7PSwKopYKFoyPmGvX+mh4mesv+pXtR8exOc+VbzBoRxyE1H9ITBtPSSFlGTxTeYdnYQFaJB5KTNoym+nW5mutH9DVnslJ9cDBQ+YMWVkxR3ko2fmqDl2tjdBspIid+z6644Uy7aMXEnBi6W2tS9ewmDwrroWtiiGbDalryDzqewofbWHbOCE8PO7Q/biEqcAFvu2SQMcpJ2t2Ro5zzswKI2dYA75zJDGz2rVr/ZZ4qTk3DNzmfztPiGdLcAOWfXBNfvi+4sZAJwcup6D2XDD9JV/LLCYrZlziMrHOWhOZG0s2qujsluMPK4FCW3TYnYFY8fZvqIbnVotfbSPDP4Zb9JKaFutFYqy7Cx1e4LjKiib6KNFB+OwTcWT6R0AV3sQmfS1QPSdVdDsGNRQSFLqes+yzSR7TESPUvfkzVA1YHB7HwTUcyp4zG2Vz9axFGcHsZwcGL+dR1OumjnDBTl2XoVY/XETl2NheMRjMnaQBNDRpRdfdXIsKWcNPYn+yE/jTTl+gTRbzZnsCYnBvYhk0l2MMK7S8JueAmSwPDWFHqyYx0PxxN1ai8toK4hNUUdkoiwdcZM/UaVJCqT/yeG0zWCXUGTo6gj8U9Nm6Qo1N3R0z0JLGmknO5AcRvrkX/WZMZ6iDr3pRdWszSRy706ajLi40xpK4rpG1iKqM6WKIpjUMiXu3PInL6QWr3ziB+eHNeLRtL4ton2EXMJbJXU/S/bp75maMZvmSeMWN8VhjdbHX/RXHiK+qk5PJKktM2U9whnAhvVyw0lJAXF3IgNYCpJ1QZkBTNEGdzVCX3ufI888YkcVjDj7QwT+qdX8GBul3xctLj8dIw0o9qMiI9lB7Nqjt3n88xd0IiR9X9SZR8/tRijqp50t2xkn2x8exX9iMxuAdNDaoT2M+/M2d8MofVfJkc3pvmhnXI3zCbI+rd8HQoZ29sArvqDSGimxKPP6lj16oF1saqKH5+x6sPldRRU+Xj/gUckozJxYiXqyaRflQDv+SJeDUzkAEZyTUmpHBU1YfEsN40N2qAqGA78/bVpqOnM0YvVxGVfAgVn8lM7O2AoVRLV8aFXyaSfLARQxNC6d2iJoiU6O8SmDT7EvoB6YT1bYGxpPVWeZ3lYXFsrepBbORg2pj/IOacnMfC4/c5trsAu6AkAns7YFSt3RMXXWPHlpOc372BU7W6kZA0ig7WWsgX7GD+PiXad3PC+PVaYlIO0HBoIhP7SBIj2Vgvzgsh5UB9BsaF0MfRRPoc/9wh5MGmuRxt2Bl3xyoOT05kVUETRsYF0bu1CY0kCeLnU+SOzeCCyTiixnnQVF+RR5tnc7heJ9xbyXMsNYmNH1ozPtKfrk11ZVt7fT7OzDHTuGw2hpixLggPT2fqlo+0Hh/CsE42aEloChXnWTgxhd/EXsREDcW5sao0RouLr7I2cxqbn1vjM9EPDwcD6ldz0MWlt9mQs42q9n1xa2OFllIJ19ZkMGX1E6zHRDCymz369WSxRnBvA4mxc9lbYMaYmfEMdW1C3Qdbyc5YxQMzbwJHdsNBkuRKprDqGTuSI1j6qg1hEUPRv7mJE/Xa0dlRjpPpyfz6wASf6CD6OpuhLJmTsjzmTMjirN5IIsZ7Yf+Fwlt2j23TM1l935QhQSPwbGlEA9kFeL4jlahFL3AMC2d4R2s0yq6xLnMK6/Kb4B8xim4tDJANXcCDjUkkzt3FI+PRTI33pp3xe36bkcXqe8YMCvTHy/H780YvfkGLkHB8OlmjWXmRJVHprLlSj27Rkfh2bYZOXVmSJnq3n+lh83hkO46JPk14svMoOHagtcUndiRlsFe+B+ETB+BkoSztbJZfXkpMym7oHkbQoLZY1GhJi57+RkbMbM40HEh0+CDaNpGsdwG3V8eRsqGQtiHhDOtoTXXY/rnlKHmV31tPUvxyXracRIR/Z+zUPnL98EGuFKrQ2N4eG1NNGtSuppX+8azlZ9i8sxLbFk2xtJB0Z0s5mRvC9IO16BkdziDXxrKuuvAR21MlBZNaeMRH4S25H4qSGtVBciJmkdeoH5NCBuAk2RZEXMKV1WlM+/Uh5qMiGd2zFUbSPc9EvD0xj7SZOyhsHUyEvztmrzeSmbWKR+YBRIztiaNxPZl04O0JFqTksPNjK4Ii/XFvKsfpX9KYfUyR7hMDGdC+SY33vZjKJ7uYMXkFD4yHMXGUZH3VRU74iK0pCSy8ZcrY6HEy4CldWi/YkxXLnP1VdE2IwberHZrSdSSGygqoFIJCLaitRDVK/+l78bMf/NLxvK03nMjRPWltWl/6VbFIQGV5GYUFFzi48yC3BaZ0HjIM9xbG1eyxZxzMTeeXI+AePJEhXWxQ+/KsF51hcUIORxXcGD9hEK6NGyF6tJWMpAVc1RxOeFB/XMzrf+3Aiz7fY9vUNJafUaJreDjena0RnV7AlFmHEbmNY/yQTlipfutuiCufsXdmKr/e1qFf4Ch6NP/A5vgMlv3ekP5JEXh3tZUVUyVH+VkWR05jn7ArQSFD6WilQvm5LewqNsW2eXNsJAVAwTXWJGSw+okdEyYF4NVSDwUquL1pE/f07bBv2RxjhUdsS09h0S0jRkWMoVcbo6/MttLTC4ibvpvyjhMJ8emKjZo8otcnWJI1m0PCToweP4xOtqo1OoSVPN87i4wVN9DoPZ6APq3ReLSJGdNWcENnCMHjBtC2en5E706zLDOXLS9tGRU2DJ1nV6kwsqSpQ1PpWhFeX0ty5kryrcYTNqonjvoKUHGbrZvvYmFjTzMHEyQ57tTUhVzXG0HouP44GX+h85RyZmE8M38rpm1gGD4edrKCr/Axe2aks+hAGc6hEfh5OaAjecY+HGdBkuw3jQ/2pouNjEVReW01KZmLOanUm5hJfng0U/+as5efW0bijF2UuI5loo87Nqo/Azllt+7fAc85fgQuV/wPwNObFTN9sdJqgDB/P2tPKdCkZCOxSwpwTVtcA3iKeX9mAQlJK3npEEFKeA9stb5orD6zP7bXfwaeRQ/u8kHbFP3ad1niP5ENdX2ZkzEEG+0v7f8KzkwdyqT18vRfOJuAFno/TWetOJ7O4ISn9FyUymBL7T9v6F6cz503KhgbKlNXChDKOTt9OJG7NBk7L4W+1lrUkxdRVSUxPJPoan4QWirPkzt8EtfaZpMxwgHdf0JAIgEVFQKq/qCN/amgJaeAUu3aKCrI/XX1QlTEw3sf0DTWo879ZYwPWY/8kBxShjVD7wvXquIMM4dHsl7Uk1k5Y2hlVJczWUNILuhGTtJQbKVA5PujJP8Ob5SN0FepJ6Nrlp8j1y+SXSr+5CQPkNI15EVVVCGPvHyN8f0AeFa9ucs9gS4mWnV4ui6MsCUf6JyawUgXU1lXWnCHFYETWV7qxZQsf1oZ1aAYVA+r8uJsRkVdokV6Mn6tTKgRI39qKiVgb0LwMip7zyX9Z4CnuILCgrs8Km6Eobk+6hLAWFxE4asDZAfN4oplKLmxPbDWrQ/CSoRyiijWWDPiivfcO7GVNZvPU2Hdg2GDOmOj00BKpxXcXExQyDLKeswi3e/vgeea4CAWvOlI1pTROP0d8FQV8PbBOfatWsWB55q09wmgv7PEeVkBcUUhj+8+oqihAeb66tSXF1JcVMjrA9mEzr6IRVAuUb3t0PvCaxTcZFlQGMtLvgDP+lxfGETs0qc4xOUQUhOkSmdfxKutsYzLOYPuiJnEe9biydNGWFnroyrVKvwYeIreXeRUvhbNDAtYFZ3Cmmf2ROVG0M3uG2iU6KOeviqilqoeWqp1Kb3yK5npy7lv4k9USD8cjb9QSso4muHzvwHPqqfsTp1EzilVhmXE0N/RBKnnluA2K4Ij2EJfEqIH4WiiLAMBH/aTMTqL45p+5MT1RbviJWVqhmjJXWJeSAandQJICOlOMwNZAiC8tYKwyA2Ie09m0qAW1H99nzINI9Q/7SMtbAnv2kcRNtgRky+dhPtriYvfQlWvZKKHtMZURY539+7yWd0A9Y97SI6Yz636Dji174qnWxtsjCXMiJpPsmQT89sUqRmiLX+NReEZnNLwIy6kh7RyLh3TjeWEx2yg0iuJqKFtMFNVoOrdvjYxoAAAIABJREFUfe6VqmGgJcfV+RFkHWnE4KRw+rY0ltE3hXdZHR7FhkpPYqMG08ZMBopkh5iyu9uZnrqCgiYD8R3YBXuDhii82k1m9FJeu8QQM0JCyf4jz7aCK8tmc0W7DhcX7abcNYqIEe2xkrQ8xUVc276N+7VKyVu6lefWE4gP9JQW0ETvHnC/VAU9LXmuL4wk61B9BiaE0beVqazwKLzLmkkxbChzIypyKM4WNcf6T6FDxPuH9/msootq4QGyohZR0DSQqLEeNNWV0eyF99cSG7mK4s5xRHi70FhdTjrnn1T10Sw6zJToZbxxCiXCryOWmrJijej5dlJCZnPVeAyTByhxYP4Cjij1Ji5qKG0bq0nBnrBgK8mRi3nRKpzIER2x1pLMl4inu7NIzD2EnEc0oYOdMGlYSdHrZxTcu8Odx5+obdSCdi5NMVKvh9yL/cyImylNCGPi/Ohoo/W1SFx+9hdCk3/lssogMpN8aW8p5mROHDl7q+gaHYl3B2s0vjCGBHdYEx3Lkoe2hKaMpVXDMqqUtVEtOsy02EU8sBzDpLGe2OtLKHkgfLCehOhVfHSNJNynHZbSzrOIN0dmkThjD8KukUT4dMK6ej4kYPLu6ljiFz3AKmwy4zybIX8im6TsPVR0iibavwu22l/0xeVcmB9G6orzNOyfSfyIDmjcmC/9rKDLJMJ9OmKj+eWzAu6uiSNh0X0sQ5IY5+WA9sM1xCUu4nyjgSRGD6O9lTq1qt/zwkebSI6ez22LQOLGOaFaXkVDbQ0Ub68kKWsfeIUTPMSVxtLnU8iDDQkkrvmAc3CYFERKwNnXo/whe3Il3Rsdug0dhEdrY5RrveXg9CSWF9gyNmIkbs11+Umi7dfT1gSeYf30eXVwHWflWuHm3g57E2Up2+avDnHxKbYeUMDOwY4mZpItPf4CeIorKXr+kMcfa6FuaICWci1En4v59Po4i5PmcbJ2b6Ijh9LeShX5ssusiE1j+TUd/JLDGODa+KspjrD0HS9fFUIDTTTVa3F7VQIZS6+g45dM6CDXb0BdWMq7F68ppD6aWuo0KDzGrPhsdpV1ICrGn67NZB3mr0fFFVbEpLE234rR8ePo4WhI3apq4HnblLFREuCpj7jwCVcPbWT93rso2PXCe1Bn7Ax+nkH3T9HhZ///TxpPUWUJby5tIHf2Fq7iRECYP91aGlLv1QFmJs1k+4fWhEX64+Gg93WtUlXAb1PSWPGwMaPDR+HVUh+5R9vITJrPDcNRRIzrTWvjmjr3cm6vTSN98TEUvOKJ9LHn3bpUcrZ/wjkiCv9q4FNjkrn2ayJZv97DZEQ0Y/va8PngPHIXn0GxcwDjfNyw05I971+A535hVwJDhtHRSpny+5e5J6eFrr4eWpKC9h+AZ/eWetLid+GtSzyurY2egQGaEuCZkcKim38Gnp+rgWfZV+AJb47OJW3mVt63DmVSQA9a6H1PC6y4tobUzJXcNhxO5ITu1D+dzdTFZ2g4IIYQ765Yq1Y/K8LPvH/1msKquqhr1ePd3Xzk1CVj0pFKZH4IPEWF3L5cgJq2HtoGWl+B5w29EYR8Bzw/c2ZhHDN3FdN2Qg3gKRZQ/DKfJ+/lUNbTR0etNqKyEore5LEqcwGHytszIWIE3ZpryHKNotvsXpDLklNi2o4Yh6+nPdrV/OHy88tInP7/Cngu+4C9b18cJcLtLwCp/Abb5u2isOtUlvyo4yk/jOU5fljWK+C39TfR7tQJ48tZ+E65iVNqTeAJoopPvLx3gd/P3OZFUTHFn0GpoTra6ko8+G0+uz95MHXJv+14gkggQKyoCPlrCQ6Yy6eeuUwf1VLaVZMeVfmsCRxJ7jkTJqyeyiArrZ/e2Lr8aAqDkl7Se3GKDHj+ETiKhAhECjIgJ+0E3mbpmAmsFA5g1lRfmun+hAtu5UVm+URwxWW6FHjq/d9yg/3ZKPanz4kQCsQoKMLj9aGMn/sOt2nTGNnaEJXq3K6qYC3ho3I4oz+GJVOGSHUlJ9MHkfasO7lJQ6QGM398XYmEQsQKMqqirGm6jKDA5VT0ySbN929ccH+k8awSIEARRdEdfg0KYXmRB2lZI3EyVpUG0qrnW4gdNZN8p2SmBrXHVP3Pe3VWXp7D6EkXsU9NZkSb/wo8l/Lcoh892hig+pVuV8Ht35aw740zsXNrdDylOXQpzy6d4NjJizwqUkRF1wRTnVfsyV7Hw+bhzIrtgZVOTSfISp5fOMKF+8948vAOd1+AbrMOeHq1w0ZfmTrV3XMZ8FzCU9O+9JBoY5UqKHzzlJdFdTBq6YZHJ1v0GtVGoeoBfw88F5Fv2IMezkYoyxXx6kkBL8s1admtF11aWaDVoNbXIq649BlXTh7j1MUHfJJXQdfEDJ1Xe5i1/j42obOI7vVNE0c18FxaYEzPHm0wUqvi5o7V7L+pRv+52Yx2tfiTPq/kQAoj0nZS3imd3AltpQULJSUFFKRcrx8DT6oqKBPIo/hqGwlBuRxU6MHM7DG0tdD4TsMrFou/mquIK4t49eAKZ8/e5OmHTxSXialVXxVN9To8ObSCvW9aEznjv3U8qx5vJTE0hzyVYUxNGkorU1lXTvRuL+ljZ/KoVRwJAa5YVIOmyisLmRi1nKcOMcwM9aCxRLSoIEfRyZmEpv+O3ugkgro3Q1/qwlzFky3xhC14Rdv4ePzaWqCCpNouz8cDmUycfo76bbvg1FiLBtJ1IuLD5e1sylOke3oqI9rJNJFVQqG0Mv9uXxrB2XlUaOmgqWmMtWNnvDzbYK5R/1tyIrmqQCC9RuGJbCIyf0dnZCJBEnpn9Zgeb44nYsEzWsck4i/pNEtiRpUQIfLIFZ1iVogErPoSF9qbFkYysFr1dAfJofN43iaSGP8OfwKRYkEJ757c4eKJfew9eIkXYg10lF5w9aYinSenMdbNDt0/7kUjfMDG3COodTHizuJ5nKg/mJiJvXEwqk/JtR1sv6+Oba0zzJt/ikaD4wnp54ixhKb4dax5zA7L5KTqMGJC+9DSWBbLRc92khI2jyeO4UT7d8RK69+l+tI4KC/Hh4NTCJ95HYsJsYz2aIaedPxCnmxLJmrhExzCYhnRyRptJdk7TqQg+c5UInLvYDUxmoAuduhUS8dK8mYTmrKOQtcExun9zgqJLrVHKvG+EpAm07e9k3w3+xqm42IY0636eqLn7E6LJHf/R8zdPGhtoUVdOQGl75/z6G4+xeqt6DW0Ny5NtKivWMXj7anE5R5E5JFM4shO2EgGJz2E5G9MJHruSWr3mky8X0caVx5ianQ2B/EiMd6X9tYaX5N9cdFxciZmsLW0I8kpAbSzVJeal304PIOomZcxHBXFGC8HDKQxVcjTnWnELsjHNjAKfzc7dCSXFb1gX2Y0OfvFeCTF4dPRRrbWpHG2mBMzg5myuZh2ycmM7NCQc1lxzN4voHNSEiO72knnVTb0fLZOjuGX44p4Jcbj20GFS9mx5Oyrwi0xDt9OfzhvTghTNhXhOnkyI7taU7krjbjZR1DoPpkYv45Yf0WLYkpOzyUifSNFrgnEj+yIlYaEqlrM2fmxTDtUix4RwQxwsZB130Qv2JsZzYJ7loyOCMD9TyBSSOm7p9y7eIqDew9y4YkAFa3avL11B1zCiZvQE0ejf++KLwOey8jXccHaQJmK6/u5UGLNwLBA+ruYo/oFRf8gn6h6uZ8tZ9Vo3sKWJkYSictfAE/pPSnj1c2z5J08x523QuppGWGi+4nTK7dyQ60/MZFDaWepCi/2MDU6h23vWxGTOp7ujobUVEh+jd2S+ZoSS+6Wd7SKTWFsT0cMv/8g4i+5xrVfiUtZwlnlQSRHDqODtdr3+YnwHhsSk1h0vDY9U6MZ3tkGDZEMeC74XUyLLm2x0a/H57fPefqihPpWEu1bW+wMVb++g/9zuvUfvvhPwFM63RVP2JOdxNztt9Hol0jUCHes36wnPm0xR4os6e7uhKVejVxDLKTk3RuK6tvg5u6MjaEK4i/A0yCAiPF9/gA8Rbw7lEt89noeWwUxeZwV+cuyWXKqLn0mT8K7q90ftm+RsD1SSZ13GDmvRCb5uWFV7wNPbl7gwrWHvPzwiTKRAnUaqaNW9y3ndxwkX3cQk0JlwFNcWYFATgFFRUWZQecPgSeIKsulJoLSz1U9lALPhXkCmnd0pZnJN820IP8k2w48QLNfJKHSjqeIW2snk7noOLV6JRDh646dxvdZrPDBVrJS53Ggyo3EiG7IHf2FWeufYBOSyPgBbTGtU+NmisXV60+EoELyzpSMSWaY+UPgiYjKcgEKknErKlQDzwWcKrejXTsHTKVtTckhoODkdg7dV6NXRA3gWf2Mvbl7kdMnz3DrZQW1NQwx0S3l0qadXK7VhaBwGfCUnkksoPTdE25dusD1By94/6mMKrnaNFJXo967i+w+9BD1PqEE/3/f8YQB85LpZ6H+zYCh5ACpPtnccUlj0Y+Ap9xQlmb3oOjIUT5Yd6GdrR6iPdEMyrhBm9RFNTqe1e+Dqgo+Fz3l+JxEZh6Tp0tIJMPaqHNhmi8z7rQjbeG/B57VZ+bdzlh8Mm7hnD6H4A5GqFSjZ9GbncQOT+NIgyHMmT0ax3+xv2RlXhZDYx7iPi+dYbY6/0ipEj3fxCS/mbzoOp3p49r8tQtuzWBTcYbsYdHcc5tLirftP1JtqfzEi+dvKakQIhLXdF37pwgmh5xiA7QMdFCu80Wr8TffEb9jT4IfWTdakjAzhI5mX3SbIt7+Fk9A+gGU+ucyc4wThipizkzzJvF+J2Yke9NMX0Yd+utDxIstUYye+YR2mVMZ62Ly1y+4v3G1FT5YRdiExXx0zyQjoA1GUpqtmMKDqQSknME8bCaTPK3+oO+Ujary7ExGxN7BdXoi3vaG/4FqK+t4lrpnEju4KfpftTWlHJk6lllXbQmvSbWtes3ZlbnM25GPetdhDHa3x1i9IXVFecz0n8q5xkHMjPkj8BRTWVrE5/JKKisrKHt7g13L13IRZ3yDh0iBtsTYSQY8l1LcJYOYwc3QV5ajSlDKizNrmb/yLAIHP8LGumOt/pINIX/f8ZS4rMZ6t8RQcg5hJSX5B1m+4gJK7YYzoldLDJSVEL85y+pZv7DzgRqdhg7GzcEE9Yb1EJ3OZuzUs5hMyCbqB8BzWWFHkmMG09xIjhPTJpK7XwHP7JmMaWeBxh/y96J9yfin76C8UxazJnbCQqtmVvEXwLN6wVU93UTcuBwOKngxI3ss7Rpr/q15lLiqkrLiZ+QtzmT2wVJa+k9kWDtD7iycyKzLTQic8l+Ap5iPBzMYn74LsdcUMgLaYlHtflNx8RcC4w6hMTKF4B5NqzvDQh6siSTilysYjplOdP8WGEo5nKX8njOB1BNa+E8OpbuEZiv5s/gDBzPGM+OaDSGTq7WU0sJYKadnTiDthBY+kSPpaKUtc+oTf+BodiTz7toRlhpIV5sa+4aKi8mbOYH0PG2GBXvjrPGWPYtXcVWlO0GjvWhmUNP4Q1ouJW/mRNJPaeGfGEJ3ewPZmKT6zkBmXLEgcPIE3Oz0auyRK6YkL5fg1GOo+SQS3KcFRlJas5iPh6cSPPUy5kEJjHX/AYgUl/Jw70JyV19CsXl3ertZ835HJgsuGjAyJfTH+s4Xu5mzWUin7s14uS6WOfmORET54ar7kj3b76PeshX1z88kfX0pneOjZfrOr21WCWiYTWjqUZS94wju01JG75WM9ch0QqdexHh8HOO+ALh/Cr1/+n8JZ2aHkH5UFe94md5SOhXCx+xIjmJRfjOCYgPobKvzTSsvLub32SFkntLCNyaQ7i0Mq6nfZVxZMomk5Y+wCo6hxf1lrNxTjEtCKqO7VoM0PnPul1DSDzdiSMxEejkay64nuMTioERWPWtKUIwf7W0km8yLEVUJEXy6xpbZv3JNvSfjAjyx16vgyFSJLrmQNvHpjJPsdfkF7IuesTs1klmnlemfEMFgl8YonplFaNomCl3iSB7TFbsapjflV5cSnbCCfJtgkoO642AoAS0lnP0lgszD9RkYPZE+rUyr5+QJu9JiWHjfmjHRo3BrpitbzyV5zAlOZ/NHJ6JSxkj//jWElF1leVQSvz60ZELqRDyN7zI/Yirb3rcmKm0C3Rz0v+6ZK3q+m6yoXE7V70vMpKG01bvFgtAMNr1rTWTKGNyb69U47zWWRyfy6wNLxqcE0cNRg2u/hJC54T2toyYT4NGcbz+zghsrYkhemY9VYCLjureQAmlxyVkWRmZySLEnoSEDcbaoZjsUHmdOxHTOaPoQNl5GG/2+zi3m86PDrJi7irMVTejS251mJQeZtegsjQZGEvyv9J3fFqQMeC7iUj13/Ef1oaXSBVbOWc+N+m6MDx1GByvNv3TaF9zayrYnjXFwsKaxxEjqr4Cn6D1Xty5hyaYriO2706+7C1a6KtQTX2Z5TA5HFLyInDQUVwnwfLmHqVE5bHvXkujUCXR3NPrx/sail+ydEs2sLW9pEZ3KuF6OGP3FRsgCCfBMXszZRoNJif4B8BTcZb0EeB5TomdaDD5dbL8Cz4U39PAO9MXNXg/FKgGVpc/I27SBM8XmeAzpRzsbbaRM4P+Hx88AT6jg0tIYspbs5YVtMFkRQ3Gu2k1S6mKOy7szaeIg2lur/ylPk1OsQ/16dVBSlEf4j8AzRwo8n1iHMHmsJY+WzWDJyTr0nhzJcLc/Ak8B9zemkjr/EHKeSUwa4UEzLXlEgjJKX11g45z57MrXwX3EcDybvmdHxi8cl/dgYnXH809kwb8Ant/dBqEMeC66ps3QcT50a6H/tfj1+cJKMn45jKhLSDXVtkoKPDMWVgNPPw+a/hF43t9MZup8DgjdSJrkhfyxueSue4xVcCITBrbF7Ce1/j8Gnt8vIBnVdgFX1Acx2q8HjgZfuq9lXFiVyYKDFXQIqgE8RR+4uetXlm04R1mTrvTu2R47A1Xqc4P1aXPYW+TEuPAReHwBntLLiRCUl/L64mYWLNjOfbWuDPfpgX3hLqbPO4yg4/j/n1JtGUBK91q80e6Eu1MTtBvU4tOOSQzMuE6blD8DT0n18vmB6cRNPYR891hifV0xV6/iUNx/1Xh+uVmlnMwYTtxRM8Lmx+Fprl7tOiXize4EAlKOo+k/i4zh9ug0/LF194/ihvDWIsZMOI5d+lQC2hig/LfWp2I+HUzGN+k8dnFzCHczQ10SCMVF3L70DG0bc1Tq1v4zICs5SPLAGZR4zyGqb2O0vrNd/POoBPd3sWD97zz5UMb3Gz78U+STAE9tXIaPxN1Gkwb/ZONaeoppfnEcMQgiJ7aH1LRHGl8lGtDJAaQfUWHojAyGOxrQqFYVd5aMJeS4FfFpATibqP29S6z4E0fS/Eg9Y0l47iTcGmtKE1RJ+//qMy2amKlS74vH/F8CTxFvdsYTMOUOjpOnE9jRHI1qPfG5nJHE7myET24SA5rq/ZkiLZGiHUrFO/sj/aZF0tf2x5/5uxn9d1RbMYV5c4lO28CrpoHEje+GvbGKbNuRkoOkDk3jd/NAZsZ40ej9E+SNjFFv0ODPWmfhZ57vySIk9zQNe6eQ7NtGqmn9MdVWjLDkEZsSglhwtiE9M6cy0knI3kkTf45qWy0WElU8Y8fkiSw4r0KPlMkMb6XCncXRZG54js2YeMZ0b4GJam1pFbL0YCq+aXkYjc8mqrsqH5/JYWisSQOleyz/jmrbkPvLQwhfcBvLsDlE9rT9RsuVTnoVTzZEEpR7Hp2AXBIHOWD4nWnG3wNPys4zd3wsqwuaEj4nku52et+7mUqWsUgk7XrKtpUQ8vLYPNJm7KbUZTyhfl1pqivPyaz/ReNZxeON0QTPvolV6DRCveykjqmSiuW9XyOIXFWOZ1osQ1qZImPaPWRDdDgLbpoyJiOCnvaGMi268C6rQiPYJO5DQuRAWlbTcik9w+wJSRzXCiAxpMdX+i2V11gaHMsOxf4kRg6ghXE1aPx8hjkTJnNEzY+kMC80Xt3js2kTjNRVqFt5laXBcexQGkDipP600Iezc0LIPKmN3+SJeNnVJf/8Y5SbWKCj1pBagpusDI1hi7gX8ZGDcDSVJc98PsPcwGSOqPiQENYb++qOpuw5EnB3ZTjRG0V0T5jEwNbVv5syzs+dSMohZbwTQ/BQfc7dcnOsTDRRrTYEq7i7iYzUtbyw9WHM0C7Y6z5jXWQsW4TdiY0cgOH7uxTqW2KirV6t35eYFc1l5RtnenSWdKWiidtVj8Gxfpg+vcRLzZa0adaACzMmMf+RA2Hx/rTgCc/qmGGmr04jJSH3VkUSs6GSbnERDGpjLrtHEi2qVN/ZgCHxIXhqvORemal0Gwu1f4jb38WSyuusiEhgm9CL6Enf9KnCgm2kRC3mqUMwUSPbofLiHiX6JhhoqFJPeJ0V4QnslOtJZNhAWptVz3nFdVZGJrDqiS1j43sj3DaDpZf18U8Jo/dXgHmLVZHxbKnwYFLEAIw/PaREzwJD1QLWBE9mc0VXkuJ8cLH8pvOR6PI2xUex+IYJ/inB9GwuYE9cFAsuauGTGUn/1mbfKJD520iNXUq+pT9hYzxprl+Xwn2ZhGTnoTZsMmH9W2H69fn9zNVlMaSsfY1DUCyjPJqhK6F4CW7wa2QSW8u7Eh4+hLZN1KRrSvh4Bxkxi3lkN45JAZ3QeHWfYl0j9OTPMyckmzzVoSRE9Ke12TeWzecry0lIXsdL+/FEj+mGTflvJEfN47yGNymRg3Ay/1IYFfJ4ezoJS+9h7hPGqO4t0C87zLSQbE4qDyY+YgBtJLrD6ptXdnUF8clredl8HFGjPWmuW8yBrDBm5akyOCGMfk7m3/ZKLLvOqvgUNrxpwdjIkbg1kxV6hPfXkxi/nk+uwQR7d8Cq2uyj/NJiolP3It8znKDeBnx89Bl9UyO0NWWsACofsHNaFmsfGNF75DC6tTbk9dbJpKwvxDk4lCFW5Twu1MDYSA+tP5pR/M2L7EvH84ldEBGjutFcq5yH+35h+uJTVLYKIGykRGf8Tdv37VRiivO2cljOluZ2lphKXah/1PEUU3RpNVOn/8p1tT5MGDOADraaMsO8z3nMDZnCfjyJnDSYJvIfqKr/kt3Tc1l7SRPvtAgGujZB5Q/ATha7K7ixMoHUpRfR8E4hbEg7mvz5g9Itl8TvDzMregbbPjoRmTAGz5oUU+ljfZ7FkRmsLbBifOIEerY2+gHVtlrjKark9cHZTJ5/kJKW44ka2Y1m+jVbXf+Uh/3v//8p4Cn+xMm5McxYeZgip2jSQwbhrHaZ+QnT2fDKnrC4sXR3NPhTjlHzvfj3wLOSW2uSSV90gjq9E4gY7sDbNZOZuek1DuGxjO7VCoPvzDjLubQ0jim/3sV0dDzj+jljKonvVW+5sGYWczY/wqD3KPz6tsW87hWWRU2jJtX2fwKeP0m1fX9sLpNnbORF82Cix/WhtWHN7b6g/NIKJmet5JaRP7ETeqB8NpusRaeo0zeOMB83bL92JavvsUhUveXX99K2nweeC/k5qq2Y4mubmDVzBWeVujBy9FDc7XWoV0seubJzLI2bzs6PbRgX5kvLhiUIGiqjpqEuzbmr3klA/1w23dXCc6Q//Ts0od61lf8Pqbb/QeO57IUeHgNHM2Kwq9SwRpJ8Fu6MZGDaNVr/CXiKKb25lrT4BVxUH0JivDdOJsooyZf9DxrP6htceZVfRgSxVtGbBdOGY6vzJVg/ZMOkQBa/7UBk6jg6mqsiLjjGrtOPef7wGdpeAfRork0DJTEvjy5i9XMH/Hs5oNFIVjsVf5A4zi6lVuBMQj2qgeTXuCGm+PF5Ljyuj3VLCWAUcGaKLzE7VPBbnMlgG5kmVPRiL8uOadLTqylaX8yZasSeqqdrCfPfjWFCJqNcjH7gnPt9oBKXf+LtxxIqhf+m21l9DjlF6qtpoFz3nzuegqvzGRu8GtHAOWT4Nke/+mUmeLSR2ImLeOUcRsK4LjTRkGiTxHz8LQ6/pfL4TwuhW2MJZavGuMXFPLlwgSd1LWneWJuGwrNkj4xhR73hzM0Yip1eQyk//+W+5ZxQ98S9qe4386m/BJ5VPFgZyIQlVQyYk8yQZvqyl37lDZZMCGVVWQ+mZo3A8Qf6TgmwebYhgnE7dQhNGUU7c41/vX/qvwOeAi7NDSBqxUtaxs0i3FNivCN7m1blryV83Bxu2YQzO7orhYf3UKJQRoVjb9oZa/6p2FF5NpeAqNW8ahXPnMhuUmty4V9pPEWv2B4dwIx9AjpPnUtQBzkORv074AklHEn3I3VrMa4pEjZBKVuDo1j5rDmTcibhKTHdkf6UKgrWRRA0+zpNQmcR6V7M8X3yuHa2Q1+t4A/AUxXBvXUkRizgkUMkGUFuWGrV2EtV9I6D6eOZelYP/5RIejsY/MEQ7B+Ap7iEa0uiiF3xhBaRUwnysPlmdCQFSNfYeaiMls626GrWp/zuVrJTF5Cn6EFIpA8drbWoq1D+P2o8JcyAJMZlP8YpZTL+bS2kmi2Jo+ciSdfkaUtipk3Erbrz+PnyEqKStlHZOYxJPu2w0KguUlWeZc6oJH43CSJhghvWOpJ5ElNybi5hib+hNCCNyEGOmFRrw4WPNhAbtpzCzvHE+DhjriarlAofrCU6bDXlPZKI7K/C+bXn0PNyw8FcF6X89cSGraCwU/V31Cs5NX0UGRebMDFpHJ20b7FifQnterhiZayGYsVpckemctZkPPGBHtjqVY/p/Dwiknai0DuZyMFWyH0sQ11HnQb1JFR3AefmjCYlz4ix8eNwt9OTJuLikossCk9iOz1JiumP6vl1nNfxoHW9+xw//gIDj64on8lhxnYhHtERDHY2p9G7XaQFz+NZm0iifMy4v+kwSq0N+HDxBkUGbnRvp839dRt539KL9vZmKBzLJDDnEdbdLWmk7YJbW3saN7jC3KB0zuiNJjbQldK9m3nr6IFrU3M0aglbQL4xAAAgAElEQVQ5P3csqXn/h73zjo+q2vb4d9JnJlNSSSWVFEIgIfT00DuKylW5oqIgKCgKgr2giKLXgu3aEZEiVXrvIL0ltJAGCellZjKTTH+fM0kgFBF9997n8875c+bsfdb+rbXL2nuv3wrkkecm0C++6eTWKrAzT32FleaBPD/9bryPLuZQmz5kJUUTeEMcxq8vME2FS3l56teU95jKs2PSbLGaLddsp39VQtKTzzKmu4Et83MI6ZNhY3J2KfyJl6d+RlHCszz/aG/i/IQyVuoOfM4LszbjPHAyj98dQ/5nU/jgbAemzBhLZgc/nLGiy57Pyy/Op7rXdKaPDiNvxS7cMrLoGu3M7jee5rNLXZk67QFSY3yuxNZaqnfwwTOzWFHbi+kzx9M3zonts57kg8OBPPzyJIZ0btt04mqp5eCXL/PhPiWDHhvL0C4hyJ1FNOyfy5Nv7Mbr79OZMKwzbZs3EUxlW/nwhU845nMHjwv5BUPlV2JQX5v+NZc7P8kzDwrXeJswsV2z/eIi8ROf4cFkCzsW5BCYkUrn0Et8O3kWuz1HM/XxoSS1nBCaytj+4Ut8etiLYU+Mt5E2uddt4p2n/sFBvwd5fvIwkkKarhhaag/wzWsfsd+9Pw8/PJxuYQqcG3/hU6Fe5b0888TVd7HV+zKfHfZkyOPjGN49DIWzht3vT2HOHk/unf4Ew7qGNG9wWajc+TGvfnIU72HjeXhYV9oKhHrC9suRL3h65k5kf3uK8cO6ECLgYtVy4tsXeOMnDanPTOWe4LOsPqSgeyc5ZYf2ctErhXSvbL7+cDm1vSYyeXQm7b1q2TT7WT7PjebRp8YQV7qOnaKuJHfrSERLrNlt+Dg3kAu1ccRUf5E9X7/DxxsqiLpvCuOHdyVECF2y6ijPLUAt9sO/jYySdSspCk+kU2w7bOq6qeNpIueH53j9i6N4j36Zp0al0K55rLIUr2bWjI/YJbnTtnngfu4X9FHhiI78yEffnsB/9PM8PrIn4a3ZuxrOsmW3itCYdrTRbuKd177mhN/9TJ80kp4Rwjqi5Wng3Kbd1IXFEBUiJuefr/DemgZSBVKovh3waXWFWH92ETNfXcDF2Ad56pFBJAa2Ihe6EuPZ7Hja+NM+Y/qs+ZwNeZSZTwnkULLbQFp4xYL2ciHlFne8vb2Qu/1ORsPmr9yO49lYsJ65b37Akl8M9Jz8CpPvSSVSruHQN68zZ2kVnSdM4cGBCfi1dg4bzrFjn5rAiEgiQj2wNJ94nvQbwzOP30mPsFZXuRtyWPLmm3xzWMHwqU/yt4xIzAe+5M13f0bVfQJPPjSQjm1aEQbqz7H0zZksyIvg3icfsZE1SWigcMvXfPjZOqoEdtyHRtA9TI6zvolc6D/reDpgqt7PtzPfZVVNFxtT7sBEv1aOuYHcZW8x6/tzBI+azKMjuuFVvJJ/vPklB91H8NTkv5ER3fqmXwO52/ZR4x9GZFQ4zftLTXPxzciFrrOgFnKh23M8TZz76Q3e+nw3LkOnMlm4Jtx8fcdyeSMfvDqXjYZMnnr6PgJLT1AfEEp0XAyehiK2f/shX6wuI/KucTw0shfhChf0/5kYTwNH/3E/k35wYfT8D/h7rM+VEyJrzUqm3vEGJ7u8zFcv9rdRodv8CSEu8f4nmK9O55X3p9AnWlio2e5zUb3iGUa9eZzEl77h+f4hVxyIhoJNfPL6HJbmhTL2rRcZ1S24icWPetbPGMHMo1146YvpZIV4/G4nwJb2ZOxHHJIM5a1PJ5PWVmDG1XFh2Zu8skRLxoRJ3NUzDKVDIesWnsS/ZwjZH7/CoQ6v8MLfOuEnrWXtS4+yRPkUbz3aKuWJ8SxfjZvE4a6zeWV0wrW5II2n+G7KKywqiGHC3Gfo7XqYeXO+ZvFhf5749kWGRPogMV9m948b0XYeREq0L+43iZdo3Ps2D8yu5q45UxkSJZAR3eYY9m99zUzBj08x4YP9uAx8gw8mZxDm5YZId4FVs1/lJ3UyD0+8h14RnlfjDM99zaQnD9DptZe4Lym4iUSl+TGe+o7pry3kQuQ4/vFMPyTH5/P+1ws55DOBz18YTrSfFHPpHpZs0hDfN5kYf3mroPdcvp/0HnX3PMv9PcPwupKH1ULV2pcY+24FA997hXttzLR6Lq6fw3OzVqDrM5v3nkgnzOvaXasmkRrZP+dB3q0YxqtThhFnY0r9fY/h+KeMnzIP47C5zGrNJGtLD3Q/sw9E8sTc5xhiy29oIvf7yUz+OJuwiR/wwshOBApX96wqjvz4BfOWLOGY32N8/GIml9btxStCwy+lHRkyIIlwH/FVohVTOXs/msGri4rp8OQcnh0ej7+7I8ImwWNT5tE45CNmPZREiI3V1kT1oW949eVvOCEZwvRZj5EVVsXiSZP5siKNmXMeIyXC+8rAajz1BY8/9Q2qvnN461GBZdZG8I/m7FJmP/8he5wGMeP1cWSG17Ls6cl8ejKYR957ibs6B9sIYqyqIyz+6jt+WnQU33FzmZFVwpZ9bejXL54gz/N8OX4q3+v6M+eth+kW5omjsYbjC2fx1nId6ZOf5t7kcDxsrFNGKvZ/zZvv78Z90ETGjehKsPJqAvYW/e2d8xCvLBUx9IM3eaBbGNcS+VoxVBxkwaw5rG5I5fGpo0mJ8GrOQarm7OqlHPdIJatzOLLq3Xz7zj9YlO3JXc9N5750IU2BEIuhZdsbDzBrb1vGvT2VwfHX5YC8DXMxXljAjKc34DnuOcb2icXPqZID89/j/a/XkU0mL378LEM7BiHRZrP4zXfYSDoPjr2DHuEeTafhNn8+nyXTn2Gl2/08N2EQHQIloMlhyRsv8+k2F4a/O5MxvSLxsi38BJbv15n8j1w6TXuZsZnRtIQgGk99xZMzdhI08TkeCDnFkj0eDBjSk+ggKdVrX2fyB7l0fOYlHsmMwde1gd1zHuG9wp7MePpvhBQsYbmmB4PT4wnxdEZkymXhtGf52e1epj8+mE5BUtCcZvmcN/hkg4VBs1/jvrYX2HjEm4z0eEL9hGuDZgoWz+DZlW6MenY8A4XruWg4s2Iu732+kpqerzBzbDDZi/ehHNAbp50f8v0BKb0f6UnFggWcDhjFpEcH0jFQCvmLeO6ZFTjfM51HEor5eTP0aJPD/NVncO89kQeiLrI335temV2JDpRhOf0tU6f/yAXvTMY/NYbeHQKQaDYze8InlKY8y+TBFravuEj8oN4kRgsnU2YKf3qe6cudGTltPIMTg5tkXfUx73+2gqruL/La2FDOLN2Pos8AenYIuYHx/NfNw0LFhlk8/X4O7R5/jnH94pvjUw0c/uRxZh2N4LGnxxBfs47lxVFkZXYh2s+V6g1v8fS7P3M5ZgJvTb2TLqFyLJUHmf/OPzksz2L0/YNJCpVSvup1Zvzswl2TH2RAQjDOtSdYM+9LvltSQMyk1xmXUMLaHZDcP4WO4TKqtn/Ey19cJOHRiYxKi26yI1M1R+e/xTtLiwm76wnG39GNEKUjlTs+4qWPc2n/6CTuExhdXRq5tOMb5v6YR+Cg+xjZpyOB7k2LTWv1Lj6a/jF5Hccz8b40Yrydsery2fjZB6y4HM6g+++mt3AbxTYnWqjc9DZT3z9J6KNCfGcCgbZrkwaOfP4ksw8H89DkMSSqN7HyUjhp6V2J9W9g74fP8emFDoydKKRM8cHZqqNg4z/5aFkJoYPu5a4+AiGeMyJzJbvmvsin56J58InRZMX54tJ4id3ffsTCXH/63ns3fQQWfGE9Yq1mz0fP82luex6ecJ/tdO5KvctLCB14r62dQr3CZmn1nk94ee4ZIh+cyH1C/k8X0F/aztcfLuVS2/7cMzKLDgHuV+Yzc9FK3nh+GYZ+E3jkzh6EyUTUn1vLF+9/zrLLHZny0liiL67joFtPeroe4/sf92DpcT89NetYke1Ov0cfYZjAgCwqZMWrz9tOiCc80hP11p3oO2fQKynmaqzr7YxRZ37ghRe/5XLiM0wf2494/6aY4MbSpvQ7awp9GPzkFO7NjMW7Zisfv/0dh6QDbSy9pUfLCEhKokNMYNNGs1XF9vem8N4mBwY/P42/pUXj4SDEBs/kxbkCCc0Mpj3Qm/YCCZRVQ/bqH/nxxwX8IhnKjKeG4ng6B3HHRGJ8VGyZ+yHLL0dzz4QH6J/YEl5QT97WNRx3iCGpcxwhUjUnln/E3GWXaXePQJCSSEBTHALaC1tZe9yB6C6daR8ix3hpJ/M/+JoDrlmMGXsHvSKa+CCs9fls+uf7/FQQwAAh3ZUwnwlsXMZcfnrlJb48E8a4GRNsp6DC0sOqzWfTp28xd201HR+e1tQ3WkgXfwNvS+l2vnjvW9afUTJo6kRGpsZcSyB1G/qy5Une+C4v/GMJF8LH8/qUUaRGNafLspXXU3l6Fyu+/Yolu8vxzvg7E8eOoLtt/rPSUHqAxR98ynZ9F0Y9ci9ZQqoaW5iEijOb1pLtEE1S146EeThjtjmen7CltiNjpj3OyORwlAJolnrOr/mE9+cfR5L+IGNHpRPj4wa6S+z5YS7f7nMgefTDjExr13SQYtVSuPkr5i7KxbvP/dw3pAtt5WbKDy7ln3O/Z4+pJw9PetiGsY2VWvcLX0x/h3WNmTwxZTRZzUys18CjP8a8F2YxPz+GCTPGMaxb8I237EznWfraa3x1OoSx08YzvEdI87V5K5o9n/LCnNXUpz3JlJZrtZYGivcu4JOv9kKv+3jw7nSiPIX1oxVt4Va+m7uIc8oM/jZ6WNOGmamG7NWf8+mSfAKHjuWB4d1oa7umZEVbsJONx0yEdOxMxwjPa3gS9Mfm2U5OL0Q+xrTH7qB72xuvH5rOL+XNmV+QHfAQT08YSc/Q5kACq4Z9n73AP35W0XPS04wZ2AlvBzOX1r3HG3PXo02ZxNNjh5Do54LIWs/ZTUtZ9MP37HHI5PHHR+JVcgFRaBTxMUryVn7Bp9/tpKHrGCaMvYOeoTLbJmDDwa95ac7PqHqOZ/KYAcR73f7q+LZYbY35O1iyfg+7V69kX6GVsD530Dc5i2GDw6jetYl9+zaybO1xqmQJDB6aSuqgkYSWbWTXL7tZs3Ifhea2ZNzRn5Q+dzAorJKda7ezZ/PPbD5VjSxhCINT0xh0TxSVq5ewcu02Dpwpod6zG3+bNIWJQ9pjzd3Cut0H2LJsNccq5CQMGUxK+iDuzYxGJv6tu6AtZmih8ufneODNHNrfk0kbV39io7ww5B/meImUTgOHkJEQiqfYCZHqGLvPeBMfeIL3J32H47i3mdQ7HE/zbt4a/S6qe+cwdUg7vFu8P6uOA+8+xOzKkbw9bQiRPs3XTW0LwkJWvfg8i7XdGJ4VQEO5gaDO/hT+tIKi0ExSI52pvliLLD6FHh1DbN+/UX0mzn31GDOyU3ltxkjbSe0f2wO7rRHr9l+yVLH2xTHMPtGOEel+iANiifQxUnTkGCXijvQdnEliuDfiVrl9rLoDfPjobMqGvMmUYTG0sU0AzWvnolW8/uJi1IlDSA/UU2UIpJP/RVasKiA4LYVI1zqKa6XEJvegY6iQE7YVUreI8TTXnWDR2x+y17UXfXuG4qwuo+zYGuatr6bni3OZOii6iQHt+sd0ju+eeI5T3V5kyshOBP0Wk3Dr8sZC9i7bxJ4dq/l5Xx7GoHQG904h646BhKsPsWvfXjYtW8fRUjfa9x9ASuYQ7s6MRaE/y7qvPmfJMSuxGb3pEuKKrqKSRt94IrUb+eLHbNzaRRHReSijskJoPL+P/edqsbp74aNwwawu5dzh/Ry/JCI0cyT3DRfYECs5uHIzu3esZvXeC5jD+jAotem6tr6ulMJLdYh8E+k7ojfBqoP8cmAP61ft4Xy9N90H9yOlzzCGdXXh3MZt7N6+mp/35GII6c2IPvH4y0BXfYm83Ms0enSi38hhpHcMQuFipvrUWr77fDFHzdGkZXUjVKyjsqIB7/h2aDd9yeJsFyLaRZAwdCQx9Yc4cmgna1btI08fQPKg3qT0Hc7AriG4m0o5vnE5qw+UIW4bQ3SwlMbSXM4UWQlL7U/vnnEEeYhpMQdLzWl2bD/ChfzT7Nu8leMXDfh160Nq5ygiO6XTR8gzJm3eZRWYFC+fZteKFewrk9A2NppgmZHashoISKRXN29Kt65k5eqN7M++iEqWwPBxk5g4IhFx8V4279nHphVrOVrsTHQfQY+DuCczDh/570gGbqzg4PwPWHihDZ07BeCkrkRjLWfPgq3UR/SiQ3wCnYPNlJw5R6V7PH0GZ9I5/Dr7x0jlLwv46Ids5Ik9iPUyUVVRydktS9jZmMGLsx+35eNsCm/Sc/jjx5i5P5RHnxtPn7ircZxW9RG+fv5jzgQlEWg1E5QxhN6JYXi5GTny8QRm/hLK2BnjbGXEIgvVez9j5qJK2if40NjgTZf+WSSG+yC2zasGKg78yNwfsnHv3IuOflBTqkKs1LF/RTay5ES8yo9REvwwY4cnEtFMuGKsPMDCD38gW5pA1zgfHGpKqBWH4VW8hk2VkST4GjAFpTEgqwPmbXNZXOiKWFtMMe0ZdPcQkoXcsE4irA1nWfbGe+wRxxPiYMKn1yAyFUeZv+oyUg8XRG5+dExPo3OEsNnngLVuOx++tBpzyr3cPVC4tu2EyFTC1vdnslwVS4y7HnGnfvTvFUeQosl+jJUHWfzRD5wUd6RLnC+OtZepFYfgWbyOLZXhdPQxYQ5OoV9mAhE+zWyMtzXCGjj2+STe2OXDfdMeszngTYeBFip2fMQby1TExnlhsfoQn5FOUjshT2Y9+z96ilk7Xegc549PZAxB0kYuns6j0S+JzD7JxLf1xM1JhKnmJCs+W0COJIb2AU6oakUEdfDh8upl5MjaEyCy4NdrIH26ReEndcTSUMbJDYtYdbQB35j2hMr0lOQc53ytGxHJ/emT3JEQz6Y+aNEVc2D5PJYd0eHTtg1ujZWU1SuIy+hLRrcY/AUCs5bh1tLA5QNLmbfiHE4R8UR5Gyg5n49a3p7kzGQSIoWbRk1kG4KDefzLp5i1w4O7poxncFJLjlEhhcYnzFpWTWSMFyJ8iUtLIynaD3cnKw0lB1j+3UrOOYUTF+2Dsfg8BWoZMcmZJHeOpI17c0ouLOhKDrJy3k8cqfcm2E+MvrKMenl70vpm0i02ALlriywWGkoOsmLeSs46hNnqNZWcJ7+l3sRI2rSk+hK0prvEgZ++Y0UOhMRF4etQy8UiFe7RPUlLTrSlWXNpnULNWMWRpZ+z6ChEJnYgwEVNaa0rQcpStu0sxz/KGxyC6J6VTkfnX/j2p1xMDlrKy61EZI1gcEaHZqe3kQsr3+Wj7WZCA11x9OtCVlZ3Ym+XZdVYzJGN29m1eTXr9p1B5ZlEVkYW/Uf0IynSh8aTC/jona9Zf7IGl+CO9EgfxF1DfDi5aBX5kvZEK804hPYko1dHwrycUZ/fzdadO1i/cjPHCs20Tckipc8Q7sjoSKDTJXYs/JYle2vw7ZxK92gPLHXVaOXhhBiPsGLVYTTKICK7DGR43y6083Ohofw8+9euZk+BBe/IaEI8oL6qFrNXLF26dSLCrymvoaG+nNx961izOx+LdyRRocKL1dSaPInt2o2OkX7IhIwD5kZUJdnsXLOZk9XO+ISF4uOkpfRCHjWyaHplptEl2h+5qwPlxzaxfecm1qzZy+lqD7oMyCKpnQ8ujbVcLsinRONGRNoQhvTuSqSvtClF0G08lppDLJjzMcvP+TL86ccY0SvihmvEv16NiYt7lrF2614OHjpBTkEZOkkoHTvF0NZHYLcX7nE3oFHXUqs24qwMpkNyH7KSE4kSiAivTKJ6VJdOsnP9Rg5etOIdHkWopwhtjQqLTyxJXTsRacNWyILTxGp7xK0nyfHhBPkp8JCJqMs/zrF8I8E9+tEvI4lwgYCu+dZTo+oyp3etY8uxChy9Qwn1dUZXlkdetZTInhmkdYvBz3COrauWs3z1Tk7kVeDcrjf3jnucu1P9qT+1i307N7B640FyGwPonplKnyF3kNYpHF93K+oLh9h/5BRncg6xZ9dhzlfLaJ/ciy4d29OxZxpJscF4uZkpPb6VnTs2smbtPnIqpcSnZ5A+cCh9Y1woOXWInWtXsflQLg1+3UlP68PgOzNIiPBDbFBReno3GzYfo1zkSUhYG1x05eTnVyOO6E56endibHg2HbQZ6yu4cGAj63bl0qgMIyrMC0ddDbVGJe06d7XdVpELYFrU5B/az9FTp8k5vIfdh85SLY2lZ3I3OrbvSPfULsSGeONmLuXkth3s3LCGdfuyqRTHkZqRSf9h/YhxLeX0oe2sW7WZQ+e1tOmWTmrfoQzPSCBUXMbepfNZvPMy8rhe9IjzxUFTTb2kLUGW02xat59yFz8iu/Wlh4+avEObWL/jGBcqnAjPGMUjj/+NtKAGTu/ey64Nq9l84BzaNl1JS+vL4BHpJLTzu5Fc9SbGeluOp1Wvpqaunvp6LQYzOLpJkUrleChdMWlUaOrrqW8wYBa5IJFKcFd44GpUodFqqdfqMVmdELtLkcg8ULoa0dSpbf81Gi2InCW4S91ReLphrK2hVq1tuh7qLEbu4YWXQgyNKuo0Wuo1OowWEc4SKRJ3JV5yt2b2ytvozdSz643RvLA9hMkfTKabzExdlQaRRIFS6YGXtxJJywRnbkBndEK1+RUmzndl3KwnyIzwwvHEx4ydcZqMt1/mng6t83wKV9o+5Il3Vdw16wn6RHi1CnQ3oqkoo7KmFrXeGYW3D74+7pjraqhT1VKjdbAxRHn5eCET8mDdbHAyF7Doqekc6fo8z9wZj9/tJhi9HVj+N+9od/POAy+wNeAx3p7UCw+rmup6K2K5EoWnF95K6bWTqfAtaz1H5k7iHzUjeHliX6J8W5EjGDVUllVSU6tG7yzHy8cXH3cLqpo61LU1aB1keAj1esmbYj9ay34Lx1Ng5tJUlnK5rAK10RWllytnvn6W9/a35bH3n2NYnP9NGYzNhYuZ/txBOj4zhREJQbedXscmllWPpkZFfX09Wr3A1OuGVCpF5qHA1axFoxH6kw6DWYSzWLBnBR5yITmxCW1tlc1pqKrTYXKW4e3ridLDExn1VJVVonVwR+7pjZfcFZFejUqro762ltpaDQ1mcJHIkcnlKL288HB3xUlkoF5gYtXWo2002fqWROzStEgUEnybhD4lQ6mUImpUoRZkE/qtxQEXqRSpTIlSKqJRpUZTr2lujxh3qZttIjGb9OgNVpzEMpQeMsTOTYszq0lLXWUVFZWVqHRmnGRe+Hgq8fCUIaqvpqyqHpFUbosjcDVqbFgJ3xUYoN2kEqSCHUldcXKwYtTWUVOnRlVbh6YRpB5KJK4SFJ4ets2na/qNqQG1WkujvhGdrgGj2YqDixixmyuuEjkKAZPWBawmdHXV1OkMNNbVojG7IvOQI1d6opSIaKyroVZVT6PJIgx+uHt44a0QIzJobFhpNA22cdFZLLHp0VMubkpwfduPBYNawKkalcEVhVwMZ+bz3OwDtH3kGe7rFoCTrgEHsQSp0gsvgbnX8cZEzRa9mqqyUiqq67FIvPCwHuPrl+ZyMnwCrz452HYK2iSVFXX+Mc43+BAe5o+HpFU8u5DOpzifwkoTbgov2vj7IBc74ygSyhwlt9GHsNCAK2UswiLrUgnVWisSb38C2nggada/zU0SZCovp6q2HrOrHKVcjlzujL66nAq1BVHOQhZpB3D/kC5Et6SusOpRV5ZRXlFLvcUdL08pYpkCiaWGkktVGF0UeLbxw1vuBtrLFBaWU48YpY8/ft5y3ISYFVszjWjKL1JU1oCzXIm3ny8Kx0Yqii5RaxUjV3ji7SXDrUVei47qcg0OMiUywe5slZjRVV2iqFgNUiVefm3wtNlks3KFfl5ZTllFDVqLOx6ewjwnR2IRcKnG4CLHo40fPnK3G3Mz39I+rKgLjpOr8yQkNACvlo0SQSJdNcWFxahFUhRKL3yE8VCYu4SY0KdfZIVlIFMe7UeUp5FarQNisRh3D0+UMvHV8dhqpL66kqqqatSCvSs88PZ2x1pXwsUyHQ7uHrTxb4NS0uKUCX2wlhpVPdraGlRGRyRSKWKpDIVSgbu45b0m51ivqaamqobKKjUWiQK5UL+XEne36/qqzUY01DSP8WqDE1K5DJnSEw+5BNdr0nRY0RSesKWxCQ4JxLv51NSmpQYBkxLUiFEovW1zhLhlPrcY0FRXU6eppVZlxEkiw12uxNNTjuT63JPCuzVV1FRXUakyI1YoUAhjrdL9ql216M32bjV1wiL++npdrp/LLejV1VTX1FJTq8PiKkHmLkPh6YlcIozF10/8VgyaasrLy6nRWJB4eOAulSEXW1CVllCld8Ldwxc/HwVikY6yoouUq024Krxp4+eD4orewFhfTnFRGVoHKQofP3yVUlxv1wuyGtAK475Gg7bRiMXBFYlEikypQOrmhEVXS1VVLVq9GYvIGTdhXejhiqGigNzCasxSX9qGheCnlOLsKPh1GlRqYR5psK3znNwkiG1znwRXRwsNqhqqKyubwoQcJHh6e6L09ETm2Iiqogq1xRWpMP7KJbgIbbCaaFTXUqdtRKdSUS/YpaAzpQcKd7dW6w8rpkY1dbVaGnRqVPUGHKUKFAoPPBTSpv7TolerEV1dLeoGva1OHa5IxG5IhHlQLsW1eXwx6lSohbZoG21zlqtE0lSPxYzR0LQelio9fkW/t+j8gvNbJcwFTsi9PJAJurztuUSwmxrq1PVoGwyYzAJrqgPOLi62OclGVWAVUveZsVhFOAl2qGjqvzfYoMWITl2Lql6LulaFHjHuSjlyhRK59Cq2LY7nKf/RPDa6L53aGKmt1WJxdMFV7I7CQ3i/1WZT8xwk4Fen1tGoU6PWWXERi3GTCOOJvGmcMOlQCesajc5mK46uUtu6UiF1xtKgQaNRo9EJ65Qm7JQplgIAACAASURBVN3lHrZx27YmaaynXtdAQ4OOhgZDk9/gJkbs6opYJkfqJrTXilH4tk2HeoxmkU0GibDucBNhaNCiUWvQ6Y1YHV0Ri92Re8iRuDk3pRox6lDVCaSOOjRqHRZnMWKx1Ian3F1YG10TR2az/bq6enQ6Dep6PQ5iAUsPPJRSxC4tc7AZvbBmbGigQddAo8GIWehXbm64uUlwl0lxE8YswUYFudVCvzRgdnBp+rZSjpvISINWwEeH3mjBwVVsW5co5RLcnKw0amqprhD6mMamU6W3Jx5CH3MyUF9VhcrohFjpjcLFSINGhVpnwGwVMJbj4a1E6myhQaOxfbtBLzCpuyKWyJArZVew+S1zvS3H87cq+X/xv+E4H4+ZxBK3B/hk9r2093HDZDAhcnLB+XonxrZoUbH11Qf4zPQgs6YMsCV0L5r/BI9viealNx+iS6DimmNxa0MO3zz9FiUDXubxfpF4NcfmXRnLzAYMJhFOLgLNc5NBCiyZtt+cnW7pQBvPfc/TbxXQ99kJtuvKzbm4/89hNx7/lHFPLcRh1IfMvL8TfhKzLS+yk4uzrT033+Cz0pDzLTNmXyTzuYn0vSFtjRWzoSk/pbOTkFalaaF842/XNf+mjqcVTe5ONu6vIyQzkzhfNxys4FC9jdlPzuFk9GRmPtmf6Ja8UNdUaSR3/lTm5KczaVx/2vtLf8fg/y9QjTB5GY2YrQ42PK9MClYLFiGH6TXgWhHSLxhNZqyIcHRyvjrJ/AtE+d9WYRHS2hiFJLVOODs3pcqxadViERLX/nqu2Bs+bMVsMmISNr+cnHG8VZ7ZPyS01ZYGxCRMyAJd+U13gf5QxbdXSEi7ZBb0ZyV/wVSeXStj9IwJDOjQBmezBYdfk8lUxvHN+6jw6UK39v64OwlkBQ5Ub32baZ9coONjz/Jg7xh8W4i4bGOPETNC2pmb5A22CrZnQdT8vRZT+7UyVkFuYWHwa/JZhdRLRiw2mvtm/VvNmEwmSla+yqwziYwfIxBptU6vJNi0EaPFwVamSRdN+rE4tM5da8VkMDT9ZkvDdB3UwrebDObKmGQVbAgHHG/2/k01JXxXSG/iiONNHH5BrpvJKqQ3MQuU/S0Lvtuzgitv3UpHwn8m67VtEPJBvvyskL9zKtPGpBHlCSaLYE9X+9z1IghyN9l7i15a8Gq2jZv1QaOhqV7nW43zNiO70u9/G4MWDG/d96xmU3MO5+vHwCabvh6T1uLb7LTZrm3y3EIfQl1NQ9ZVu/m1139PvS2YWK/0hVsbRVPfsuAg2G+zzMJvNpMW7LfZ4Fvk/bU+KOjZ1t8db8Ttd5rl7b1uMaHXC/3SBdcbnPDfqMJmN0IOcgecBBtrGeeF1BNC0eb0J9fW0mQ/gl3+ls5aMBXZxoxfyZveNEPZxhshZ/iV/nF7rf+LvWWxjX/CWkQYS66fF684noFN6VS6hzhhMlkQ/ep4eZ3mhNRUZusN883/GxBtc4wJW592dGxy7m81tgj9V9jE/k37+zciIMy/RlPzON7cD2wmf6s+9q+T57/G8TTlfc+kRz6hdtAHvDeuK4G/lQfTUs6ypx9gXfjrvD4miUBxEQufnsgKn6d5e1IGoZ7X53w0Ur79fWauD2DslOHE+/+LEgZb69j7/gv8LLuPiXd3pa3yZrGI/zqDuP2aTBT88CQTPqkk6+05PNqz7S1zeV1Tr7GcnR/OZKPvGB4fnkDgrWmAb0+kmzmeljLWvf4Uc3eLGfbm680xpXUc/HQ67x4I4J4pjzIw3t92Le/6x1q3j7kvr0Jy1zju7B6Gpy2u0P7YEfj3INBYsJ1Fy04gTR1Jn3gRu96YxjrZvUx+SCAKuvUVTVP298yYuRRVzynMGJ1MuLcL1poDfPXyBxzyvZOJDw8kPtD9tq96/XtaeGOtVu1pFr78IsusI3jhyREkhrSOQfpPSfFX+Y6Fqk1Czs9sIifO4NErMaF/lfbZ22FHwI7AnxEBU8FK3nr5M04FPMzTguMZemM+9D+j3HaZ/u8Q+K9wPI31pWQvep1pn+UQ/cT7TBsRb3Pgbn2gYaBg5Zu8s0NOWloYooqDrPz+AP6TP+P5YVH43ITdx6IrZOOHH3Mi5kHG9ovBR9qKOecP6diK9uQ8Zi3U0/fhu+ghkPT8p09hbiq3kfqyHJbOnMY/T4Xz6DvPckdiGErX2z29sqAr2sinnxwn4v6H6BsnxOL8IYCuFrqp41nNprffJifmDoZnCjn2Gjm7/CO+2G4gcdRohnSPaCaIue7bVi3Z82ezWJfO6JFCXkXx1Zik/6WY9uJ2BG5EwMzFFa/y0hIVPcY/xTDlPj7/poj4+wUSixAUt0jOLtRlPPsDMxdo6XXnUNLi/XFWnWTVF9+xz5jAiFGD6BohxFnfZoDRf0o9pgoOfPceX+4xk3TfI9yd2g5vW2Co/fndCAjXZivOsWHu63y+R0z/KRO5KzORYPem6/T2x46AHQE7Av96BEw01FVT/MsC3v94KacVg3ls/Cj6dmmL8pqr9//6L9tr/P+NwF/f8dSfY8P36zleUERxdSMunr54h6Xyt1EphCjcfv36pLmeytIa6nU69LjhkPM50z7Xcde7L3Bne4HI4WaKN6Mr3sfCL3ciHTqWwZ38kP3GovFW5mOtOcz8f+7ALf1O+iaFoLxCbPB/a3T68xv4cf1x8govUtPogtLHm7DkUdyVGo7H7d4DNuso2b+Qb3aKGTBmMJ0CFTfmo/w9zbzpVVsz6rPb2XCgmAaccLY2oHX0Jz6pE9Hh/ihuGlNrpebID3yz05mew/qSFHaVkff3iGN/147A7SNgRX9xD8t+Po7ayQWrUUSbTukkJ4XjIxVYMW/9WPUVnNqxjaNFGiyYaWwUoYzsSOeOsYT6NcVD/7keK+pTm9mcZ8W/XQwxYQEor4/T/XMJ/KeWxnL5ID9v2M/Jc0XU6p2QeygJ7j6cwT2j8f+tmz1/6pbZhbMjYEfgT4uA+SK/rNrMviOnKaxSoXeU4ekVREK/YWQkRdKmOTXSn1Z+u2D/Zwj89R1PSwN1VWoazZam+ACrFZykeHrJbkrQ0aQJI9nfPcu72fE89cydxEgus/y1N9kT/CDPPJhGmEdz7rybqc2ip6bgMNv3q4nqn0a0t/SPOVTmUg6s3IMquDOdOzSz3f5JDi0sjSqqVQ2YLNYrd8KdpZ54yK4jbfkNs7boayg8vIMDqgh6p8biI/tfXCM2F7Pytc/RDBvP0E7BKFvIjoUAdZVASiUIYwFnKXKZGOdfifExlx5kzd5a/DslEicw57YQlfyfdVH7h/8rEDA32ggKDGYzZosjEnkz8clt9XmB+EUgATBiEWKABSIAdzkyYdf5z+ZzNivTrFOjMTsjkbjaxmH788cRsBrqbSQdeiFuyDbHgZNEYSNXcW7NlPrHP2EvaUfAjoAdgWsRsBqor1OhbRDiYFseB9xs5GxNxIP2x47AzRD46zuef0jvJnIXvMhnlzrSL1FC6fGjFMuSGDIsg7gAOS6/dd3Vokdd14izXHYj++rtyiNcn6rTIpLIbOx8v/XJ2632z/aewHqpanTC3V1wBm9rlf0rTTCiLq/BIvdEJrCO/cGqrMZ6VFoRYncxLjcjnfqzAWiXx46AHQE7AnYE7AjYEbAjYEfAjsD/AwTsjudNlWTFoCql6GIpKr1AiS1H4emDj1JId/EHPZr/B8ZgF9GOgB0BOwJ2BOwI2BGwI2BHwI6AHQE7Av8OBOyO56+iKqTwEHIKNqWz+PX0IP8OtdjrtCNgR8COgB0BOwJ2BOwI2BGwI2BHwI7AXwcBu+P519GlvSV2BOwI2BGwI2BHwI6AHQE7AnYE7AjYEfhTImB3PP+UarELZUfAjoAdATsCdgTsCNgRsCNgR8COgB2Bvw4Cdsfzr6NLe0vsCNgRsCNgR8COgB0BOwJ2BOwI2BGwI/CnRMDueP4p1WIXyo7AfycCVt1Fjv1ykoLLldRqIDhlML2ifZC52Em9/jstwt5qOwJ2BOwI2BGwI2BH4K+CgN3x/Kto0t4OOwJ/AQQs9fkc2LaTbWtWsj3HRPdn3mXSgBj87Mmo/wLatTfBjoAdATsCdgTsCNgR+G9GwO54/jdr3952OwJ/NgQsBnT19ZSte4sn5x4nctL7TBsaR4DUfuL5Z1OVXR47AnYE7AjYEbAjYEfAjsDvQcDueP4etOzv2hGwI/AfQaBx+5uMfm03wePfZdowu+P5HwHd/hE7AnYE7AjYEbAjYEfAjsC/EQG74/lvBNdetR0BOwJ/DAH99lnc/9ougsfPYdqwDvYTzz8Go72UHQE7AnYE7AjYEbAjYEfgT4OA3fH806jCLogdATsCLQg0bms+8XzM7njarcKOgB0BOwJ2BOwI2BGwI/BXQOA2HE8zVbknyK/UYbTcRpNFSkITo/CTuOBoe92M5lI2Rw6fJL9MTYNIQVhSKimdgpC5OHJj5JYFdcEh9uw7RYnWioOzkrCkZLrG+uHu7ADaYnJOF6PWm7DeShxXX9p1CMNb7IwDjVSc2seeE8XUG82IZCEkpfagnY8Eocqmx0z1hRPkVbRupwixfwyxXjryL5Sgamz1TaGdCVH4SVu1szibo4dPkVemogEFYZ1TSO4UjNy1uZ2WavKP51GhM2C+IrsIHF2Re/nSxq8NXu4uODo0oWKuusCp/Eq0hlZvSwOJbR+MwtVExdkcLtY0NOlF5E5QXCyBClecRNBYkc0ve05SrNFjQkbbpBS6R/sivdrg31SmIW8/+xv8CTQWcjb3Mmq9BYuxEaObDyGxnUlqH3C1bc216Sty2L/3BMXqVt+N8kXqcgXoq9/Vl3E+u4jqBiO/bloOyEM6EuXvjquTUFRPZfZ+9p68ZLMBkXtbElO6E9XGnZZPmKvzyM6roL41bmI/omK8aSzK53KtDuMV42mqP8KlnNyiW5Spa20XDsjbxtMuQIabTaabP+bqfLLzy6nXt9KfJIDo2GA8xGYqz5+hqEp7RX+B7aMJVIpxFoFVU8yZ8yXUNRhvYefXy6GnMucX9p24iMqGTTAJyQI2MlybOuN1jwVN0TH2/XKSSyojImclIQk96NI+EEWLzTaXsKiLOLbvAKcu1mESOaMITaBH1/YEKFxxtNRQkJ1HuUZ/1a5FYnzbReNtuERhSS26VoOHg6Itce38kbs5N9duQlN8muPHz1GsccQzNI7YygU89d4B2o57hfvCTFSVFKMWeRLWqTMdQr1b2bGZmoIc8svV6E0tzRMhbtOOKG8DxQWXqdUZrtqXSEFwfDiuVXlcqri2jMQvmui2nkgsVVw4U0SlVm8rJ5IGEhMdiFLiggN6qs4cZP/xImobjYjcg+jUsxvR/opWGDfJVFCupvFmMhVeplbbWiY5wR3Cca3Jp/iGMpG08zZS8qtlCiguV13zHTffSKJ8bl4mqEMkAXKJzcZu+ljqKMo+S+HlSmpU9UiiMugR7oa6+Cw55y5jcPcnIjaWCH8Fbk439ml91VkO7z9BYY0OI+4EdupB15gAlG5XDdBQeJjD9R54mUopyCumRmfCYtRjcvUkKDqBzu2D8JA4XzM36CvyOHexAk3j1b50g/wiOUFxkQQoWtqnp+pCNqdO51NW14BIFkBM5y5EByoRt+q31vrLnM8tpqa1Tm6o3AFZUHsiAxRIrjAsW9CrKyktLadGpUNvMmFpPZA5yAlqf508edmcyrkqT3RiF2KCmuSx6srIzb1EtabJ7n71cfEiNDqUNgoxTc2wUF98ioMHjlNQrcfqpKBtfFeS4triKXG6BkeLXk1laRkVNSp0jUZM1wqMLCiWiAAl0luwSFtqizhTUEadznh1FnPzIbydD5byYi5XqdFfaYADssBYIgJb6tRTfe4IB08UUKU1gDSAuG5diQ3yvEYnvzk52V4wUJV/jiLB/m9lFrJAYsKl1F8soaxWy1WpAQdX3D288fVrg7dcjLPjjR1DX5XP6VM55JfWokOGv2CjsUF4SlrGr1tIa6nj0pkCSq/5rhve4ZH4WCspKa1E3XhV2zYbjQjEw921SW/6KgpOZ3P6wmVqG8DdL4pOSbEEeUlxxsil40dRS2WYKksovFhJvdGE0WDGRRlAZKdE2rf1xv26uddQk8uxA8JaR4MBKf5xXenSPhgvydVOYVEVc67gMjX1hmsa5+DijtK7DX5+3sjFzjTBZaHu4jkKS2vQXplYRbh5hxHhC1Ull6lUNbYag2UERIcT4CXDtbm8tiSHw4eOk1fZgMVR6MdJdI4LxdvdGeoucb7gMtXa1vbmTWiED1SXUlpZ10r/DrgHRBGm0FNWcpkqtR6rgxif0AiCfRWIhcXRNY+VxspC8i+VU6szIXLxIqRdEK71JRSXVqM1tCwURLh6hxLZtg2KVn1KwCm38DJVmlY4OXsSExWCl4e0+Ut6agrPkp1zgcvVWqzSNrTrlERMiBfuvzoQXxXSUneJ3MJSqq7Txc2tzgF3/3aEBXkjbwIXi7aCvJzjnDxbRKXKhCQglqTuibaxzLX1EG6opii3iLJaHVemrRsHWdz9owiyllLQ6IqbqZaKoouUqw2YTQZMznL8IjqSEBeCr9yVa6qvzefkoePklqrQI8UvprNNxz7u145RTV27mqILFymr0d5SFqlfFOFCW92EthqozTvB4eMXKFM3gsSP6M5JtA/1uYKzoK8Lzfq6ollXL9qG++KoKqO0vJaGK2OJCKlfO0JkBirLmnR8u2XCgnxQ2GSyPzdD4LYcz7qLpzl/agsLvtzAGZdE7n94GPH+clydHHC06shb/wVfbSpE1u0eRmR0o0dyLG0kzjiaazi16huW5njQa1Aa7f0kWFQX2LP8Z05IMnlwTG+iPMU2R8n2WDXkrvuKr7Y2ED9kMClRvjgbqji/bxs5rincNTAej8L5TH/vOD490ukWG4h7wxGW/HMNZ8Td+fvoTEKlBi4fXcfKA16Mnv0EmcEizq1cygnHGBI6hOHrbqZs/yLmra2hw5iJ3NNNcICF7mGm7pLQzq38+NUGTlvaMWBkX3r2SCbBz0Rx3lkOr/yWRXtKUHS7m+EZ3W3ttDme5hqyf/6WpdkKug9MpYO/OxZVHntX/swJt3T+/vfexHhLcLKqKD5znpxtC/h6bTbW+HsZO7wTfhILmtIz7N1yBG1Yb+4e1ZdYXwkOqkucPX+KbQu+ZkMORA+5k949e9IroS1KVxN5C1/l5QWnsIYn0zcjg/TMzoQoXak/tZIVxxxplxBHWBt3zGUH+Om7tVS1v5/H/tad4OsGhF/rGvVbZjHxmyJCM0cwPKMjgQoXHC06yk9u4IcfdqGKGMqj44cQ38YdZ5GVupOrWHnMgYhOcYQL3y0/yNJ5a6iMvY/xo3rQVnHtQCQMLoVnczm5YSG7ndMY0D0Ub6kDuoLN/DBvG/luiYwYkUmP5F7ECI6ng4pTPy/nOBHEx0XgJzNTfuAn5q+tJPre8dzdMwSlqwNm1SXOnM1m58Jv2JCtJ6TvXfRP6UnPhDZYyvI5d+Bn5i3eS7EkkTuGZ9I9pRdRYhWF+afY9uM3bDylJ6TPHfRO7kVKZ38sZQXkHl7N9wt3c1GcyIjhTTLF+suaneGbI2gWJu/z2WwX5DhlImLACHr36kWvhBA8xWYKfnqDV+cfx9i2B70zMskQ9OfZ5HiiqyAvN5cTGxaz3yWDAd2ESdgB/cXt/DBvMxec4xk2LJMeKcnE+Mtwc1SRvXolx62hxLWPwE9uofLQMn5YW07k3Y9wd69wPNxaTQPWevI2f893W+qIyOpHalyAbRLJO7CDHIckBvVLIFjphgNW6vO28MPXm6mNzKJfWhwBYhM1Fw6y85QDSUP70ilQRPX5XLK3LWTe+pM0BGcytE8Kyamd8RdVUHj+MOvmLWJ3oSsdhw8jPTmZXrEByAWv3VjFiZ+/Zt7mKgK6p5HaLRLnsmMcWLeCBVuKkCdkkpWVTnKnABzKjrF53THMCXdy/4gehHm64YgZdcl5crO3sfi79ZysDyJ9WB9SUlJJDBRRUZjLkTXzWLKrEJf4YQzJ7EVycjTu9RcpyN7Gku82cLIxlN7DepOckkKnEMHxLGTF7NdZcESLf9fepGdmkZEUhpdYx+m1P3PcFERs+0j8FVB5eDk/ri0l9I6HuDulHV5iAWML6pJzNpmWzNvACXUA6XcMIDU5mYQAqCzK5fDq+fy0Kx/nDkMYnJlCSkqLTNv5ad56jmsCSBvah5TUVBIDHKi8mMvRNU1lnOKayiSnRCOztUMos4ETGn9SW5Wpuii0/WqZQZnJpCS3J1BwWH5tTjSXcGTtVnZv38CWY8X49R5Dj0AFge0iCA9wp7HoF9atPo4oaQSjBnclxEOwEdvgjfr0etYcNeAfIzhocqg6xs8/rqMkeDAP3JNm2+gT3E/trg959rszyBMHMKxPZ0KFOcDaQOXprSxZuIPyNlmMfmQYXUI8mhemYKi9yIXck2xZugdLQipJUYEoHBu5uHMRCzefhZgBDMxMJTUltsnxNJRyZOX3rDinpHufdBJCxKhz1rJoUy3thoxiSI9wPFv6Q0MVhRdyObF5KfvpSnqXdgQoHNEX7+GnBZs4bW5H/8FZJKf1IjZQicSpgUuHN7JqxU4uuYXToUM0bYVFrbOJ8l+Ws2TLWSwx/RmUkUpKrxgClII8ZRxZ9T0rziro1juNxFAJ6px1LN5cQ+SgexjcIwL5pWXM/nQ/ppAEunaKwNN8hvUL1nKssR1DRvYmro0jVTnbWPeLM32ffJgBCSHIRVoKdy7ih01l+HXPJDUhBHerisLDu8k2tycrK4lwHzH6S4fZvHIVuy66EBoXT1SILwqJM+byX1i5eAtnzFH0HZRJSksbb7EgtqhLuXAhm51Lf2DDkVp8ew0iKz2VlMRAnGpLuHB4HYt+2sl5axT9hTrTk4kN8kDqpOHs5nUc13oTHhNFkIeImhNrWLKuCN++93FXRhx+7jfdIfuVKcpAXXEeeSe2sGKvgZjuwmLeA6eGS+xZupitOQbC+w4kMy2dXjEKDGUXObNzGQvWHaY2oB+jhvWgnbcTusoLHNp1hGplZwbcOYDOYZ7YujEGyo+u5sflp5EkppPaJQJ37Rk2Ld5MRds+3DksmSgfyTWL6xsEtWgou3CBnB3L+HH9Yaq9e9C/dzppqYkEuqi4nHeYDT8uY+dZExGCrBnp9GofhKfUBWP5Mdb+sILT4k6kpnchwl3LuY1L2FIRTOadQ0mOcefEly8x/xhEZQ2nb7dIvKVO0FDN+Z1L+Wn7JeQ9/saYO3oS6SNGhBXNua1sPKpBERZDVFsPHGtOsf6ndRR4ZnDPXVnEB8psfdRSX07BhdPsWr6A9Yeq8Os9iiG9ovFx1lGZd5i9R6qQderHiAFdCPd2Q1uWR37ODlb8uIFD5Uq69M8iPSONxGA3NKX5HF2/iOXbT2MI603/rAzSUtoT7OWOC1ou7l3Gwo2XUCSkktY5AqVIQ9GxvWTrw0lO70o793qK8nLYufxHNh4sR9GlH5mZGaR1bourppSCIxtYsmw7p/VhZA4QvptMrJeF6uLz/LJ6OZsOnaY+6j6eenQY3SOUzQcizZoyFLLruy/5dnUODvG96ZOVQWqXMNz1ZRTl7GDljxs4WK6gS7/etvZ0jvRHKb5qo9b6Cgryz7B35ULW7b+Ia8IA+mVl0LdrJD5KCRgqOLl+IStPOhGbkka3dgp057ewYstlfFOGMyS9PX7SW9u8TRe29i9k48EqfDPvYFBKB4Jkrjg6gb5kPysWrueoKpA0AffMZNuGg8zFivrCLlauOog2oDM9ukbj69JAybGtbD6kISRrGP17RuHTZOxgVHG5II9TW1exTxtCx4QORPi42Opfs3Qzx9SBpPbLIiMzhdDy1Xy88BDakFSG9u9BlJ8MFxqpOb+XVUu3UuDamTvG3ElKbBskDlbqL+xky5EaxEHRRId64VR3ms3L15Mr7c4dI/uRGCJv3kRr1otRRakgy7af2VcfTIeEeCIFWS7/wpqlmzimCiClX28yM5OJbeuD3EXLhV2bOVblRkB0LKHeTqhOb2bluvOIu4/gzn5JhCicmuw67zR7Vi5mwy+XkCT2o3dWJqmJwYh15eQf3sCylTs4VR9ka2tmZgoxXlZqSk6za+ViNu4vRtwpi8ysLNKSQpA2VFBwdBPLlm/jpKYJH0Gm9iG+Vxx/u+t5IwK34XiC2diIXnOQuWOn8ZPrvfzz7b8T28YdR5EIEWaqVk5n9Dun6DTtI57uF4mf0g1nBx2nf3iNWRtcGfrkQ/SJb4uncOxibqCu5BDzZ33C2fYTeO6hZILkLoiE3bu1b/PyP88R8fBUHsyKJUDmgshcxd5PX+T9jW6MnPMCgyq/Y/apLowe2pEQbzGOjbuZ8/eXWO/7MJ+/fhftvFwxqk+z4LXV+E9/kt7m7cx6dT2ijEd5clQX/GROGNWFrHv7Wb7KT2TSW4+TEaK0LXBa2vnJuBksEd3Bh7NG07GtLxJnKyaDntIVzzP2vZPEPf0BT/ePIsBDaGcDZ36cyaz1Tgx64kH6dgzB080RkbmRusuHWPDWp5yJfpRpD6UQonDGpNejOfIpT0xdgHHYh8x+OJFAuQMmvY7qI/OY+e4W9BlTeXNcCsEyBwx6DYc+foznl7txz4cvc1eHtvgITr2+iDXvfsB+pbDI70yknydymQRnawHLXnyNDeZUHnrqHroGyHEyqila9y7Pf3GB+MffYELvMDxuYzdGs/4Vph9LYMyoNDoJi0AnB0RYMGqrOPTPqby6vJKkKR/xzMBIvF0KWfbSa6w3JfPgk/fQLVCBk1FD0fp3eeGLC8RNeI0JvcPxbBnkbGtVM0a9nrpt37DUeQBDkwLxloiw1K7ltTFzONpuIrOfGUT7YE/b6Yq5cCmv/g97bxkW5Rb2b5+goBKCdHdJiYHd3d2diAHSIQ0iKigKdmF3d3d3YHe37q2VNgAAIABJREFU0jXMzHvcM6Bsxe3e+3ieL//3WV/2sR3W3Otes+q8rt91rZj9iBoMY2K/ephoKiHKfsHBpMksfeTImJjxtLLWpgoiCgqyubZgImHrRbRPjGVwHSv0VZWguIjC97uIHp3MdRtP+febaVNZUYyoKJur80vqzIhhkLs1BrI6hXw+k4J/5EZeu3iT5N8JJ3Ntqgj98XdGLYmIwsJsri7wJnyLAl2nT6ZvTWu5UUb0kv3JqZxTbUD7Vu7YGWlTVb0KyhWEPhZ2/mKKioS+WcwGaQe61TNHX00B6bf9xI1K4rL5aOL9Osm8f0I7xC+2ERe7j4K6gxkvQH41ZUTZLzmcHM7S+7YMjxxHGzs9VGR7jIg3h+YQv/gWer0nMLRtDcyrVUJR/JULy+JI3SehTUQgPd1MUflwmNS4xdzS7c244W1ws6hGJUUxX84vZ+qcvYjbRuLf2wWDymJyri7CL2w9uS3jiBhaHztjNZQopvDzeeYHRLHxuQPjEv3oVENQIlREUfqNy8sTmLPrA/YDx9KvuQtm2lWgIINHm2MJWngJze5RBA0UDA8qKIhyeH9lPbPnH6ew3hj8hjXFWqeK7PcpzL7GUp9w1uc0JzpyKPUdjBGM5cWFn7kwL4jY9c+wGzcdny5uWOpURlEioijnGkt9I9giakd0yADc7QxQUa6I6NUB5s07g7JwwKnrgLG2BmoqyvByF1On7iWnRj88+zfEUlhrsl9xNCWKpXfMGTR5HO0cDVBVFH4+eZuW+UWwPrMpEZHDaCgYymRDsJAP++LxTr6IwZAYJnWthbVuZRSlIopkdSJZn9mE8IihNKpugpqy/D0uzg8hbv0TrDym4tO1dpk611nuH8G6jMaEhw+jkWOZOgtCiFsnrzOpa21sdCtTsXSMlbcjSkXkZWWRcX0lEVPW81C7B76+fWnsZEK1KhWRFGbw4sRyZq24SpVWE/DuWx8LLWUUil+wO2Ea+zKc6OnZj8bWulQqzuH10bnELUnHuH8gHh1dMFJTJPfYDGIum9GhUwvq2etSRalkXcn7yvWVEUzd9AzrEQn4dK+BadUSrBWLKCrM5My6HYjrN6emlQnqihIyjszAO+kMWv3C8e7ujo1eFZQUc7i9bgbJe7NxHzqKHk0EQ2gFxLlvOL5wCisf2TDEdyjN7fWRLYOl69CpFWwtakzLOjaYaSoizThCktcszmj0JtSnB+52elRRqoDk8Vbi45dztrgR48f3okF1Q1SVK1JBQUr28VlMmnUOrb4hTOjmLutvoT3p65NI3pNJ7SEj6dHUEYOS9pxYFM/Kh1YMmjSURrm7WXjNmEaNa+FsXhWloiss8Ytne2ELJocMooFNNSQ5D9kxez+Ve/eldU1Lik4tImnJZaq0Gc6gTvWw1a5MBek3rq5JYt6uLOp5e9OnrgKnZ0wj7VQR9cZ50quxI4ZqylRUVITsE8yZJLxjLwK9ulPXTpfKShUoEd2Uf2YS1qbCbG6uDCNu9Xvc/IMZ1qoGZmpKKEqKKfxwiJn+szmj1p3ASb1o4KAv77fX+0hO3MMHq86M6t8Me4MqiHPecGJhPMuva9PFZyyda5tR8pP/g/OaFLGoiKLMc2zeXUiN+m7YWmqiKMnkRLIfs09UonPgJHoKhvAqFZAWi8hJX0N09EpeOnoT7NEWVyNlJEV5fE3fRmrqXt7YDCTAoyM1TFXJTd/EnOQ9fHbpx9BezXExVqWCOI93J5cyY8U9jHqPZ0hbF4z+9qoniWy+59xcQ3Tcal47eeE3og21LNVRUpRQXPiRo7OCSDmhTMeASfRq4oiBoNLKvcPW2XPY/dGR3sN607yGMWoVxOS9PUXa9JXcNeyJ57BGZGxL4YpmA1q0aoqTvirKggtSUkz+t5tsjJ/Oxju69Iz0pXcDG6pJX3No9ix2vzGh7Yj+tHQyQkWcy5uTS5ix9CrqHSYwprs7FhoVSvafHO6uj2VK2hNsxwUxumMtjJUlFOV95e72uSzY8xLzfn6M7lwbkyrFFOXcYl10PKuf2zPWfwTt3a1QV1JEIvrCtRVTmLbqGtV6T8arbzOcDKqgVFHCxzNpzF5yDhoNYEDXxjjqVaGCNJMbm+awcPsHnEaNp18zB6qRw+21MSSsfI6tpy/DO9TFqqow3kR8vbKSqdNWc02jB0GT+tHcxQCBDcWifF7sW832cyc4cFeHLl7jGdTaCd3vRhUpuXdPceL4VhZufU/14RMY2bke1hrKKEqLEeXcZkPsVFY9tWGM7wg61LNGXZjnZSeHbJ/O4+HWBOKXpmM4xIfR3Rpip1mJioq53Ns+j7k732DdbTC9WtfERL0ikrx3nFs5i1U3NekwZhgdapvxt0nbZc8Q1pApTF/5FCsPP0Z1roNpJQXZ+UOScZoFockcEjVjnNcAWroayvaxoueHWDp3B2/M28kM7DVM1FFWlFCU/ZH03UtYdVGRev0H0qmeFcJPLqyDxUVFZF3azoEcG5xdnbDTroAk6wyLw+ZwsKAxnl4DaFXDCK4sI+VCJRybtJL9v5pMISWlOP8b6ZsTmbX+GmqdgvEe0BwHzXccW5DKrsdaNB06gDZupqiJc3l7ZiXJy89ToeloRvdujG21MgAulc+brMs7OZhtSXUXZxx0KiDNOsviiDkczG2Ih9dAWrsZyd5V+u4Yi1J28lizCYMHtsXNTB1x7lvOr0wm7Tw0HOlBr6Z2aCkIfZnL3c3TmJF2D+MhXozo3ghb2VgqpvDTSRZHp3IwryFjJg6kbU1jmRJDLJLXSUy7i+HgkjoyR4yIbzfWkzh9BecrtcfHS15HaNPfrqH/YHX7f/lP/hF4yq0hN5k7ZByrlIaxatZg7HRVv1v6snYH0DP2NvVilhDYyhTNSgqIX24nYkIS99wimOnbAgutMt4uaT4Pl09i4gYF+iTEMsBNH9Xcs8weH8aW4i4kJY3B3aSq3CovecuecE9mnNJj+Px4Or3eyBbV3gyoZ4iWcGooPMP0PgHsMhjHqvg+WOmqoEAel2bP42Xn4bTM306gVxrPXSexMKor1tqChVLC+01+DJn1lCZxc/FuZopmqbRIdJP5wyeyUnEgy5MGU11f/cd77gmmT9wNakcsJKC1hez54lc7iPKayR3nUGb4tsRau9QDIEzkfB6l+eG9QUz3uBgG1jZEXXDy3FnIGM9liHouJHGUG0ZVS0TJz1bjNWIOt6v7sjSmB3Z6wruIuD1vFN5rKzF02RT6OOij/P4ye/bcQmJVmzquthhrC5LhEgIS3WO5pxdpTx0ZPz+Crva68oPw+y0EDU7mcaMIZk9qgblWiZTnb0a36NllrkuscTIVZFJlRRMi7i3xZOKip9SavIigDrboVrzP8vHerHjsgOe8CLo56H1/bvDQ2TyuH8bMSS1lh/WfWa3w+FLWKneka01DGXiSvZ+IvlO46hzInKB2JdZaEN1bhvekNB7ZeTInvDvVDdTkv+XWYEYmP8Q9dCberazRlp0mRaQv9MBneTHdFyYwxM0EjdJXyNpPZP94rjj6kxzUHjs9wRosB7L0hWPxWV5EtwXTGCrUEfbgTxfZunk7W9MO8rVpBKlBHbDTL63zp+VBxJ1FnviuUaDP3Gj6uZhQ+eNV9u+7hcisBrVc7TAVZFPlSLyEb84/vowNyu3oVNMYPVnfHCB6YDyX7HyYGdgBBwNhjIDo/gp8fJbxwGo0yeE9cTISxq2ED9snMyb5HjUCZuDVxg69KgpIsy6y0D+KDZlNiZziQRNbHWTDX/Keg1N8SDpahR7TohlYpxoPlwQQsy6TJlFxjG5qi45MviPh/YF4/GccoXLP6UQOroO5ZkVE6Uvw8l1ObofZxA2vg4WW0Hmfubx1Kzu3pHHwc0OCUwLp6GiI8Cp5t1YSHr6Eu+YexPp3p5Zg9SwZHLlH4xgWexrjMUkEd3eWAYvMVlH4mn0Jfsw5VYkO4TEMa2SJltAm0R2WT/QjLbsdiVOG426lRQUkfL68je3bt7DywGfqBScT0NkZw9JdXqjj5c+aoi7MiBxELQsVPl87yIGb+Ri51MLFwQwdQdFQOrUerCbAfxl3TIYyI6w3bqZVZX38cWcknrNvU91rKl7tBagorXCXNC8/0rLaMD1uOHWttb9b27MPxzEq/hymY6fh19UV4+9tukuatz9pma1IiBtBfVkdCZ+vbGeH7D0+4e6fhH/XGhir/XjOikkBLP/WUl7HRl7ny5UdbN+++Xsdv641MCmt84dhK7q/En+/JbypHULM+NY4Gv5Y18TZt1k1OZS1j6wZEhdAj1qmVJU8ZF1QEMtvGDBgeii9a5vL587HPcSNm80N67HETOooO7wXv7zB7SIjmURKs6wXHhGP1gQSsOAm5mOTCOhREzP1sutOIefWbEbSsBk1LE1RV4Ccowl4TD2N/ogp+HWviamaAsUvdpMwOYVLWoMI8+uJu2XVkn6XkHE8CZ+kK5iNCMOzo+tfoCH/zBq2SRvQtIalHHhzjjJ99DRO6w4lJqA7Nc3le0HhxVQmRKzmsfUEEoN7Utvixx6RfyIRj6ln0B8exaSupe3Zw/SwFC5oDmCyX0/qWmn8aM+JmfglXcZ42GSGqt/gvHJ9mta2lR/+i66waEIkm4raEhs2hAZ22iiSz820VTyt2YoGZpnsj5nC2jeueId70MbVWO6pk3zk+KxQZu4rouXkMIbUz2KzTxRrHljgkRhEz7qWP+Au/xTJHgmc0hlEuI8wB9XKCX8pb7AU82BNMJOXvMM9PJwRLRzRL1Vq5hwnyXMaJzUGEB4g73+hWcWPNxIRupTLGj2IDu5PA1v5HP20PwG/2ZcxGBqGV7c6mP3DMfq9VYUX2LS9iJr1amBtqYEiuZycOZ4ZR9XoE+FPz3pW39+3+NEGwkMW8czZn8lj5eApzCLx653E+c/hROXuxEweRGPrPA4lRjL3tAo9gn3o3cgGzZLFSTjozw2cyQWtvviN70rtf9BnxQ/WET55Ca/cgggZ3QYXw++dxcmZXiQerULPMH96NbBGQ1HMq/2JxKacplK3ALz7NcG2WokcUZLBmdRgZp+rRk+/0dSqkouSrjGGejqolHWciZ6wJWoyC89r0CcmkH6NbdGUPGVbdARLz1WmY3ggA5o6oF1RWKIPkuSXInufoEk9qWepXjIGinmyKZLwhY+w8wrFo5PgpZX1Fm92xRMy5wgVOkURPLQ51XUqQPFDNoWHs+SZEz6hY2jnZkRFJHy9eYB9Ozeyct8bbEdE4tuvMbaCYSfnJuviElj92IqRQWPp7G4uN4xKPnF6XjTJOzOoOymI4e1cMVAW82hjJJGLnlLdJ5jRHWpipASSb7c4tHsnm1bs47XNcMIC+tHETrPkzCbhw6G1HMv+yrktZyh0Gsi4ER1wM65cYtzN4MbJGxS82M/8Le+xGu3N6E61MfkeAfKIzVERLHnsgFfwGDrUMv6rV+77ABTzcmc8EfNuYTImkLFd62ImnIFfHyYlLoXjtMN70kCaV9cq2d8kZJ5bSGTyKSp1nIhnr4ZY/dHaUszjzTFEL3qEzYQARneu86OduWeY75/IAUk7fP0G0MyhGoqSD5xaEE/qUWgzYTx9mzmg+V1JLaXw5R6SY1fzyKQP40d1ppbpj/NM0ZXt7M21xdHFEXstIbztLAsCEzkgaoO330BaVK+G5O1d7udpoGdggN5fVArFPNsRT8y8kyh1CcV3cCscq75k97RYlhwT0ywwgCFtXNATxt2XY6SGpnBSuSOTvIXfTZi7fy1FV3eyP8cKe2cnHLQVIe8cC4MS2V/QEi+/wbR0rCZfW57tYkbsYo6Lm+EXMJQ2rvqysfflWCoRKSeo0N6LiQOaYy87BBbzZFs8cQvvYjbGjzHd62Fa+pvnnmNRSBL78pozwW8wrZ20Stok1JnKlIXpmIz2Y0yP+pgJ4y/jDsf272TT8n28MOuLv+9gWjuX1vnT2fD/v5//O/AcOo5VFX8PnvVjlhAgA08Jrzf5MWraBSx9VjGlty06clfL95J/Kp5BQbtQGZjKrBG1ULmRyPDAjeS0ms7iwBaYaso3BAEGMl8/5U12FfQtjFC6f5p07TrUNFKXx4SUC54SPl44xjOzerhoFPD23lOytaxxMNOiCkVkZ2bwft9Uxs5Op3bEUkLbW8ohVva4W8wfMYGVCv8EPCW83hyAx/TzmHmlEdvbHj2B8sq+5+kEhgbvRLlvMjNHumNQtSKiO4vw8FxKUSl4qhXy6dFl9q9awYE3hrQe4UGv+mZoyAT4Im7PH4X3GgE8Y2hVeJ61aTcw7DWAtjVtMRCszGVJTlrA5yd3eZqtiaW9ELehQFF2JpnvDjDdcw63a4SwYHIHrGXSm78vUlEhIgUllAQPSekfF33hwaltrNl4kQKnrgzu1wpHfVWUFMo8184UbVUFRNlZZLw/wAzPOdxyCWLe5I7Yfoe80mdLydi/mB1aXelSw0AOjdn7iOgbz1XnIOYEtf0OntKCzzy9+5QsDQvszHRQVRCRnZXBhwPTmTjnJo4B8wjpZC8HNGFxWenFuPmfaT0zkTH1LKhWurhk7yeyX/ngeWfRWCYtL6TrfAE8TdEUv+DY5nOIjTPYGbeKJ25BzBZg9d+A5+Jx+K6G3nMjacc1Nq26jnan3rStY4+h+g+w+fXXkJJ1aAW7tdrR1tkQXVnfyMHzsp0PSWXAU1rwhaf3npJV1QxbUx3UFIvJycrg/aEkJs25ht2kFIK6OMqgK/f8bMaHruG9exizA9rj8P1dRGS9fc7bLGW0TQ3R4irzPMNY+7Y2oan+tKtuQJXSaZL1lhdvslDWMcVAS0VmaRfdWYKXz3Jy2iczZYQ7FlpiXh3fxjmRAd92JbDuoRPeyaXgmc/VeRMIS3uMrfdsgnvUwET9x8mp8GQCQ6JOY+o5g4AuTj9gUYCw/bF4xh9A3CaaGeNbYKNbCYVS8Mxqw4z4kdS10kL86oRMgqf/bTeJax5S3TsJ/5/AM83Ln9UCeIZ1oFL6dtZe06BNjza4VzdB/ac4V2nhF57de0aWmgnWZrqyPs7NyuTD4Vn4pV7BwjOJwO5l4E4kQGQJeMb+FTxzDscx8jfgucLbn+UZpRCpg/jVSXacK0Tv6x5mrXuIzbjp+Auw+gt4Nmdq3Ega2Mjr7DxXiM7XvSSveyCrIwDuPwbPB6sI8F3Mx8ZxxIxpjJ1umXg2aT7XF/kQvuIOZqOTCelTG/OqIlkc07MMVYytTdFVr0BxbjaZH46S6pfKJeORTA3uKYM3heIiRFSUeV6/r11F33hyfjcbNp3jm0Ur+vZtSw3Tn2KQpFkcX7WHyk2a4WJpjPD6OUenykHvO3hKebUzksCZh1DsPJ3IYQ1lcsrSUvxwLSFBK8hoHs3kYY2wFQ7McpMG2cfXsV+lIY2cLeSGgN+Ap/TbNdZNS2DFfWP6+3nRq4HVd8Nl/skkPOJPYzAiCm8BPFWlvN4VTdDMA9AxgYhhQl+Wac+jdUwOWiEzaHm7KyE2tcPaWIdqgjGlXPCU8OX6OZ5Xs8Po3Tbi4lby2GYCU2WGG8EQJ5Rist+/5F2GIhpGhmir5ZG+fgbT0+5h0NeHCX0bYl26v34Hz8GE+3T7HwPPmZ7TOCEDz164W8rBXFr4jZcPnvGtsgGWZnpUrSghLzuTD8fnETb3LNUGxBDQtz5W3y2E/+xgJs06yYZ9FahT3xUbi6ookMOJpAkkHlOnT4RfueD53NmfUAE8DSR8e3GDYxvXsf+BMjV6DKVPS0f0Mg6SEDyLfUUtiYoYQXMn4SBbUoofsyUijLR3dfAPGUGLsp/9psnFD9cRHloeeOZyctZEEo+o0DPMj94NrKnKG/bHhzB7TwFNo8IY0crlB9Qj5snmSCKXv6GmXxCDm9mjL3jhyqgYRN+ecXn/Rrad/ohu4x70au+OpcwTXsS3l494/k0JPXNT9DWVkeQJc/Qki8PncUalJ6FB/Wn8Hdx+BU9DSQYvbx5jy7q9PKjgTJch/WjhYoS6AOUCeEZEsORJdSYJ4FnTGN5e4MCFTCp/OMaK7bfQ7BWKTwl45l9PIzx2ObcMhxHl15eGNnIDhTB+cz6+4t03UNc3QEcWGlAsA8+oRU+w9wmRgacxb7m4/yKZlT5wfMUOblftQaD/z+C5jlPKFogvb2LXrap0njCarnUtEOyYkvcXOflYDZ33e5m76g6GI8sDz0iWPLb/D+Ap5e3BRKJm7SCzQTDBo9rjJpBySRE/3U581DKeOYzDd3RHahr9TbKIkj75E3gelLTDx28gzRw04eMxUsJnsiu7Ef7BI2nnZvBXaC68yaqweNY+tmFE6Fi61TUv2dulZJ/dyhGxg8zjaaupUC54KhaLEKFIhQpl1BGiTF5cPcTWLSd5o+lO594dqW+rSxVFuST+xRdFtEyF80IlpPnZZH04Q1rsAo7TBl//IbRyFgxrZYuUnHPbOVJsI/N42lcTILgEPAtb4eU36Dt4SosyePP4OV8UtTAxM0SrkpT8nCw+nl7O1AVHEbfyxXdYW5wFeEXM672JRM+9jNZAXzx7N8Kq9GCTd47FwUnszW/OBAEiy4Dn021TiVt4G+PR/ngI4Ml7rhy+xBeFt5zZsIfrFdvi/X/g+Y8W7f8l8BRxYVpf/NZ9pVHcKia3M/9F2im6kcLwcct44R7BxugOFO/1Z8TMM+gMX03qKFf0yxxChUOBVFoiKyjIo7BCZZn0UgZD5YKnoOjNpUipCpUrKCLNfcX1k8c4e/05OcraGFlYov96K1NXP6dB9DJC2sm9l2XBc8VnVwb2dMdA/YeHrjB9Owv2fKVF/JISj2cxF2f0x3/tR+pHr5QBrHbpAC7pftGNuYyauIxnNUNYG9UFMx2VEvBczLvq/enZwBAVSSbvXz7jTZ4udTt1p7W7tSzQX34oKwHP1RKaDXRBteAzl7ZfQLFtELFebWTSql9SfEhyeHXtFCfPXOd5jjKaRhZY6r1m57S1PK87mfkCeOr8GTx/jKAiXl85ypXH73jz5D7330gxcG1Gh06NcRIC1EtdQpJcXl0veW62EppG5ljqvWHX9HU8qxMiA095rEnZIubp+qVcc+tOaxt9NIW1+TfgKdSS5L7mxqkTnLv+lKyK1TA0t0T/7U6S1j2lZtB8gjvZlYCnlIKHW5kStpRnjsOZOKAJFmpi8rM/8/bePhbN3MaH+hGkBv/V4ykHzwK6zJvOMDct3u/fyh3NujQwv0fq2CRuOgbIvaT/FjxX5VOvlzNVxd+4svMi0uaTiPRqL4vl/X2Eh5jXW5dzzrYTrRwM0Raszb8Bz9K+uXnmJOeuPSGzgqa8b97tIXn9Y5x9UwjuIsSTSHi1MZBxs45SqcdcZo5pgIVg9v5efsw18ctNhHjO4qhSd+Ykj6GBlfZfNi+pVIpCGa3xd/BsN4spI+ug+/EwO9PVcKtvwaP5E0m+asPEWSXgKXnF1uBxJB+qQKc5MxnT2BqdMnFlvwdPKLqzFG+fxVwzHMnCKQNwM9NAsQx4To8fgbv+Z47sSEfVrS4WjxYxadYVrCcklgueqzLd6OKshULmVfZcEtNwXDjjO7lgWE68mTT3DbfOnuTstSdkKGhgYG6B/ocDpG54iP2EmQR1/ysQ/mfw/NaCqVNGUs/wC0d3pqPi6o7Fk6X4JV/GzGNa+eD5tRnxU0ZR3/Arx3bepopQ5+lS/GbJ6/w38IwlekwT7MuCp+Dx3hHBxKT9FLacQtL4VtgbVBKy4/D21jlOn7nKk28KqBuYYa7/kSNzN/HAegwJIT2paVbqTREGXBHvbpzm2sOXvHz6kIevRWg5NKJthya4mGuj8nMgqvg5O9Zcx7pZQ+zN9WVe+l/Bs5ir8z2JTLtOxfr96VDHvEQBUYKXRRm8e5uBZp2edKxnhW6JJ104jLzdvZYLxk1o4GiBobAf/AY8kRSS9e4xNy5e5t7rr2TlFEJFFTR0taj86jhr97/DxTte7vFULebawglELr9ChXr9aF/bAp0ye4RwYHr/NgONOj1kHiLNqpVRqlhB7mUvFzxBXJiPSLECH/fEEZi8h8IW8cR7tsbJULnceSwoFAqz3vHk+iWu3H3Nl6xsClFCRUMHrcqvObnuAG8dxxPr+x/Ac3E6mi3a0cDeUOaBlpWiRxxec4CXdh7ElQFP4SNp3jvuXDjN2SsP+SJRQ8/MAoMvx1m6+S5GQ2IJ6FvvX4On+MUuNt0wxd3dEWsjYb/+E3gu5EaVRrRt7IB+pRw+vX7B6yx1HJt3oHVDJ4w1KyG5sRS/yGVcENekZ4e6WMvUR6WliMz378hQr0HnDg2wM/zh8f7dqUsOnou5pdqU1o0cMK5a+m0iHh1Zx6EXVgyP8ZeDp/gGy32jSDtbjGuv9tS10ZcpRL4/PfM97zPUcOncnvoORnJvrug96eev8eDpc549esTrgqpY1WtDu2ZuWOmq/UiiKM3j/Z1LnD17mYefJajommJu8I0zy7eSrtuXsMD+NPoZPBdcoWK91jR2NKRy3ifevHhDlmp1mrRrQ0MXE1niMFnzvoOnA5NCPWhrX8i5A7eRmjth8XEbU1JPUrlbcAl4wru9CYTO2saXemHEjOtELdNKvxm/si8vAc/H2PmEMKa9A4VnD5IuNcPR8hM74+ZyQqkLAeWBZ2VXqldKZ0PqXgqbeODRV5B1inl+5jQfdWwweLODqXOuYfAb8Fx8pSL1WjXCyVQdUdZn3r3PQFHPiYYtm+FmrYNqRUk5Hk8xt1YGM2XJcXIdu9GuvkMZ4ylIRZl8fJ+BqlN72jR0xESmdf278mePZ1nwlKSvITxmCefUehEVOJgWjj954YofsTk6ikXHKtIxKoihbZzRkR0kJbw+sI2bWtVxdnHEXFiryvF4/jhzivh49xI37j3i2dMnPH6Vh4pFHVq2b04tW32Z1FpWpPl8uH+F82cucf+jiMraJpgbZnFx7Q5uqnbCL2AwrZx+Bk8Jbw5i1onoAAAgAElEQVRu54amPU6uTljI2lI+eMof8YEHV85x7tI9PhRVRtvEAoPsi2zccZ3KHfzxHdqmBDyh6OUxls5cwnnF+vTq3xl3k0qIcr7y4ckJNi7ZRrpWTwJ+8niWgqfRKD88urshvXSE9EI9bC2zOJQ0n8NFLZj4f+D5h3Es//h/DTzPJ/QpAc/VhLX/FTyLrs9m2Pg0XtYOY1NMR8R7Axg26ww6Q1aQ6lETg7+A59+8y2/As7SG+P050mbOZe8rQ9oP6U9LZ2M01VSQnJrK4ITr1AxbXC54rizuzqzIXtjqlVqRQfBSjJ51j7pRi0rAU8SFGf0JWPORetErmdzB6hfwLLqewsiJaTyrEcz6mK6Y6ZaC5xLyOswgYoAj+iogEhWR8/QgaatuUrXNSEZ0dpHFJMqktoLHc/l7XMYGMKqVFRl7pjF92xecPaIJ6OaEnpBQ4PsLf+DCimTm73qBXttB9G3tgkk1NVQkZ5gxZBrXZJ7H9lj9K/CUUpSTQU5BEYUFBeR/usOeFRu4qdyUEd59ZbLoSpIPXFwxm/m7n6PbeiB92wjPVZc9N3HodK46+5MaWg54SrM5tWQj0g7dcDfWlUttfgOeQiKM1bPns/uZDq0G9KVVDTOqqasgPTODkdOv4OCXSnDHUvAUNuNsPr56wsNH78gqFCFRqIByVQPMde+zxGcud1xLvJdlpLbfwTN1Kl3Elzn/yZwGDV0wVThGzOCpXPuv4LnsJbbDfBjVzo7cA0kkbv2A3fAw/Hq4YSTor8stIm6uWMm7Zp1paG4gP2D8BjzFHy+yZs4C9jytRvN+8r7RqqqC9OwsPGZcxNprNkGdhWRYEl5vDGTsrCNU6pbKzLFCrGL52RnFrzYR4jGLI0pdmZ08lobW2vxdHsdS8Mxul0Rst4rcuvQRo7r1cLGoyMnY4cy4ZMOEMuC5OWgssw9XotvcJEY1tJbJvkrL34Gn6NYixvstkYHnkikDcTPX/AGema1JiOuO8u3LfDSqQ11XC5ROxDNq2kWsfgOey5+Y02/iaNo7FnBsThLbXlnSP9SfnrVNqFoGhsUfL7N+7gJ2PapK4959aF3TAh0NFaTn5zA+8TwmHjMI6vY/BJ5fmzMltgeV717lo0Et3F0tUT6VgMf0C5j+Djy/NCMutgcqd6/yobTO6QQ8psnr/CfwbBRLtEc54LkzkomJeylqNZXE8S2x183i6voFLN5+H5WGPenVrhaWOhqocJH5E2ZyTn8YccE9fgJPKUW5WeTmF1JYWED+53scXLeZa8U16TO2H41tdEqSvJScXXLOsXZ7IfWb18LKVC7LKg88ry8YT0TaLfQGTsGrqxum3w/5paNLASUVddQqCxnES/9NRPq69byp3Yw6NuZoC+fA34Gn7JQjpigvizcXVjEz9SDfHPszZlBzLJ+sIHjOFUxHR5d4PIu5sciLiOXX0ekfh1e3mpj9o/b8HjzlLZbwdkckvrP2kt8sjqnj2uBsVPbg/vOCIkVclEf2m4usSZrLwS8O9PEYSHPr56wOSuGy0TAi/pPH8xUu3pPo38ie745l4aAalMoFncFElgFPyefrbFm8mB3pFandpSdt69qir6GK9MoiAmedRL1vJP59/i14Ssm5sJ49eTWpX9MeC8Er8kfwXMRjGw+8hzSjup4ixcLe+/I0WzZdQeTclf7dGmD+ei1Bkcu4XLUH4d49cLfS/EUhpKBUBXXVKiiXk935594v9Xg+sx/HxEFNqf5dl5zH+YWhzD+rQZ/wUvC8yQr/KJZfUKNLuBc96luj+ZN1WUFBicrqqlQRYslk47GIvOxc8gsKKSzI58vDo2zddolsuy4M79cCJ0M1FCVfuLltGcu23oQaHeneoR52Bpqocp3lQckcr9SVkID+NPzF43kfsxETGdzSGf0KYkSiHF6f2crWSwXYd+pP10YlCWpKwVMmTe2LyacHvFO1wdXNHvWr8whIPEqln8AzRABP91BixnemllmJBLbcvbAMeHoH0cf0Mw/fqWLjWgM79WssDEjiSMXfgGcVN2pXV+feoljWvnNmmOcgWlh+5uLFfAxtbdB9vpLgpKsYjPiNx/O+OSMmDKKFiwGKYhH5H26we9VGzn4ypsOYUXSpZ0H2/p+ltsWkr5pM3JJTKLUPZnyfxtgJstW/FAWUqqihWkWIB/3Tef3fgaf49moZeJ5X7U1U0CBa/Ax1oodsio5i8dEKdIgOZmhbF3RlsoRcrm3bT6aNCy7O9sgEIX8LnlJEednk5hdQUFBIwddHnNy+g4tfzWgzpD+t3UxQV/hK+u6VpG2+QqFDG7p2bER142qocou1USkyYPP2H0zLn9sozeX69gNkWDni7FIdXVlbygdPydd09q5cxpbLBdi36UaHRk4YCVmFb68lLuUABc28ZeDpJPN4CnaMPL6+f86Tx6/5nFWAGEWU1HQw0nnL/tQVnJa0lkl5f/V43sJohC/9HAp48bYCJo5uVK+WTlrYTPYX/B94/mkUf9+BpYLb4p8UIcbzX0ht32z0Ydi0sxiPW0XiIMdfJKh5x6LoF7ybKv0XMtejFmq3Ehnit4GsFgksC26FabWfYwElSCSKCPkQ/lL+Djyl3ziT7EPc5q/U9o3Bs52zLJGR4EnM2RdKr+gr1BDAs7USb59VwNpWjyqKd/6V1PbtJn+GTz+N4Zg0pg1ywvAnYM47HsvAkJ0o9Z5Lioc7hhrlSG1LYjwlBS/ZEjqWRbdM6T8jlv41DFCvWOrxVKD33CkMcTOmUsYtNsdFkPbAmL7hEQx0N0JdFnshJeNMCgGxm/jk5k3E+Ha4mmmgLHvhA0T0iuWyUyDzJreh8vvnKAop3VUq/yZuQfg6CVKFkmQ3ZTu9OJdXu+KYOOcyuv0SiB3sRpXbCwmK3cjHGl6Ej2tPDfPS5x4kqncslxz9SAlth8rHFyhaWKGrWnIVQMFVVq/6RKPujTDXk2fUKxc8pRmcSwkgftN7XCZEMLaDG2aalWSegdyDkfSPvYCdbyrB7dX4/EIRcytdVGV3FIgpys+joKgYCQooVhRSgB9nysCp5cZ4ysEzn/YhHVDNNqBh87pUN9FAOWs/EQOmcrU0LvRfezyL6JQYw1AhjiUrnW0J0aSl69AtJIxB9YUsxeUIn6WZHF25B402bXEy0pVLYcoDT2kGF+YFE7/hDdXHhjG2Uy0sqpX0zaEYBsedw3JiMkEdNfj2SgGdD2vxj9nI21ohzA3qiH1JnOiPn1g+1xQKLpHiEcy617UImh9Ih+oGf7G8y46/EgmKJZOyFDyzWvrTrmoBRg0aU8dJkN5nczByKNMvlgFPhTyupIwjdNUzqvvOI6Sb0/c4TuF7/05q+2lvFGOn7qWo5RRmebXEVq/yD6ltRjMmtdek0KgBjdwdZetIzoFoRiQI4DmjfI9nTmtiI4fTwKYq2Xe2kxS7jFsaHfENGUojay15ZlVpJhcXTiZh/QtsRwbj0cUdKyGrrjD+jsQzYsppjMZMJ7CzLtlvFTCWXWPwiBX/VWr7tTET21Wj2Lg+Deo4YqZVmZyDsYyedv5vwLMhE9ppITauR4M6TvI6h2IZnSCv8z8HnoXcWOjF5LR7WIydRUjvmmjcW05UwnqeWgzB37Mr9Wy1ZGoTco8zfWQ8p3SGEhfcFcO892BohFZV4SqFn8Z8cR5vDswkKPUUSm1DCRvaWJbJsPSvCm5sZPN7V5rVtcVMS26lKE9q++nAVHym70bSPoHokU2xLyNtLYU2iURQ0MhVNLIizeLU+gNUbtAIJwtjebKPvwNP4ezy4Rxp02ax65MrQ72G0a6WKUrnZv0itf10cBp+03dS3HYqUSOb4SAEOP2lCPPtp/YIn//G41laNf/aQvzDVvLAypPpgfJY07/26E/fW/yRC2nTSRaStgyZwNCOdTBTPs8cWYzn/7LUVprF1bRYEtfcx6DvJEb3aIyDkOhKUYG8kzOZkHAEld6R+PeyQPxJiq6BDhqypIN/KoWkb9nKW/v61HKwQkdmGfuTx3MR36W2JTGeksK3HEgKZfFJKY39Qhjk/Ja1YTPYntuMyKhRtHQx+MXoJqx98jH051b+O6ntJ47NDCJpWzaNwiMY1bYGBj9b/CQSJMJzpaAo/PenJojz33JsbgTzDxdQzzuEYa2dUL27hmkzVpOu3Z3xHr1o6qQnT5CXd4bUidM4VLEzwQF9sFX8ilhbD21NVV5vLi/GU0Lhu4PMCVvIiaIGTAweRktnQyqLS6S2j6zp18qUqpY1cRWykeqrkn8yGb8ZR1D+Dp6KFNxcTlh0Gjf0hhAT0I+Gtj/H+JUdv6Xg+Qir/i0x1bCkhqsbLrb6qOadIsU3kcO/Ac/TVdyo5WZP1WsLiF5wG+O+nnQ1zOSLqjk21hZoXJtHQNJV9H8Hnj9JbaXFubzYO4voBYfJqjORMI+O6FyfReRfYjylfDmRSviMTXx2DyTUoyM1jX8ez7+Z9+UO+X8Hnnw6ypzQmWz74o5/mAcdaxvL8ziUloKrLA+JZ80ja0aHT6B7fQv53l54j727X2Hk5IJTdUNkGorywFM4GwqDTpZgtEwR5/PhxGLi5h3gq+to/Ed3wPbLLpJnruRqlbaMGtOP1jUMUBESyuWdZ1FgInvzm+HtPxDXKlkUa2ihpVVNnvSt8B779rzCoLozzo5GJW0pBzyl2dzaOJPZKy5Tuc0YRvVvg6uhPO9J/vlFhCbuJqeJF76D3VDJElO1mvAMwcghQVSQT0GhCLEEFCoqU1lylbTwZPb/Vmp7C73OzbEytMHZwYUaDoaoFZxnoRAX+n/g+afF+vvn/0seTwVEb3YROXoKl238mBvVDTudKmUkoQVcTxmJz9bKDEyayqCawuJxldRxPqzL6kDC/Ik0Eg77ZUZ07rXNHBS1oE0NbdTLZmT9O/AsusKcwT6s/tqY2EVBtLIqOUQi5tnKcYxKeYx71DKCm71m785KtO9aAx3VByz4xzGewnvuJnpsPBctJjEnspv8GpQfs5sbc8fgu6UifadNYXAdeSzELzGeJeAJ2RyK6EfULgntZy7Cu6kZ1ZSLy8R4ypMLqSmIyHywl1nhc7hQqT0BMWNpaqlJJUURV+cMI2DlJ+pHz8e/rQ06JX0lfroar1EpPKodxsKQFrzftxuldp1w1SuZ5L8MGQmfj+/ihkVT6plqyZIilS2F55MYFrCOL01iWRjQjG/rPAla8ZG6UXPxb2eLbknSEPGzNXiPTuGhWyjzQ1rw6cBeKrZpj4u+NlUUJHw+tYZ94sZ0rGuOTmla8fI8nkVXmTfCn1Uf3JmcGkhbe8FIILRIzPM13oxNuY9L8HyCWn3myF4lWrZ3QV/7N3LiP8V4LnlKtWbdGDGiH03tS+6PzdhHZCmsBv4Hqa0sxjOa/i4mVFUUkfnoAKmRKZxRbMGkyLE0t9WWvY8g5bz3OBctK3N0lR+wYfVrGnRuhLlBSUKS8sCz6DoLxgSw8k1NguYE0F4AxJK+ebHOj/Ep6TJvcGCbTE4cUKRJPTG7p0Wx9l0DQpK8aCVksiwz1/Ju7uRogTuNnNR4uSaQkFVvqReayMQ29vI409KSd4tdRwpwb+SEgbYqxbIYz6U8Um1I5xEj6NNCyEwtxCBncihqKAkCeM4MKEkuJCX3dhqhgUt5YDuOqcHdcTMpMTwABcenMiTmJMYeSQR1c8aoNPmO+A27o7xIOqZE5+g4RjazRbtMcqGl91Wo32W4zMrvYCxk8VMg82AMI6dewHJ8+eApi/GUJRcSPKdZPDmUSlzKKcSNxhPi2QYHQQ4tusFiz2BWPHfEZ1YAnVyMZcmzhPH3YmMQ3ik3sJwwi8D2+Zw7rED9Zs6YaL/4z+C59G4l3DvL36O6SVX5exyKY0zCOUzHlCQk+inGc+kdZdw7D2NYv5Y4llPH9z/EeL6rF0GsZwsc9MvIOHNvsCwwjFXP7PGM86VLTQOeLPcibNlj7Lxn4Ct4GUskrJIXm5nsnco10zFMC+pI8cWjZIqzKarVkQYWBmj9dF9k0ZX5TJi8imeOPiT6d8HNVLUkEchXLmw+SIFLE2ramqBRchD/FTwVEH8+RWpgPPsVuxAWOpCGNlp/Ma7lpR/gdIETNUwVyfyYh7qpMXpVnrF90ytcmrljY1YiKf8b8JTmPWFfSgKLjhXR0NOHoe1cMVStSMEvMZ4KiL+cZm5QPPuknZgcOohGtj+1584BTuc74mZvgn7ZZEp/AE9pzm1WhYez6rEDY2O86FTL5C/ZMfPu7OdUjiNu1U0xUC/g6b55zFhwhPz6Y/Ae3p4axmpULChNLvS/DJ6i26z0C2f5XVNGTvGnh5DgSGZllPB6eySBKRfQGhyHfzclbp8uxqW2IxZmpTF/vz/PSL5eYueRHGzr1sTeoloJHP578IRczs7xZuq6F1SflIBXZ0verAxn+u4iWgQGMrh59RKoLWlL/j2Ons7F2tkOM6M/t/NfgaeimK9nFxI5bSf5zfzxH9YSx79I3fO5f+QsuZYGfHvyFRMHeyxN9b9fPSRvYRE3lwUQs/w2xiOn4NPHnYKdk4lZch29IdH49G2ITYm8U/J6F1OCUjij3ofIgB6o3LtAkYML1W1M+bylPPCUe57m+8az7oktnvGT6F7PErUS8Fx0Lge71oMZ3r8tNawEA5QC2Sdn4zfjMMpdS6W2QgjUXTbERbPitgmDw7zoXt+SssM///5hzmZaYm9nhWk1iVxqu+AcOXatGDiyP23chCuRKqCQfYpUATwrdMb/Z6ntwbWcrOxGnZrOWEivkhY1k9NV3Klt40TLlm5YW+gjPptCQOI/B09hzH46nERo0iae200kxqcHJulzfgJPBcRfL7I8eho7Muoz3l+48UAeHlBa8h8c50KWKTa2Vpj+7NL+Zcj/O/BULP7EmYUxzNqTSyMvX1n2Zb0y6p2iB5uJj13NU+tBeI/pQh1TQUouIePaPk5kGOHk4vzD6PcLeGqQdfUUd6qYYWllidFPNySIbq8mInYZl6r1I8KvD/o3ZzN14XnUeoUwaVBLqpdkr5W83U9SWApHFTsQ6NcP3RdXybOwxcHBlmpCxvLr+zj51ZDqLi7Y6pVAe3kez+L7bI6OY/E5FbqH+DKwlSPyR0h4tz+JqJTDSNsF4tNfj9fX8jG1scfB7jcJgP4U4zn/GJ/MmtFvxADa17GRZedXyClJSFTQnAk+f00uJMl9z8sPxaho66CtIVz/9n9F6IF/Dp5FV5k9cCJrKw5k+ZwROArXqcj6UMrX7X70mXKT2pHLCS2N5xRn8WBHEjFLn1PTJ5Ixza1kdyzK73vbwNSoLRS2nMSkgcL9jkL66kLenVpM9LQDVOoVSUj/WhiqyS8Rl2ams33ddQw6daW2yU8JJ/KPE9c7hN1ao1gxcyAOZaSxFN9j+RhPFjx2IWBRFF0dhEBnkGZcYs38ZWzedAuzgBVENr7LlmNm9O7pgq5KOqlDvFhbYQBLZg3D2aA0fkPKt52B9JtyHdfJiwkVZLXChBNn83DnTGKXPsXVK4zRLWxL7oeTknVvI9Oit5DfdCJegxpgoSnP7Ft0cy6jx6+gqNdCZo4WrlOR5bIm+95G4gKTOa/Si+hpHjS2EGCyiOspw/FZo8ygZdMY4GQgX5zFubzYMxWfxFNI3ccQEdQTV4PKPE3zZMK8hzj4zSOiuyP6AsxJM7iyZiFpGzdx09SHJZFNebT9BMY9u+KsXwrjv06IgvQNLL1hRseOwv2SZSZN8XvOzA4iYsM7agYkE9LVjm8bJzJx3n3sfeYS3sNJfjeVNJMra+XPvWXixcKIZjzZeQrj7p1xNtAk/94+Np8SU7tTS5yNhcO1vA3Sb3sI7x/PZQc/UsM6ybP7Fj9g5fjxLLhnx8TUSLq7GCKE4Ekzr7B+0XI2b7yB0cRFTG7+lD2njOjS2QVD7fKlO7LvHziVy7a+pIR1wl6/NH6niJvzRuOX9oGaAQn4dBZkk/JsgvI6CVy2ncScyZ2/Z5P98zJSxM35HvivltJz7hQG1TSVZ9cV5/JyfyKBSccorDGC0MBe1DJW5d3OOKJWPsZuTDSDdS6w73UNOrewx6iafOGVft1NxJBpXLLyZvbkzlQ3VEWh+CGrvbxYkG7J2NkR9HQzRnC8SzOvsnFJGps2XMfAcy6hLV9z8Iw+7dvbU/HRRhKS9iJu7YvfwAZYligMpFn32LP5OtWatqGWlQ4VPp1ndXwS+4pb4h0wiAZWJXcrSrO4v3sL16s1pXVtS3RVKiC6uYBxfit44+wlixcT4vlkEiLpN/ZHDGP6eXPGzg6lq7OR7IAsLfrEtQ2JJK57id3wIMZ1dsVA6G/Bgrk4kKAl51HuNJXpE1phryfEMhfx+thcYpOPo9jUE+9hLbAX7oYUOkZ0i8We/qx46ciEOF+61jYriS+R8m1fFKMEYBs7i6DuLmWS8txiybgAVhd2JDF2KHUshSybIM57xaGZQcw+ko3D4BD8+tTFTO0F6319mH/TmJGJYfSuYy47OEszr7Nl+Qo2rr+K7qhkglp/5MR5HVq2Fq6GeczS8YGsymnD9CkjqPc9q62UzAOCJ/I0BqMTCRYSEpWeuES3ZHXSntvjGeNDN3cLqsriZKR8OxCDR8JZDEfNILBHDdl1S7Ii1JkQRNozW8bG+NL9L3Vi8Ug482udPwxckSy50EKuVW6Lb4Qn7VwMkCn6JVnc3TSd+LVPMe/thUf3OphpKPJ0XRCB866iNzSBkH51sRRSKEqzuLkljVXr13NFeyjTg9uScfoSaoYZXP/qTKsWtbAzVCuTtOUjFxdFEbvmMZaj4wjoXQcLDSH9YSYPD+3gTJ49TZvWwFK4Rqtk78k8FI/ntJNoD0kgsFctzAU9uhBrfmop0+ZeompHTzx61sOiJJmO5Ostdm+/g0aDJhg8WUvKmtsY9AtmsOk9Tr6xoXlDJyz05GobacZBpnrM4LTWYOJCelHbogQwCl5zdtVsUtZepUpHX3yHtsbZQD4O847PYOxUoT0x+PaojbkQ+CjJk7Vn+tyLqHUYi0ev+liWbc+OO1St14w69oJhsswPU3CBueOj2ZTbgpiYkTRx0P2rOkVaxMfL65mVvIusOiOZMKQl1fXkBl5p9kMOCbFNtRpT016L7ItrSZ29hiuV2uHlP4w2wpULMnf9SWZ5JnBcoz8R/vJEQH/238kGHXdXBBC2TMhqG8XIVk4YlLRdmnmUGeOnc0K1L1HBfahrrYGi+AlbJgcz/7w6vWNC6d/EDsFpLc26xc7Vq9m49iLq/WLx61DI1etVqdvABRuzv8+wK8l6xPGdZ8iyakCjmrbolaZ1FZJQzZggyxTbIyqIvg1svmc0F91fy+TQJTx38Sd8bDtcZV4oKblP9pEaN4dDme6MnTyOTrWMUHx3llUz5nFOuSXDPXrLDAbypN4Z3Nm7i3QVNxrWccRUGKN/mk93VxMatozXbkFMHtMG19JEM0JbE71IOlKJrhGB9GtkK5PVSvJec25lEgvPVKTpiDH0FvqrJKN4xp397LldGdcGriin7+e2igv1ajtjVrVM8prPV1g1NZ7VN3XoPTmA/k2tydwdQ3jqaZS7hRE0WMhEqyS7Oz1991rWrl3LBdXuhPt1htu3qeJWGxcHE95tCCdi0SPsJoUxtmMtTIQ2SHN5dmAuCbP387XWaALHdaOOmToVRPdYNzmSpder0TtwEv2aV0e75MyXeXwW/jMOUaFzKH4Dm8oTxUiL+HxtK6kp2/lQfQBjh7ajhpHccC/NecLxPddRcKhDTSdzNJWKub8ujOhF19HsHYDXwOZU15afp6SZJ5jjl8ghOhIUOJCmQlZX2UEih5srktiv0JiO7Zvioi98xxSmbnqIToeJjO/TEBttJRkUByZdQXfoJDy6ussy0srX1ftsCI9k2VMHvEI86FDbRGbYEGeksy15GkuPZ+E2MhjPHnWQHoknasEtjEaGMK5HPXk8oiSftxfWMHv+KST1BzGqX3PshWuzZEPoLof33qZC9brUdhESH/5p1ol4sCGSmMUPsfIMxqPbj3YKybXmBiSxX9QG/+/xnBLyXpxkdcpyLik3Z8jInjSyqSa7I1ya+5wjS2az6bEOrQYNpqOwlylJyX56mgNnPqNXsz61hau/Sudz9mnmByaxr7AFPgFDZLGYxU8Oye6Kt6pZGzcrTfnd40IRf+HG2iSmp11GpYs/vkNaoH5hJjGphylu5Y//8Pa46iuhIM3h3v6NrFu7mnNK7fD17o7a0/so2Tnj7GyN4vMzHDj7CV3XetRxMinTljMsEJL/5DVjkv9QWrtooyh+wd5p0cw7VERz/0CGdaiBvpIC0px7HNy0lvWrzlKhrS8Teqjz4n5FbJxccS4ng65syGSdYUFoEntzmuLlP5S2rjrfE1493BzHlIXnUO7gxcShbXHRk5+Jf1tH8oEzaSms3HUb1bZeePRpgeMvapc/rRz/b37+D8BTxLOTmzh09jR7tp3hmcSSlj3b0rhldzpYfuLkvpOcO7ydAze/ULVWV7o0aUL7fi2w06yCQu5Hnlzaz/YjT1A0tsbGTAPRx6fce5SFQYMOtG3kKpODCXIboUgKvvHq5mG2brtMpp4DLvZGVM77zPtvCpi4N6W+szEaykIgu4Svtw5z5PpzXt87xf6D13mLBU07NcfVyhLXFu2pbaZOZcVCPlzZxuKFW7irXIu2betgXDGLDx8K0K1hS+bO/6+9Mw2O68oO8wf0it4b6AZ3EgRAgAQJENwEbgABECBIcBGpZTQp28nYLjtO7Eri1LgSV8qVzIzjpRyP7ZQ98Wg0o1FmxhpJlEiCFBdwAQkQ4ALu+74vQDeA7n69ry91H8BVIglxJIY1ev2377v3nO+ee+7y3j3nH3j/oouKsomUr3iTyb529h3cy6Z1e7mSmUjDmkbm17/K0okDdO3oYt+2j/j0iAdL5UqWV1ez7K06Sp0msiJerih6XgjhtdoAABgTSURBVCJrVCFF4x2kvFc4d1FiRNVSGhdWMCFPJEm/RddHW+lsb2Fd+2Uyk5p5c0kZ+SaZcN8NLl64TdQxnaXfWENt+WiMtztZ19pJ+8Z1dF6WKWp8lfrqBl5dWsloUz9d//g/+N57ndxOOSipqqV+5Vu8Pi1M+89/wiendUxvbGTWWC2hXi9R9zSKpU3807+cx1leRkFFM/9KDFDx6fETbFuOD3Bpfxv7L0tkWV247XpSgTvKBe4jN6Cg9nV+Y7VIDJ9D2nuYDW//kI9Pa5m+uJFZ43QPtfspP3j/PPapk5lYsYz6ETc5fvwQe3YdIzy+mprpY7EZ7n3SK5Ps3cfHv+zgum4KS5oXMGNhM8vnjiF5dhPv/HAtpzQV1DfMYbw+iMcTI29aMcHNP+CD8zamTC6kvPmbLJ0+aigq8EPKZXyc3r6FvZ1b+fjTI/TklLNseTU1y95kgekc2/d0sadlPV2XYoyqeZUlNYtZ1VxIYN8OOjq207LtGL2mcpY2V1PT/Ca1ZeJzyidPGMlrnWzYvpc9G9fTeSnNhPoV1Fc3sqpJ5PPycfCfv8efv9vO9YSN4jmLlP5bZtzG3/6ih9KGGei9MSY1r2J+yQgs2T5Ot26hfe9WPtlylN6cafflWDTFTux0Cz9+ey0nmUqtYGMI4/VGySsrIrjtbT46a6KktJCK5rdomj4GW5bE7ZNtrN9wgD5bIWWlYzHHB/D4YGTlfKpE3l1xmpeJE7h1krZ1LRzsszJxailjzAl8vQOiIPPmlTPe4qG7ZQeduzeyYe9FIiMXsGLJIhpWL6Uw2M3ujnZa17dyrMfI1KZlLKxt5vW6MvKtepLSXc53rGPt1vOkx09nxtTRZPffou9COz/ffJUR8+uZXV7O1LF6gjfPcPy0D9fc5TTXzlI+4dJp0tzYt4GdHW1sWt/JxXA+81YuoaZxNUuLQhxua6ejtYXtR++iL1vC0ppalr2xEMuVNvbubWPThk4uxsdSvXwxi5a8SuOM8dikbn78F/+Tn+66RNRazKyaOpZ/4w0qUt188t5ajqdLqV78CgWmKH2eCM4phYR3/IS1Z/QUFhcyvXkNk6PHOHZ4D5vW7+VCciJLVtczdaxj8LN3OcqdfRtY13EFiutZsnA2C5ctYXTfPg4eEHrs5UIon7krGlm0ZDVNRWGO7u6gY9sGth+7i25yI01DelivtdO5d5eix4Wgm7nLxTOv0lQc4dieDtq3Cd3vKM8sqa6l+Y1aykbZH3nD/XnDf3Dj+TY3ildTV+LCPcpNnjmF99whjlzLoqR+BY3CfzuF/5ZJeE+w+afv8PHRJMUL6phTaCbW5yXiLGViZDc/W3uK7AmFFFYu4/W6iaSvHab7Qj+pHCcuEcwl1MulIwc4ei3BqLmreGtNLWUj45zfuYOO9l20HfOTP3seFQVuHuRbT+Lt3si69gukJtbSuHAOC5cuo6okH0tmgCvd2/m09Rj9prGUlI7HmgzQL2UxoqKKV8oL0J54h+/96AIjqyqwhFNMrFvK/LKx2LUBzrW10t6+hfVbj3BbM4m6phrqmlczOdbNjs0tbOs4wdV+E9NW/S7//g/XMMvqoXtnJ12t69h88DrZk+pprKmn+fUaykY50Mf7udK9g82tR+kzjWVSyXhsKYl+CUaUVzGnogCXSaek5/Gf66Tj6Hkun9nHrp2HuRp2M2txNTOnlFC+oI5ZxfnYhvyOHA9w52wHm1r2cUc/RtHTnpHwDqRxTa1i9ogB9m1pYdOWDk5c7Sdn6gp++4/+kDVz7Hi7d9K1t5X1m7u5nlVEbWMNdctfo3rqaJyPBcl72EZSN7vZuquDnRtb6DonkVfVRH1NIyuaJpE+381BwW3LIa7JhdQuqaZu+evUTMtHvtzKz3/yIYfCE6haVEWxPYmvL4y1qIBY1y/ZcDzFyIIiKpeuoXFWIfkPOvoRE830naJtZzvtO9s4NpDL9KpKCkc8fIDRx9FP19F+LsbYhQ0sqKphyZIJRI4f4eDOFjZ2nCHgXsDyhplMzNMS9d3m6qVbBI2TqF65kvrZRbjNwvfFGLh6mF2fbudor55Rk0oYb5cJDQSQ86cye045E/Mt9w9MP3caTd7i8Lbd7N2xkY17zxDInUND/SIaVy1hknyJIwfa2bpuC91XMxTUNFC9eDmrlXzGRuIDVzm6aws7DvegG1XMpAkO5NAAgYybsjlzKC90o4/e4njXfs71xDA4RXoiCHsvc+LgEa5EXMxc+iavNlQyzqkn3X+aHb/4KWsPSIyeU0NViYO0r5+wdSLj4gf5ZMNRou7xFM1sYuVUDVfPHqVtYwt7T/vIm9dM/cwi3Po4vttXuHxLwlC4gOZVjcwpduI/sYM97dvZtLGTM/1WKhsWU7v0VZaUylw62MXuLS3sPHyddMFC6msaWP7aIsonuMhJStw918mWTfu4QT7FpROUnJ39vhTO0lnMrizGJZ1i1+52drRsovN0H5bKxdTXL2VVUylc7qZr1xY27TjM9dQEFjTUUL98DQtHhzi5p4WPPtzGmchIKutW8c3fbKKMg7z3s0uMW7yc+ikyZzs6af90HdsO3UI3ZRG1dU2sWDoLa283+zuG9AnkMadhIRUFLiU3uffWTfpjFooXNFE3Wcv1U4dp37yRvSd6ME6rp662ScmpWzDGqaxprx9rY2vrIe5q8iksmajo5wtkyJ08i9nTixlpffIaTNhU6s5Rdu5uZ/vGTXSd6sNSUU9tfRMrm0rJvnqEA22b2bj9MFeT45hXX8PiFatZNH0ibmMc382TdGzZxckBHe6CAvJ1Ee5evkS/sYg5tYt4ZcooMlf3096xi527juG1TGbm9BJG2wdf+ogDz9TACXZsaueU382c2oXMrVtCw6xxZN0+RveZO4S1dvLEej/Wx7UThzh6KYi9opHX1oh8tbloAudo++D/8lFXH67pC5k7xQVSPyHTeMYkj7H500P4rWMomtXI/DFxPFcOsbvtKB5TKTMqSxnziCwn2blpDyf9bmbXLmBebRMNcydh9e5nrXLv1sX0hfOY4hZNhMgZN4bUic1s7h7AMrqYmU0rqZ8zhbH3vzIcGrUZiSsH2unavZkNrQe5GBlNVV01DStWM39EiLOH99Iq+J/swTC1lrr6ZsX+tDePsV+xv0NciY25/0xNpcjXHuDw+3/H//nwJPbm/8Dvv1lDqUgxp/6G88ZTJhbowy8FCYbipNBitFqw2nJxGpMEfAGCwRDRRJosvQWLxYrTZR+8OyA2k3GJPm+AeDqGfyCCzmbHqNVjc7txiETJj63b5WSIfs8A0WScgC9IxujAabfhyHNi1j8I3ZwK+/CH4sSjIULRJBlZg8FiJsdgwGx3KgltlTVeQtTXS6+nj2BMRm934XbaceTZIdDDbW8YndVBXr4LfdyPJPQMx0nJWnKsFiyKnikkv0QwKBGJCz3Nip4OlwPTY3om0jF8vgg6qw2j1oDN5cJhGrxXihxH6vMRDAUJxpKgM2OzGJXcTulUjFhcRmdykJtnU5KqEwvQ5w8SkkLEUyJwogWzxU6u04w+O0Ww9y4ef4RkRkZjMGN1unDbtMR8Xno9XvqlGBmdDXe+E5szDxsSvbc9RLRW7Hn5uO3iUvvTT9pSEcE5Ssjvw+8LEk2jBOawWmw43S5yrUMHB3KSUH8vnl6vcln78XY9tz2ElXbtXHn3P/GjCyOZWVPP/FmTGWM3PBTkQ0R8izDQe5s7d65zsnU9HaY3+av/3EyRU2bA04vH048Uy6ATm+FcO848G0ge7njCaKx28vLd2A2fl8A3RcTnQwpKSJEEaRHZ0TLIzZYdxR8QfRwinpTR5AhbtuN0GkkH/QSkIKHoo8/Yc3SPyP24P5FjEv2K3TxUp9VOrsOCXiNCxvfg8YdJpGWy9YNy5OlDXD97jpshLc7RBRQWjMBmFAEkhOwDBIJBgo/JLuTITocY8HgUOx9kk4fb6VDYZAU93PGGyTbbFDY2o055OyPuqvg8A4QTMSR/iLTBhsM2ONYsD/OTU4QHvPgiCWIBP6G0AavDqtiU02JAm5Ug2O9XuIZiKWSNEbPFgl3c1UgHh7hGSaRBb7JgsjmUoDwiTY9ySBr14fV6GeiXiGDCkWtDd0REoj3A2H/93/i92nEYoyEyRhMGfQ72PBcO8z2bkYlL/UP+KUZS1mC0DI5bhzFNOBBACoaIJFJk6UyYzUI/G5rY0FgPiWe0GIUd2HNxWAxoUiG8PR784ThpWaPI7HC5sesSBPo9iv0FommFscsp7M9OdsjLXU+ILLON3HwXxqREUPGZMZLCzqxmjDoNg15RBKYJ0Ndzm9tXT7FrYzv65j/jd2pHY80KEQwO6WG2YLE7cRgz9/WIJlJiAGI2W4f0kBTuSjsZDcZHnhH/BXn0GftgcutnvaEZ2nj2zP1Tvv3mTCbY4wwMhMnSG9AZLeS68rAK+7/nPuSkYiMej4f+QJSU1kKeKxd7bi62rDD9PV6CmLDluXHbc8hOSPhDYUJ+P35/kOjQmFP8istFri0HXfow73z7bY7pJ1FVX63cF3YKW78v+2DCcu+du9y5foq2jR1omv4rf7CqkgmObDLxIL5+P6FIEL+UQGO2YbdaceQ6MBt0EOvj6plz3JDANmICEwtG4lA2fymifjHmJYIRMefpyDGbsDrzMAl7Fj5EmXO0GG25uPIdmLOTBMVYlyTCwlnrcu7b2j3eT5LHnuvAYngwF6aiElIoQiwSJhxNkMpkozeZyDEaMdscWB7mLqaVVAR/3wDhWAwpECKls2C/N46z4/j7+/EFIyTToM0R87Mbh1lDMjg0BiJxZQyYzMIH5WEz6Z8a7EQWXAMSkhQilswoc49Z9JsjBzkaIigFkAQ3eYibIw+7GK/pML4+YSN9BCIpNBYnLqdTme+yIwP0eCTkHCu5bjd2IcMTpqbE0Xf5s7cPkRk/i9pFVUwdn4fp4TzTckqZA+/evcON07vZ0iFT/R+/xeISF9qQ8FFJMpocLGYjem0WmWSceCJDttGKM9eOSfi+ezaWSRDy9Su2GvRJJLJNWB02rA4nDrPxifmXH5honJAvgCQNtZttwGS2YHM6yCFKKBhEksLKnKPNMWMSaxG7GYPylUOGRMjHgD9EWPITTGSTY7VjtYk1kRmjcgifJiYFCIWCBMRYCkZJyNmDfsDmJC9PsB9K2SUnifj78fZ66POHSWrM5LpycYgxqoni6/UipQ1YcvNxmTJEwkHFnmLJNNlGEQRH9IlMKhEjkc7GYHUqchjE9aGQTxkvUjBGIpONwWQe9F05EBXzrRQkEk8KA8QkfFeuHbNxcCzLqSiB/gFC0ShBSchlwma34cx1YsnRk50M4fffs7c0WQbh/8TcrFSOJObt6NCaTbTryMVuEL5/kF0io8FgdpDndmDWxvEPJNBbLZh1aUKKHUtEYikxOSl27HBY0CSH7DgkdBV+NQejbjBmRCqRRNbmYHU6sGpF2jJJWR/ElDWwCZPZhjvXikE/+MowkwjhH/ArfeQPxsnKsWC32rA7xVh+Wjq1QSsSa1ixNrnXF6INsQ50iM1ePEQwEFD8lDKPmcxYhf6KbYrGk4T9AwQiMaJCT/SKHxF25nBYydGlOfUvf867XX7yKupYNLeCArdYnzyYIORUjEBfDz13rnOmo5Wu+Ey+9a3XqS7OIRQKEfQHCPglwsoYMmERviDPRa7dhEF88iSniAYG7c4r7C7bhDPPOWh32jgBj5dASo/Z6aBny9/z/kEfzvJ6aueVM8FtxfCYLFJfD3fv3OBsxzY6YzP4N996g9opFoL9g77FH06SneNQ7orm5trQxgN4vQFSOhNOsTY0GR9Eeb6vZppYMIAk1gthwVKD0STGei42XZpISPRx6EEfK/7O9BD/xKPPiKBjmjRRv5c+XwyNzUWew/KILl/n/ecw3nh+SXhEkBex+NPq0Woeu5D8eU0o5ZPI2Tr0Ws2DIBDPKU4mlSAhZl6NDr3uwaZEzmQQEYue9aHDsJv9onoOu+IvWDCTUvil0aDT6x5sMOUMGR7KnzesamUyqaTCT1wo1+j06IY23J95/Fntyj42/8X38dS+RUOFyEMqFjmfpS9nUiQTUaTzH/PXH+j47T9aQenowXuOL6wvh8Xmyy+USUSJinMJg+HJnJ/Q7KNsxOHL0Lnl0+xcTpMUwZeytUoqhyefRYjImAlScjZanRbNMw4tvhgZmXQyQTKdhVavI7n7L/mt77Yz7t/+L/5k5WTcOrFq1im5H7+0sfrFBLxfOpNOkBC7aMWXDJPxZ9oaGlMxicvrv8/H8hv8VnOF8gbmZfjde+PZs+A7fPf3aihxZ5MUC1CNDs3T/HdG+G1xQDPod4SNKP2l+J2hADoPbRyFXxH1iv8Uv/JQzmA5sJ3//U+3mdZYw6zycdiUw5DHe/8exyCXW/6edelVfHPpDIofDigkfJLi+7XoNI/OJZlkjFhCHNwZlOikL8S2niLPr9T398exZmgcvxBtvrDImbTo8xSy8DfCjzzso54ZrEcm0PYD3rlezPwFr1BZIA54P2d9IGdIpRLEpSts/sd1xBtfo2HOlM8G6Rm29BllwyGiX2q1X7bve7YQwq8LE87WDua//UzPKvomSaUGAwJqdU/xlYqdJEnJWY+Wk2URq+izAWOeLd6XU0LIlRRBADXoHvKrX07lL0Et98Z9thbtU+fZr0JWMb8O2q9GSdc0ZEGyxN4fv8fl/Gm8sqCKIkeOcpjyGS+bSZNKxghe3c5PWvzMbFjMwpnj0COTSacG+00WwRt1T15DPMvu5BBd777HZXcZs+fPpdj5DFmu7eDdFh+VdfVUzx6vBB+S02KdmkLOGvItQ2uUezFUhxMI7Kugr9b5KIEXt/FUyasEBIH0VX75g04mv95M2ajcRyOtfR6h+AV+8c8HmfaNZqaI8irFrwWBeNtf8pvfaWfcH/wN31459UFwoV9D7ROXP+Tdg0U0109l3AjjS6Fh8sLP+JM//iE987/Ld0Qez/ynJdL5akRO3/iEn3aNpXZROYWjnp13OHFlLe8dnEDjonIKRr0cHL8aMl/nWtPcavk5+/PnMreihLEPJ7j8XCwJrq37Bd2jFjCvYtIwyn+d2aq6f+0IZO6w7YP9WMoqmV5RyL14dU/kkLzBlg+7sZbPoLJ8GOW/CNDMHVo/PIB5cgXTK4q4n2L5SXUkb7D1o24sUyupFOVfznO2L0Lga1NW3Xh+bbr6JVE0eYYPP+hhwbJXGJX3IEfqk6WL0Pn+Jkz1jUx5YgTel0Q3VYxfnUBafPJ1mwstf8t///ERHKv+lD/+ZjXTJorP2ocSlf/qrbxcNUT288lWHfMXTGGkSOr7//U3+Fn1zY4f8d3vb6Cn5Hf4L/9uJVVlo4feOL444VIX1rPhVgXzZkxg9FAkxKe2HjnI+tZsXqmawuhR5hcnqNrSCySQ4tLGTdwuncG0oqF8q89oPdrdwi6mMX1ywYMgXi9QYrUplcBLSyB1hdZtNxlbMpmSSSOenFrvvgIxjm/dQ6JgEiUlhfeDdn0p+qWusn3bDcZMKqWkZOSwZDmxrZ34+CJKSou+XFm+FIXUSp5EQN14qrbxYgnIMXz+FBarSfmM9Nk/mYgvAFar8knVcJ54dp1qiZeVgOw7zqaPd3Pq4hVuDUTJtuWT755C/W80M3OsczCX6a/bT44QCIBZ3Pce1pj4CgGkrtL+QSuHzl7kmjdAUp/LiBHjmLn8NRaViYBdL64D5JifQMqk3C1T7is96yc4SmASd3iUO3Lq79ePgEw8IJE05pBj0A8rPYEcDRCUB8sPy45+/aCpGqkEPp+AHCcYTKIzGDEahnPNQyYWDJHR6TEYDcMaf8NG/zLJMmyh1YLPQ0DdeD4PNfUZlYBK4KshkAorQYZEQAvlvpH4ZRmwuoYCHn01raq13iMgx5D6AoTjSTL3+WvIceRhE8FF1P2caisqAZWASkAloBJQCTwnAXXj+Zzg1MdUAioBlYBKQCWgElAJqARUAioBlYBKYHgE1I3n8DippVQCKgGVgEpAJaASUAmoBFQCKgGVgErgOQmoG8/nBKc+phJQCagEVAIqAZWASkAloBJQCagEVALDI6BuPIfHSS2lElAJqARUAioBlYBKQCWgElAJqARUAs9JQN14Pic49TGVgEpAJaASUAmoBFQCKgGVgEpAJaASGB4BdeM5PE5qKZWASkAloBJQCagEVAIqAZWASkAloBJ4TgL/D1Czf1Ypfemd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4" descr="data:image/png;base64,iVBORw0KGgoAAAANSUhEUgAAA54AAAC2CAYAAACxmFIhAAAAAXNSR0IArs4c6QAAIABJREFUeF7snXVclcvav69FdyMl3SCgIgoYoCgKttjdvQ1sBbu7u7t724ViYis2ioIYqJTkqt9nLUCRrfvVffZ+3/M7Z82f8Kx5Zq7J79z33I9AKpVKUSQFAQUBBQEFAQUBBQEFAQUBBQEFAQUBBQEFgX+IgEAhPP8hsopsFQQUBBQEFAQUBBQEFAQUBBQEFAQUBBQE5AQUwlPRERQEFAQUBBQEFAQUBBQEFAQUBBQEFAQUBP5RAgrh+Y/iVWSuIKAgoCCgIKAgoCCgIKAgoCCgIKAgoCCgEJ6KPqAgoCCgIKAgoCCgIKAgoCCgIKAgoCCgIPCPElAIz38UryJzBQEFAQUBBQEFAQUBBQEFAQUBBQEFAQUBhfBU9AEFAQUBBQEFAQUBBQEFAQUBBQEFAQUBBYF/lIBCeP6jeBWZKwgoCCgIKAgoCCgIKAgoCCgIKAgoCCgIKIRniT4gTLlD7N1kPueL+CsfN1XSsiG4qgc6Wur/VT0r7/U9bj5LJU8kQFlZSV53qUSEppUP3vZGaKoV/i03+R63nqWSKxGgoqQEUjFSfQf8PMqiraHyX8VMUdn/3wmIyXn/jDtXbpBmEURAOUsMNQX/v1fq37/80lxSHtwl8UMOQmnhvAISJGJNLDw9sSuji0bxn4v+m//2MXefvSGrQIqybN6RqFLGzRN7M300lP/9q6wooYKAgoCCgIKAgsB/CgGF8CzRkqLkG5y+9pCEGyc4dOYh78VWVI+oh6+tEZrKSnyzrZTm8/byXvZcekGmuiuhTWrj7epNg2BvdLT/u4Rn9vPLnLl0mzvnj3L6TgpZQh1cQxrRrFVb6nmXQVsuPKVkPjrJpqVL2XP1NSJTL/yrlMenWj0a+jugp6kQnv8pk8p/bD2EGSTeucqVy1eIu36T+zIxo+lL1wkjaF7ZBgNVhfD8x9teksWLa7Fcu3mJk79f4OGbTDRca1E3qAYh9WvgYWWAZinhmZMYy66VS9kWk4igbEUqBwQR1rg2PjaGaCqE5z/eZIoXKAgoCPyAgCSD55cucCfDCA8/bxzL6CB5f5/Yi08Q21TA19MWo9InaQqYCgL/nxNQCM+SDSgWkl8gpCB5N6O6zydGFMy4lUMIsTdC4w97Simfj46l3ZSjfPQaxNoJTXE200NTXRWB4L9rAyoVFci55T7bxqiBy4j95EbvZRNpXdEOY3VlinFIC95xesZIdohq0qFNCJ6W+miqa6ChpoLSfxey/8+njf+y4os+8fDEVjZsPsyVp+/JUdbH3NYFr8pVCa4VjK+bJQaaKpTSO/9lkP63qitFVJCPsCCLW2tHMmnjJTJ9I5kZ2ZRKTkaolT4glB15FbziyOy5xCj70bBJMOWsjNDWUEdVpdRh4v9WFRTvURBQEFAQAEQvDzNn8goO3taj0YQRdAx1J3XbWGZtOEmKSw/GDmxJdVdDxdqi6C3/UQQUwvM7zSl5s4shbaZzWhzC1I0jqW33PeEJ2UdHExF9kDS/0WyZ2ARHU61vraL/UV3lJyojfM3+MT2ZeSQFu57LmNmpEmX1iy2ZuSQcWs2BD+6EhvrhYqGHmkJt/gRUxSP/pwSkn4hbNZFZB16i51WD2iE1qOhmhZG2BurqGqhrqKH6HbHzf1rm/4qXS8m9t5bhI1ZxPt2XyIUjaFrRBr3S6l+aw9PDmziT5061wAq4WOigqph3/it6iKKSCgL/9gRyn3Nu+y7OJZehevNwAtxMyb9/mO3748h1CadpnUrYG6n+21dDUUAFgV8hoBCef4vwHMOWSY1xNPkvF55ISDs7nd5jdvBIP4LZS/pTw94IdYGQ5FNr2JXsSr26lXAyU2z+fmWQKp79vyIgJePSIkYte4pziy40DXTBXF8TNRVlhYX+/6pJSr43/zGbRwxl+an3lBuwgJEt/bAzKOk7K+TN+a0ceGVFYFBl3K10FaLz36HdFGVQEFAQKCQgFVOQl0u+WBn1Ii8MRPnk5hUgVZF5g6lSFDZDQUxB4D+GgEJ4KoTn39qZpTm3WN5nMGuuiwkat5KRDZyQ3trE1gdW1A4PwNVCsfn7W4ErMvvnCEhSOTFtMtcdW9Oqri/2BmoKwfnP0f4LOQt5sWMMQxYcI9mpJ/PGtaOKoyGFPhZSMu/uYVucBhWDAuRBztSVFf78fwGy4icKAgoCCgIKAgoCfxsBhfD8u4WnJIMXt+NJzshDVBwaV90c9wpOmGqpIchOIv5uIp9yhUgQoFbGlYouZmiqyU7qxaQ9ucjpmJu8zJCgpGaIs39NqvlYo6+ujPTzK+7de0larvDPo+6qm+NW3h5B8j0S3n6mQFxcSQFaVp54OZigpfoP3UiT5vNi6zD6zD3DJ6/fmNFcyq0kK2rWr45HWX3U/13c3KTpPL/1kNcZuYhQRtvSHU97k6JASN92Cml2Cg/jX5D6OR+JQAMLd29sSSE+4Q1Z+V/gItCyxL1cGfISnpKUlo1QUpyPEgb2FXErq4tmUQAaccZL7ly9zI1Hr0nPBgNHP4Jq+WFvrIn8kfw3PLz9nNTsfGRvEOja4OVpi6FmPin34nn5KZuC4vwFyhg7ydwIdVH//ILbD5PJyJVFZhagauqMj7M5uvKowVJyU+K5fu0Oz96mk6tkgE35qlT3Louehsq3buLidBKunOX89eekCwWoGDnhF1QVH1mgLRXITrpP/MuPZH8pxPfmJAHqZi742Kvw5sFz3mTKWH/tiyiro2dUBnNLC8wMtFD5jjAQZ7zibtxlbjxIlnPSc6hEUE0/HEy1Cjn91STO4NXdOK5ef0Dypxx5dGXfoJpUcjJBuzjj7AssnPMU35b1KW+RS3xsLHcT08gT6GDm4EVlf0+s9DVRkZdDSnZyPA8SP/D5D0zUKePmhaOZ3v8QRVVK7psH3Ii7w7OUdHKU9LD2DqSatw0GWioIxB9JuP2EFHmfLU46WHp6YGeqg/TdY+6/eEtWnrzHoGNdDg9rDdKfPeLlhyzyv/TH70FTp4yLF47mehQHmBZnJnFPzj6JtM+gZ1+R6sF+8gAYhYGqJXxKuMPTlDRyhCXzVEZdzxBTcysszAzQVlX+x64gCJP3M2ngHA4nlKXD/Il0rOqMsSrkJ55g89F0nIOq4+tijnZhI/3fJvFHnt99SkpaDl9xaWPh7iGPxkvqEx68eCsfu/L2K+uBm60puuoy2GKyku5z4+p1Hrz6yGeJLrYVqhNU2YUyumqFd8DEn3h+7ykpn7JL5K+Jmas7ZuIUEpPfk5n3tRMo6dtQztUaIx11eftIc9/x+OZ17jx5zacc0CtbjipVfbA11paPNfHH59x/Kvvf19ILNM1wdjdDkvKS5PcZfM1eCT0bL5y00klMSuFTdqnfuJkhefP937haG6GjXthe4szXPLh5hevxL/mYJUXXxoeqQZVxttBDjqVkkuby7vEtbt5+QvLHbAR6VnhUqYq3vQk6vzRZSMl8Fc+TpFSy8qUoaZnj5GaP2ZexXuKlsnc+fUzi2zRyRKBexgk3/TySU97ysVSdndzMkL59RfL7dORDVJ6U0LMuh4uNMbrFdc56zcObV7l+/yUfsiToWHvLLfaulrL1Eyh4T0L8c3k/kvcUbUvc3Owooyfh3eNHvHyXTu6X/JUxsPPEuawx2nlJPHiSRGpmvnz/oGpkj7uTFUY6agiQkvfuCXdu3OZx0keyBbpYeFQm0MceU13Z/0skcSYvb13k4rXHvMsRo2Jgh09AIBWczdBVE5Dz5jGPE9+R/rUQ3x13aiYOeDhaIEh9wrPkD/Ko01+TEuo6hhibW2JpZoi2+nfu0EuySHlwi2vX7/PyfSZiHWu8AoOo7GaJ/q8G5JGk8TL+GcmpWRR8KYQGpk6umAk+8Dr5LWkl6qOkVxZ3J0PyU16R9D6DfIkSmmaOuNhZYKhdai2Vj633PH/yQj42RVI1TBzdcbA0KlprpOS9f8a9m7d59CqVz1IdLNz98C/viJmeGoI/K5vSB1KS3/Ipp8Q+RNbvnW0x1df4qXlXkvaSh8+SSM0q+LKvlI1rWZ83N1QmLeERL1I+UtidtTB3dcXW3BAtZZBmv+Hpk0TepuXK9ynfT0roWrnjZFMGA3nk93w+PI7j0rWHvE7LBW0rPOX9xxzd745TCVlJd7gce41HKZ8RKeth410Ff19XLPXVv7n/KslK4s6li8Q9TCFLpIyBjReVA3xxsSoaO8UFlHzmzaPbXL9+j+dvMxBrl8XTvzqVPawxLIpOJ0lP4lHCK95nFI6XLyNWTQcDYzMsLM0w0tVA5W/bSkvJev2YhJdvScuTINAsg72zHZbGOn/c60jzSH3xlMTXH/gsBDVjO1ztdMh9/Yqktxnkl+jDJg7OmKuk8+Z1Ch+zS/QTXUvcnGwxM9Qs7CeSz7x9cpfrcXflTESy/WyV6lTxtMGodMS+f3ElVQjP7wD89TueJV1tc3n76A5xB1ez/OA9ssqG0693S0ICnDGSTZ65r7i0dRHzNt9BPaA57Vo1INjDHE3lTB7sX8ySEyKqtGpJHW9L1PPfce/kfq4qVad1Y1/MEtczePpNylSrQ3UfW/Ryr7Jp3i5uqwfSo0c4zvoFvL66n+0x+rSfM4AAjXSS7x1hzcK93BG50ah9Q4KqVqW8rQHqf99o+QNB0bsjTOoxkQPPBTjV687gvk3kkYE1/q0sDjm8T3jGo5gtrNl7g+diPwbPG0w9lzJofTOR5PNg31TmLjtNsmUYbZvVJLBqBaxV0nmVcI9jaxax/2Y+jg3b0qBmNar6mCN9n8jTK7tZtvY0idqVadO6HtWqBeBiroO6spiPt/eyestd9Gs0IbSyPYZKGTw5tZWtsRICO3clvLwlunzi6fUrxB7fx4EzD1GrM5YpfYJxMhGQlviUx1d3s3ztaV7pV6V18zpUq1YZZzMdVDIvsHDIDI4k61E+NJw6oTUJdDVHW72ApJiNLN6eiGOjltTzs0XtYxzbF+3mvU87urcIwM6gcBKXZjzi8PKlnMjxoVGzulSw0UKYGs/Zg1cQV25Kfb+yvNk2grnXdKkQXIMKDgbk3djG0l3XEfh2pnO4B8bSN9w4uIPzms2Z0q86erlviT+5nqW7r5Pn3o4+bfyxM4CMV3c5cyiGVIuatOrUCF/r4gVCzKc7+1mz9Q46gQ0J9XfESCmTp2e2se2CkMrtu1C/Yln01H5dUIg/3uXA6q3c0QmgQWgVHE2UyXx6lh1bYxFWakvHhhWx1ldD/Gw7yy5Y4Wt4n2PnXmFaowlhVV0wUcki4ex29t7SwL95C2qWM0dHVcSDDSOYe0kNr+pBVHQxRnhzO8t2xyH26syAvhH4Oxj8ifDMI/nCZpZtT8A6LIJ6VRzQTLvBzqV7eOPWnM4tquJkKCb1+TPuH1/P8r3XyXGoT/MGNalR1RsbIy0kL/cwddRqrnwuS0B4XerUCaaC1Tv2RM/jqlo5Amv44mQk5M7OZey5JsSrfSfCvczh7U2O7DqHWsMx9G7gg7WehE/3DrJ+6y00KtenToAzJsqZJJzbyfYLeVRo1ZH6lWwxUJeS/e4FCfGn2LR0N9eynGnRpxWBTsYIMpK5f/Z3LrwzoWrzDjSqYofhr24Gf2ZxE73l6JRBzNr7AOPWs5ncPRgnwS127HyEsX8QVcrZoK/2bxJESPKZ9y8SuH9iIyv3XiPTpi7NGoQQXM0bG2NtpK/2MzN6NbGfzKhcry6hocFUlB2GKacT//sGdl5XwaduHQLczFD9nMCFnTs4n12Opu0bUsXRCHVpdmH+Jzeyau8VPlmE0KxBbYKq+2ClkkFKwjX2r9rIyYfg2TSCerWCCJBt0rVUyX99iZ0rdvLYNJiGYYE462Rwd88q9ibZEt6hBUFuZdDIfcfzZ/c5s2UV+y+nUia4OQ1Da1GtvCUqGa9JuLKPtZtO8BBPGkeEUTM4EBe9At4lxXNq00r2X/6AWc0I6tcJplr5sqhmvOb5tf2s3XiCBxIPGjUPo1ZwIK6WBmipSkiLP8LmHTcQeNWmdlV3zFQ/8yJ2DztjsnBv3JYGAU4YF0f9y3vNlR0r2fXImGoNwwh01SPrzl7W7H1J2XrtaF7TAzPtnw9hnPvxFS8eXWDPpgNcvpeJe9ex9IuogsM3rtxQ8PQESxct5/BDTQKaNKZOrRr4mEr5lPKIU1tWsv9SKqY1mhIeWpPq5cuinvWGhGsHWL/pOPdFbjRsFkatmoG4WRnK65z+4BhbdsQh8ahFSDVPLNSzeRG7l90x6Tg3aEPDqoVjMfFeHBePH+TwmTsIK/VjRO8G+Nqqkpn8gmdxB1i3UdYO5ajfuC4hwf64yKI951xn3aS57L0rwqFGXULrhlDV0xpDLREpV3ezdscD9APCqVvdHf3P9zi4dh8vzENo1aIW5Sx0kNGTZiVwZtMajr6xpFp4GP6uhgjSnnLx2BU+OwUTEuBKzvEZLInJxrJidap4mCF5cIgNe2NJt2tM6wZ+2Gp84P7x/ZwXV6NftyZ4G2Xx4sEZtq/ey8V35oR1bkWwtwWqWSk8vHCC2CQtfBq0oUk1F8oUtaEk7SEntu4iTuhCjdrVKGepQXbiJQ7sjiHNvh4tGlfDtYzmzwflkWTz4dUL4k9tZe2+WFL0A2gQXpfawRWw1szh/YsbHFq3ieN38nAMb0K90FoEuhlDWgpPY/ey7UAst9OcaTeqL82ru2L0TVcrIOH0SpYv38d95UqEN6pLSJAv9ub6aCrn8yZuH+t33kXLty71gjwxzHnA4fX7eGZUg+Yt6+BjoUTaq+fEn97Gur2xvDYIoGH9uoTUKI+1Zi7vnsdxeMMWjt/OwSGsCWGysrmXLTpQ+J8nUWn2B169iOfM9rXsv/AGo6oNCatXm+o+9pTRV+LN0UXMWH2CF1re1AqtR2itSjhZ6Bd+tio/g5SXz7l7Ygcx2S5UruKLq5kqBa9j2blhP1c+WVO7cRihtavhVtYYHdUsHp44zI10A5wqVMDZTJX02wfYuOM2qgGtaNvQHweDEl84kH7mRcw2Nh5+iWHluoRV98REKYNnl09wLb0s/jWr4WOrjwpSPr+IYcf633lp6EdoeHU8TJTIeHaFU1fTsPIPpmoFO2QhRyTpTzizczdXPtsQEFIDH2stcl9d5fCec7y3qkmzxsF4WmghyPlIcuJDzu1cz75zrzCs3Y7mdSpio57N20eXOHUhERX3urRsVgMPS135+PhXU17aa14+vsTB7Qc4fz0V+1aR9Godgqfpt199KHgRw/oVK9hzU4x3aAPq1a1JRQd9JB+TeHBmBxv3xpCoXYmw8DDqBFfARjufDy+u8/vmbRyLy8C6TkPCwmpT1d0GE101pBlPObdrN5czrKgcEizf8+UmXePI3nO8NatBkya18LLU+vnx9D+AUAjPv114SpGIhOR/iGFOr2gOKDdl7tweVLE1Qr5HlorJfb6FSaskNOwWjredMVoqYl7um8CoFS/wGjCWrsFOmGnJRsgHLi6JYvYhaDRrHE0ytjLvaVU61vfE2lgdpfyLzGk/msNGXVg6sQVuZlpIcp+ybewuDAb0pbatMZp5N1jSYyjbpE1ZNK0D3tbGctH569v1XxhSkkwuzurBqC13UAqZwopR4Tj/yiLwC6/664/K2klE/otdLN5ymxtHr2PaYxYjW5bHSu/rFCLNvMbho7EcXriT7IYzGNelMvamGigjQSzO5fayvozYVED4vEl0qGSPiboySESIUn9nfJeZ3HDqx4xh9fGw0kdVGbLvb2bChGNoRkTSta4X1gZq8ryEuWnc2zqBmbFmtBvek9quxqiKC8jPzSAxdjPrYrRo0KMl/o5GqEnFiD4dYULnmcR7RjLpt9q4WeqioiwlPW41c3d/xqdxA6p5WGEgC4KjIiDj6jKipp5Go9lw+jWuiK2BKgJJAann5jN8/gPc+4+lW5ADJsqvODw1ilWPnegyoishHlZya4Hk42XWTJjL/rwQxo+JoODAcp5UiKCOjyNmGkoUXFlAz+h9qDefS3Sb8pTVlZL3bBfT9mjSo0tt7Cx0yL23mkFDN5BRayqTugfgYKyCLCJy5v3NjB+/izc+/ZgyoC6uZprkxG9l0qSjqDYcQJew8tgaFnHKS+P+tsnMvmBMy8ge1PEwk5+8/mySZsezfeJkjqo0oH/XMHzsDJE3mTCPtPvbmT7zAgYtBtG9ridGTzaw4mwSV44/xKb9ILrVr4CdoXphe+Wl8WDndOZcMKDpgG6Eehpzf/lsHnnXp6a3C+aaShRcW0TfsXtRajyL6PZVcDD+keVPSvq1lYyfdgLlBoPo06QyDkayk+4CPpxfzOgFd3HoPopuIS6YqIrJvbOGIaO2kVdvEiPbVsapjDrKSvm8+n0xq27oU7VBHSo5m6GvqY6qOI4Vs+Nxr1+L8m6WaCoVELe4LxP3SgmfFkUbP3v0pXk83zOD/aqtaF3HgzJvdzNtyhGo25vO9X2xN5KxlyLMS+fBzmnMidGl8W/dqettibZAhCg3no1DRrL+fQBRE7pTw60MKlIRBZkP2DlpMjsTXek6qT/hXlZo/+0Tj5gPp2YyaMpO7us0ZWp0ENk3HqPqHURgRSdMNf85a+vP9rmvzxXOObn31jMyaiuZQWMY1r4abuay9isg6dgy1sZp4lu3NlXcLNDX0kBNKZfHu2cw83ABNbp1pkEV2QGmMgKpkLz0B+ydOZcYjTB6dqtPBWsdBPL8NzAqegPv/EYyqktNyllpoiyQIBZ95NSMAcw7r0/z6EiaVnHCSE0ZQeZNNkyaydGCIHr2jqCqqynqShIKPlxi1dhF3DJvzcDu9fCy1EAsyiV+40jGrXtLxRGj6BziTVnZN2kkYkQfTzFn4BzO60YwKjKCKs7G8jVPIs7lfqnfWGnI6iCbx04xd+AcYnQiGDk4An8XY9SUBeQ+3sPs6YfJq9qJDo0DcDZWR0Ug64MZPNo7hwVnlanVvSsN/GzRU8rg1oapzPk9l6o9ehJRwx1TdSUkBR+4smo8S66bEjGwO/XKl/3p/ieViBEXvOL3tXuIO3+IW/qNGTSwA8Hupl+tD9LP3Dl1hosHlrD3ox99I7sRWsEGLSUBUnEu8ZvHMGFdMl6RI+gSWoGyX+p8mvmRczmr3ohhg1tQ1c1EHmgv98k+5s06xOfK7WnfpCquJkV1zs/g8b55LDwDNbp0oWFlW3SksrUhi6Rre9h6Tohf0yYEly+LFmJE6WdZMHgul/UiGNS/Kf7OhvK1J/PuDlbufY15YB2CKjlSRkcDNVUlPt/ezMzZv5Pl34XuLYLwMNNASSLk05W1TFlyFb1G/ejawBcbjRROL57O6jht6vXqQkN/JwzVlJGm3WTHvIXsfF2OngNbYnRzP48tKlHFrwJ2OsqIbq9n1ORtfKwylKGdauFpCvkvf2fJQSF16tWkoocp4txH7JwwnrVPnOg1oifhlaxRk4oQfn7C/tkz2RFfhmYj+tHE3xG9vCccmj+Hg+kVaNW+KdU9TOVrnFSYT8bjgyxeeBpRYHs6NQn4VsT86YCVIhGLyHuwnYkT1pLg3JfI7uFUspN5tEgRpd9k08SpbLhhQETUYFoFe2Aq81KTiClIPsaWvZc5d+AW2mF96NupLl7mX63E0s/3iIm5wIGle0kt142+PRrgZ68t9/DJurONuXMP8ql8O7q0qo23uQZKUiGfrm1gxpJLaNTrRZfGlbHVEpP3YAeTJq3lmUNPBndviJ99YdnEojTOLx7FguMiag0cSOuQcvKyKf3s1xWksrkhj4c7JzF1w0tcew2gc3glyqoroyxMIWbDRi4XOFI1pDretkZoqauiUhxQT/ZbsZicuF0cynDGy8cbd1NlpFmxLB85l2P5wfQb2IYQLzN5xHFx8jEWzTvAC5NadG5fj/I2OkgLPhK3YTpLThbg37MPrWu6Yyxf00W8ObeKuSsvIgjqRKeIGrgZq6EszeTO7sUs3f4c+w596BDui9nH86yZs5JLgiA6dG5GdXdj1JWlZNzew9Il23hu34FeHcOpaJzMsSXzOfDWhUZtI6jlbY6GrO+I8sl8coTlS06S7dOcDs2DcDFUQizO4+ne6UxdeRezDoPpFRGInboUkfAzCYcXM3/LDbTDBtGnVRCuhv+66bNw3knh9PYDXDy5nztawXTq2YUGlawK9YMsSbN5cOECsfuWc+CNIy179aBZNWe0ZcYkiZi8R3uYOW0198078FuPZgQ6aaEskPXvdC6tGMuCw1n49x5A+3rlMZOtJXkvOL58AfuT7Qlv04LaPhZyzzw5k6fHWLXsOBkeTWnfoiZuMneivyEphOffLjy/do5bi3szeHMOYTPm0yuwLAbyniPh3ZGlHNJqSNMq1hhrKiFJi2G2TKSqNGPuzC74WukXuu9JUjgc1YdZF8rQaeEkwt/s4YBuE5pXssRY5rKQf5FZrYdzwLgba6a0xMVMBwF53Fy6lOe12xHqaIae5C7Lu/3GeklLVs3qgKeF3t92avGj/idMOsWKpZv4/fdrJGnVZNTqcTTxMEP7Xx+Xf0OX/zYLSfIelhzTQvPGInbnhRI1vjNVbA0oHF4SUs8f4rZ2BodHrSYrbA4TulTE+supt5D4Fb0ZtLaARkun0rG8NfrFIijrKONaTyHOLZK5w8PkYkogfsm+MYNY+Kgcw6b/Ri2XMiU+di9F+HIHo/qu5kNwFOO7BWIrEx9IERfk8OnZRY6cSsS4Wn2Cylmgm3+C8W2ncs97JNMH1sLJNJ/HR3dx5p0l/sF+uJY1lrtTy+cq0TO2DxvMskfuDJoVST2Zhb2oLaSZZ5nRbQpxLr8xdWAdzJ4sZ/D4vRTUncKkroHYG6vK85C8OcqUgbM4q9OcaeMak3n8KBqhDahoYy5v14Ir8+g2cg/qrRczro0P1vqy/nmbNSueER5RCwsrI4QP1zFw4ErSQ2YyuUh4yoonfrWd4b0XcM2qO4vGtsDbMp1DYyNZGO/KoCm/UdsHC+6HAAAgAElEQVT9a3llLq3CV7uI6r+ad1VHEN29Og7GpVzBfthLxCTtH8fQ+fdxGTSZfnU95AKxOEmFSewZ8xtr3/gTObY7/h+3MXTqTq7kV2PC7AGEelqU+EakrBx7GDtgNSlVBhPV3Y/Xhw6iHBxKBTtLdJRAeHUhPUfvQiliHtFtK2Jn8IMBIEpg1+hhLL1nT9+pgwn3KftlrEizzjOn1xSu2PZk/IAw+Ums6MFaBg/ZRF74dMa098Ne+z1xBw9yW+xMQGB5+Wn0l8Ol7HOs3ymgRp2K2JXVRQkhcYt6Er1LSqNZY2nj54Bsvcy/s461TysRXk2bu8tGs/COPX0n9Keul1UJDwApwqS9jB+0mmTfgYzuXhOXMuoIhE/YHBnJqneBjJvYnepuZQrHjziJvaN+Y+FFI9rMjaaVnz0/QvCvDGxJ+gUWDJzAtutCrCtVoGabLjQJ9MBSV/Xf8k6u6NFGhg3bQGatCYzsGIizbio3Dh/idoE9lQIqyK1TGkWHg+Lk35kxcgE3Lbsyqn9DKthof52/pUKS909kxOpEPHqNoFuoJ+YaAkSPNjFixGre+Y9lTNcg3M2KT8s/c3ZGb2aeM6TNhCE0rWSHrpKIF3snELXkBmadxjKgqR92ukWTmDSLSwsHMSPGmFaj+9PI1wYdgYjHm4YzetVb/KKj6CKzJH7J/iyze08nRr8NUUOb4WdfvNaIeLx5BKNXvcEv6o+/mdNnBuf0WjFmSASVHfRQEr/m2IzRLIwrQ4eR/WjoZycfT0W7LoTJh5g2fBUJLt0Y0rMu7vnHmTpmCddN2jF6UDN5HoU1kPL50iKGTj+Pfovh9G1SCVvdX1iEJG84tuE0otxrbDuRhUfnQXSp541lkZVV8vEaZ+7Bm9/nsvO9B32H9KC2zFInf7eIJ1tHE7UyCZ8Ro+lWxwvzL5ximN9/Bqc1Ixg1pDn+TvryOh+fFc2iq4a0Gd6fxlXsv63z69+ZOXIVjx06EdkjDJ+yMvc4KZKCXNIS4zh97hlqnjWoVtERE8kF5vefyUX91gwd0JTK9lJexBzmXKImrpUr4+Vkho5MmMiL+ZJD06JZelmfliMHEFHVmeJzV+nnKywfNpOzGg0Z9FszPD/tZuLUrbwu14/hPcOpULbQlVPy/hyLo+fye3ZVBg5vgXb8VaRelfDxcJbPLcJbaxk+YQsfA0YyvHMI5cxkE84Ddmx9TAX/yri4W4EogT3jxrDisRN9R/Ym3Lds4UZbksLvU0aw8DjUGzeS9rXcEZ2ey/gFF9FtHkmf5lVxLNGmUmEKx2ZFsTreitaDe1Lf1xqtXzjsEj3dyYTolSS4DmBYD1kdZQaAj9w6dIjDezZyPMWZDlGRtKrh+mUuk7w7ybYzuWRe2c25TAea9+1Gg0rWyL1KZdcRrp/jvjiZ44t3k2Lfhf49GuBrrQqiVxyZNYGlF9RpNGQALYPdKN5aSD9fY/XoWZwShNKvf0uqOesjebqLiWNX8My5H0N6NsC3bLEIyObi4qHMPiohdMhg2sjy+YVuXjiuRDzbPZEJaxJx7zeYLmEVMPl0l1NHb5Bh4kmlSp7YGmuh+gOvtby4fRzNccLDyxNXIyXIvsiyYbM4JqzDb4PbUsuj8JMwosSDzBy/jFPCYIYO70Soj7ncWpl+bhGj551GUHcgA9oG42qghDTrFlsmz2TzMzs6DelFkwC7QqYyg8yKySzY+x7v3kPoUt+F1F1TmLXxKXZdhtCjaQB2hQ/yIXYlU+ft5b13LwZ3C8fyySqmLTiHUlg/+rQJxvXLhg2korecnD+eNbcMaNivF00D7OUHq4n7pzFx2R3MOg6mV3OZ8CzM+83xOYyff4js6sMY2jWc8ua/cAL+Zwue5D3ndp0j8/1lDl1Kxzy8O91kgreoI0vSbnExPp/Eo2s4lGRCRO9eNA20Q60oT1HCfmZMWs59i84M7B2Bv21xP8nhyorRzD2URdV+g+lQtxxGShLenVvO9IWnEIf0ok+72riX9OoQveXUokmsvq5NeO9eRFRz/OnDuz+rokJ4/lPCEyn5CZsY2mMZL/yjWDQ0BDsjDQTiRHYvicGueSO8LAyR9eHP56bQadQuckJmsDQyGDujwjs3sns9uWmpfMpVQ99EH+mjyzwy8sHTXBeZQfT7wlPCxxsXeGFRAU/Zd0Ul91jerT/rpS1ZNfOfF57i9xfZsOkBVrW8SVk7lhVn3uPUZzkzOvpipfetu8CfbjZFL7m0P5YnH7NL3Ln4C9tTgR5uIfXwszWQ300snWTCc+nJsoQYn2TKonu4R06hd03HQhcu8UtOHX6Js9dbVvZfzJs6PxaejZdOpcP/IDwlr3Yxsvdcrlh2Z8mElpSzkgmBEinvKvO7jGBXfj2mzO5JoH2RlVxuKM8nO+kki2edQS2kPW0CXrO8xyzu+4xkag8Hkg8sY39uLbq1CcLDWv+bT9WIn29nWP95xBq2Z+H4Vnhblzh8ED9ly6BINuY3ZPbkZuTsGMqE7R/xH7uQgaFumBWuniDOI+PDJ3JUdTHSh2fXHqPn7oaFgY48mMt3hafkE3cuvcDRyxUdfZ0/Ck/DAt4/vszBdRs598mG0C7daFTJBt33+4jqO5eLZTqxYFwrfGz0v+WUf41F3Uex43Mtxs/sRQ0nk6+ngX/WReRCqD/zY03osHAcLSvaoF/Krfr6wl6M2ZZB0PgZdFQ7xMiJW3hi14tl41tTwbZ0OeJY3HM0OzKqEzWjA2ZpnzB2ccHcUFduFfkqPOcT3bbCD4WnOHEXowbMJ0a7ObPHtsHX3uBrfcUJbB82jA1ZdZgyvpPcpVLyYB2Dh2yUC8+RYWrc2baGm2YRtG1QGVdzLVRK3qP+/JBrj7VxcrbAUE92iPB94Sn5dIeriUY4a1xhQdQiuXiQlaVSybLI2OZfZ1mfMWz7VJVR03pRy80MdVFp4WmCKPUp1w5uYPPp95iHdKBz0yrYG2n8M4de0jSOT+7FzD0vsek8ieFta+BqqvEXRKeI5GtHufTwDel5f2Gu+fITAbpOVanl54yZ3h9PiEsKz2ENdHm4ex03DOvTon4AHlbaJSLvinl9cCLD5so8FaYzun0ATt/68JF/YzmR0Vt56zuEiX3q4mmp8T8LzxhD2owvEp7SlxwYN5wFso39lDG0q+pSZG0oXH9e7B5L1Np3VBkzhs5B7pRREfNqdzTDFj/GdXA0vev5YFl0N5HPZ5nTezrn5MIzAj/74vntZ4Rna6KGNMPPQQ/p68NMGzqPU6oNmTimA1Vdjb91Y8u/xerIcWxJ9mHAhB54Jq5mwvxjSEInMqJDddxMv24AxS/2MnHMWt74jWBE15p4flHJP9G+krcc23AWHU91rm/cyg29pgzo1RhfWx2UEJMSe4ZEUyve7pnB+seOcuEZ8h3hWX7EaLqWFJ7ZMczvN4PTWjLLcAv8nfSQphxhxvC5nBCEM250R2q4m5Sq823WDRvP5kRP+o7rTXjFYmEjWxsKyHlzgfUya417GBHB+Rwct4BL+q2J7OmH5MoWDrxzo37jUKq4yixBXz2exEmHmDpyPkfyaxI1qiPBnmW+vlecyIFJ41iX5MXA4W0wvDqfGesfYNNjIgObB+BQLPgk+WR+TCNboIm+vjKv7yWgalkWCzNj+f7mu8JTks7Dmy8xs7bGyMzoO8LTEsmnF9w8uoWtJ16hW6UFHSKq42qazqmZo5l/RETtqJF0rF2OEs0tW4m4u24kkzc8w6lXFL0b+2HzC8qzWHg+dflNLq4rloXXFw5xNUePjzEbOHBLm4YjBv9BeG6PUcNe6Q5791xDJbQ3PSICcZB920mSwpVziRiYvuHIwk1yMdCvR3258JQkH2Fm1HwOZlVl+PBO1PExL8H+JYenTWTtcxd6D+1OWEUrBM92MTF6Jc+c+35feB6TEBr514Vnwu6JjJcLzwE0s0/l5KZLCKqEEx7ii62uGj++KSU74DnAGZzx8PTASXbo/APhiSiXj6/fkKmih4mpIbpKYrKz0nl3YS1Tl51FGhpJZMc6eBorkXNzPROmruWmSVtGD2pDkFvx+ishP+sT6Z9BXU8PXcF9toydxrobxrSJGkSrmm5f1nVJfhZp6dlI1XXR087kwqLxLNifScDQYXQJr/j1MEg+HRRwf/M4pq+7j0WH4fRpUQ0HbfEfhKeNNI2Xt06yc+txEtTL07h9c4K8LNH5m3QnMuG5+wJScwmPjh7mSkEgnXq2JthVVn8Jb6/Fkqilx9vTa9h2U4dmvUoJz+f7mTHxT4Tn4Syq9i0Snrzl7KJJLNj7gUoDh9GtUSUsvtknF/Bg2ySmr7mFaZth9G1VA0edXzjJ+cE0qxCe/5jwlB3vvOVQVFdmXnOk35KxNHI1RfnBJlbG+9AizF2+KREgJnFjf3rMj8Ww/Trmd6uAZYlTGNmprVQqQOY1IRUWIFKSuTkICoXpdy2eMrfBAsTFzwkLhee6t640rV8Rc10VctNSeJWUgZZTNcIb18bLSrcoWMhPLMZ/8og07Trb1l1HLyicauUsEMZMpc/YPTw1acncxf2obmv4cwJB9g6piPzcfITiP42I8hMFVkJFU/OH7sVy4XnKhia1lTk2cTS/G3RlypAGcrdlYfwRTuaUp6r1TeZ1m0ly7R8Iz9VJ2DcOo6KlQdEpp6xtHnN0wwk+BUaxsMjiKboyj87DN/O6wgiWjWqAm3mpz+8I77Gy5yDWPHSm/+qxNPW05MsYl6ZzY+VIxm5KwtLPA2sHLRK2HeWjVwOqmKkheX2aEwkWNI8eT+dq9hgWbwYB4ZW5dB6xmSf61WlZuxxm+sVnY0Wu3xnp5Jfxp1moERcmDWbRGQ2aLp1LN397jEpOQlIpUoGs70kRFYgQqKigXCRyvis8ZS6pBWJUVFUQCARFwnMFCeah1K1sjZ4gk3dJSaRKrQls0JgQXzuMtFQQXVtA9xGbeFluCItHNcLTUvtb13DhfVb3jWTNPTt6LR9LM1lwpJ854S2IY1G3kWx54cHApSNp9AfXTyEPVvVn6Kq72PRaxlCrU4yfvp1X5QazeFRjvKxkHgUlkjCetf2HsPqONd2XRtHE0xJ91a9MCoXnNlIdwgipUBZD1Vw+pbwi5bM2joFh1K/phZWBBpJrC+kxaiPxmgFE1PHC0kD960tkrvkZGeSb+tG4XkWsjbQQy4XnBtI8auOkr0LOvaNcy/Wl+9jBNKloje43bSZCKBKg/OUTMN8XnjL38AKxAOmtZfQbsxHZxmv+yCaUt9YtVecHrB84jFU3LeiyKIoWvnboiwuF58oHBgSFVsHWUJmsd0kkp0qw8A+nUW1fHEy0vxXEPzFyf/oR4UM2Rg5j1TUjWs8ZS1uZC+AvnHGVfI84P5c8oRiptGQ4iZ8uSdGDAgSq6miofe0LJXMoFJ7reecYhJORBnn3j3Mtx4tOowbRrLI9+l+0qpCby/szTrbZ7zmHYc0rYVeqowsfbmTEiBVcM2nH/NFtqORkWCQ8VxGvV51alR0x+zKJCHl2ZgenU9zpPW1oocVTdIMV/ceyIQ4qNAnBx9aY4muTcumZm0lmvjEV6tfG16GM3BIv82hZOnkpV7Xr0L5tXbzLKJGXmUryw5NsXnGQl669mfw94bniHjrValLZyfyrNa8ggbM7T5Hi2ptJMiupgx7im6sYHL2Oe2W7MmN4Cyo7ljrwET1iy/DRrLykT8tZQ3G9v5hF668iLt+YkAp2GGuWoC3KIyszH6MKYdSqJGPxMxNF0e9lwnPjWfSq+KJ1ez2z9uUS/Fs/WgQ6YSB+yrmYdGzcLUjcHsX8ew7fF54rbqPhH0xlFwu+GOYKnhOz+zTJTt0YP6RQeIpvrWHouLXcNuvI1OGtCHAucfgkK47oMdtGjWFFrDbNpo2iXQ03jIurIs3k3tZpTFt3BxUnZxzcDEg+co535lXwsTVB/V0sMQna1OgzjO5h5bEs4XokvLWaoePXcinfk/ohvjiUKQFPKiYvK5N8Q29Ca1ryeO1kFu9Lx3/sRHqFV8SqxDIi36dQtDYIRQiUlVFSKhS43xWesjVEKEKp6Llii+fyK1LKy+6kmquT/T6F16lCTMqHEB7qj6u5Lmriu2wYNoG1cUa0njKM1jVc5VbVr0nE0+3RjFsWg1rjSQzvWFN+1+9n0xfh6dyf4b3CccuN4Ui8Kk7eDnzYN5GFp1WoP/x7wlMDr3I6PN4xj31plenWpy1B7kaIEy5w8ZM5jubJHJi0gFvmX4Wn8M56Rk1cTUyWK/VCKuFsrvXNvC9nb+BF7Vp+uFjpIZULz+Vck1SgWoA71l9OTYUkxu7nTGJZWo+J/MsWT7nwXP0QvfJOWBqLeXTqBhl2jek/sC3B7n92uCvm7cl9xOm6Uc7LE3vZfYofCc+iIGYPLp/lbOxd3hRoUcbeGZucOHYevIt2/WEM7hCCpzG8OTqLcfN3keIzhKi+zfC3K7EuyvKRIt8XS1KOMTd6PrteexM5rq/cMvrNk8UPCu+zNXoyqy9o0HjsUNrXKfd1DMnJi0jYPZlJy04grj2GobKrOGaSQuG5NIbPrlUJKFcWrZwPpLx+T76RF0FhdQj0sEJP/W+8vlYkPAWOzui/Osyy3W9wb9eT9qFemEhecPnyBwytzUg9MYfFl7V+IDyXcSHbjYAAb+y+DBAhLy8f5lyCKY2HFglPcTw7xk9l1VllwscMoWOYD98OFxHP901nypIj5AX3p26ZVBJuX+d5esl9uRJGvhF0jKhNRbtSeySF8PzZqUfmVriLIW2mc1ocwtSNI6ltZ/TNYlycU/bR0UREHyTN70ff8ZSQHjOdnqOPotdxIZPbOfBy2yZSg1oR7GCKjnxzJCZpywC6zDmPfutVLOxVCSvZDeifST8Qnt/8tEh4rhc1YeHE1riZ6yKQiMl9fZ7VU5dwPt+PXmMHUNfd9JfuypUunjTzPnvWnEEpsCFB3rIoWMrw+TqLe0ey/qaAWpNXMjzMGdO/OTrWz2D6s2dkwnOZTHg2cEN8diID1uTSaMooWnjr8uh4LBp+gbhoXGZq22kk/Uh4rs0lbM44WntbfRVAn08xtcssbnsM+eJqK7w2n25DN/HKezjLohrgbl5KUBXcYXnPwax75EL/1eNo6mlRJDzFvD07jzFTD5JeZQBjugWg82QTUybv4LFJI4aO7EQ1kyesHzuLkwU1GDShH7XdTL64hRbELaTHsA08de7DghENcTOXndiXSsqqaKi+Ze/wXsw/pUqDBfPoWc1RHiH0Z9L3hee3vyx2tf1YYyLRHf2wNVSS36v5/Owgixedh+qd6dm8CpZPV9Jr+AZeuA9m8ZjGlPuD4LvLyt5DWBvvQO8V0UR4lf26qfuzwhZcZ0n3EWxMcGPA0tE09rb6KuzlvxNyf0Vfhq25j23vpQx3jWPWhDU8dPqNBaOb4F22tPC8x+p+Q1lz15aeS6OIKG/zjQAutnhKG05lRIvyWOvLrv9m8+rcauatvkS+bzeG9a6Ly+uNDBi1nnibrswe1hivst9xh5e1j7rsm24ChHLhuZqnVm0Y/FsTvCXnWDBpHfdNIhgxqg3+dn92wPMD4VnETXhjKX1HrueJYz/mj26Gj00pq7zwPmsHDGPNLas/CM9Vb/wYMboTgc7GKMnu/H1O4OjSpZwTVqZNjxYEOhqVcC3/mV71c8+Ik/czfsAcTgrqM3VqN6q7mha5O/7c7/+3nyoUnqt4YBrBb/2bUUEplqVT13Nbrz6Rw9tRzdlEbimS9cfbK34jet09ynafy/AWfth/a6JHGL+OYSNXc92kPfPHtC4hPFfzpuJwhnashssXk1A2F+YPYv5FE9oVu9qKb7NmYBTrrpvQatoQmlV2wKD0gbZACVXZNwaLLWWSfLLT3pH4NIHk1EzyJcqo61tgb/GSHeOWcdW4HdHftXgmU37oMNrXcPtqpcq+wOLBMm+MtkQXWTzFt1cTGbWWO+admTGyJVWcSokw4QM2DR/N6suGtJo1FI+Hy1mw7hoGLSczuIU/jt/xM1RSU0ddVeXXrODFwtM/EA+dBywfs4Zkn5707RCEdUoscVJH3J2MeLJiAHPu/kB4rnyJ58BI2tf0/OqSnB3L0qHzOa/TgtHFwvPOWoZFr+GmaQemjmhNoEvpOj9ky6goVsXqEDF9FG2/CE8xqZfXMH3WTp7btWFAt9pYpx5i4awtxBFI90FdqeuQysF5CziU4kzboX1pXNmOYucj4d31jBy7mss6TRk3pCWBzkbfXRvUVT5wYsZw5u/9iN/oSfRu4It1yROKPxlE3xeepX5Q7Gr70I5ug7tQRxawSnbfLTuR0+tWczrNmQadWlHTOZXdo8ax5qoBraYMp02QWynhKeTx1ijGLz+PepPJ/4Lw7MeQFla8f5yKoXt5vF21ubl4KHNOqhD+HeG5I0YDr4qeGCWsZeKaBBw79KZDqCMfLschsnbG0fQFG4fO4UZJ4XlvE9ETV3FetT6jB7cmyN3kO+xVUFdTkxsbRHLhuYIndt3p37ke5a2K94k5XFk5hkWnlKg39F+0eC6/hFJwd3q1qYbenQ0sWBuLKLAXAzvXxceyKPrpH9paxKMDB0iy9cCrnHuhFfEHwlPy4RZ7Vixlx3Wo2KwdEbW8sdTXQHRzHdFzj5JfcyCD24fgYQzvjs8het5Okj0HEtUvggCH779f8u4E80fPY2eSJwPG9aNpoP1XA0DJsgrj2R49iVXn1WgwdhgdZEKu9KHFrolMXnYSSWgUQ7uUEJ7LbmHUqh9dG1fGWlWCRJTDq3Ob2XDyLZZ12tIqtDxWf5fJs1h4OnlSziKFrVPW8NC8KV27NMA94zo388pg42hOyvZo5l/6kfBczl2TNvTu1gg/mVu3POUSt24Ci4/lUqN/sfB8wM4JU1h5RkC90UPpFFa+lAeBiGd7pjJl2VEKag6imbsKWa+ekPL5W+Gp51Kd0CBfnGVXyn5iQVVYPL8D6e8TnrJ7wDdZ3HMgOwoaMy3KntuXDWjYIgAb468RovKuzabLoC28DxzPqpF1sTcpHQZbgkSihFJptfArwrOUq60s+EHSzpH0mH8JvWZzmN8rACuDn1QZpZnlPuPQiv1kVmhInUqOmBaHE5fm83TjYPotPE9WhUiWT2r5JTreT/TN/5VHvgpPL8wFF5jWazaJVaMYUz+f+4m2+Fexw0TpFONb/5nwLOBnXG2l7w8S3XUap3Ras2hGJ3xtDb51p8o+x7QO0RwUNGLW7O5UsTeUb6ALnu9n6qgFXFAOY1h0Z4JcTFFLP8z4jjO46zmUaZF1cSujzMdrq4get5M3nj0YN7Qx3rKAQ7LbCKnHmNxzMr+rRbBgRmf87Az/EIFNIpYgUMrn5qJejNz4Cq/hSxle3x3z0tFgJBIkMqun3PL5Nf2K8Cx9x1MqfM/vE3uz4JwG9SZNppNzPAv7TueERgTzpnXGz8Go6NuMRe/LOc/MzmPZL67HtBk9CHQ0/rlPq0hSOTK2JzOOqdFk/jQ6+Tt8a9ElhwszuzJ+TwGh02bQxSOBFf2mcESlCbOndpG7uX5zJJRzgdldx7IvvzYTZ/SkurPpNxb977vaShHnPGXHmEhWXNKm0fQpdHR7zqqBUzlIfWZN6UqAs/G375G1obx9CrkXCs8NZNeZzJhO/jjq5/Pi6GzGLbgAtSKJ6lETF9MfLQB/LjwlqUeY3Gc6R5UaMmNyFwJdTErVOZa5PcazN6cm46f1oIZrGdT+4GpbdMdTKiL16FQGzjsNtaKY2K2GPBDS35ukpJ+eQf/Je0gPiGb6b6F4WvzcZwT+3nL8fG7FrrZp1aMY2bk6rkYFJB6fx6RF58iv2p9RPergYS5bHyR8OD6NQdMPIgydzPhuwbiX+XaOzr00n98m7CItcDSTetXGw1z911xt+ci52YOZvjeHoAkT6FrLE7PSy4BEjESgVGrMSxELhQhFYvmnBgRKyqjkxzK/74yiO55/3dWWjyeYNXAmB3NrMm5Cd2qWM/v2ICHnMksGTGJHqh/DJ/bA9+N2oqbvJqv6OMb2qE058z9UALFEIA+28rPxVuStKRee59DzD8DbWY/bS0ax8HZZ2vVvjOGHj5i4uuNgrc3Vef3/RHgm8TOutsgCM0XO5EBWdcaM6154V7TkBJt7lWWDJrH9TQUix/emXgUr+eFEwasTLJmykGNpFekS2Y36lazR+nyW+QNnE6vbgiGDmss37Bl3tjFr2hbijRsxaHBrqhUHfvoUw+Lh09n1yZ+RY3sQ6mP5h7lUIpEgEBQQv2E049fcwKT9ZIa0qopzaYH/g7Xhl4Rn6TueUhEfTy9g9ILfSav4G2O6VebTzrHM3vOJKiOj6R5WActvIpvnErd8KFO3JOE5IJpeDSv9tECWNXmxxfOJXQTVLAxw869IeR8nTDRkhzZDmHNSmfBhf7R47jgvE54+uBvfZ1X0Qq4bNaNnUwuyMw2xdXLETv8GyyJnc8OshKtt2gWWj57J9rflGTymF/WL77WWmEoK2RfO+4XC8592tU3AqecgujXwxUKUTMyKGSw9lopb+0h6yIIcfe+OtDSLywfOgrMHnu5OhYev3xOe0kxubpzKnI13MW42gJ4ta+Juoi534c29vJwRMw+TGzyQwW3LoZomQuvdCZYu2cxlraaMHtKeWp6lD0Vk+2IBgoKH7Jg4iVWxWjSJjqRdiCeya6Ylk5yjNJ3YJdHM2ZFMuYGj6NWkCtal+s7/Y++846sqtr/9nPRzUklCGgnphRTSgFQSQg29N1EpIiooIChYKBZEiooFVAQEUXqH0HuXXgMJIdQQWno5vbyffRIgUVSwXO/vvXv/meyz98wza9bMmj3zXSe+f5dpCy/hM/htXhHOVUp/vdW26oynAW3RPr6b8CVrbwUzaOwQo3L7U+zq/u0Bwxh4HsAkIIzISDeyF0xi1kFLWg3shp9ejo27NwEBTpyd8zYzfifw/M0znrW22lGYbiUAACAASURBVBZz4NuJfLb4GiFDxxrFk7xr7JYDJad+mMC0BZl4DhjDkC5NqGeqQ19rR5AEiZkFloLo1BOmSxQDz3848MSgImveqwybk0+DhDD8uw5nQJxHrdQCBvk55rz6GvNvp/DerJE0E5Kd1xh0Ko7+RIa6JemxrtV5kKoL/RcCT+FwdP7yUQycthPT9jOYPSIFL8dae2eeaCZlqMxh05yV5Id0oH1iCG6/EPTQ5K/nvRc/YmOeNwNmfcrAOK8aW8me6BX/6E36myuZtd2Lbp0i8XBSc/Szobz3cwDdm3vhk96FeC8nbBRbmGgMPD/5TXGhJwk8Jbr77Px4GJN21OG5T8bTM9qTBzoexvWokzMZ9sZazHt+yLhnGuNlb4ah8jyLxo9j3hkX+kwYQ68EPxyE9BDlW2qLC7lYgaaE80vfY/zci7j2Hse7z8QZVXMl+hIOfvYqEzdY0nPqRPo0qm+UFX94VZ5g1WYN8c0icLi7jLdGzeNqzBimj2xNSK0VrEpOLt2EMrkZkR51a4lF/ZXAEyrY/dEA3l9VRtJ7XzK8uRMXvhrOpG229JnyLr1ivWuVV3nqG4aPWQ1dJvJOvzh8nnjBREfBrumM/HAbNr0n83bfRnjXBKE8xexX32KtoSPvjOtHvLeeQ5+M4KMtMnp89A69G1fJsT+4lKdnM3LsKjTt3uXd5xLxdawSYnpw/eYZT91Vlr7xGjN3SEj/9BOGpLiR++1I3l8noeMH43gmwa/2VtHKU6zdpiI2KZx6LjbVW22rzngaxYUE9T3FLfZ/PYHpGcVEvzKBYe0icH/sCuzvB57oCtj76Sgmb7Gg64fv0CfOj5rq9sozcxj99krUbd5i7LPJ+AviU78lLoRwfn0ar7y/gvuN3uKzkW0JrScTkjOSl5OH1tELdydbo6rwn7+UHJ/1KhMWXibo1U8Z3SUar6cRkPnzL/7Tv/yVuJCTCXpFPge++4BP19+jwaC3ebVTDJ62pugK9/HVm5PZTDveeetZkoJqLn4oOff9m0xYXkHKqLE81ywYZ4snEBeqecbTRE/Zkdm89cEqFM3fYuzzqYTUrRm4yTm7YSfysBhCfWrs6Hhc7f+mM54muiIOfDWWKRt1tH5rTNW20hpFUp5bwDvjl1OSNJw3+qcRYnWWuW99yKqKFOPuj2ahtb94y89msLuyAZGhvnj+4ovx7zai/jabF+zGNiGJqJD6cPp7xk/eiTSuEf4R7Wgd64ens4b9nw3jkzO/9cXzyQJPoc6Hvn6HKetVpL35Js+lNcC5RuSpPL+Q8ROXUdh4KKMGtiTM1RLkguLrR8w9IKHZsBE826ohbjJTJMIZ0priQn42oC3j0voZfDznMJLUYYwe0JIwNykSfRkn5o5j8soS4ke8Sf9W4bjUnIzLz7Nldzn+ESF4KHcwdcJsTro+yzsjuhEvCEE9BCgnc8MuSoIijDkka25//UuBpxDDHJrFmI9+4pLfS0wa2YWgu4uZOGUdFckjGDWgFWEuNfyuKpPF4z9g2Z1IXhg9kDYN3WvNpf6o01YFnt9woMiPFoNepl+bSLwdLDCRlHPgi9F8ss2Etr8MPO9sY8leSxrGRhPub8r5he8xbSuERwcS3a4VUQE+uGgPMusXgSf6ck4teI8py+4S9cpoBrSLwr0W+0y27S3DOySYAF/H6q22/3Tg+UhcyN1Uj+rOEX6aPoPVl93oMuJVeqQEGccmg/wOObklWLp44O6Qz9YNN/AKiyC8gXvVQuXjAs/qL45zjzrQ892R9Hl4FlPPrY1TmfDlTkzaj+X1Xk5cPSrHx9uS7PUzmXfIhk5vDKdPWnAtTQbFha3sK/QkIMQHDnzGpG8PYd3lDV7rm2YUJ3p4KS6ybW8hngGBuBZt4OOpq7gfPYQRghK4ew1hQlUWKyZNYsnVQPqOeIGOjTyx+k1xIUB+lO/fmcIPZ1zpN16oTzB2Ej2Vt6+Rr7DCydXlsTld/8gGhTOeu1fsQxIQTlRMMBaZS5kyfROV/mE0aNKeZpGB+LvrOTL7beMXz65/5YyniY6SYwuZMn0F+WGDGD64E7H1ajLJZtXHk1mc402v4S/Sqcmjs+V/WI/fuUEMPB8DR3NpHkMHz+SwPJHxi9+nY6DzY1Yy9Nxe/jrPTdlOUdSbLJrSi2CXGoqDNSeg15YyZvAMfnboypRPXyahvkPts44GLUUnfjCmlFC2eYdx/ePxEhIHC4uuJWdY8dN5fDq3J6qeQ+2k2Yo9fNT7bdbbPWdUrA13/8W2OKEM6pN81X8EiyS9mP1JfyI8qgYL7b2DfD1mHIsuudFn0scMSvLGvtZKxx+ZlZ7ya/tZ9uVMdtv05e1X2hi3jv7qALr2HhnjBjB5wzXsOk/hq9Gt8Xf6h0RG/qjIv/q/gbL90xmzqR4vD+tIhKctmvNzGfH6Ugoav8KHI9sR4iJDUryBcc9M40baFCa9KJxhexB9qDk9azCjf9DQaeY0+sd6PVKlK85g3DMfcyxgOF+8K5znFLbV6lHe3MnXE7/khOcAxg5LJ8zVuio/WmkmSyZ9QIauJUNf60kTbwcsdLfY9fkEpi3LwnPQVN7tG4dPnapB1lCcwfhnp3Am7A2mj65KQWI8e1mZzdK3RjL3pJTUUe8zND0MV2sTVHcOMmf8VGOqg1EjuxHrZVe1sq0r4OjipVz2a0+bGG8czUs5vXgSHy8rIXHkWzyf4o+jMWu5gbJzq1h23oOWraLxdq6dI025fyoD312Nadcv+GiAsI3219GE5twcXn19nlHVdvKQRPydBI4Gyi8sYdLbs/hZ1oVx7w8iJaAOhvxdfPv+TI67PsPooe1o6FGdR670AssmT2KDJpUhQ3sS7+f460Tyv2MHemUee77+gFnHXOnzxiu0jfSo2vJuKOXisilMXqsiecgr9EwS6i1BeWc/c8Z/xhGXPowa2oGG9arElAylF1g+5SPWVSYy+NU+JAU4/aocqkOfMXjcasy6zWBiv9jqsxZq8vd+zXuTlpLj1pN3JwygaYAj3DvM/Pems8eqA68O70ETH/sqH6Er5Piy5eR4taRFrD8uMhM0Z7/jtTcXomgzlYn9441pWoSFJPW9vXw1ejLrbtWn97tv0ze5qg61LyWHPh3Meyt0pE//kP6JATXEZIQ7DSjzdjNn0kyOOvVkxCsdiPKs+nJuKLvIymkfs74yjgEv9yYp0Llq66xGOPf5Bt8LqraThpDSoOqLp6H8IisnT+DrA6a0GTuBF1qEUFdq4Ma6j5j43Q7y3Hsz/u2+JPg7/vmtsapMfhg9ljmCKucX7/NsQsAvcug9tVP4x3+gOf89o8b+QGnq+4wb2LR6K6we9f39fDN2KmuuudJ1zFj6CYGkpWAvc5k66zC2HYfyYpfGeBsFiwyUZ69ixpS1lEY/ywt9UgmpTlmlOT+fN97+nntxE5jwYtojVVtDKTsmv8L0PXb0+nAMPZr4GSdyBtU9ji2czIztBlKHDKNXUyFli9H4KDq1hjVZziSmNiKoug/+FiBDyQ6mDZ3GbpueTBzbi7iHZzM1ZC54g3HzbtNo3EReaBH2UNTDULqTaUOnstu6JxPHCNtqhfOcBlT5+1kwdRYHpW156SVBmdW+2qYusW7GNNYWhtN7cF+ahboaUwTdP/YjUz/djq7pIF7um0qQU5VAn67wFOvWZOGY0JTYkNoLfX/U0IbyY8z5cBOW6T1o2zSUuvoclk8Yz6Isd7qMGU43YVHGtJRd017jszM+DHnzJdpEVX2JFLZJX1g4lgnzbhI5ZjyDWzfEvTp4NpTu4tPXprHTogvvjnmwrVao8wEWTv+aAxatGDxECOwcjD7aUH6J9V98wtr7DejxQl+ah7khNdzl0LypzPjxKFbtx/DGgNZECKk4hPtLd/HZ8OnGrbxjR/Ug3l8Y84WdFldYP2U8c/aUETpgLEO7xePrYIbm/gmWTPuMbcp4nnu5rzFljLFf64s5s24tWfaxJDYKw9O6ggtrv2DG4qv49hnGAOGcp/G8qIGK7M2sPysjIi6G0PoPVIWrCKuOzeaNDxdxL3YM77wobNl8zM4qzSWWjRvH3EsBDH3nFWM6FYGjoSKHjM8/Ytb2SuKHjmVwhxjqmd3l8MLP+HavhNRBL9KtaQB1qkBxecMsZqy6jX/XAfQRmAuB+B81dM252sXFTJg4h9NOvXlzeB9SQhyqMgwYStk7YzSfbjHQZuwb9E1rUP1VzUDFyflM36gnsUN70qLcMFxexcfvL+SMQ1tGDBcUaZ0wLd/Ll6M+5Xjd53jtlU40ri/YpwF1wSmWf/o5W8qi6fPSM7QIF+y5iv25jA1clDWkSeMIfOxN0WQtYeLEuUZV2zEvdaTRgy2UhjL2ffEmn23S0OLNN+jXIvRXX/z+GIGG7KXv8cHcXIKGvcngjrEYd/IKaXWOzOejT5ZyxrI5Q0cPJD3aneIdXzBtzn5MWg1nYEQpFwtcCYuOJMyotizgEr6kf8JmVQtGvvEcLcOdMNHdZNPUCczcqiJ11JsMaBuFq4UEQ/k5MpYuZcVPBzFrM5pXu1hzNduCoLBQvHQH+G7GIrLdOjJ4UGea+FTlyxTsYmfGWUyDoolu6IutPIvNX3/O4iw3OgwZaPz6aFx3NVRwecdGzpoGEhXTEB9pIceWfMnsnUoa93uBXs0b4CQMtIYKrmyezZcrruPR9ln6tovF00awHWGr6SQ+/PYMbgNG83L3JHyFLeaGSq5s/prpMzdREDGQ11/pSryPLeTv5Nvpc1hz0oIWI0bwnNBHnnBL+oM2MlScYfGMTSgatiA9vTH1JFfZMP0jFh6xIHXYq/RtHmrMJX7w63f5/KAVnV95hR7Jfg+PA2ovrWTyh99xzmMgo17pToJP9QclQaX8m3f5bH0pCa+Non96JM6mYFDf5diyWXy3vYLo3oPo3TIM56rOx9Wtc5m5Ipe6rfrxTIfGeBmZ/PVLDDxrMFSdXcFXKw6Refo4Z3PuUqm3wi0kgqD64bQbOoTWQULOTQ3Z677gpx1nOX/6HJfvVqC1cMY/vAG+IS0Y/1pnXJxsareM9i4bxr3Kdv83GdM7xqju+svGM2jlFF7aw9KFW7khCyAiVDjEfJ/8YguCmrchMcQVG2N6DD2Fpzax6WgO184fYOe+i9zTuRHboimRgf7EtO5Egp+g4Kohd+ciNu7ew+bNx7mJL83aJeLnKAVlEbeu3EJpG0hy1x60EkRdpE96/kVF1tqZLN5+knPZN8i/V4BCGkzH1ycxsmMD6tZI0q2/vY95Xy5g/Z5T3BRkIq3d8Qv2xzeuJ68915T6dZ4iwfNft/XaT9Dl8/PyxSxduoaD103wTWpD9wEv0q6BnO2ffMf9ZoPp0cSevB3r2LVvC+t3XqS0TjStWqTSqkc3GnOaDVv2sHvTZk5c1+CWkE5a09Z07xxI6aHt7N+7lfU7z3PPIoi01kk06/QsrRu6YmuuoeLOObYtXsXxMge8An1w0t4n90Iu6oCWdGmXYMzJef/IClasXMum/Re4VSLBt81w3nmrF43dNVxYv4LNu7azdX82RdYNaNEqmeZdhEmYM4ac1XzywedsPFOAzjGQJint6PVCLxJ9bNHdPcO2FSs5cNOK+qENqG+jpPBuBdKQVNLig/GwE1Z2DWgVRVzet4LFW3OxqB9KcH1b1IW3KTYLoGnLBELq2WMpzHD0hZzbupWj2Zc5f3A3BzNvo64bRWpyFIGBsbTokECAkw3m+hscWLaB3Ts3svnYNdT1UujQPAx3WwmV96+Rk1uASb0EOvfpRMIDO9erqbh7nh1LVnO0xBbPAB+c9IVcvZCLyi+NTu2SaFDPHivTJxeOqDIAPeqKu2RuX8qaI8XYePrj62yg4MpFrih9Se3clsQwTxysqtMN6NWU559hx8q1/HzXGq9gP+oairhy8Qoav1Tat00izNOhdjnkl9i1ait7tm9g+6mb4JtGiyZ+1JUZjMJe1++osPVPplP3FkT71kUmpM4waKgwvmc1+66b4xkSQn07NcX3yrEMSqZZXAPqWedzeOVmI8ctx66icmtCi9RmtO0l5IWrQ+nP3zL144XsvVyBmUcYCWmd6fdCe6I8HLAoOsfO7UfJyjnP4d0HyLylxKlhCokxwQTGtKBtYiB1batXOvVqKu9msnP5Go4UyvDw98HZUMy1rFyU3inGOod7CflPDeQdXMWmXdvZtOkYVxTuJLZvRrinPSbyAm7k5FKAO4079aJjcijutoJ96bm/dxbvf7mFXEUQfSe/TqeG9Z9a/l+emcEPa/aTeSmbrOzrFChk1Bd8cIM0nunfliiv2rtG/m738aeep7nGodVb2LV9I1uPX0HuHEPz1DTa9uxAkwAnyo/O5ZOpP7ArqwRT91DimnXmmYHtiXKzpDxrF6vX/Mw9S1d8fesiKb5Odq4Cz+R2tEluSH1HK8x0Nzi0Zgu7t2ew9dgVKhyjSUtNoU33jgRrznHowG62rN/F2TwD9ZPSSGrR2Xg2qb6TFG3FbTJ3rWHNnivgGkSIrwPa0vuUmfkRnxpHmLcjVr8la6kv5sLOzezZtYn1u85yS1+fhLQkmnfuSzPHPA7u28P2jC0czy3HISqN1NR0ugpn6i8c5uCuTWzYdZY8vdfD37SM9sbZSkPlvSz2rlrL4TtmuPj54mJSyo3sXOQeCbRJb2rMgS2tTjtj0FRy5/wu1q3ZQ67BhYBgXxx0pRSWm+Mdn0JcmDdOT5zTVcfdkxtZvWwJa3ZfQukWTbMuzzGwYxRmx+fz4/UA0ts2xbvyONt37WTz+t2cu2NBcEoKKend6eBVwrEjB6vqfLkM+8hmNE1Np1uHBuizfubQrk1k7DrDDZ0ncc2SaNGpDy1jfKgr1SK/n83e1Ws5nG+Ks68PLqbl5GXnUunehFbpKUT51qHszGbWrV7Jhj1nuXZfR72mgxj5Rj+aBZlzdccGtm7bzJb9F7hj4kNCajItu/QkLbI+lnlbmf3JF6w8eA25jQ9Ria3p3r8XqaGumBVeYO+6NezJ0eLsH4yPI1QUlGHq3Zik+Ah8nKvzWSpLuH5kAyu3ZKKo40ewnyOU3afYUI/YlAQijP5MGBuKyd63hyPnLnDuyAEOn71GuV0I8fGxhDWIIaV1PCGegnaGnltHN7Bt5xY2bjlGTkkdYlqlEuXvjLmiiLzcXO5pnYlM70aH1Ejq17Ey5qTVyAvI3reGDQfzwMkHXxczyvNyyK1wJbZVa1JiBH/7FOmUNDc5tnEbO7dksO1YDkXWoTRNaUbbHh1owCV+3ruNTRv3k3lTi0eTFBJbdaZnc08qT+1g1eKV7M6qxCkihY7PDaJjrJRzixZxpV4qLZsFoTm1w+izM3adJd/Un4SUZqR360hSeH0cLXRU3r3A/g3r2JOlpI5fML5OEioKyzDxiiUxviF+DoWc2rSdXcayXaLIJozkpqmkd29PqOlVTh7cyaYNuzlzTYVbo6ZVZWsVi//jtBwe47i0ecfYvG0HWzK2cTy7GNvwZJKbt6ebcS6i4tzir/h83kZO3TVQN6gRyR370rX+FTI252Dq44Ot3gK/xFQSogNwMisle+82dm3LYOPes1xXuxGbnETLzr1o2cgPm8LDrJr/I9uvyGiQlGDM6VpaqMSxQRAmmRtYvecmZi7BJHXtTssmIbhbqSm9fpzNq7ZyttQG7xA/nE0qKSzS4xqVSHxUAK42ZsacwMrS65zYuJqtZ0ux8QnGz9mUyoIi9K4NSUiIJsDNBjOj7RSSc3A9GQeuobH3xs/Ngsr8y+SWORHZvDXNGgVQ19ocyZ1TbN22g80btnAsqxCbhs1IiQ3G1UpFUd4Vrt1VYR/ekk4d04jxc0JqKsFQdJzFM75m9ZF83Dq+wcs904h44jQregrO7WDDykWs3HGBMvsGJHXsR//OTbDLXsHybEcaNW9OGJns3b2djRv2cOaGAe/4JFLadqVTvDNFJw+wc6NgJ1kUWAWTmCzYWjvCrG5x9vAOo52cypVTNzqJhNad6dGqEcEeNugUhVw+mMHGA1dQ2tbHz90S+e1crpTUITytFWlNgnCxNv8dZeOnGxHFwLMGL4O6krJKFRpBPVYnqLSBiakZpqYWyOxskRoDPwMaeRkVCjUazYO9zhJMBIVPcysc7GSY/uowZhm7Pp+LvP2zNPNz+U3ZZSFlhrxcjlpdwf27JWhlTrg42mJja11LlVWvliNXadGqVag0WgwGE8wsLTE3M8NSKqu61xhAVCJXKlGqtOgxxcLKokqF1KBDp9UjMbVAam2N5YN8j09kO4+pv8QMK1t7bGW/kNzWCYqCFSiM7xcuiVHFzszSGjsbqyfeD/5ExXrqm3SoKiuorFSi1oGphSUyG1ukFqAur0RnZW1MoiswVAoM1cI5JzMsLS2xEpihRq5QolIq0ejAxNwSS0spMmszDML9xt884m4ptUFqTOpcpdirrKhAqdFQcf8e5eb2ONpKsZLZYC21MHLRqiqRV8pRCM8wSDCztMHOXoaQs1ojr0ShUFapb0pMsRDKJLPGSsgSrpEbmT/4n7lQJhvhf0Jwo0VZWYFCKaf47n0UZg44Ottja22DzLLmwkNV7tCKSjXqygLuFWuQ1nGmjr0dNtaWNdI96FEr5EYb1KhUaLR6DCZmWAhiCOYWSKWW1YmmhfrKUaqUqDTCPQ+EcoSzi1q0WgMmFlKsra0eCZgYP77V4FRwn3JTO+rYSZHW4PTUzW78gQGtspJKhRp1RQEFFWbY1rFFaiXDxkaKRfVk9uGzH3JTUHq/ELmFg7G9pNaP2qtWOQwalJUKFEolaq1gXIKwSVXbCwmitXqhPa2QSa0eKVQ/qO/D9ilAYWqHo7MDNjY2WAvtg9B+NTkK9miFVCY1Pl+vLKesXI5KqwehHSylWNvIquqjV6MQVKI1GtQqNVq9wXguw8LCHHMLK6TVwkW161yJUq2mwsjeljq2MqO/sBbatfosh8BRqKdSpUFneCRCIySy1mm16E3MkQq2afHIvvSqCsoqKshet4WilJbE+Xk+9Qq9QbBPuRK1RotWpzcqapoKPtjM8lGd/5xx/HO/EpS65VV2oRL6rokgHGKF1FqwOVMM6grKyytRaqraT+i7QvsJ/hytispKBRp1BYUF5UisHbC1FvqMtbHtHviVWs9/4K9kMsxRG32VQlk1tgn+zsJK9tDfGPuESk6lXIm8+B6FchNs6jhhb2eDjczC2C9/+9KjUcir7MDor0wwF3yS1BorU22VL1SqjP1cYm5htEuZzBzUKpRKxa9/Y2lWNcExVPlohUZNZUEB5SbW2NvKkMlskEkFsaPay7dCwnPBZyrlJdwvqERiUwcnBztsjH2g2vc+YesK/k9eWYlCJbSTOZYya2ykFki0cuRaM6ysLDHVK41+2MhUD2aCgJGVDKmZHrVK+Psv6iw1B40KlVJR7ddrcKpZZ8G/q1VUFhZSjgw7oc5GX1NV56qyyavGVYPgXmTGOYKVcbySV48NVWOPuYWFcWyQWpghpLKoKK8wvtuACWYWwtggw0oQXUKwTaEvyym5X0glMhyc6mBnUzU2PFAvNy7dqQU7UaGqLKKgRIWZrSN17IVxRJiDPFD31KMR7FytRq1WV50FlphhLvgbMwuspFYP79WpBNsR+kW1DzHOZYRUJIIPqRp3rWSyR3Ze7cOF3wk+XFVRRFGFAamtLTLBP1lLjWPhU32ZMaroK1AKY7owr5MI/tPS6FvN0dTuO+ZC35Eik5phUCmolCtQC/MpM0vjmCCzNDXOG3SC37cwM+ZaVQrPVmvRCfMwC2G8lj3yiUa/IDCoNLKXG2TYOTlgZys8yxwzie6xZbOSSbEQ2k1Q4hbmo0K/FvqXlQyZ9I/67KOOIPQb43zCOJepHheEPirYm5kBTWU55ZXV/zM1x0JqjbW5juKbOVy5o0Tm6oO3V13shI8XgpK90Kcf1FfwBRYWxv4jtTDHBDXKinKKC+9RUFSJXloHl7pOONhbY6pRUFpagc7cChs7W2QW1YGOXoOiUo5KWUFRYSlKE2vqODpgbyfYfM15i+CHhDmvIH5WSInCBOs6dXBwsMPaqub5Q2F+o0CuUKGsKKa4XI+lra3Rl1oLY+mDHLc6YcxUVI2bgsaCMF6aC2UyoNdpqsdxgXUNX6RXI6+opPzydvbfDSSsYQQNHopA/bHzEcqlkFca5/dCfxFY28gsMdUqkGuFuZ4FZga1sa2M/sU497QwzvtlliboVUJbKqpt+JGtWUi0v/ZJ1f6/yrfXZlJSocfc2gYbG4GJ7BGTP67CE90hBp5PhOmv3aS/t43Za81p3z0eT6cn+Mpn0KMTJlMSE0xr5Nz6a6UQf/3fR0BwYDr0/Kfb2WAMCgyYYmJq8rtKj0KgpBOCFBPTWpOP/yzLGpwEif6nmlH8fkmr6icsMAkc/ujBBvTGiZCJcXHpD2//05Cq34PJH7bPn37FE//wH2JvKGX/4s2YJ6UQ7l0jbdATl+t/9MbqsQETIV1FbYGvv4uIQa819ol/t8/XrM1T2uD/F+PnU9b572p8qt9rEBaJf98n1hwb/ilbfJJqPZ0Pf5In/lv3PDn7f6uEtXqlTmsMyKo+zjxdOhFjm9WY4z4Ye41prH4hXPhoMdSATicsYAhCm783bzFg0OnRGai673cEb4Ry6I2+7vfvezreBiqOZbBH6UNQWBhBv1Q6erqH/cfv/meY1K6GGHj+3c2qL+Dw3E9Znt+Q54d2JMLFnNzF33I8sAftG3rg8FTnKP/uwonPEwmIBEQC/z4BfcE+Vu61pHFiON7ujz8b/++XUiyBSEAkIBIQCYgEnoKAvpjjWw6j9gwiNCzgoe7HUzzh//tbxcDz725i/Q2WjxrGInk6Y997lpDibSw57ER6lwR8nKR/2x7pv7vY4vNEAiIBkcB/hIC+kOPLM7gTmEpCuDdO4mLcfwS7+BKRgEhAJCAS+CcJ6Ck9t5kdM9zlFwAAIABJREFU1+0JioomzFNcVH0cbTHw/NttUEvxmQ0s2X4dg9QMU9tAElrEE+JuVyXIIl4iAZGASOB/mIC+4AInbljh5VcPF3vL393q/T+MSay6SEAkIBIQCfxfIqAv4cr5G+js3KjnWS209X+p/P+hsoqB5z8A2qBVIldoqpKsmlgglT0S4/gHXic+UiQgEhAJ/N8hoNOg1ptg9pSCL/93KiiWVCQgEhAJiAT+9wjo0RrVJk2f+tzr/xIrMfD8X2ptsa4iAZGASEAkIBIQCYgERAIiAZGASOBfICAGnv8CdPGVIgGRgEhAJCASEAmIBEQCIgGRgEjgf4mAGHj+L7W2WFeRgEhAJCASEAmIBEQCIgGRgEhAJPAvEBADz38BuvhKkYBIQCQgEhAJiAREAiIBkYBIQCTwv0RADDz/l1pbrKtIQCQgEhAJiAREAiIBkYBIQCQgEvgXCIiB578AXXylSEAkIBIQCYgERAIiAZGASEAkIBL4XyIgBp7/za2tzOf8icsUqHRITEyRCGlADTp00no0jPSljpU5JkL5Fbc4fzKX+yodJsb7DOgNdvg1CsXDxhKz/3gdDchvnuPMtWI0eglUpy816LRI60US4VMHqYWx5I8u1W0unrzMPaXWWFcMeizcw4j0dfr1vf/x+ogvFAmIBEQCIgGRgEhAJCASEAmIBP4KATHw/Cv0/unfVlzh0M5DnDuzn607z3G7QotNcBoduvemT3o4LtYWxpjOUJbF9h++YfaqY9zW1SU8vgmRkUm06RCHj4P0Xwg89ZTlHGTPz2c5sm0DB3MKUVqH0rpDKonN29O0QV2sfxl4Vuaye+Esvln+M3etAmicGEfTdl1pEe6GjeUvgtR/mrv4fJGASEAkIBIQCYgERAIiAZGASOBvJSAGnn8rzr/5YXotKqUSteIyS8aM5LsDJYS++jXv9YnB29kSU+MnUECv5s6Oqby9REPa831pHu6OndQKmcwSM5Pqe/7mov3R4/QaJUqVmrJjsxj57lLOGlKZ8M1o2jTwxMGi+uttzYcYVFxd+SFTDjjQqk9XkoJdsLeRITV/zL1/9HLx/yIBkYBIQCQgEhAJiAREAiIBkcB/FQEx8Pyvao7fKoyGvFVv89LHW7gX+Apff/I80fVsH37JVORmMH9NAUFtWtE4yB07S5MHu1v/9doZ5CeY9dLrzD8BzT+cy5h2gdSV/jIYNlB5cQ3zd+iJbdOUCN+6WJv/99ThX4coFkAkIBIQCYgERAIiAZGASEAk8H+cgBh4/h9pQH3hTj4ePI6VOU70/HwWQ1Pq42AhQZO3k/nLbxKY3oZGga7Y/LcFbAYl578bxohvD6NKGs+cCZ0IdrGuOptafWlu7WLBinyC0lvRKMAFmZnkvyZw/j9iHmIxRQIiAZGASEAkIBIQCYgERAL/1QTEwPO/unlqFM5QycmZLzNq7ikkLd5n9jvt8NWfYtFPF/Bo2Zb4EHdsLf7EV0JDBafXrCTPpxWpYe7Y/uZ5SgOlmRmsyqxL5zZRONlbPTE5VfYCXn/5Kw5UxDJ63gd0D3PDxrTq54aSUyydfwyH5ukkNvDE7s/U4YlLIt4oEhAJiAREAiIBkYBIQCQgEhAJ/BsEnijwVOZncuZKAQqNHkGi1M4nmnAvO8yUNzl39jolKi2G6tJLzJwJjA3GVWZG2eWTZOVXoNIZQGKBS3AMgS5SzIWgQ1/JrXNHOXb2CvfK1Zg5+hCd3JQwdxssqoOSB0B0xTkc3LGX0zfKMZha4BgYR2pyQ+rZWWAq0VNx4yznr5eg1D4oxeNQSrB0CyHaV8KNM7nclavQPbxNgsTUEjsnV9w83HGxt8L0MWcjdSXXOX3kECezb1OmMMEhoAlpzWOp72CJ2T9+lNKAKvcn3nzxc/aWRfHap93RH7uOR1p7ksI9cfjT22t13N3/DZPn5hI64DX6JPpg/6vg00Dp2cVM/Ww31p1G8HJ6A5xkT6GVq77G0jeHMGN7IWEj5jCpbyQedqagzGXT3I3IY9rTLNoHJ6npP/ylU4+y+DY38+5QVCZHpdGir2EyEpM6+MYEYXnnAlfvlKPUPrIjicQUS1tH6rrXw93FHqnZL4J8Qxk3z13kRrEcYzf5jcvEwZeoBvWwszJ/eIdeWcLtG3ncLS5FrtSgrVUoUxx8owjxsMXK3CglhSI/kxPHznL5bilKEwfqRyaSFCE80wyJoZK885ncKKpE/TvlQGKFS1AE/q42WFb3N11JLkd27+PUtRI0mFPHvxFNkyKp7yitbd96JSW387h1p5DSSiUanf5h/xf8g4mDDzEh9bCRPqrj0zo3fWEuZ3LyKVXUagRMLW1xdHbD3cMVe5kZpr/atS3nzoUTHD9zmTslSkwcvIhISCbcS2gzCfrCy5w4l8Otu4WUltsR1i6FAPNCrpw7Q1aeBluvQCIahlKvjhXmj9G00pXd5Nyxnzl5MY+SSrDzjSG5WSP8na0fc78eZckd8oz2VolSo0Nfo20lJg54RwbhUHGNyzcKqFD9boNh6RJIuI8Z97KvcrtUwUMyEiluwaG4aG5yNa+A8hrPMXHwpmGwJ/ayKiEydGXknT/OkeMXySuqxGDvQ3TTZjTyFwS/fu3EdKVXObZ3PydzC1ELNuEXQ2JiFD7OMsypJP/CRa4XlPP7RbekbkAYPuYF5Fy9TYlC88jzSt0IauCCNu8qebWeY4Kdd0MCpEVcvXGbYvkvfhPqi4udFQ+HCn0RV89eJr+kEs3Dwajqvb7SYnKv3KKoQo3BxBr3oBC8Xeyw+sU4Y+xbty+Rdf0upQodEksXAsP8cLH/CwJtuiKunsshX/ALT9AJTOzrEx5gTUlODpdv3KagtBybkFYkBckou3GesxduorSuR0BEBA28nJA93ki5lXmSoycucLOwAr2tN5FJqTQKcjEuTv7y0pVd4+T+A5zIKUBpMMPBJ4qExGj86lpjLpFzOyuL6/dLUT4aMH9dE4klzv6h+FgWcSk7h5u371NabkNwy2QCrSu4mXmGizcUSN0DCG/YAC9na35dFCX3LvzMweM53CtTgY0XkclJRPg4Yf1wgNVRdDWT3FtFVD5qaKSugQS76rlzPY/7pcpHY7vEHq+IIDwdbbCs6gCUXTvJwYMnyLmnQG9mj09UIgnRftS1sUAiv0121rXaz3hcu1k44xfqi7TkKtfzC6lQ1xpIsLSpg5OrB+6uDlhbmNXa4WN8nK6c/IunOHY809h/9Db1aZiYQqNgN+NRGeEylN3kYs5N7pepMJjIcPUPxsetyo/Vvgwo7l7m0rU7lMi1YFkX/wZ+uDnI/p55ib6MG6cOcfDYJe7JdZg5+NAwPp6oANfH2tMTmPmjsa/oGhdyb1Eo9M0//KEJtp6hBHo5Y2clwVCRz6VLN7hXqqgxl/vlQ2r/Rvivvvw2WaePciLzGvfL9Nh4hhPXtDHB9RywMqI3IL+TQ861OxQrftfosXDyIcRHRsWNG0b/9dAMJFbU9QvC1aSQW7fuUCx/9BwTu3qEBNSnrr1VlU/WV3A76zTHj5/n2r0ydDaehMU3pXFIPRyqClT70pdz8/RhDh3L4m6lDlN7b8Lj4ogOFI5ZSVDcyeHS9drvfEyHrSq7t4yKvBvk3a9ddme/IHw9HGv0u6on6ItvkJV7k/vlj9pLYlUX3yBfPBytjfamKbrMqaMnybx6l3KlKQ4+kcQlRuLnYoNxCvMXL33JDTIvXuJq3j1Ky6X4JsUT4qzl7sUzXLhegZmzD2ENQ40+/sHc5tErVRReOs7hY1ncKlaAtQehcQlEBbph+9jC6SnPO8uRg8eMsYzW1A6v8MbExQbjYW8JxTfIvpJn9FdPYr82HsH42avJv3qJK8byW+GbGE+Ii557F8+Qea3cWP7QiFC8XR8/RqkKrpB56gwXr9+jwmCNa3AsTSL9cbe3rDV/VhdcI+dqHvcrfmfkkdjiHhxAfTcHjCfgDEoKr2Ry+vRFrt8vx2DtSmB0HJGBHthXOdC/5XqiwFNdkMWxg/vYtmYdey/Z0mHqJwyJr4edrpCr2VkcXvEVC/bcxbVFf7o3TyCxiT/OUlNKdk1lxJTtFLnF0bZdK5qnJRJY1wpz1TV2zf2c5fkR9O7XhobuJtw9/CMzV5eSMGQY3WI9sDYagZ7SzLXMmrkDXXwverQKw81czd3zO1l/1JTUfp2I9rAi+7thTDvlQdPWTYmob0vlkYV8ueIM0uSXeSHdH1tVHkfXLuFAnQF8MSIOSWEe57fOY+aqMxAziOF9YnGT6Si5foYdG/ZR4tOW5wa2J8JVGHiNowSFp1Ywe1Emzi260zrGC1tDCdk7FrHksBlpQwaTHlbXuEX0H700d9g4cTCT1l/HLLgtL4x8mY6NvHH8iwGbXlVC7q45zFh8i4YDh9M3qWbwKQSdS5j62U4sW77A8+1iqF/H6tcT/t+tuJZbq98ynlHN93+Jbz55nlh3FUd/WMwlr1a0iQ/C1cacf0wHyVDBlX2rWbx0N/dcYohvFGZ0SjJzDXnb5zNnUw7WCX3o0SqJxLgAZOU3uHp+OwtmruaUJpxnX+tNYy9b9CU3Ob9rI/sL69HimedpH+1RY+BVUnj1MpdPZ7BwtwWtuybj52qDqeIaW7/7ho0XLYjp3ZvWTZOID65S6q28sp81i5ax544zUQmNCPNxxU5mhiZvBwtmb+ayLI6evVqSlBRPoDFAVHJz30K+XnYNvw49aR3rhUXRcZbNWkNB1DO80D0eb+vLLBz9CcftYklpGo2vg5KTS2ex+oSEmAEDSA9xQnf7BBuX78O65wcMTQ/BzQbKsjKY8+02KiM60rlVFF4yDfcv7GXTUT2Nu7Yj1tcRK8UVDqxZwvKdt3GKjiM2zBdXexnmmlvsWjCHzdlWNOrVg1bJVXW0/rXXf+Luoa+4w5XLmez44RvWHFcQ8szL9IzzxYFS8s7tZvP++7g1602/jrF42ltWTeyUNznw09esuOJNerc2xPpYUXRiOXPW3CW01yC6JfphV3CcjO172JmxhZM3PWj9Qjyudt6EhYXibavg8p7lLP/ZQJO+A+gSL6QsejDw6yg6t54FS84gjWtLyyb+OJqUkbt3BcsPaojt+zztYrywF4I3QyXXDq5j6bKd5DtE0LhRBL6u9lhbaLm1ayHfb7qIeUx3urVOITnel6K1HzDzZ0vCk5OJ9ndEfXoF3606hq5hP55rF05dbnNq4yr2W3ZiwsspOKrucn77D8xec5zy+q3p0b45TZMjcTcpIi/nCGvnLGRnjjmRPXrQJrWpcTeEsCihKzrPxgVLOW0ZS+uWcQQ4m1J+eR8rlx9EE92bfh2ERbTqABUD5Zc28/13WykJakPH1jF42+gpzNrPlqNqItun09i7gDUTPudnswYkNI0lwFHD2ZWzWX1MQ1jf52gb4Ybkzim2rNqHefu3eDHVFe39TLb/OJt1R8uo17IH7VqkkBzpgWlRHpePrWHewh3kmDSka890UpomEGSr4Pb18+z48TvWHS3Fo2V32rVIJSnKh7o21e1ePXm7dzWXC7sXM3flYe46p9KzSytSk2PwsVFy51oW+5cvZMPRLOQRL/H+ax2Jqm9XOyBQXWLLF18wZ3Mudind6NgihaQY39rveWILrr5RX4FQrvPbf2TummNUBHSjf49kQtxtsTQzxaC4yva5s9lwWktI5260TkslIdBA7p597NuWwdbj13FOe5Y4T2d8QoNp4OuA6uoB1iw/jLphV57pnkygs/RhAK4rzmTLwuWcNImgecsEgl3MKL9ykLUrDiAP60qfjk3wc3wwQTFQnrONhfO2UuDdjHZtGuNnZ6Do0kG2HVXSoFUr4vxLyfjwSw7q/GjStDGBzloy185jzc9yArs/Q7toT8zunWHb2n1IWoxkYCMTLp3cx44NWzhxzYmUfvF4uvgSEhSCbx0N1w6sZuUhJWGd+9EtJZi6sgdbX0o5n7GWkyoPQqMi8HUyoeD4CuavyMapzQCeaR1JPVvjijWV965x5fwOFs9dy5ECF1K6tKNFWlMi65lTln+FY+vms3hbJvrQTnROb05qYggeDsJCSTm5OxYyf/NdPFPa0SouAHtDMTmHtnFcHkzzVvH4l21k6lcHUHk3IqlxMHX1mWyYv4afywLo/Ew7YrzMuX92G+v3Qeprg2jhZ0bxxV0snbuGwwWedBjYk6ahrpiW55N1YBsH822J6diHTgkBOFfXVV98ka2LV3BCF0JK8wQauFlSee0Q61YdoDyoPb06JhDgbIWJopAbV7M5uGoRGYfPURYykLeHdSXO3+HRgotgZurL7Px6Ft9tuIhVXEc6tE4jOcav9sLM09pt9f2G8ivsXvQ9W/LdSUhvQ3yQAxRf5uftgi2n0jwhlHq2T7EI/csYquIeN65msnPJ96w/VIhHu350axZJfXtLTM1AeWM3i+au5Vi5L627pNMiLZEQT8eq+aGqhFvXcjmzdRn7lWHEx0URWNcM1a39LFuwgePl3rTunE6L5knVvzFQkrWdZSuOog5IpllSGB5Wcq4f3sDa/cX4tOlJh+RgXKR6Lq+eyjd7SnGNSqZJA1cM2Zv4afUBiut3oGf7JvhIC8ncsZ79mnhe6t+GIFkpmTuXsmDtQW47JNC+bSuap0bjZVXJ3SvHyVi4mG1nFPind6ZN6zQSQzxxtLHAUJLNzmUrOar0JTEtmXAPK+Q3jpCxeh9FPq3p3jGZEFfpQz9lqLjKviU/sOmmI41bp5MY4oikJJejO49RWj+RtKRQ1Dtn8O3uIpwjmxIX6grZm1m05gAFnm3p2T4OX1kRF3ZuYL+qCYP7tyHEuowLu5bxw9oD5NnF075da1qkROPn7oD0F4tzhsr73Lh6gd3LFrDuQB62TdrTtk1Lmsb44+4g4fahVSzbegXryOY0jw/GWVJM1p41ZJyGiA7dSY/zo85jFjifxjx1d8+xZ+9utm7YxvEcKbFd4gjwDSDANxj/upB/LIM1+4vwat6T7i0bPrJPQxnZOzZxvNgWv4ZRBLqaU3I2g0UrzmAe35M+HeLxc6hhy4YKru1fzk8br2IX05I2yWE4m5Ry5egujpfUo0mzJBo6a7h97QK7l//Auv35ODfvTddWsfg6WGFmitEWly9Yy6H77jTrmE7rlskEWdzhxOE9bM3YyvFLUqI7xxHo54+/TzABLhJuH9/E2v0FeDTrTvdWUXg+7F8q7p4SynsKSWgarZtF4KTKZtui9VyyaUKnHm2IqW/3UPtFW3GPm1fPsmPlXkrrRRDTKAw3SyW3Dqxm6YbDFHo0o13bdJonhVC/rh0W6ruczviJVacMhDRLp1lDZ5SXtrJ0XTayRp3p3jaW+nZ/vq/XbOMnCjwNeg1qpRJ5cS575s/hcN1nGf5MI+rZmKLTaChYP5ZnpuSQ/OEXDGvqjbO1GaaGYo58PZkVqkR6d0kkUFj5kwpfBkv4+YvRTNrjxHPvjaBdmAe25qBT3mHH1OF8dTWJd6a8QBN3O7i6hg/GzOZa5AjGDU7B31WGGXoK9s1i/PQNmHb/nAm9/Mie9QFZTQfRIcwLRysTVPun8Pw7GTgPnsf7PQJxluqQZy3ivVVOvD28NXUdLJGfnsVLI35E1/Vrpr8QhbutCXqNipIz3/POhLWUpbzFp681w8vBgspzPzB+4jbsnhnL4FYN8BC+tKJDLS/k9A8TmHbUlyHjXyLV14F/NvOHntJ9U3lx7BIyzVoyad47pAc4I/0bso3oVCVcMQafNwkfMIJ+yb7GFY6/HnRWmZv2bgbvDZrEhuv16D/rA+Jv7eCMLIm2KRHUr2P5zwWdgCZzPqPens95p568P6Y7Ud6OWJqaGPOdlm/9gP4fnyRk5DRGtBZWscyR6HVo5WeYM2w0P1amM33KCzTyccBUp0FVeo6fxn/AmoLGjJj6Ks0F/sb1BgN6rRZN+W7m/GSgbdc4vFytkRhK2DJxANOP+vHy9DdoG1at6qvNZOGod1lwug7dPhhDtxhvHK1MMZFIMJRtY9LzUzgZ/CqTR6bTwNPeuEug9Mg3jJ+8A8uubzK0UwzedSyQ6FTc2/05b32VRdirExgUf4fFn14gqkdrGga4IjVR8/Png3lvrRXdP59A70hPbHQKLi//iDXWgxjYJhjXkk1MGzebbP9BjB7UglBPW8wlegoPz2XSp2tRtXqft/pEULH+bSZ8fwr7LhMZ3SMWH+eqnQESQxk7Jg1k+jF/hkweSXq4Fw5/VY3YoEOrUXBu3kjeWlBM6keTGJQYgJOZHq2qlPOL3uOjVXeJHPYRQ1sH4yot5fh3E5i6zZR2rw+lU2M/HC1M0Knusu/Lt5h1IYQh775Aqq8dekU5Z75/g4k/ZuHU/R3G9mtKsLsdliZ61JX5HJj9AbP2m9Ny1FieSfChjiVUXljK5I82Y5L+Cv3bxeDrKPgAPWp5EeeXTWHGQUe6j3iBVmFuWFz6iXfGf88J6468M7oHjQOcsTKtyq9bsWMKQ6YeweuF93mtQyTeDnD8m+lkhraneVQw7jJT1EdnMmziakw6TeGdvrF42xtQXF7J9LVW9O/XAn8vWxSn5zH6nYWUpnzAuAFJBLsLX6X1aDX32TrpFT477Mbzk0bTMdqXOoKKtPwiKz7+mM36lgwe0I5YP0cshS/AagXF55cz/bMD2Hd9lYFtInC3MUVzYzMz3v+O8x59GT6wNQ197LGQ6Ck6soCpn6+hLPkt3uguYcf8LILS04gKqYe1qZpjs4bxwWoDbT96l75NfLE3KLiyajrrzHvRu2Uo9e1UnP1+NON/KCJx4nj6pzTA3filXoumYCtThn7Kobr9mDiqi7GMFiYGdFoFZ79/gwkLC0mYMI7+KaG4S4Wv3TUX+oT+p0GRtZh3x87lZtQbvDukBRGeNpgZn6HixtrvWHH8EJtOOtFr3Cj6Jgbg+PCjvIHyU9vYsW8t36wsIWnMGAamhVNPGMtqvedppkhVfkEnlOvsAt4at5CChHG8OyiVEFfzqtVpQyk7pw7j07329Bz/Ol3iAnAyB41SScXZH5nwwUJOS9syasxzpDWsh52wHUgr5/bBeUyZtQdt0iuMejaVIBcrkGezZtpUNiqTeO75jsQHORvb2CC0ceYqPvtiP9L0IQxoH42nrSmavG3MnDSH045deGlgOxr5OWBhoqf42E988uUqChuNZGRPKQcXXcQ7tSkxEV5Ym2o4+d3rfLRCQer4t+iXHISjQcnVtTPYIOlA57QwvGzknP9pAh/9cALLNq8z6vmWRHraG3cyaeW3OTx/Kt/uUtHkpVE8mxaCi5UE7fX1TJuawX3/Tgzpl0awmwyD8h4Hvn2PmYdsaD9qGF0b+2AvpHjWadEqzvHj2++xMD+K0W8PpHmkF1JTCQadhsIdnzL6sz3Iur7NiB4JBAkK8CY68rfPZOp3J7DtMIT+HZvgL4w7+mJOLvqUr1bdI/rVkfSwOczyLC8SEmNp6G2DmeYk80ZPYkV5MmPHPk9KAycMymtkfL4efXpH0mICcVRdZMn4Ccy/Gsrwd4bQOsoDc4MWddlFVk+fzsocT3q/PYyOjXywVV5i/YxPyChrRO9nO5PUoC5WQhtpFBRfWMuXX+3FNG0A/Ts2xtvWxGi3NzcuYNXP+9h42p6OI1/j2Rah1H34dcZAxdld7N63lm9XFRA9dCSD0mPwFuz2r67kavPZ9fVU5h2V0mrwADomBBp9qr7kFMtnfMXK2+EMGd6PtHA3/nQsYdCj1cq5sGgik+ZfJ2T4GF5oG0296gcayvby1ehP2SFpw8iRvUkJdakeu4W+o0en1VJxZCnry8OIiQ4nyMkEQ/k+Zr3xGdtpzYgRvUkNE34jQXF5AzM/W09RRA/6dk0hzFXwmQY0yhKy1n3FN7t1xD/bn04J9bm2+FvOOEfRpEksvrZmaM/8wLjJS7gXM5LRA1oS7gLKa5v5dqOK5q2aERtaF8WFpXz44ffk+r/M64Pb09hXhqmQU11bxN4v3+KL7XpajBxB77RwXCxNkQg7vr6awfqCULr07UZquCtSc8EWlJRkbeDrr3ejbdKX57om4i8ERNrb7J09nbmHzUgd0J8uTUOM7WEoPcOqL2ex/EYAA4b1wfV8Bhcdw2kU1xg/Y9kXMuHjxdyOfI1RA9vQ0BWU17fw3UYlKc1TaRzuguLiMj768HtyfF9kxOCOxPnJMBPmSL90d8b2UpC1bBKTv8/Ge/DrvNApHl+ZCWVnl/PVNweQJPagZ8dEAhwsjGOSuvIORxd9yU/n69Dy+X60beSF9V/5RqNTo1BWcHHlVD75fi+K+CG8NrAj8b51sBQwKe5xfMkXzNlyj8A+w+jfLhZPawm6vG3M+nwtuY7NeP7ZdKLr22JQFXB04TS+2akmfvDL9E5rgJMx2NZyZ9/3fD5nP/rEZ3mueyqhgh+hjLOrZvHN0iv49HuJfu1icDdVcnHFx0yZdxHPgSN5sWs83tVfBw3lB5nz7gw2ViTy0vBnaR3lioUQO6gquLhqOp98v5vKxoN5bVAn4v0csaou/4llXzF38x38eg6lf4dGeFlD+flVzPpyDbcCuvFc33Ri6skwNagpOr6YGbMPYGg6gIHdkwmwq4ZrbKsKTm7YTplXAGERoTibGqg4PJf3ZmRQGjeEV59rQ5Sb4B8rubh6JjNX38S3y/P0adeIejJTDOpCTiz5jDn7DST1H0S3poE8ePzTjoRPHXg+/IFBx/+j7q3jqsragO2L7u4SkBYpCxQBUTHGdnR0jLE7ERBQGhW7uztGx25FDOzuwO4CkTjE4Zzz/fYhBMd5xnmc5/3ed//L3oe19rrXve9r3VWY+56M9H2kvbKiaftGOBtrINobTsekDIKmLWSkvyU6+XfZv/komfaBBNdxxtJAo6Kth/j+WkYPm8+zeonMDW+MfcXpq5Tsw/H0TLyJX+I8hjfU5vrsgcTtUOHn+dPp7WOBjtyjKOX1rvEMmZIJm1zzAAAgAElEQVSORb8FJHW15drK9Wh26kYdcwPUFaA4PYWu4bswHbKO5E6OmAhSXniJBfOe8GufFhga6yC+tYj+g1dQ0mkZ0/t5YiE/TQXJk7UM7z2Hm+5hrEpsj6Phe/4YO4w5D+sSN2skQfaGlZSsjOLH6xkzcBWiNpOY0Kc2lrr/fXjh3y5k8QtSFy9k7e79XHqpTdO45cS0F06N/wXyFOYuwGfqUmZufIlHn5G00j3HkgVpP+DprDQjaSapyf2J35aBhps/tYK70KejL46mpeEZ/8ur8NRkekZt4aNvLIujWuJsqlGhUEWHE+iadBnPyFmMCnHARBAg4RLfZcXg4azI+4lZU/tS29ag9CRJ8ozNowcw97I9g5cm0LGGBdqVX3/BMVZuVKN5Gx8sTTVRIJeDsd1IueDC6NkRtHA1KwXVwnSm9Yxmy7u6RC+OpKWbGZrl70F0lOQuSVxyD2PamGby8HSFkodsGTuGhXdcGD09jOY1zClfdtnnY0zuN5HLbqOZ1FeR40d0aN62NjbmQhGnYs7N7M34P9TpuiCRLp426CpC4dWlLHsYwM+NTXm6bgyJW4sImTSRvg2qY1gWbfDmwATGTD2GdqfJxHavyYul/YjZ/AafqIWMbeWOecXXQ0RqUjcmXnBl1LTRNHM1L4PxH11VMfdWjmTMsiyCp0yibwMHjEoXgedbIhg2+zyW/ecT09kLiw/biAmbzy2H4Uwa04qaVuUFrGTkHJ/CkIkXcBg6gWHN3TDTLCn73Q/4J01kQJAzphWWkxTR3bVEj1nJPfveTBrXCW+Lz+xPDGPODUeGJ4+gubtFpcMeGcXPthE3agXv6ocxvl8g1g8WMGD8Rl54hDEnsi0eFWOBgtRJ9Jp4jupDJzHqJ3csNEWcWLkFhaDm+NhboaMI4gtzGThuK4odZhHbvRZ2+sKCXWPVikeEtA7C2tYY8Z2VhIat5HPjyST0qY+DcfnRdC5Hk/sw+bQ1/SeH08bLGi0FCS/3JBM5+xq2QxIY9pMnVpV0hqz4OdvjQln1ui4jBTh3UuPqwjAmbMmhYWwCfRu5lr0fKW8PTyFy+mGUWyUwrqOYU0dVaNi0FtVtdFBEzMV5A4nbKqP1tDi61a2OgSIUXV/NqoxatAh0w84U7q4eQ+TyLAInJtC7oRMVQ887yuS+KaSb9yU5oh3eNtpl+1TMvdVhRC7PJGBiPL0bOn955isRkzzeTNToRbyoM564QcHUMCvXx1Le7FnBUSRcWLWPgnrDCO8bjItpmfdPmsm5w9dRerePKes/Uicqmr5Brpj+Owe8lNxbS0TEcj74JxDbN1DuiSy98jg2eSBTTxjTPWkM7WvbyWVAbvo82EBkxFKee4YTO6QZHpZfQqmkBffZEhvFimumdEqIpIufLaLDU4iZfRGzPuMY2qY21SopJlnxC3Ylj2XVU3cGRvWniZsmN5ZFk7LpA7XDY+gX4oGF3FiS8i51JjHT91PSZByRnRW5dEKRugE+ONnrydf48uIRJG4W0ThxPD0CXDAW1vjmetY9cJd7kRzNFcnYGEX0ksfUCI1jUAsvrMr1KlIKHmwhKXo5Vww7EhP5K/UdDeHh78RFL+GsdnsSo7vh72yEEjKyDk1m1MyzmHSPYVQHAcbKlGTJfTZGRrPiVW2iYvrJ4afijR6fzojJaej8EkNoJ1/sdRWR5Vxk5fhJbHrrxchxA2jmbSW3FZC+J232eGbvLSIwMpKfVa5xRsEHPx9Xqgv7rvgKy0fHszk3iJjoXgTWMEGRIm5vWE+Gqz++Hi5YKD7i93FRLH3szuiYQTTzsiy1ESSv2JMUztxUFdokj6N7oDNFR6cTP+cs+l0jGNrBF/syu0N+BiF+xd5JUax66MBvYQNo7mWFhoKUdwfXkVqcz/lNR8mv8Rsj+rbA06o8TDOLS8duIH21nzlb3uE6bAz9mnlh+cNmiIzcy6tInLSBFzWGMXbQT9SyLv2f0vfHWRA3i7159Rk9tjdNPH4APEslnYzNscQvfYJbaBT9WnpjWb6Y+SeZN2oqR5TbED6mCw2d9f8Utlx4bit7i93x9nDFUVA4+aeYN3oqRxRbExbWhQDhGekbjs5KYF66Jh1Ch9LR3wkh26f0kiF+tZ8ZMSu4a92VkQObUHzmCEVuPni6u2CoBOJrq4lOWs/7uhGE9w3B00wQ+jts3fwAjzq1cXW3oSTjd5Jil/LQZQThA1pRy7piEqTPHcP0Q9AifAxdg1zQV5Ty9uhckueeRK3tSIb8EoDTlwEhE7/m4PQ4Vt42p/OogbSuY4P06lomTF7PY8f+hA1qSz3bUjtG+uEUS5JmsSuzNkPDu2Lw8BIlLl541XQtHfv1NYxPXs8bn9GE9W2Jt4Uw9rts23KfGj61qOFRjZKH25gQt4QHDkMZM7A1dWz+kwCV8GhbMolL7mE/OJwBbetiLbnLH5MnszajOr1G9aVVXZuy0Hbh/UoR3djAhKk7yfTqx4jfQqhZoZf/WxuhhCc7JpG46ComPcIY0qkB1Su+aVIKH+9iZuIyTsgaMSq8FyGeZig83cO0pEUcKQokLKI3zb0FnSHj0/H5xMw+Cs1GMqJbMK76isjyrrFp0jTW3bOhx5hBdGhgX2pvST9yeulE5v7xjpqDQunbpg5WahIebZ/EhMW3se4XyoCOflQrf32isyyNms6+/ECGhfakaU3DMvkt4cnOySQvuozhr6EM+aUhDlXGv4fZyUtJKwlkRHgvmtcs4ficSSw4KqHJiOF0D/HAsEy8ZHmXWJM4k0MF/vQb1p3GbpX3SDFXdx8gp5oj7p6CxxZEZ5cSM30veQ2HMPK35tQ0UkTy8ggLJs3nqDiYISN6EuJpVKZPZeRfWk3yzIMUNOjP4O5NcBP22A9e3+XxrPo/ZJQU5PDs4CymndCn3cCe1H6QQreJAnjOp7/FHTbP2YmkzUi6+TtirlM5hFLCo7VDGTjzIrZD15DUSQg/+UIdkvsrGDJ0LSq9VzO5zRuWDRzHtoIQpi4PI7CafgXwSUSZvP0oQs3ADAPtYm6fuoVRLS/MtUtDjr6A53qSOzmUgqf0I5dOPMa9nicaWuqIby2m/+DlX8BTq4h3d9PZuWINx3McaTNwIG19LNB4/Tth/aZzyWEUKyZ0xMmkakVWCs8wtVs42xV/Zubs/tQVvFM/uCjffFzynjOr13HXMpiar1YQt/A4WW7DWTy9B14WX1qr/Oi/roDPdZd4m62IR/eR9Pmvwmu/HomMjzsj6TnpADkew5k6/hfq2gkn7P9j6pQXMLrCuvgEVjx0oH9cGB1qWaFddmJcAZ5Rsxjd1AHjSuC5cvBwlleApx7i9w84u3Mla1OzsP2pL/3aVwrzLP+EZR9i9R5jWrR0x9xY+FD/BXjKsrm2Nomk5Q+w7x/D6I61sdYp84JUgGc408aEyMFT+mQzEUNnkW7Yg3mJXfCwrhQmKMlgw6gxrBW3ZUZkLQrzbKhZwwJ9bUESK4HnwkS6eJSCpzTzKmeemOBh85DloxPY8sGX2PljCHExKzXIBLupIIv3H/NR0TNBX1uV/OsbmJC4jPu2fYga8zN1q+mWhaKLOJbUjQkXXRk19X8Bnp8IniJAsQMGxe/JOLeHtWtT+WAdQq9+Hahjq8ObbZGMnnUcnV9mE/trLaoJRmPZJXm4kbFhqxG1nEp8r7rYGUi5v2oUoUuzCJ48gb7+gie1krwWXmPJ8LGsuVWNfgvi6Gh8mekjZ3DKqCez4rviYysY4JXvv8j8QeP4PbcRMZMHEmj6mu2Tkllx25JuUaF08rUrDcEFCo5NoteEquB599xdtJydsTAofZ/fBE9pFtfPPsG+hjO6BjqI76wiNGxFKXj2rY9D6TGtHGTk4HnGiv4pZeApfcmu2JHMOq5H15lxdK1rj36VEKoiLs0bQuzmbBrGTGKAbxabQ+PZ9NKT8JljaOlpVXEoIin4xIfMfJR0jDBQeMqVB5o4OllgoCeE6H4bPKVZ1zn/1BAXR3MMdeHe6jGM/afguSaMyGU/Dp5pBrXROL2Iddcs6BE1mBaelvK5SV6e4OgTS+zebiRx2WM8I///AM8w2te2rQKeURFLeVlnHLEDGuNuXvnLUsjNFRHErLiEcbdpRHetxv35Y5l1RI12KePp7u8sNzq/XEVcWTyKhA1vqR2ezMCG+eyMSmT9YxeGTw6Vp2xoV+z7bD5k5qGkbYi+4nOuP1TH1t4SYyHCojJ4Jo2nR8NS8JR+usnFp7o4CPfpK5SB53O8I2PpH+JBlaEX3WTN2BhWXjCg8+RxdGvojIEsn/dPX5KrboS5qSHaimLycrJ5m7aQmAVnMOiaSHgXPxz0yqn8PhujBPCsQ9T4vn8LnqILixmbuJYHDoNJDu1AXXvhoESu5SjM/kBmniJahgYoPb/OI7Vq2FqaYCCA+DfBU8qnWxd5pmOHnYUp+uXg+cSd0eMF8DRHmvWYywc2sPHwC3T9OvPbzwE4G2dzOCWS2QehReI4ejZy++oApYhryyNIWvcM9xHxDBI80xoyOXge13RF5dJ6fr+sQ9uRg2hb11Z+4Cl9fZq0J0ZYvNnJ9FV3sR/6b4GniMvLIpmw+g7V+ifJPcfVy09EJIV8/phJnoIm+vq6aAoRFT9keJSD51PcQiP/AjzbloHnV7pXSAlI306qkrscEqsL7phvgCdvDjFj3Cz2FzcmOkqAZdOq4cpF11kTncz6h470j+mNm3IROhZWWJobywHqm+ApzebulWeYWltjZG70n8Fz3himH1SgZXgoXQTw5A1Hpscye4+IoOgoejXzxKzKIVcRN9aMZ+KaB1TvP47B7T3J3BJDyoprmP0Wx6gugTiV7wVhPTKzyEMDfX1lXt9+jLK5JRbmJvJv+RfwDCWsb4tS8JRmc+/qM4wtrTG2MKoCnmEDW1P7u8DzPvaDw+TgaZqxmaSkpVw2+pXoUQLs61aRCaErw9zo2ezNbUBoZJ8y6PsRoSkHzxtY9g1jUCUvo/xXi+6xdUIyS49KaToukt4tvTFDxIcXr/mspIOpmTE6yhJEOdm8S19FyqJjSJuGEvpbM2oaK1JwbS1Jk1ZwSb8LUaHdCK6AOQmFOZl8ypWhpmeAnpZQZ6aEx9snkfwfwTOIYaE9qoDn012TSVoorGcogzo1wK5yDmXRfbZNmsDSw2KCo8bSy+cjWybO5o93PowI70urOlYVB21IX3BwxiRW3rGi56iBtPer9oVBZHmc35VKsZ2zPLdeYMZS8NxDXsNhjBTmawRvjsxhwuzfees5gtB+balTcWgC0hcHmT1pObctezJiUEf8Kqj6v1+//wI8hY/MeRaOjmLTR2cCPayppnaX1buy8Ps1CCNpIc8P7+OxXT9SJvaklkXlhOJiTk/6mYiNr7Bs2YtmboZUqVFTkkdmZiEWQd1poXeAyAGzOWPSi9UL+uFprlNFUchkMhTkIVBSxEUlKKqqVIREfRM8hbC4ohJUVFXkz5WC51LeunaibV0z1CWfefv8Ge9ltgS270hjbxv0NZQQn5lKtzEb+dgggVXjW2BnVHbSWP7OxddZ0GsYKx97M3ZdPG0cTb54rv77dan6pOwTlzes5pJeIC0b1sRCnMakAfHseGRG13nzGexvI2+t8u9cQjjdYsZP2MaN9/r8FDuJIU2d5SHMP3aJub1oACOW3cVh6FISu3hgWf4h+7Ef/vunZWJEmc+4cfY0VzLekPkpH5mKNoZmxqg/O8Kag9kEJc3/Jngue1aNVq3rYSnkQb55zvMPUqz929CuaS1sDf9cvEHyfBsrz7jQupkL5oaCofYX4CmcsooyeX7jHGcuP+BN5ifypapoG5pirP6co6sP8Skwjtll4Flybia9IteRoRdEl2YemOmW5+IJ0y8hPyuLQlM/fm7hibG2JqoqQtiu8LdvgydSMUUliii92krkkFkcU+/I/FkD8LU3/KLQBGiv2GfCibyIrOc3OHf6ChlvPvIpT4qKtiFmxhq8SF3LoUx/xs3+H4DnkoeYtWhJPRtdFHPf8eLZeyRW9fmpXRNqVTdGU7mEi7P7MH7tHbQadiHEw6JqInxJPp8+FWLs25EWta0x0JBUgGejycn09XfCuPJHX/qWXeMHMmN/CU0mz6K/9iFiEtbxxG00c6Pb4WFV7okrEz3xbVYMD2PF9Wr0XxhDJy8LlLOfc+vcWa48eMXHrDykKtoYmBqh/jKNTYcyqRs5ndFyjyeIi8UoKiujqFga2vRN8CzTc8oqyigoKpaB5zIemTWnWb1qGGmV789iMg6t58g7H0bPKANP8SUWDoxm3UNnhs2Lop23DeWOo9IZiLmzYhRjl17Fqv98Iv0esyxmNodlPzFt+gACnE2rHKZVyIRMTLFYEWVlRRTlwvZt8BRkrbik/L6SUvBcdh/jJiHUszet8NxT9ICjG47w1msUU772eArgufQeRk1CqGtvgnpRNu9evOKzmg21mraiiY+Q667M33k804wa4at2lkUT96DUdizDOgp5K2IepB4nx8ELy/sriZhxH4//m8CzdjSxA5tQw7zsYEq+ZlLe701m1LRd5DSIZcogM86mTGTNbRv6zYjk57r28gOmL5eYe2siGLfkAoY9ZjC24RvWJ81hf1EwySmDaFLTAtVKd/+nNa7weFYCz9I1VkBZWQlFRUkFeHpFxjKgaU3MK3+fpO85MGEUM3d+ou64FIa28sZaQwGZ6DU3049x/OxdPsh0MLd3xDr7JCv/uItVzyTCf/Gl+lfgufyGFg0a++JkoVNh6BY/PMbWI69wHpjMGLnHU8arXUmMnbWHvMBEkgc3x9OyymyRyRQQzAlZSTElKKOkpFiqP78JniAVFyNRUEJJSQlFyUO5x3PJFRXqNq6Pk6kq+e9f8fJ9McY+TfkpxBdncx1UJddZGRrP6qum9Jgyll8aOFHpfEyux+9viCZ28Wm0O6eUpgAYIQfPE9p18NK8wbrpuygMGsrgX/xxNJDw8MRJsq1cMX/6OwmzrmP7b4Gn9BV7J0Yyd0c2frFJDGxVC+uqAoJM4d9qe/Yj4CnhzcFtXDT0xLumK9WEU6RvgKfk+mqiE1dw0aAriRHdCHQ1qHp4WPKA32PjWHJcldZJY/lV8OSrCOtbppO/5fFESkmxBEVBBpQUy8BzCRcUahNY3w3rcllFzJOT2zn21IZuMWNKwVNyk3VRiaw8p0unpAh+DXbDsMp+LSFjSwKJi46h1DqRsT3deL4yhjnb3lMrMoHB7epRTa3Khi1bDxkl4hJQrDT2Co9nJfD8euxyj+dizkm9Cajvjo2OmJwPr3j9SQFT9yCahdSV15koPa8v83guPovEKwC/mjaoPDzO3tSrSAOiiB3WAT+7r+zk/DMsHjuFDXdt6Zcwkk4BjhUHXX9vwH3rjkrg2SeMQR2/hLeWqsePpM0Zz6xNj3AcHM+wLg1x0FJAVvCOu+dPcOL0TV4XaWBq54C16DJbd19Do2UYoYI3VgCxQzNJmLWFlx6hxAztSH37ql0cZEK91AqT+8fA0/S3UAZ/DZ7STI7Pi2HWhgzsB8YyqOYL1s9exuFMe0Ka+OJmWdkGkVCQk02BthuNGvviXq1SDrj0JUd330DX3g0PT3t5JJro7JIyj2c5eEq5vTGelCUH+GjXjGC/GlhVjoWWFJDzuQBtl7oYf7zMxQuXeZJduRCiIoa1OtCjYxN8bL+yjf5icf85eEpekzo5nIl7Cwkel0xvH0VuLo8hedszbH+NJ7pnXTSvLWTclOOotolj4tAAqumWF4Eo5vyULoxZ/xqfyBWMbV4Ng4oQnPIRKqCsponK642M+m0G6UY9WLFwAN4WX5Jm/05Qvw2eVZ8q93gWtZ1Ncg93zIQY8BIxuRk7mDPnLFqthjKkgzeGN2bTI3Q97/0SWBXbEvuvwbP4KvN+G87qJz6MXf8/AE9ZDre3rSBNsT6thKR7Qw2UZLlcnDOI8NXXUWk+iUVjm+Fo/CV89O/ez1//Xcbn6xuYMusE6iE9aaySzvpdb/HoO4oe8pzPH4BPyXO2hPZnVroh3RZPp1cta/T+pTC275uvFHGhiNcnFxA35TAlQSMI7+WP+bVZDJh6A+/o2d/2eOY0ZWJCD7ytdUtzP3Mz2DtvAadVGtN3cEdq2+hWyW8RX1nN2nfBtPG3wVRu+f0VeJaOWiouRPT6FItip3KkOIAhEb1oaHmDuf2mcsMzosLjKb44h/4Ra3noNITZY1vjaq71p1NmoTKzhrrKV7k9fwGeZS9N8uJ3IgfMJFW1LXNmD6J+daP/7LEXgFX0hvSF8Uw/VEiDIWH0DLTi1tyBzLjmzuj/SajtR/zjY+hRz04eoiQR5/Fo30KWpCvg32sAHepZ8mjpIKLX3MVuwCzC2tTEsipZyWerpKqJuqoA5OIv4JlSBp6VnUnSN+yMHsiMg9B8xgz6ah4iJnYtj1xGMXdcezytvwbPmywfFs6KG7YMXBjDz97V0FUUclFFvElfStL0A+TXHcDo3o2wubOQ4dMv4zQ8pSzU9s8HRt8Gz6/0l9zjuZyshvFEda+LfYV7K5/j04cy64ItA8tDbcWXWTQoirUPHBkyL5oO3tUqvGrl4Hl7+QjGLruOdf95RDV4yrLo2RySNmPy9MEEuZpWgZK/3m9/AZ5VHhDCZgWP5wf8YiLp5utQllMD5J9g1vCZnLfqz4Rvgeey9/iOj6Sbn1DYSYqk4C3nN8xhxbFPOP06hiFtfbD8+Md/CLVdiQCeQTVUuTIzktWZDRkd+iu+Zs85eQZcfJzRvTmHoVPu/T8Bnu/2JDJq+h5EAYmk9Dfh7ORkVt+wos/MKDrVq06F3Vt+uLA6jHFLL2LcYwaRQe/YED+bvQWBJKQMIcTTksp27H9a42+CZ5UHSqqAZ/+mNbGoAp7v2J8sgGcO9eNTGNzSE/PPl9g0bz5/3NEioGsP2jRwxlRXA8n5BYROS0O7cxxhnf8MniueezIqrAcBbqYVB2b56fOImHUag19jy0Jt4c3uJMJn7SanQRwThrTEy/r7ZvtX4Fl1uqXgufShM4PDehNc0wwl4VuR/5TUlSs4kV+Ddr06E1D9DVsi4lh12YTuUyLp4v81eIq5ty6K2CVn0PllciXwXC8Hz3o1dLm7OJbVLz3oN6wHjWzfceZ8CXZuThhkLCVs2nVsh/xLHk/pG/ZPimD29kzqjktmcOva2PzJVvu+L+/f3/Uj4Cnm7vbtvHTyxtPNpdRr+C3wvLGGcQnLOa/XhcSx3QhyKw95LBud+D6bY+NYelyVNslR9GxSGpZYfn3T4/nVxMpDbR/Y92d472Z4WZQbOCLOLR3PvGPKtIooB89brI9OZMUZbTomRdC9cY2vwFPMg83xJCxOQ0UOnu68WDWeOVvf4hmewJD2vtiVFpf42+ubHs+vx14Wanu3Wh+G9W6Bj6USUkkh76/uYPnKgzwzbsGAwZ0IcDFGVaE81PYO1r2H81tLH3QvLSNx9lZeuI0gdnhH/Oy/skfz0lk0dirr79sxUADPho4/lufJ34HnB47NFsDzKS4j4hja2R870Q12LFvElosSvNr9SodgD6z0NJBcXUP87AMUBI6Qg6e7cNhzeBbxszbzzG0kMcM70aD6f7Kv/xfg+ZG0ubHM3vAIx2ExDKz5io0zl3JE0piwkd1p6imE/H91Kaqgrq6KitKXv8jyL7Pn8GdsnD3wdDeRO+++BZ53tySRsvgQJY3CGN6jOR6mf7b1lVSkvLqYSvqlu7zOq1zDVxFdl0CaBdbG2fz7OOQfgmcRj7bFMXbmGbR/SSS+lz92+spkbg+ja0oG/hPnE9rIDj3ZO04vCCdhew5+oVMIa+Usr7wqP6XdHUWvxCOY9F/LtJ41MCtv6FjxDqVIpIooFp1jRo9QNmUGkrQ6iqa2BpVixsuMdqlU7iX4+von4Pl1jqe0WDA6ezPngjldZk6mu+UZknulcMKsHyum98DdoqrnlfxUkjqPY69WV+bP7kctq+8H5L/VGBTwcPdSdn/2pnXzOlQ3ETxsgrKRUXhvFWOGzCc9vy7hyxL5uaY5Wn9qD/D3/+HLHeXVa9NQb9aPni2EU+gCec7nrE2vfhg+ZZ8OEt8zgX2yVkyfPwx/u8q5sv9knP/9vSWvDjEjajqpij8xNroHDZ2MkaYmluZ4/m2obVmOp1TM211xDJ59Br0Ok5jYux7W+uXUIiP78Cr2G7ageU0LjOQf6v8MnpS84uj0cUw/okDzyCh6BDhhLEtjgjzH80uorezDAZIHTGC/eifmTu5NHTuDqqFCwu6SSFEQiv1UKYbyn8FTyH2eNyCC9c99iFg0lp/czP/ksZdKpfLfLP3dEl4dmUnctCNIm4UR0TMIF1MZJ5L/z4TalobEyhC/3UPykDmka7YiPrknTg8WMnriXpTbz2JCHz+qlydAVNErCvLiTQp/B55CPvjgKNY9cmPkvChaW1xlxqDJHFLrwIxJffB1qOoVRnSK6X3j2VHclOTJA2joZCI/jCh5ncrc2BkcFjdiZMRvNBIqDJ5IoXeVUNsfAc/vDLWVfeBAwhCmHlCk9fSJ9PZ3qhpajIjT0weQuE1Eo6QU+vvls33MONZmuDBizlh5nmh5GGb566wqExXm2TdzPKvu2HLw/Ic5nt8KtZVJKHi5i0mj5pEmacS4lEEEqR0nIfSvcjxXcty4EUGedqhdmEXE7Hu4DRlDa/XnvDXzwKO6JerpUxj0/wR4FnFtyWhiV93Cpv9UIn52IGPBaKbtKabJhCT6NqqBaZWcDxFn5wwneUsWfuOSGRBQwr7oWNbctqX/1HA61LP/U9GIv1rjHwbPomusGBPL6huW9Jo8ls6+xtxfEcuUjY+x6xXBoPZ+8sI/Qqsk0YkZDEs5imanOMI62lL8ToqZpQn6Wk/Z9A9CbQuvryAqdiU3LPsyMaITvg5fh2xKkUpLdVxV9fmtHM8/We2l4FkRaluW4ykT8+HwTHFNGfMAACAASURBVKLmHkLkG0pM31q8XT+OaTvzCIiNp18zIQS58v4v4PyC0Uzc9BafsAQGtvTGSl0ItV3PSQE8vZzRvbaQ8XOuY9V9GO2MM8k0dMK1ejW0Lsxm9L8JnhRxc3U0icsvY9JzAmO6+ONU1T0LUinSsu/C9yHQX327fwA8Zbmc3p6KkrsX7i72pZEc3wq1zUxl9tjp7MjyJSJ2AC19rKq29ii4yLKIiWx8VoNhsYNpXbdaRcqJMOp/Ap7fzPH8U6htJsdnRzNjm5BjPZ4BrWtXFFQqfUsFXFoaScr6J7gMjWFwOy9yt8WRvOw8ur/EM6Z7I1y/zrX7i/X4J+Ap5Hh+CbWVISl8w5E5sSzc/ZYaQ2IY3MEPOy1JWY7nl1Bb81e7mBy7gOMqrYgK60Fjd6MqYCR9fYAZMXM4UNSY8LG9ae71VajzPzbr/gY8i26zKSGZ5afUaTM+nJ4h1Xi+eQoz11xFr81wBnZtjLu8OCIUnF1C9LQ95AWMILSHF2rZYjTeHGHRonWcUW9PdFhPmlTkZlZ8ASvpi/8BeBbfYUvSBJYdV+Gn6DB6+OaxK3kaG566MiRyMB3q2/6poNe39HXRnX0ceGmGY00vapYlfv8ZPCH77HKSp63jidNgwod0or5d1dYsArtJpSApLqRYXILkq85vCipqqKsJ0Pt9muAfgKeUvBuriB67gnt2/ZgwrjO1rHXlvety9lQtLqSnAsWZV1gXHcWaZ870mxRPJy9TtJRBmpVGSt9xHDYdzMIJnXE11axiQOdd2MR+WVNaemnweMVwRq36QOOUhYwMqlY1nDTvIhv3iAlpVQtj3apu/R8BTwEUDsf8QtxuGS1nLWVkfTUupAwg6aQ1Qxck0KFGpdAwQT1cms2A0bvQ7j2dhK5Cnum/5MaT5ZOxbznbX7nQqk0DXMx1UKmcDyl+xc7x/Zm87y32AxYwvU9drIQX/19dMnJubWbqzGOoNulLz5Y+FS1TJIWfeHh0CbM2v8azz2i6N/xWn8+//6cFZ6fRJ2ITH/xiWRTZAieT7zsZ+ftf/r47ZPm32ZQYy7JLhvwSF0XX+tXlvU8LyosLfS94Cll0R5P4LW4HBcGTWDSqLspvnpFn4oSdqRr3NqzjXWAb6lczKyte8B/AU5bPnU3JJCy+hP4v4xnbrQHVhUqLBeXFhb6Ap4L0E+nThxO/X4MuU+LpWtuGKpWt86+w/aAYv0YemBtpVlL6fwOeMhG3VoQRseIZtaNmMrKZUE6+kvLIv8K2A4XUb+SFhbGmvHLfpLglXNL9mciobvg7GqKmWPB/LMezIhcz7xiTeyewPachsXNG0sT8EUtHxbNXuSPJcd3k+cOVd2L+1R0cKa6Lf01LTLTKQ23f4588iYGBzphUCiPLu7iA0HEbeVc7jEmjWlDDJJ8T00Yx8Yg2XSaN45c6dlW89YXXljA68g8krcYT3aMB9kKp1Py7bEtJZOk5TdqMjaBboDNG6koU/inH8/8AeCqU8DFtBmETjqD+cyJR3Xyxr1w2vvA6y0dHs72oGWPH96SBgwYP10QTvSKDGiMnM6KVB5aVcvHJv87Ow/n41PfAxrw8V05unv2fBU/hsOXdHhKHTmNvth8xs0YRonWKxL8Az9e7l5Nm1JhG3g5YSi+zJHwC6cZN8LN3oflPdbGzMKAoLYVBk//v8ng+84wgfkgI7pWKC5F/heVj49jwxJWBiSNpU8uSotNziZp4AFqNI6J7AM6VE5cLb7I6IoZtuQGMjOxFI1ctHm+II2b5HewHJDKiXdViRIhusudoLu613bGzqgxplYoLVQ61raKGyz2eT3AfIxQX8sSyUv5S/tXljI9fxyPHAcSObEcdq8esCY1l1T07BkwIpX09+zKPvITn2+MYO/ccRj0nENZWiesnSvCo6051q7ds/gfgKROKMSWMZ8XNavSKH0n7unZVisKJbu7hWI4b3u7Vsa4MWH8Ralt1umUez6/BU2Cg9LmMmbiRJ87DSRndBrtXa4hN2UtRk3DCewbjalIpfLroNuuj4/g9sy6DwvvQtKYZagpS3h5Yxwmtuvj6uGGrcI1V4yeTpl6P2o41adG8NtVtjBGfmsWoqULxsH/J4yn0tL2/lUlxS7lm3oPoUT/jV73yXhdxe18an51q4uZoK88d+++vfwaeQq/VBw8/o2FhhbnuS/bvfIGDjyduzmUFpr5VXEiSxdnFcUzdnUfDUWH0DKmJaSXoL7qzkcTETbz26Mfofi3wsqhqU/7r4KkoIevsMpKm7OSz33BC+zTHo7zStfAii+6yOSGJzS9r0Cu0Hy19LJA93M7UhCVcMuhM+KhfCHCqvC8LuHvwOJ9sXXF1tq+S3/3fg6e8chGpM6OZtfkh1QcnMkLILdX5M3ha84JDsxJZeFqLtqHD6RzoVCnUX8qnU4uIn3mE4uAhjOzehBpViir8N5LzpbiQac9weXEh+0p2i+jWJlImruSqQUfGjPyVIIfXbIufwPJzOnSMHs2vjd3K6hxIebV/Kglzj0KLsYzuasLzSyJsrFXI2LOQ5We0aBM2gq6NXauExRfcPcKpTEscXF1xMJb9QI7nZQy7jWFIZ6G40BdboOD2FiYLOaY67Qkd9SvBLsrcXD+JaZuf49p7FH3b1cWqck5owX3STmdhZueMi6NQmE3edJUrB07x2UzI73StsHH+DJ6KSHOvsyllCpufOvPbqP60rWddxdFXcC+NM59MsXVylbdh+9Hru8FTKL0+I2oS2x47MnRuIp29LSuqzGbtCKPzxHv4T1rCmEZl+YayEnJvryRs2Erum7UmeuJwgh30UVMo4FXaPKJTzmHdL57R7dwx0VCWhw1K3p9l3fqHuHVph4+Qs5F1gTUxSWyXtCImvid1rYQ2D8ILzebGlvXcrN6B1t5CPldVrVeQlkiXyN0Y9l3D1B41MK1SdrT0lRVfm0ffoauRdF7GzH5eWMgrisnIubmW2PD5XDXuwcTJffC11kby7CBzxs/jpstQ4oaF4GSkLjfsZdk3WZ8Qz16l1oSO7kRtq1IQ/9FLmveU9I3zWHhMm64xgwlxE7yZXxuoJbzbOY4+E/bxwrAjUxaG0tjBsMop3feNQ0bO7S1Mm3EMlaZ96NniC3SWP18ZPr36jqZblT6f3/Nfiri+cBBjlt3EdsgqJvwqhEL+Cy/qe/61cI/oCYfnJzNz62Ns+08kuktdeb9CYQT5h+L5Nek8rmFzCG/p/AW6im+yZMBIVuf/xKzp/eUeRgFkZDm32ZwQxYLzOnRMTOY368vMjF1FhutQJvU34uy+d9RpH4yThX6prMqy2DuuJ1POOzBi/jhaCWspX0oRTw8vYNK0bTy07UPSuC7UszMobaqed5jEX5O54DyaGREt5a0FFAQv95tTLI2dxmn9zowZ1YFa8rYnwsb5yMVNW8iw/4nmtWwxqtJfp5D0yT2J3a5Kx/kp9Kxd7avCMjJKMi+zMXkSf+QFMirqN/yFVhtyAf/M7e1buGnRlKY+dmi9S2XxhBlszbDmt6RoutQXWnXI3yJHE7sx8awDw2ZE8FMNi38pz1nMraVDCV+ZTfCUFPoL7VSEsxVZLne3JBMz7yzqbWOI7xeEkxAec3oZidNOodNuFMN+rks1ecEb4fVcYuvv97Fu1oxa1U3QVCwLtV10BY3m4cQOa0lNcy35+ko/X2NdYhLb3nryW/hAWnpaoK0so+B5KkuSF3LZ/FfGDPkJD0vtMnm4y7YpE9klakDfIV3wdzRCrfAZx5amMGvzPcx7xBHxqz+OhqUtg/KPTqTPhNNYD0ohrK1n1VyKMnkuPD2DAbFbkbaaQXJvP6pXFA76IvDiG0sZEbGanMaTSerXAMfyJFVZNocS+zE13ZzeU6NoL+RzCrUkCl5wfMlEFl00odPoQfL+i/L2YLIc7m2bxuTtedTrO4hfApzlBbZKsq7x++TJbJUbwb1o5GJS2lxdlsPd3du4YdSQIB8HzKuEWRRyZuYAEn8X02zqBHrL2998vUnF3Fo+kqhVWQRMSKZvgDMm5dX5sg8zsf9k0k16MTGqIz625YaumFsrRhG9MouAiYn0aehS+kxJJpdWJzJh5RVUm4cTN6gZzjl/EDlmKc99IkkcGoK7RdnJrSyXCwviOaDzM91a18PJUMLdtdHEbHqGQ7doRrT3wUZXiezDExk67Q41wsbTv7E75pXz2r5X33zjPvGtlYyJXMk73zgSBgbL8zXllyybIxMHM+24Pl0nRtKpUm6mUNU2KmIRZ6UBDI8ZSuvaNqVrJs3h5sYUUrY8w7HLKPq1qUU1PRVkhS85uXwKi8/p0nroQHkBGnmRdVkOD3bMZtr2LDy79Ze3DDDRUETy6Qbbp0/j9zc16TW6N01rmpdWa5blcm/fdm7q1sPfxxnLSpVXoZDz84aRtCmPwMR4+gTX+Ebl3zLwXHgasf8wooe1pU5Zfzlpzk1+n5zClid2dBxROkY9xafsiI1kfrom7ROi6R7gIm9zI/t8le3rNrBt4wV0fkkitGUhV67rUdfPAyeLZ6yPGM+qV7WJjOtPYw+LshQBGZ9TpzJySiqaP8cT3qU+DgJIykr4dHM7s6dt4bVbD4YJbSUsSg/oZLn3ObjjOlq1G+Djak3V6Z5n0cgkNn9qwLj4fjSpVD23YpnFZYWOhKq2cYNp7m0l90bI8jLYMzOJBUcLaTAimgE/eWOu9Ib0VdNZelqdkIEDaFffHn1Bictyydg9j5l/vMOlU1+6CHmxmkooyHK5vCyFA8pNaN8qAHdTKRmbE0nYcA/zdmEM7+RHdQMlPh+bTuj0q9gMDGdASx+s/4Vm77KSbG7vnMOszc9w6CK0pfDBSp5LLiPvwUF2X9fA07cWrpV6B/53W0TMvQ3jiF/2GJeR0QxsXRvr8nYqn9OYHTqNIwqtGCvPzdTjzcGZpCw/h2brMfRyfcv1D9b41PLEtazSr0x4Zsw0eY668ExpWK2Uwtdn2DBzMacUG9F7wM/4OxrIv5+y3IfsXziT7a/sadOrGyHeln+yt4ouLSNywnpee4cxbkBLvK3+fMgvvreJ+LhlPHIZQeSg1tSyLt/jOZycHcaMA1JCIsPpVpbPKSt8w5n1s1h6AgJ69adjoNCuRi44PNq/iDlbX1CtzW/82sIHS0HPlmRzZ8985m56jE2HQfRqUwcbecSgjLyMI+y7roxr7dq42+tVOXQturyC6AlreeExmiihcFD5uCotlvjeZhITlvHAUahg3Kasqq2ET9d/Z/aU5ZzIq0PfyMHy3ta6SmLub0kgeel97IeMZWDbetioSsh7cIDFMzfwwLIt/Xq3oU41bTkAlXy8yu9zFpJa4Emn3l0IrmFa+i35oasMPBcc5EON3wgb8QsNHUuj6KS599g9bzqbbugR3G8AnYOcMVJ6xYGp8cw/WEhAaAS9hb2oqoAs9xb7f9/MlnXpKIeEMqyDDs8eqODgVgNbyWmWztnIffPW9OvTDl+70mhHWd5D0vZfBwdvank5oK9cwoOtSUxYchPLPuFV8jVlOeksjp7O3twAeXXaZp7GFVVt5cWF5u/nnWtPQod3IdC5bPx599k7fyYbr2kR1GcAnRu5YKymQPHHa/wxdx4HM93o0K8Hzb3LqutLs7lzaD+3FZ3wqeeDo4Hg4cvl8Yl9nM40w9OvHjWttcocfDLyTgs5nrv43GA4ob1b4mki6MdiPl77gwXz9/HRuQN9fhOqH5fqR2n2HY7sv4WCYy3q1nJE+Pkfvf4ePCUvSN+4ie279nP6zmtylJ1oHZlMZAdPDETX2bn5ACdS93PyXg4GPi1p3jCYNt2CcdEVI8QNJ8w8xL1cRUzc/Alu1YVRXf3QVS3k+cV9/P7HWT4aOOHhZoN63nve5Wni2jgEPydTtFQUUZCJyX9/j7RN6zn2Wg8nT1esNES8f/UJVedGhPi7YqZdVjVX+pFr+w5w8fFT7pw8zMnb75Fa+RIS6EV1h1qEtKmPrZ46ypKnnFi/mxMn9rH3/HOoHkKHpm6YqEvJ/fCEBxkfUarWkA6/tpX3QdNSFqy2QnJeXufgxh1cLTShurNtaXXNOw8pdmpGh5Z+uFjoyXtF/chVdG8Xizakcu3WfZ69esuHPC1cO4aSNLoVLsaVPMPSN5xaPp91u45z5dknCtHGytkNB/t6dBrZnQY2+t+/sWW5XNqwlCt6QTTzr4mNgbo8xOnrS4DPjNR1bH3pwcBf/DAz0Pj7qebfYMfSHZx/+JgHt+7w9GMRuk6CYnShca++NHc3RV549X92SXh1ci2rNu4i9WIG7/MNqfXzIEaMbIen8hOO7T7O6SM7OXzjHequTWkmyG73YLTu7OXI8TQO7L3Ak5JqBHdoTA0zbcj/wLMHD/mAJb4dutKmgStmkkvMj1zMK9fGuEnfIPbsQPsGpS18sq7tY2fqCY7sOsbt92q4NG2Gf3BbfqnxiSPbtrP76AUevs1Hv9bPDBg5nHY+KjxN3cPxU0fYffgG79RdaNysIcFtutG4pgk6KmJyXlzh0LYdnH2jhW0NV6ppFZL5Phc15wCC/VyxEHrMCso38wZHDl8k49FtTqee4PZrMaa1G9PQ2wnHWk1oWd8BQ63yXoJiRB8yOLl1E6nP1LB1d8VGu5jMN1ko2TegsZ8+T/ZsYuuuI1x48JZ8fR/aDxzBsA4+qD5NY//xdI7sOsyNN6o4NQ6hYeO2dG9aE2Pd78yj+sb6S56fZtu+NNL27uPC4yKsgtoQXNMKHYV8Pj7L4NEHGeb12tK5rT9uFjry6sjS4hxeXj3Mjh2nea1hg6urLdpFWXzIUcOhYSPquVmhL/RPozzH8zXuXYKx0dTDzMQErZI33D53mdc6pc2Y67mYoS30IxXGJy0i981Njm7ZxeUcHawd7DCSZvHk3iMKqgXQqoU/7ja6fDq/hXWbdnDk/APe5Orh1a4fw0Z0pJbmC07uO076oV0cuf4GZccgmjZsQutuTahproe6LIvbR49y8X4Gt86kkX7jJUUmPgQ29MbFqRbBLf1wNNFBpeQpp/84yPHUvRy48JgCk3qEBAcS8nNrnAuucPLUCQ7tOsqN10o4BDWlQZO2dA3xxFJfleLcN9w+uo3dFz+hbVUdO2PIenKPRyIbGrRujr9HNQzVlUuLqggFuT4+5PT2LRx9rISVqwvVdEv49PYTira+BNWviY1hqa6QZt0m7egF7mXc4mzaKW69LMDIKwj/Wq44+QTTzM8JU11VSp6ms/PgcVL37ufiYxHGdUJoFNiMDm1cKLx2itPHD7Ln6HVeKdoT0FSQ+64E6T3lxIkTpAq6/VEhFg1CqO9qga5iEZ/fPONVnipWdVvSrrE12RfSOZO2n/3nMvis60WTxoGEdGiPr95LTuz5nd//OM7DEmvqNOlAz36tcJeks3jVK7x+bksDq0+cO3CcEwd2cezmB7RqBhMU1Jz27RrgbFY1j/sfqSvxM87uOETa0b0cvPCIPANvGgc3onmnNrgUXePE8WMc2nucW68VsA9ojH+TtvwS4o2NoQYSOXgu4bFtGwKqG2BoaoiRtoQPdy9y5aUG3q060Kx+jdK+0qVCSlHuW+6mbWfPhQ+omVfH3kSB7GcPeJRngW+L5jT0tsNIo3yNSxBlPuLszq2kZkgxdXbBVl/K53dZKFjXoWF9T2yNhV6HwuH5HU6kXuDug1ucO57Ozef56HsE0KCWGy61GhHi64y5fnl4Vhl4Ls7A6qcAqhsZY2pkhI7kA/cuXeGlmifNO7Sgfg0r9OT7sYTPGWlsWraOE+/NqBPkh5OemKyPRZh6uCI5t4EtZ3MwsHHGr0NHXItvce3cUfbvv0hGrj7ejYMIbN6Rn9wk3Dt7muP7d3Ps2gsk1RrQqGET2nRtiretMRoSEVmPzrJn61Hul5jg6GqHgTSHD59kWNYOwM/TDmNN4RBcSvbdk6RduM39m+c4lX6DZ3n6uDesT60arngHheDraom+moxXF/Zw+Ngh9u0/T0aOMXVbNMLL3giVgkxePHzMe7Ehni060jrIqyyKSEpx3jvuHt/J3vNvUTaxx95UkZwXGTzKNaN2sxACfKpjoqkC769xYOdWtmw7xv0CM7yD29G9T2u8lC+xeu1THJq3JKB6AVeOHidt327Srr9B1TWAwKCWtG/bAFcr4aD/H0nrVzcLHQyyeHJuD9uP3KPI0AEXe0NkuR/4JLXAp6EfntVN0fyBfmglL86z/3Aah/ce4OKDT2i7NyIwuAUdWrshe3CO9CP72X/iBi9KrPFt1JDGbTvjSzqrf7+NhosDWmJlHBo2pr6XPYbKn7l3XNhr+9mbdp3nJVb4BvnTpN0vNPGpjqlmidyePLlzL+ffgJGdPWbKebzKeESOsQ/BIUHUcjRBq0LnZ/Mg/QQXb97hpqBbrj0hR9cVv/q1cXfzoWETP9xsDFEvecml/Uc4dmgvhy7c55O2B4GBQTTv+BNuik+4cvYYB3ancvVJMRa+gfg3bUenpj5UN9OkJO8990/tZt+5V2Boi72ZCnmvHvLosxFejUMIrOOIqZZQOFN+SkVJwSeeXtjHjiN3EOnZ42JvhELeRz5JzfBs4IeXQ6ntLDhnMk6f5MLNO9wSxn71Mdk6Lvj51aFmDW/8m/hRo5qRfOyXDx7l2IG9HLp4n8/6QnEhD+yMVBDnvOPF6xwUjD1p3KYZDTyrofvxGoePHuPgnoNcvJ+JlnsAAY1a0r5VfdwsNcnNSGffzqPcztXF1rk6RgpZPL33nBKbujQJCcTLzgjNf8M7U5HjeQl1v/q42VpgrGuArmI2j65e5RmOBLZqSaCPLQbCNw0JuU/S2b5qPUefaeHWoD7upgp8/liAvosjirf3svPkS1RMnfFr24GmvjWwVC8i+9klDmw/wq1cbexcqmOsJCIzS4KJhy++Pk4Yfb5B6tFjHNh7kIt3P6Du4k/D4J/o0ModleeXOX14H/tPXOdpoTm1A/xp0rYTTeo4Y6EjpbSq7QVU6vpRQ6gGLh//Zx5fu8pTaXUCWrUkyMcOA0Ffy5dfTP7bu6Tv38vJeyJ07VyobqyI6FMOmHtQz9cbR9MiHp5M5djBg6Rdz0THrRaeLlaVWgeJybp9gqPpN/mo54l/A3+Cf2qBv5cDJioi3t1L5+Ce49zL16GaiwMmSgV8+izDzNOXet5Opbz1Iyql7Nm/B09KKMjJJS9fRLFEhkxBGQ1dA3l7BSVpEXm5IgoKCygukaGgoo6GmgZaupqoKMoozv1Edm4hYqkMBSVV1DV1MNBRl1dAlIpF5ObkUyTK5t3HQtQMjTHS1UZLRws15UqNa4XeoXmfySsSDKH3ZJdoYmhqgK6OLtrlRpJ8MhKK8vMpFJdQXFhIcYkUmZBsK8Qdq6ihqV3aS1QwOgty8hEVFlBYLAFlNTTVVVEUGv1KxIjFMpTUtNDR0ZTHK1fobZnwXA4isZj8Dx/IVdXHSFsdNS1ddDRVK/qU/siayIrzyM4VUVQkRiKVIUMBZQ09DPW1UK1CgyUUfM4mR1REiURI8lVAQUkJZWV1tPV10RCg/bsHIhgruYhVNNFUq9z65lvwmUtusTI62kJs/Hf8B0E+PudRKBYjLpHIY8SF6p1KSipo6urJy7B/z89891S+caPQ+icnN5+CYgkylFDT1EZHTws1xIjyCygoEFEklqKgrIa6ugZaOpooFueTLyqgoFCMRHhGQ700dl0oGCEWI1NUQ1NHGw1VZRRlRXx+eZ/bjz6hZFINBzsrDLUEeRL6opb9TkERJVJQUlNHXUMLbVUporw88guKEZZPKHqjrauHlhqIRfkUFBRQIMgAyqipq6OhrfPlXUnFFOTlkl8oIvvdRwpV9DE00kVbWwdt9UrrJylCJBLi8YspLCyWy5MwRzU1FVTUNNH6ugiRTEJRXg55RcWIMj+QLdZA31gfXV1hn0FxXi65+QWISweMhrYuulpqKIhF5AvjFWSx0hx1NIWmxN8hI3+1uCUF5OYJ6yP8T+HdaaAuNwiEpuFiSqSKqGrqoP3V3pOKC8jLzadQJLSEKEBZ1xBDPR20dbTKnhf+YTl4fiQgcTxdhRYWBe/5mK+MlrYG6lq66OloyJP0q8xAVkJBbg4FxWLyMj+Sp6SDvrY6Glq6aGupyUPhy+VN0C1SlFDV1EZXVws1BTEFcnkroEiYkCBvahpo6miW6TsJxSIRhcXiCv0lVVRGTU2tVH9pCTJYehhXkCeSy22hWIJMQRV1uYxooSorlP++qNJaqKlroaOlVqafBMMll1xRMcX5WfIWEtr62mgI9wh692u9IchEfrlMfORzsRq6xvroyWWiUhErSXGZrBVRVFhMSbmsqaqgov5F1mTC2gj7SlSIWCJFUUUdNXVNtLVVkRWW7sUvcq+GupaO3DstksuX8IwMJVX10orNlOprYY+oCntKQxGxSIRIVCD/BsgUVEr3jpYWGooliPLzyBfei0xRfr+OrhaqCsXk5UpQ1dJATVFCQb7wXkvXR/iWqalroK2lgUrl79E/VUYyMYV5IvkcKo9LU75ewh4V5l22d1TVURPGpqmGspKCvI+n0E7lhU8Y4d39cTYo5MPHfBQ1tNDQ1EJXt0wHVRVSSgrzyBUVUZyXRVaeIpp62mgIv6ujWWkPlE1Evsa55BcVkZ+ZyediFXSMDNDTK11j4ZtZ+nktRlRQSHFxEUVFxf8fe+cdV9Wxvf3voffekSpVQLqCIBbE3mPsXWM3drH33mKL0dg1mthrjC2xY++KFRAEbPQOp72ffUBFYxI1eq/3/Z397zmz98wza9asZ9aatRT7jkKfCHMsyLF2+T3wZajtI7yHjCj1YBalkZavgraOtkKfGQiZt8vhKpcWk5+TTWbac9KyCkHXFEtzE4wMdVApziNDyESuqYOBkQEasmKKBFkR9LNMhJpWqV7V1YASQY4KCimWSJGrCGtDGx09HTQVMgNyYRy5eRQV55OZlk2xDqhRxAAAIABJREFUuj4mxoYYGuqhpV5GyAUKX1JIQVExJcXFFJeIkcpVUNPQQENDA01tnVLdL9zjLspTzGGBoGPlKqhraZWOSyZFLMihYIPo6Sn21tdbuFzRLq+gmOK8TDLzQVvYT3R00dfTVSRAU6AuYJKXR15+kUJu1YV1KugSFTH5eRLUtLXQVJNRJMht2ZiFBHPCmhL0WHl8P1RsX/9fjrSkgLy8IorzM0nPLkZNzxgjI0MM9f7l2hDmQ1JEvmLdldpsKoJMaeugWzqZFBYUUFgiUWCroamJtq4+2ipFvEi4R/xzMbpWDjjaWWCgMM5llBTkU/CONgr8FQIgoSgvjwJB3jNLS5Do6+mgo6uHnq4WGuUSswgHOSWCni0uUchBiViKoJMFGdDQ0ERbR5hrwSstKZ0D4b8lEmSC7tEs08mIKS4S9FJxmf4SxqeLno5mWRIYQRbyS2UhP5PMPHmpvOjqolcmC28a+m/OR0Z2Maq6pfNhoF9+zkv7LqzV4pd9F6mhoVnWd+1SParou4CXYu+RIFNRR1NDAzVVkAv2jhSFntYVdKS64HUtKpX3gkLEEhnC3T6FvAnYCY0EuyMvn7ysDDKy8pBqGWJkoIeenh66OmV21McLY7mWL0Ntr2PZsT+dGwZgVSLoOznq2troCvaQ3pv6TrH288p0TGYBcm1jzM1MMTbSRVVcQFZmLhJ1bfSNDNErW69yWQmFgv1YlE9WRjZFKjoYGRthJOgLDXVUpC/xKFLYuMK+rtjTBPmVFJViWywp3Xc0NdHS0VPwDTUVSRnxvIJZ2350bhyEtaSs/4Id+o7+KwYvl1As7GWF+WSnZ1Ig00LfRNiT9dEV3iu9xZbpqzmdbkZgw3qECYdpeqXRfS8fmTiP7BfPSIm/zu97jpLl2Z5ObRvgb62CXFI6fwX52QqdK9PSx1ghW4Je+nt+8CHT+h7E80Ne9xH/FRS0kBRFVe0fyJscmaRUAakKKdv/hU37Eb0s16S0HzJFKvUPIXj/7qvK1l8wAjIJJYpDDPVScvAfkU05UkEOUSlN6f/Jvll+nQklBT7Zi/+zEyiXIhGYcLm08q878Jp41pg5nR5CHU9VqcKIVaTG/8chl9MBQgmUf/z/f3bo7/M1uUxIECCM933mWBivFKlchKpQOuV/ccDvA8oX9p9XxDNgNON7R+JlqYpUkUBMKFnyz6UsBMNRSALx3nMsLV0D/36OXxLPRCqPHM83Qh1PtZfr6+/lR5BLYd3KVVRRK7cWhfIuwkL7ZEtNLkMqLT0cUvuP6ew/C9irOVJ5WZLoCxPC8paPIE+lAvVft33kUqF8j1xxkK2Yvw+GTTi4EuZfhIqwnj78BR/8xX9q8FIWhHJZ73Noq/j/FzIfb4/tZd/kIhXFOv70W8Zr4mndVSinEoqDhpCY9J/1XWnfytZ+uf3sb3XMK33xqeyt18TTvNNQ+rQKw/E9+1+KddmejKis9FOpAMtzYti4OQEzjyDCQiuir3DuvC3ccuQyGRJxIanH1rLnmRshNWpRxbHcvZKy8coFnvMZbJz/PvH8p9Wo/F2JgBIBJQKfFAEx99cNYsiP6UTMmEYPoY7nZw35/qSdV77s/wgCkgc/M3r4ch6XEc8363h+ySBIiPt5NNHLH70inm+UU/mSu67smxIBJQL/AwhIeLR7BpN/uIFVl6EK4un42cr9fA44JCTunc2UZVcw7ziE3q3CcPoE/ZelHmHXRS2cvfzxc/nnmpqSlKPsvqCBq5c/vm76n2Og73ynknj+x6BWfkiJgBKB/zoCJXmkP0/kxPIJLNr/Ao+eo+nTJARPW8M3Q/z/6x1VduD/LgJi8tNfkHRqNTMW7eGxQ3uG9m1BeOUKGAohzl+Ad+Yv50acT8aLJE6vns7SPYnYtR1Kr5YR+NgZof3y7tz/3YlVjlyJgBKBf4uAEBabnsy5TQv4Yfst9Ov34Zu29QhyMkZHozRR6Rf9SArISkvm3OaFLN92A926vejZvgHBjsboav67/kse/c4fSUL22Uq4W79H9tniW/xxKp8KDm64uRr/x2BTEs//GNTKDykRUCLw30ZA8uAw6/ef58GjJ2QXSlHXM8LIJohm7eviY234p9pY/+3+Kr//fxABSRzHNh3gXGwcqdkFSNR0MTS0IaBJG+r42WHyCU7GPxeqkvhj/HLgLLcfppBdIEFN1xBD6wAatY7Cz8H0I7Kuf66eKt+rRECJwP8iAtLEGHYfOsXlu8lk55egoq2PoZUvUc3rEOz+qTLqfz5kpEln2XPoFJfuPH6j/5HNIqniYVNW9eDjvi+XFFIkUUVNXaip+R7vkAs5QOSoCtfEPknSp/f4ppCVRq4IbFY+SgSUCCgR+P8fAXlJATlCsg5ZObWnovHnpGb//0OhHOGXioCQUVhIkCUkj3rVRxU0dN9OUvPlDUAuJA3ML00E9brrGuiWJfj54r0RXx6kyh4pEVAiUA4BIUldfkERxUIOh5ePijo6ujpoCkm/vnC03tl/kTraQjKk/4H+fwp4lcTzU6CofIcSASUCSgSUCCgRUCKgRECJgBIBJQJKBJQI/CUCSuKpFA4lAkoElAgoEVAioERAiYASASUCSgSUCCgR+KwIKInnZ4VX+XIlAkoElAgoEVAioERAiYASASUCSgSUCCgRUBJPpQwoEVAioERAiYASASUCSgSUCCgRUCKgRECJwGdFQEk8Pyu8ypcrEVAioERAiYASASUCSgSUCCgRUCKgRECJgJJ4fqkyUPyYM7/dxTA8FDdTvS+vzIPsCed+vYF2YAgeVoZofumpxD7BPBcnn+XwXT2qVnHD3EDzg+tFyZ6c5+BNLXyruGNtpPX5sq8Vp3Du8F10g4NwtTT8FyUMZKSdWMOuvDCahLtiZaj2cSjKnnLx4E00fIJwszFG+33SfH/cl5StlAgoEVAioERAiYASASUCSgS+UASUxPNLnJiSxxxZ8QtPfJrTsKozptqqH0xyPv+wJOTe3cvybVmEdmhJkKMRWl8a+ZSlcXn3Ts7GZ1AgKYeISISGvgU2Ds54VPbD3doATbW/T/QvTj7K6i0puDeqT1UXC3T+4f/vxF+Sy/39K9iREUzrZlVwMtX+9OSzJJk/1mwl2bU+dUPcsNT9NwWJpcRvHsmSjCYMbBOKs7nmR4qVhNz7B1i9PQ2/Vk2p6mKG9ueWFVka987fJDEjH/GfCkbJEYpIqahroWtsi7OrE9ZG2qh97j59JHrKZkoElAj8jyMgKyQt4TZXrqZhHBhIJQdzdJX65n98UpXdVyKgROBjEFASz49B7bO2KSD2p1lsKYqkU/OqOJlqofqFFj+TS3KJ++17Vt/1olOX2rhb6PJFObOkD9k8ZAgrT6cit7LHQk8TdRURSAvJTk8jM1eMyMCRai260a1dDVxNtHknn8yPZcu8reRXb0vjEFfMdT72IECOJC+OIz+sIda9PR1qe2Cl95FexHfKYAF3f5nPttxqtGoSipulzr+UHSlxG4eyML0pQ9qH4Wyh9dGSL5fkEX94BetiXfi6fW0q2ejzKUf+p47JnnPrxAViH1zn5G9/cDOlGMvQJtQOcMBMRxWBeUqLc3gWd5ULNzIxDmxCx86N8LM1+D/hvf/oiVQ2VCKgROC9EJDkJHPn6gUunL/Ilau3eZicgapna4YOaUd1D3M0v9B9/b0Gp/yTEgElAkoEPhIBJfH8SOA+V7Pi+78waWkKNft3IsLVHG2BKH3BjzT/AbtmLiax2gC61HTFTOcLOsaV3md93758f6qQqtHz6FPTGTMFd5IjlZaQE3eGXet/4sDNHCzrDWPywHp4WOi8RZ5LeLhlMsuTQ+nevhbuVrr/mszlP9jFvO8fEdSrMzU9LD7ZyXfJw21MW5ZE1e7tqOlpje6/PrH4dMRTQF2aH8feed+TENCd9rU8sdL7nMcUUkoKiykRp3NkRj8W/JZHyOi59K3jjqXCNS94PWVISnJJ+mMF81aeIt3xa0aObkeIo7HSKPyCdY6ya0oEvmQEJFkPOb1rM1v2nSI2JQeZjgk2Tl74VQ2nRs2q+DhZoKfxsYeXX/LIlX1TIqBEQInAPyOgJJ7/jNF/7h/yNI5MG84h634M/tofW0P1LzDE9m04pGQen0/0Vh3aj+xAqMMXZLS/Ip4l1JyxmuH1XbHQfk3kZeIC8lLPsmLMFLbdNaDJtIX0q+WMqdbr/8jTjjIn+iCmPfrzVbAjxuqf4CBAmsnJ70axXaM1gzqE4Wyq9e/nWZ7GH7NHc9CkK31bBeNoovHv38mnJZ4gJfPUYsZtVaPFwLaEu5r/i/un77ssszkyqSvTd+cTPnUxA6ME4ll+DuVI8+PZPnEQ3/+RgUevBYxtG4SD0Wf1x75v55X/UyKgROB/CAF51nW2LFjEzltS7INqUKN6IB52ZhjoaqOlrYOOtiZqqqJPoJv/h0BRdlWJgBIBJQLlEFASzy9IHKSPthIdfQHf0cNo4WPNZ3UIfcJxy/MusmTgEvJbjeeb2i6YlSN3n/AzH/6qfyCeihfKCon7aST9Fp9CvfEcFg+sgZPpy8RBUpK2j2LsuUoMGtQSPzvDTxQeKif/0lKGLsmh8aieRHpYovMv+aw0aSfjx57FbeBAWgTY87F5gN4E+VMTT5DnX2b50O/JajCMblGeWH32i07liOe0xQxUeDzfBruYGysGEL3yDDnBo/lhbHN8KugrjcMPX3HKFkoE/u8iIM/l8rpprLpiQPVWLajp64CJrhaaaqqI/qV+/78LqnLkSgSUCPz/hoCSeH4xMyolftMghsf4MWFsG3xs9L+s+5J/h5M8n7Nze7EotyWTBzbAzULnyzDa34d4AnkHJ9Bu0m6yq05g5ZiGiruRCjtBGs+WoSOIqRTNsDYB2H9CL5g87ywL+y0iq/F4+jb6twRMSsKWEYw+7c6Q4W0IdDD6RAT50xNP5PmcXziAJen1iO7XGC8bvU+fYOkNWX0f4lnI+YW9GLfhIvLImSweWh9Pa+0vQ4a/GP2k7IgSASUCf4eALOME3887g0GNxtSL8MLyi0wKqJxDJQJKBJQI/HcR+ADiKSMn8Saxj7MolvwpTeTrUagY4xzoiY2uRilxkheQevMCF28m8CK3BDVjB/zCqlPJWhcN4Q/SF9y//IDnBSVIX75FpIuNlzfmefe5l5xFUbnvqRg7E+CmQcrN+Lfa6JS1efDuNp626Co+WPrIijJJTUrheWYOhcViJLJyYxKpYuwcgIdNWR8/Zo4KHnP5eAx3883xrxGKq5k2ZN7jQsxVEvK0cPAPJ7iiKVovQzdlKewY+g37K4xmco8Q7Iz/IsxWlkPChdNcepCBilVlQqp5YKUr58WN05yLTUPF3IPAKsL9OY0Pv4tYmMLlE2e4m6GHZ43qeFnrv5FoRZyZyKM8QypYGaCtXv4up5zMA+PovkGbXtP7UMvZ7D8QQvkek/JexDOfy4v7MmLNNUw7/MC8nlVwMFYvlZGUnYzusxeLIRPoGu6Eqcafj62LUq5yKiaWdB13wqt7Y22gVe7AQExmYiL5+jZYGOmg8QZkmRya2JON6l2Z0LsOrhaviU5hyhVOxdwhx7gy4SHuWOiJyHpwkfNX48nWsMe3WhAVzcq9T5bK7lH92G82gNHdI3A2+4swW1kuiZdjuHTvBXILb6qGeGJjICLt1hnO336B3NSVgGBPxRhKkyz9DfEsSuXaqRjuvNDGNTwcb1tDtMpd2RRnJpGYp4+NpSE6bw6crENT6LNBRLuxvajracXndZD/M/EsSTrI3FGz2B1nQ7upk+hSwwXTcvWB5IVPuXv5MjfjnpJVKMLQzoeqYd5UMCxNRiXLiOPKrYekPk0jO88Az/rVcVHPIOHWDe6mlKBfwRUfH09sjLV4Y9mUibA0J5nbl89z5W4yWfmg7+BPeI1AnM103/F/GcXZz0hOfkpGTj5FYimycrpLpGKEQ2VXDPMTiUtKI69Y9jcLRYSmuQtejuq8uJ/Ak5xCXqlakTaW7p5YlCTzKCWN3HLvUTF0wMfdFkOdMjmT5pB8+woXL98hOSMfuYEjfuERBFY0R/cda0aa84jLJ09zNS6dYtQxcvKnWqgvDmY6qJNP6p27JKXlUVxeJ789CpEm5hW9cFBP42HiE7ILxLzU4CJtK1w9LJCkPCIlLbfce1QwsPfBrYLRO/v19xpFSkb8LeKeZFHw5zTJf24qMsTexw1bY92yUlhScpNjuXrhMneSM8iX6WPvF0b1IBfM9TT+fPgiKyb7eQqpT9LJzi9CLJXyGg4RKoZ2+LjokhWfRGpW+czNIkSqGugZm2FpZY2FsS7qb931luelcPdeEmm5xfy1dKhgYOeNq50xeoo5lFP07D7Xr9zgQWomBehj4xVMiI8DprrCXiUlI+E2ccJvr/ARoW3pipuFlKeJKaTlFJXb4w2x83ZGJyeJ5NQM8t+7jSsVTMqVF5MVk/M8VbH2svLegZOBHd5uFTDW03iPDeOv/yLLTeXOtYtciU0kPVeOnp0PIdWDcLV6nYys8MIqfrjlQM3IqrioxnHx3A3iXxSAjhn2ngEEedljosCq1C56ev8+ic+zKZK+aU+JNMxw9nTGykjn3cnuXnZTXsiLBze4euM+KekFoG+DR1AIPo5mijmTZTwiNj6VjLyS12tDxwpXdwcsDFXIiLvLI0GehUUv0sXa3R07vQIeP0zkeVbh67l6BywiDVMcPZyxFuRLMSAZeal3uH7xCrFJaeRKdangE0JYkDvWhpql8i3LIik2jpT0XEpeDblUXnWNTF/Jq8a/Si8uIzPxDvEpaeS9+ogghy64O1hhqJpB/N1HPMnMR0h0L9K1xtXNHktDIcN8MWn3LnL20n2eZhch17XFOzSEysKd3HJXbErSEriXkEpmvqBzROhau+Fqb4kBL3h4P5FnmQWvsBOpGmLn4YKtmR7FKfeIS35OdpEMROoY27vjbGtatr5KSIu/x6Mn5dfCn4FXMbDF3cUOc4Oy6zmyPJ7eu86ly7dJfJ6LVNeWSlXDCfKwwaiszIAsM4m78cmk5b6WgzffLELD1AE3J1tM9MrkU/HeG1y+fItHr94bRpCH7av3ftyCkpGVdJf4lBfkFr/S2GiZO+FiqUpmagpPM17jh0gfGw8HSI2jQEMLSeZTHiWkkFUkQVwiQd3QBlf/YHwrWmP4L8oqyLIecy8+mRc5xeX2EQucXR2wMlEj69EDElPSyRP0lEgHSxdX7K2MUeQpzH9K3MMknpab93fMHHo27lS0s8BIYfAUk/7gCucv3SUlsxC5jjWeVari62qNwTuvc8nIS77JhbOXuJuai0SQK68gggPcsHm5vl5ym7wUbp0/y6U7qeRKVDG0q0RglQDcbN8qeyjL49mDm1y5fJuEZ9lIdKzxCA4j2NMO47KyA7LsFB4kPOZZVtErXITwDRV1HQxNLLGytsBEX+uDKwJ8APGEwudxPHh4jf1rjqHboi3h9sZoi4pIOPA9y36NxzCsE62jqhIiGMva6qgUJnJszSK2p3rRqm1dvK1EPD+/iWW7cwnt2Y8WgUIClFxS793nxsHVLNtzE3mlFrRvFE7Var5YilOJv3eOHcvWcSLFmGqd2lAnNJSqrtpkxT/k5qHVfL/7FjL3JrRtVJ3QcD+sJE9IuH+BHcvWcjzZ6HUbdwt01FXIizvBjp+2cirNmuCwANztzNHXVkOcdJjVyw/yyLg67VrXJiS0Kq4WOu80FP9xwckzubR1L89cAtA48T0/Z9akR3UZd59q41LZDye1W/yy4hgGzb+lXbg9hoKRm3+CGR3mkt12PsObCplT35GkR/yEs7sPk2ziS7CHPgnblrBHtTGtbROJ065MVcdcjv24lhtO3zCucwjWRh+w2YqTObH9JCUeQZhc+5GldyszYFALfF9mH5U94cCUYazKqMPkMV9TyepNj6z47ir6DzqLz8SJdKpizyd0Dv4j3H/5h38kniU8i1nNlClrOJXlw8CFU2gTaPtq4RecmkW3uek0nzGUJpWs0XtrSsQpJ9l9qoiK/ibcWv09dyv1pV8LfyoYlhHXJweYFb2KF9XHMby1L7aG5ZPpSLi3ZgAjzngwYlxnQpxMEFrJsy6za99T7L3VObtmK2lV2xOqkki6lgOVfCuieXcba49pEdWrHdVdTEvLkhScZm63ebxoMoXBzbyx0X+X7Dzlwr6jJBl4EuBuxOM9y9knq01T26cka3vi71hIzNoNXLXtyIiOYTgosjD9BfEUp3B692kKnHwxub2eH++40b1fCwLtjEqNENlTDs0axeqn1Rg5ojX+dkZveO8l99YzePhpXIaNolOYM6af4t7sXwrB3xHPQp5cPczPP67l9xQzIjr1pX1dH2wNNHiZ06so+Qy/LN9GfIUomkYFYq+ZybUdK9n3wouWXVsQ6myCeupFfj16nD/2H+JKsjVR3UOwNLCnkqcH9vpFxJ3czvbzENy2M82qOmH8aoOUknlrPxu2XEMzsB61gpwxUc0l/tQOdpyVENimI/UD7DAUDH95Pokx+9i67RgphpUIDPDCyVIgUGJSj29i3W93UfVrTouo6oSFOJO1ZxrLzqvjWS0cv4rGiK/vYNWuS0i829KhvjcWomdc+20nZzQaM7Z3dUyKn3Pr6EZW7blMToU6tGxYk/BwX2xUMkl+cIE9q3/ijweqVG7ZkqgaEYS4W2OgrYYs4za/bdjKNQ0/ImsFU9FMldy40+zecY4S/1a0byhECrwMXZeT++AQ61cdJsM5koZR/jjoyci4f4Yjl8T4NKhHsEM6eyYt4pyqO1XDAqloKubWzlXsvliMZ+sO1PexQvTsOod3nUK94Qh6RFgheXGboz+tYt/FLKxqNad+7ZpU97NFNTOZ+Et7WLvxd+6reNOsZV0iIqrhbmOA9geXQ5KR9zSB+NtH2LRqL5fzKtK8S0tC3a3Q01JHjQIeHV7Lqn3XkXo0pVndGlSv5oGNcDghyyT2t43suKKKd+1aBLuao5YXT8yuXZwt8qF5+4YEOZXejZcXJHLh1+1s/z0JXXd//L0FAqKLuvQpp39ez8FbcryaNKdOjeqEuhlQ9DSJO3/8zOrd58lyaEbXVmG4mqsqSMCZw2d4alyFpu2aEOxk8rqEUVEGjxPiuH7wZ05Jg6kZUgl7EzWKHx9n85r9XBe70ah5PWrUCMXdxggd9WJSz21nzbZ7mIY3ILKqC3q5N9i3dj8pjvVp2zICdwstCp89Iv72UX5evYeL6ZZUb96A2jXC8bVVJzsljkt717H56B2o1JSmdWsSUc0Nw5LnJN0+yi+r93IhzYzwpg2oVSsCvwrq5KQmcHnfWjYfiUXu2YSmdWsRIWAqELLCJC7+toMdRx+h5eKHf+WKCpw0pE+J2bqRgzckuDdsRlStCELdbTDUKdXJH/7IyLpziF+2X0bqHkGNEHcsNYS1uJfdMXm4N25DwxAXTLWkJO5ew2l9V3QTL3A5QRPvyDpUq2SFZmES5/f+ynUqEdU0En97IzSk99kx7XtOFdjiH14FDwsZsfvWs/dcNg4tetGzTU08zHX+OnKlOJWLO9ay444BwXWjFLKQd3s/P+1LwjqyDS1rVcJcnk5i/G3++GUt+86lYxHRhHp1ahHu64i5PqT8uoiZa47zxNCf2lFRRNYMxCHnEAt/OEW+jT/VqrhjLrvLbxv3cDbLkcZtGhBgr0H6zd/Zf0pGWN9uNA11xZgs7h35hZ0XxFQMr0GIpzUaBYmc37+bs9ku1GvdiFDFff580h4lEHtsC+t3n+W5dX06toqgkpU6+U/ucfb3GFJ1KlO/TVNCXS0URv2HPzLynyeREPs7W9ft5dxzM8Ia1yeydjiVnSwxEKVwcPFM1v6ejL5fbSKjoqgR5IKVfjH3Dv/KlRxjXHx8cDJXJfPaXjbtvINeRFvaNgjE3qD03r8k6xG3Lsfw+/4DnLhehE/PYfRsWhUnjRxSEx5w6def2HLkNhL3ejSoG0nNqu7YmuhQeGUjcxfv4GqRPaGRdYiKDMfL3hRdhWiKyX2aSML1I2w/mY9zYBC+bhZoFD3m1LZNHLiYg0NUE+rWqUWoZwVM9TSQZ93nj207uVhoT9WIanjZaFHw+AK/7Ykh0yGSlo3DcbfUhvwXJCXEcnzrevbFPMeqXjua1aiMrbaEgvQELh/aT4w0hO7dWhLhaQZZ9zm2bScXCuypWuPley9ycO8ZMuxq06JJdTwsP7YUnIz8F495FPsH2zfs5cxjPQLr1yMqqgZ+9joUPX/ElQOb2HLoKvkOUTSqF0XNMAee7F3AptM5ONT+msY1vLDRV4fiDO4f38rmA3dQDfia7q1r42Wj+1ERVPL8NJISbnN8+0b2nU7FoGp96tWtQ3VfZyyNVHh6ZDnzVx8iTtOLGnXqEVUrEFebshKCxVmkJiZw8+gOTuc54RcUgIeVBiVPzrF70z7OpVlRo1F9oiLD8LA3Q189j/t/HORyug4O3pVxsdQg6+YBtuy6gVrwV7RpHIJzeQNankfi6R1sPhCPbuVaRIVXwkw1h4RLJ7iSZU1wRBi+jsI1MDn5iWfY+dMB4nV8qFkvHE9hP350mROXMrEOjqCav6PiGpYs+yEnd+7iXLYVARHhVK6gTVHyZQ7vP8Nzy3CaNq2Jt7UOooJ0kh/d4cSOn9h7MhHDGq1pUUewgwp5/vA8J2ISUXGtTYvmEXh9QJTmBxFPuVSCWJzN0SXrUGvTiVArY7REMjL3RNNu5g38Rn/P8ChnLAw0UJVncXbJCGYcM6L9hEE09BYMeqGSRSqHZw9hWWIYo2f2oIqVLioSMXkXF9Nr6M+otlnBzI7e2JhqoSaXIhY/Y290R+bd8GX49yOIqmiFgXCaV9am99CfUWm9nBkdvbE101a0KXlxkvn9xrD9RVVGLx9JXRehjSoiyS3WDBzF+ttWtJs5kmY+thhpqimMTHn2ASa0ncXNwGgWDI6kopWccBI/AAAgAElEQVSB4qT4Y65myJ4cYP3vZtSp70nhnqH0X5uIQ9NvGdQulIqWRmiJcjn7XT/mPAxj9KROBNoYoBK/kYHfHMBh7Cx6hdtj/CdPgZi4vRu4ZFqd6t4OWOqrkf/7NLrPu4hOaDdGfBOFQ9xyek/Yg7TBNBb2DsPmvYmnjCeHNnBcN4yafhVI/6kfQ3aZ0ntJNA1dzRX3D+VZR5jaaTLnPYezaGQ9Kpq9FYqYtZ+x7VZCz7kMbiAQ53+oixn/O5v2XiI5q7DcSf77bDMiUDMjsGUbarqZlSntv2j3kniezKVS18G0DLDBUODi0iKynz/h0e0YTpy6SkKhLfUHjKVfc39sDNTLFJeUhE2DGbDfmsHTehHhbPZmplPZE45uPI52SASV7TPZMnAIuw16MHdkEzysdBEhJ/vINHpMPUvFbxcwtKE7lm9hkvXrOLqulNJhxiAaeVqhI5Lx7NBGjhlGUKuShMOjv2XdAwui+gyibYS7wmMmyjvPskHzuOs/iOjOoTgaayBN+Jlh/fZj8e0kxR1b8z/l6ReT8OvPXDIMJsTLCRtDdQqOz6bPgrOo+Hdk6Df1qJi0loGTd1JQcxxzetfEyUyo2fku4inj6dHNnNAMIszXnuytQxixU5dOc4bTxMsGPcVa+oNZPaYS49CXWcMbKaIb3pCGrN+Y1HUVJW0mMaCJNzZCo8/2lBHPXalYRDUn3MUCRQUboaTO0zhuXU+g0MKPqJYtqVfVHSsDzVekU551idWTZnNEVI/+fZpTxcUUTZGUoqfH+X7sMu6592Jk95q4mEBBQS7X14xk8k93MPlqNCPaV8dDqA+rKqckL5lTK6azPEadOoNH0i7UEWNNyL+zjTkzDyCN7EnnhkE4m2qiJpJRkp/OjS2zWXLOlJYDu1PHywqNB5sZN3ENlzQbMHJIK6oIGa/VVFERycn9fTZ95pzDttskBjb2w8FYxOXlc7nlXp9a/kL0iSol55fy7eRdyBtNZ3T7YBwNZRQ+2Mm8vZp06VCHihX0Kbi2muFjN5JVfSLjuobjYaONKjKk4hccmtGf72IsaD95KM0CnTHRVEVUcI8ds2dxQFKTbp0bEeRiipaaCFlJPuk3tjF/8VmMmvWjaz0frPVUET8+xOKpP3LDohX9utbH38kIDRUZGefXM2fRLnLCoxnWUoWja2NxiaqJf6UK6KqVcHHZt0zbIaHu1DG0r+qMoayAuJ3z2afxNa3reGFvUMSN1cOZsDGD0HFj6RxRCVsdNUQyMRnnVzBm8ibuO/Zg2tAWij5qqqp81J07uVSMuOAG60aM56f0aowb343qHhaoqQj7hIysI7MZOPcURm3GMahFFVzMNFEVFfJgx1zm/lpEtc6daBTihpmW0LcSCtJvsmP+Us7qN6RXtwZUttUibuskpq8+g6jWUAa0DsPDShs1VRVU5Lkcnz+ABadNaD12EE2DKmKiqYKwJxfc2si4cWtJ8RvB2F6ReFmpI5MUk317G3Pn7CTJpTNj+jeicoWysHYhm7Owf57ewI6iqlQPdMPJWBV59u/MHzifE3otGT3kK6q6maGpKiLn2kbmzDtAQbXu9PgqHA8LbVRkRbw4/SPTlt/Aqs0guglzrClV4LNx9EQ2PAlg+Ohu1Kpsh45g6EglpB2Zy7AFJ9FvOZpvvwrFzVwDFaEvijaT2PjEj6GjulHb115RJ1kmyeDSyvFM33gL605TGNxKaKOJqoqUh9unMnPVSaTVB9G/bQSVrF/ilMfJhYNYcFKfFiMH0jzEDVNNYZ18jI6RU3B/D4vm7SM3sC3tmoUpxq4urNGCDGJ3LeKHUxrU6t6FhkE2JG1dz4mHp/n9njn1OnWiWXVPxQG8Yq4zYtm39AfOqNWkU+dGBFo/4Kfvb2JdJYQAXwf01SVcXTWCmVuzCYkeRdeoylj/1YGcPIcbm+eycF82/p2606qWN5baKsiKX3B29XR+vGJG8/7dqO9rg6a0gFs/TWDapmf4DRpCp0g/KmiroSpO4djqNcRIPageWQ1vO1P0dDTh+gaWX7MkICQIfyd91MTXWDdqBlszqjB0RBdqeZkhL0zg16W/IotsSK0qTuQeWMzCvZn4tGpP04hKWL4cc2Ys+5b8wClRdTp2aUIVJwOQiCm88wtTJq3hoUtfRvZuSEAFTYW85tzdxaIF27lv3YphfZtRxdnw40iEYKcW3OKXSdPYlOJD3yFdiAqwU+hLceox1q89g9glnJrhlbE31UNbUx1SDrF4wR6SrOrSrUMUPhV0kRU95+zqmSw/pUrNfn1oFeaKseDhkkkoKSqkICuJi3u2EFMSQKPmkQTY6yrGl3FiCWO+O4lGo4H0bVUdD1NBD+QSu2MVuxIM8KtZk2A3awzfuP8rV6wRSd5Fdh/Ix7WyD55upqjKcji9bBQLD4qp9e0g2tT2xkKwWYvj+e37Rex97kaTNi2oWdlasWbk4kIy7uxjxYoTSKq0pWPzalQ0FCERFxK7ZSoz1zzEufcwejQJwk5dWJclFCQeYuWvRYRE1qKaeyFHli1i7zM3Givea4WOmorivZl397NixXHEQW3o0CIMl4/0Lih4RGEs26bNYN1de7oO6UHT0IroCt+RZHLtp1nMWXsO7aYjGdi+DpWtpFxas4RLWt6E1amNj6XgEBIMDSnFuXfYPXc2G2M0iIoeSvtIL8w/5sBCLlVgdGfbDGZviMepa3+6NqmKg446apInnN64kdO5tgTXjsDP0Qx9HS3U1VTKohdkSBV8ZAe/Zjrh6euPt6Uq8twzrBy3kAO5ofT6tiN1/awU973lqUf5YfFuHhhE0KljfQIc9JEXveDCxvms+KOI4O69aVu7EqaKcUh4eno9S1aepESYz1Y18TLXQlWew81dP7BiSxz27XrRoVEQVpkxbFy0kpPFwbTu1IqaPuZoqcrJubGbFcu3EGfXlp6dGhFolsrRlUvYk2RPVOuvqONng666gH0hmfd+Y/XKY+R7N6f9VzVxN1ZBIi7gwe55zF55FZO239L76+o4acmQFOfy8MBylm25inbdAfRuXRMPk/eravFBxLPUNizgyPcb0Pu6LQHmRgpjPGffcFpOuUnVySsZEWmHkaYIyf2NDO63hITgiSwZUQdHk7JwC2GDPjSBTlNvEzppMf0jKihO9MXXl9Ct7zrUOm1kbicPzF+5l3LYP7IF068FM/7HaCLLZU0VX19K977rUOm4nrmdPbEQ2siecXrjL+zds54j2XWZvmokkY4mpaSh6ATTW41ke24Npq4dRR0nk9chofkHGddsEjdCp7B0aA3sjF+e0n+oRSzj+a8rOWTehCa+BtyY25Gxv1vRc/54Wla2QV9x0i7h7spv6L9ORJtl02nvbY3Gle/oOvwm4Qun0bGyDQZvLR551knWbimgerNwnCz1UBPJSds9ko6zblB5xGJGNHTFVPaEe/G56FnbYW2iozCI3uuRPGT7j5eo2KweXubpbB3Ul5VZDZg1pwfBZQl1is7Np9uIfZj0WMqEVpWwfNv9V3SaOe0n8qjeAsa388Ha4O8FUJYVx5Xr8bzIK/lA4ilEqRjiHBCAs+lb4atvD/Yl8TyRSIGmAboapYcMinIqcjV0DU2wqVSTlu2aEebjqAh5ex2VJubKom6MulGF6RM7E2D/ltcubgdrLjrRIMoLy8ztjBiwgvTI6UzrGYKjIlS3iAsLuzNmjz7tF0zg68q26L81p8Vn5tJ1Uhw1Zo2lnZ8dhqIXHFp7COOoevgY32Vpj/EcMWzPlDGtCXI0Kg27ktxj/YBvWV/UmNmTOxHgYITs8lJ6RV/Ff9oEOgU7KDbH8o88+wwbt+cSXC8UV1tDheyk7x9Pj9mXqNhvDsObemMpesqDhBy0LSpgbfIyPO8dxFMSz+41l7CrK5wuZrNrxLesel6DCdN6UM3ZVOHxLLq4mL6j9qDZZg5j2/hh94anV4gyieG7rlN4EDaF6A6BOLzd4fcS2vf900uPZw5VRs/imxoumAvJheQyxeFVcVEGD49vY/P+h2gHtaJbl9p4WuihhoT4beOIXnIdx34zGNzEF9uXiZBk2Ryf04c5FyryzdQB1KskHBqIubt2MMNWPiVk4jR61/LA4tXhkYyC2PWMHr6We07dmD76K/ysczg4dQSLrjnQZ/JA6vvY8jrIQU7Jo21MGLKO5yFDGNMjggoPltFr7CaSvIayMLrpaxIBFP4xk27Tz+LQZzqDGnljo1PAiTVbEEXUxd+5AoIDXHxhCX3GboNm8xjXIQgnYxUousba1XHUaRyBnYM54ti1DB22mqzaM5nYrRouZi8FKZffp/dg1mkbus8YRhM/O/REUlJ+ncGo765QodcE+jfypUK5RFHykkR2TBjGhidB9B/TnZquWlxfMZJpP2cQMmYSPWp5YqlQyjKeHZlD9NxDqDScxJiWYs78rkZYnQCc7QxQQcylpX2YsFVKw9njaV+1IsLeVnR9HeseBFA/whNHC7i7bhjRq9IInzaJruFumAtkJ+0iu3fuYdf6QzwLGMTMEc0JsNf7qMPEV9ImvsPGYSNZ/SKcyRO7E+5h/sqbn/fHLPrMPIlZp8kMaRGIg74K0pTfmDtqIZesujJqYBPF919pRnkJSTunEL32Mb59R9Et0onElf2ZtPE+zv3mM7xlEI6v9GghJ+d+w6xTFnSaOJimAfbolql3yf3NjBqxguSAUYzrLRDP0hBoafIuJg1axEmDr5kxth2hLiZvGPKFZzazWxZMNd+KOAjfyTvGvD6zOGHUnvHDWhLkpI+K5BF7p43l+/OmdBg/mOZVnV/tTfKc0yweMocY07aMHNC0FFvJXTaNHM3qJ1UYO647NbwsX3nt8o7Nof+s4xi2nciQr4Jxejk2yT02R49idUoQo8b3oJaXFWrISL+8h717drDh4FO8+0xjaKsqZW2KFYcRU9bfxu6bOQz/OgRnw5eoFnJ6QV9mnzCizdjBNA92VByGfdQjS+XwvPEsOWtEmxH9aVbVuZwOl1PyeC+zRq8hwa07Q3rWQvLbVBZsPkJa5aFMHNiCKs7looLkJSTvncm4NXFU7DKMHjXyOHlITOWqfnhUNFLI+dWVQ5jyczbh40bTuWYlzP9iC5Uk7mfuhKXE6Ldi5KCvqeZqWCaDcnJjlhI9RyD3w+jbogqO+jIe/DyO8WufEDhiBF1qe2Ocfp0jB6+Sa+FFoL8n9mbClaJSkArO/MyeYh+C/T1xEfRyyVXWDp/M5oxqjBrVlVreFoqQ1NubN/PAtSqB5ilsn76IGL2vGNT/K0JdDF5Htwhj3jeHCWvu49hxCD0a+WGrLULycBuTxi7ngesAovs0wr9CqbzKUvYzM3oRR0T1GT+qMzW9Xq+tD54/yQO2TRjP2mRfBg3rRh1fUzKuH+XI1WxMPAPx93LATLgO9nINxe9ixsQVnBBFMSq6E7W8LBQepIzfvyP6uxNoNx/Ot1+H4fJKzgQzQkpxfjqPLp8kJkEN92ph+LmYI49ZwvA5x9BsPpQBX4dRUfSImIMniVe1xzfQD1drQ7TUy0jL2wMrucSuffm4+QjEU1iv+ZxZOox5B+XUGzqEtjU9MFKR8fSPpUxfdBw1gdy2icCt3B4rL0nht/kTWRdrTatvv6FxkD06IgkPt09h8vL7VOw3nJ5NgqjwMghA/JC922Ox9qmMxfO9zF90HNVGA+jTpgbu5d8rTuHggkmsvWXJVwO/oUmww8cnRZQ8ZOfUSfx4x5Few3vTpIod6sjIuH6Q3/ZuY8NvyTi2i2Zwh9p4msh49iCOIn1TzM3N3vSEC/pp5kR+OKZGg1FD6VjHS7E/fNwjIW7ndKatfojzN4MU5Nw88zYnjlwmTd8F/0AfHM310PyLaJmiS3s4lO+Im7cPnqYqUHCWH0fN49f8CPoP6UQd71L9K3m0n/lTl3O4KJwhw7tS31/Qd3IyTyxjwsIjSCP7M7BDJJ7GKsjzbrBl1lw2xFrTbnAfvgp3LrUTZGnErJrJ4u2pVOo5hO5NK5Gxew4L1t3Cqt1gerUKx1mxH8tIj1nN7IXbSfHswaCejXGIX8+cxUcR1+pFnw51qFTO/pKLn3B0yTTWXNGnYd9etKzmjK5IwqO9c5i27DKm7QfTp3U4TooEjTKeHlnIlIV7yAoZwvCeTQiwfj/W/+HEU57Fr8t3Yft1SyqZGirur7wkniGTVzJcQTxlxG/sxzfzL2Dfdz1TvxbqO77W/tK7q+nbfwMaXdcxs7075roqr4ln543M7fgu4lmFCT+OpHZ54nljKd37rEPUYT3zugjEU0zCgZ84o1mJgq3RrImvpmjzingKIbCrxjJpTRJeg6YytKkPFsLJuELjHmRc08ncCJ38r4lnTvwDsi0csdK4w8pug9im3ZnF09rgZfXS6Cjm3Oz2jPgFWixfTM9AWzRjptN2XBKNlk+mjYeVwlh848l9xP00I+xtDdBS3Jkr4tzcjkT/akGv7yfS3NMSXRWhPqUcFZUPPNGXPufBQynWDuZoPPqJQQNWkddwNtO7V8HOSIj5FxO7sg/friuh+cJZdPa3pSzq5HUXSy6xqPMIrofMZmrXAGz/6TRMODUUS5D+3T2uv9IeIhXUNDTKPA1/o2JeeTwzcO86jo7V7DARIkhVVNHUM8JQSHGvo4eBgd47NoJiTs9qz+SEKOaPb4d3hTdPX6UvHhAnscLOTJOkzYMZujqLyKnT6FbNqbTkivgOa/t9y/rCRsyc3pXgdyT8Kbm8hG+iL+M3ZRJdqjhiopJLQlwmZhWs0HywlgFDtyD/ag4T2vu/Jm/F51nUNZqfi+sxd14vQpxNkZ2eQ5eJ8dScN5Z2vnaU3xsV6OQl8TBNHxtrQ3QUdxeLuLiwB2P26tFh3ni+8hPIiXDiKkf0huy8g3hKXxAXL8GighmaSVsYMWQV6TUmMKlnOBVNBQNCIGCDGLo2m6jp0+gS6oTJ25VJSq6w7JvRXPYZx7huoTiZfs7SJf90x1NGSd4zLq6ewKxd8Zg2jmZM1whcjJ+yK3oQC4/r0uq7ibQJdMDo1ZqU8nDTcKLXF1B31kQ6VRVCZMXcWzeYYT+mETFzGt3DXDErP6yia6wYOJL1txzosWQ8LS2usmDQPIWRP39iOwIdBeOz3FN0gaV9xrI1pybjZvYiwjKFndOnsfqOLe1HDqJViFNpCO5fEM/Ys7HoubljbWKgOAx4J/GUpXP97COcPF0xMDH4G+KZx+/Tu79JPGUp7Js4iAXH9Gg9bwLtqjhj9MaeU8SlJf2ZsCWTamOm0yski63DJrI5yZsh84fS0LfCK+IkLUjn6Ys81AzMMVF9xNX7OlR0tcHEsFSe3kU8ZRnXOZdgjIerNSYGcHf9MKJXviBs2iS6hQshgkkc33kOiVUmB7/7hVj7Hkz9jxHPKQxtEYC9vpzUfVMZPv8omi1nMbZjKC4mb27MxZd+YPD4n3lRdQRTetfB9sUe5s1YyQ3TVgwa1JYwF+Oye/aviWfniYNp8nfE00JKetwlDm3axJHHRoS27UrLMCEKpfy35eQe/4VD2lWo6uWMncDO3kE85Ul7mDLiOw7L6zNlbEequZu9JhbSeHaMH8v65yFEj+1GDU8L1CT32DRy1N8QzxMYtZ3A4HcRz+RARo3vSS1vK2SPT7L3XBGmGUdYvvUWlh0FsvqSeMrJubmNBbNWctWwGQO+bUeEm+krnE5/15fZx/898ZSl/sbskfM5JGrIxDGdFWGIb8xe8VVWD5vE5uTKDJjYHbNzs5m77gKGrecxtksNPF4d3JSu6+Irqxg56Sceew9kYhcXJAUG2DnYYG4iHHK/L/GUkbx/OmMX7Ke41nhGdqlFJYvXvZIm7GLahDWk+A9jRPc6+FhRjngOo5l1Mgd/Ood6WCPqR/hjr6+BajnFU3DvMvfVbbGztcRUOBh6J/GUkXnrEol6tmjc2MC8pb8hiRpPdJfaeJXri2LMV9cwespGHnn2ZXzfJvjbaSOJ28akMeWIp42MjIQrHP1lM4fjtfFv2ZmvanhirQhN+cinPPEc0gK7p0fYfFaFqg3qExHgiL7gBS/3ark4n2eJj8lWN8baygx9VSkFuVk8O7mSKctOoNF4FEM7vMujI0dalEdKzCbWHsvFObI5NSQHmLn4BJrNB/NNmAbXt+0l2aE29aOq4Sl4zP/GISAc5uw8Isejsg+VXI0QCcRzSRnxHFZGPHnK0QXjWbg3n+rR0XSt54vlG1AVc2P9OGasv49Tj9H0aSF47qTEbZ/CpBX3qdj3LeJJHg9uPELTTMStzYv4YW8e4SNH0rW+35/ee3PDeGasv4tDt9H0aRmC48em4y8jnitjHeg5ojdNq9hD6jkOns9G6/kpft57BY36QxmkIJ4qyCQS5CoqpbatYt7klGQlcOnAVnadeYFFWHNa1AtWlKb7aN5JeeI5kFbu2Zz8+QziypHUjayCs6Hm39xllJN3bh/HpU64eXvhJhhhr4hnDfoP6fiKeMol+bxISiZTxQBLK3MM1WUU5Gbz/PQ6Zi3/HXHNbxnStT4+ZioUXv+JaTNWcd6gFdFDOhJZ6aWdIKUo6wVpOXK0jEwwUrvL1qmzWH1Oj5ajBtMhyuuVvSItyiItLQeZlhEmBgXELJ/Koh1pBA0aQfemQdi8ITsl3N48hdlrr2PZbgR92lSnoq70T8TTgSwe3/iDHb8c5K7cgwYdvibSz/7PvOAvlu+HE0/pI3754Qy+7ZriaqqvOM38M/EUc2bGVwzfnIJtw67U8zThjSsW4lxevCjEukYHGvtbKBI9lHo815JRuQNNg8x5nQughNg9KziYFcn01dF/QTzXMa+LB9oJu9kSW4HI2nZcndGJuberMH5FOeIpCGvecxKuxhBzLYG0rCwK5JromwpKNp7ffjxATr05LP9XHk9KF4mqKiRs4tuey8hu8h1zegRi85KtSePZ1L8niy440PenWbT2sET1xFTaTEyh6YpJCuL5p1NamQSJXBXVl+G/klhWfdOfDbKvWTizI7425U4aP1hXS5FIRKiqSrmzqi+D1xfSeO4sugTblZblkD5m29AeLHocwbQF/anmYFyWMKPch0qusKTLcK5WmcmUboFU+Cfi+cF9/IgGr4hnDlXGr2N0E7fScFeRCJFIBdW/9QgXc3J6W6Y+rseC8e3xshW8L+UeISxGpIqq9A7rBwxmXW59ps3oRlUHY4WhL03ezqhvFvIodCKz+gkJf/7sQS+5upReIy7hO3kiXaoKBE0IgZMjiE7ilmEMWPacmtNm0D3UEZOy00npo58Z0WchMRbd+GF6e3ztDBCfnEWnyY+oPX8s7Sq/g3jKpEjkpeNVRJxJ7rJ+wCDWFzRkxtTOBDkY/8VdoneH2kokKGTl3vpBDFubRe0ppYTbRDHwFHaN7sPih4GMmtWfmq7mb4YoCxCWXOOHXqO45D2mjHh+7P2r95GJfyKepZtYccJWxg9YzB8v3OmxaALtfJ+xsdcYNt7WJaxtXXxsSqM7Xj6S3HTSC8wI/qoBgfYm6KiUI54zyohn+WHJnrJnbG/m/yYhcuYCeugfYeKkDTx0/5bFo5srPJhvOGbEt1kzcDirrtvR8/txtPK1RjXjETfPn+P6w6ekZ+UjU9PF2MIUrcfH2HzoBUEj5pZ5POWIiyWI1NVQLduo30k8kVFSLEFNXU2xoZd6PFfx0Kou9ao4YvbSpYaY+4c3cuSJL9/OG17q8RRf5oc+Y9h4vyJ9F4+iub89+m8OgNg1gxn141Wsuy8iOjSRVeMXckhWj9lzelPDw0Jxp/nlI5fLEQnCKRNTLBGhLoQRK9bnu4knshKKJSpl/5OUEc/nVJs6me7hFcg4vIdYfV+CHB+xftgCzlp1Y8p/nHhKubp8AOPXxuLQewEjWgWW82CWjlx8Zz0jR67gokVnFo1pU3qHLvEWF89d4+GTNDLzpajpGGNuqk3qqV848qQyA2a8i3gu56ZeOFGhLpip5/E8OYmnxWb4RzWmTlU3LPVf31su/bKU1P2bOW9dTUE8bYQT7HcQT+nl5Xw7fi2XCKR53QAcFXe/yx65hPyMdAqMA2hUL5iKlnqolBHPVbf0qV4nBJdXh61Q8vAPthxOxr339Hd7PJMDiB7/DTWdcji27zbalfxxTN7MuIWnMWo3oRzxBLm4gIykW1w8f40HKS/ewOnJ6W0cTfWk19R/5/EUX13FsAlruW7dhRkjWxPq8tbhkOQum6PH8mOMAa1mD8Xt5lKWbryJdbe5jGgTisvrkyoFYJJ7mxg7ZgVn9FsxN7oNgRVNUVVTLduHyojnhoeY1qhNsKsVmsVZPE9+Qq6GHf6R9aghlGfRkXN91VAmrxYM4mbUCayIuU65hSQuIDMzHyPfBkRWccP6pcdzTQJWoW5YGZRw+/BF8tzbMPjb1lRzKd2vXk2puASxSBU1VSE8WdDV7/J4Csu0GIlITuyGUUxdfQnTDjMY3i4cNyGSotwjufczE8Yt55ROC2aO6ki4p1kZ8fyBi6JAalXzxEozjxepyTwtNManVgPqhHqWJkz5WE+1Auwyj+cDM4KFRGgltzl6KRfXrwfRv011XE3+nLxRSCIXe/YEJ8/d5plYFwuHitjmnmXT7psYtRjN0A418HhrfIrdIzeWHfNmsu6SDHtXVyoZJXPoxBNMA/1wttLm+ekTxOuE0X1oTxoEVODvKohJHx9g1zULvHy98bAXEgi9g3hKb/LT6CmsPqvPV5OH0752pbe8fBIebJ3E5GV/oNp4EiO61MHbXPY3xFOOpEQCslh+GT+d1TG6tJw8gg7veO/DbVOYsuwoooYTGd4lCh+Lj6R55Ynn8N409hFz9tAtZBUq4Zz1K3OWHEEWNeQV8XwlUuKn3D57mdv3HhL38CGpxUa4VqtH/Rr+OFvo/n0yrn80F8qI56pbaFd2w95Cyt2jV8iyb0TfgR2oVcnsz3bvq3fKePb7bi7puCgODR1EC4AAACAASURBVCoKe+dfEE+FzBQ+4+6FU5yMucmTYm3MHJypUHCZ7XuvoVF3MEO61MPHDJ4e/o7J3/1CUqVBjOnfijDncvoXOXJ5qU0ne3qExRMX/j/2zjo8qiva4r+Ju3sgCkkIEQgS3F2KFigUt0JxD+4Qgre0FGhLaUspNSS4uwZ3gkMSiE8ylrH33ZkEEgiWyuO9b+6fM1fOWWcfWefsvTYb7ocwZMrndKwVQJE7C+ZX5VV+nT6X1QeNaTFpDD2aReBSpAlV3P1rPnNW7EDRYAKj+7SkoodGTzxXHEAcVJOaFXywlqaT/DgFqW0wNZo0pmaED44Wxu/sTfT+xDPvLKtXpdKyW108HK10i/HiiOfJ+Z0Z9XMSUeNWM7aJDw6v5M4TYWJhjZUQeynsyOe72oo6fc30TmVxed47c9g9rTuLrlVj2mtOPOn6HQtaZLP/QBblm9Ym1EPNzvEfM+/yy8RTbyUapYzcxwf5MiaW/UZNGDGhO9EuZ4jrFsv1WrNY8TeJp/4rWlK3xNBzznWqzV7G0Lq+z+M2Nc82E9N9NvttuvDlsv5UKmWH5ngsXSfcpvGXs3Sut8XpwxTuN5rHGxnTaynJjeOIHVhwMvnWnvXmG1S3WPf5YL7NbcWC2N5UKqXPW6nN3MX07jNJCB3PknFNKOOSr6hW+G2Kkyz+NIZbDZYwtVsEXm9xtSUvi6THqYjlL9Qo3630IjC2wd3HAwcL0zdPToWIZ/S0dUz6SFAAftfZLI+TC7sz5WYdYqd9SmSpAnemoqVU3V7HiCFryG4yj9l9ChRxtWTunkm/WacoM2IRo5qHvBLfKbwl7/QSesdcp2bsZLpW9HlxYqRNY/uUPiy4EsG42GE0CHLLdwnXkBo/hQFzdmHcZiELBtTE38kU5cnF9J58nRrzptAtqtB7XgOoJulPJg5YyoPq05k1sBaBr1PBfZOqreo260cOZ01GfabP6qsX2dGJI+1lbt/ZnPT7PD++s5jUOnln+KLPJK5WncWE7pXx+09cbSXUem0eT+EQ+BiLe09hfYKCOjO/ZkxTBZtGxrDumi+9F4+hVZg+frXIJTLBwsoSQYVROLEoOPGsPXc2fYUTz5eJ58QBLNqhpcnCRfS23s3UqetILDuUZRPbElHatujGhvIyaz4fy3eXStPvqyl0FHYTjTQo5RKSj61mzqKd5FTqw7Ae9fC5uZJhixIIHDw3n3i+auPFE8+i1SlwtU2vOZlxXavirw8yEY7MObRoGMtOl6bfvHxXW+U5Vn4Www83Axi0PIZ2AvEsMoEpubpmGBPWXMCzz3Im1HzId5OWskPViHlxn1GvnDvvJn32GuJZpOjKF8RzxlTaWN3gQro3UVXC8Tc7StzAWI65/+8QzwsrhzD5+yuUHrCE8R0r4/eSO4Ly6veMGb+aBIF4TupCpUAHHfmWS5I5+f18lm1Lp/ynQ+jeMJB7341i6Skvek0v/sTzQdgwRvesQ4irMWq1Esm9vaz97ih5FTrSo4PgOl1YEETJlQ2/klShJlFl/dEdzhVHPM+vZtTk70hw7szMUYL7rf0riwuRsTlWluaYCH6LBSeejyMZObobNUPcnp8SSo4sZ+zS47h0m178ieejKMZO6oDT/cukukYQFVkGyxOLGbbg0CvEM38iRy5N4dTaBXwR/4ygLoPo0TiIB+vGseyEC10n/03ieeFbRk/5lgvuPZk7vjM1yr5EPJXX+Wn8JFYft+Pj2LFUvP8dS1afwfnTuYztUuMV4qm8/iMTJ63ihG0n4iZ2o3qwUyErziee69OpMmoEnWuF4IwatfQJJ35Zyc9HswnqNJQ+LSPI/iOGGWtOYNN+GsM7VifwFTIkwsTcEgszU4yNVPoTz1UJWDUdQP+OVTA/8y3LfjyHeaOhjPy0HiFuxcznBSV7DfHU/63k8vdjmb7mDE5d5+ri2l8mnsobPzNl8iqOWrZjfkx3aoU6Pz/xvOHbl2G9GhPhKdirCsmDA6xfdwRx2ZZ0+7gu5dz168sSXfnEc9Vpcxr1HUD76pac/34pP581pe7gkXRrWL5IPmdN2nn++GYlv10QUaltF1rXDsXT3hJNwrdMXLwHmo1hZHHEU5PG2R8XsXT9NVw/+oweTQPI2f0VS38+iapyTwb1ak6ZjG189dU2kgI6M3xwO6r6vy4fuBbJmT/YmRtEeER5gnTjb3HE8wo/T5zBmmMCQRxH14ahCJ6dLy4ltzZMY8bKA5joiGfjtxDP/CeVwntnsuaYFe0E4tmw/Cvvvf3rDGas3IdR82mM7dXk7xPPqz70Gd2FgKw7PLUOIKxCOewvrGLiwp2oG494lXhqVShkchSKPPKUCjJv7uHXXw6S7N2Enp+2oJLv3zmAySeeK4+irtGDvl1qYX9lPV/9eAJVtGCrzYj0el2aNRU3t27hoXcQ5SPC9KeIryGemvRLbPluFb+eziOsZSfa1AvH29EKzYUfmblsO7k1P2dEPvF8tmcp05b8wv3gIUwa0omagcV/X/N0L19MXcIv94IYPHkIH9cOLD5bgPIaG6fPYdUBI5oLxLN55Esu/SoS/5jLnK93kFc/hjF9BeKpzT/xPINt+4H0bhONj6lwSCLlybHf2XAgGbd6nenUpALeNv+Sq602czurN3nQvkMYznZ63/xXiaeWp5vH0XPmPtz6rSOue/lXYwIF0QqNcAqTP4QVxHiWwNVW23E6TY1S8WrSguggQTwki61jOjL3UpWXTjzzO5jqMbvmjyNunzltpk6ia/UAnDS7mfKPuNoWdH8Jh+d8yuSDAYxYEUPzMi75qoIansVPou+sI7j1XsrsbhXwtDVBdX01AwcfovzMefSpVhqHNx4CacnaPY2e084SNukLRjUKwFkXtybmasIjPEIDcbR6f5cDzdNNxPSI5U6NOcQNrYWfk759ZSfi6D1uO879v2Rqh3K4F7dll7uHGZ0Xk9NlMWPbheD+lsAa5a2tfP3LMe6nS98zxlOEyMSNGt370SzcHUHc7LXX3yKegursYEYcKMP4mf2o4e9UzEJZw7Mtk+gXe5PK0xYwuG4gLrpjMRmnFvdhYrwD3RdPpoMQ31nMDCrZO5PuS7JoO38M7QVhnoJ7JEeJ6zOZAx4DWTDhI504j+4vTSq7Zgxg7j5bOsXOopugHmwqQnXze4YN24//2On0qROI8xtX9Fqy98+h/4yTBAxbwMjm5fSkWCvm+vnHuAb542gjiMoI1+vTqWiebWVavziuV4hh7pAGlHXTn+jKTy9jYMxWrD5ZwMROFShd3AaEZD9zuy8hvdVsRnYMp9TbNilKtPIoeOhdTjxBm7GDmX3nsumKBS0XLWdoI2cuxg1mXrwxHy2ZS89qga+6DGvUaESCW7sgLvMW4ilP4KtBE1iXGMyQ5RNo7XmBxYNj2W3alrg5vahWxrnoqbP0KIv6TuVPeUNmzh9A7SBX3W6rKvkAK6YtYqesFoNH96BBmCeiw/PpUyTG8+8Rz1djPItxtdWmsmPGYBZsF9EybrYurrKIazFSji0awMzfJNSZPpd+1aX8NWYSP94K4vMlY/moohAnWrRhNRqNHssiQjDvQzyfUmVgAxxE/tSsUYlQXyfMc/cyr79APHsx4z8/8YTUHXMYERuPqtlcZvQVSGHRAUt2fClDpm8ks+ZkZg9sSKiHIOqlIuXQSuYujie7Sn+G9WxKpLcxxxfpYzzf6mqbH+OpyXvKrgWjWbFfQ51xU+hZPyQ/rlbYIRJzeMNuLKpGExqQ3xbFEE/S9rF45Hz+ktVn+oy+1CvvXuSkWjcsqTWIdN4UhYjna2M83+Bq+zCc7vXdMC9TjSpRYfg7WyDZv4ChsQexf+nEU285KlKOrCZ28RbSK/ZmSM/mRJU24eSyf8jVNm03cSPj2CKtx5RpfWkY4VG07rKTfDV8Fr+mRDFqxgCqZvzK5Ng/yakzmSn9GhPu8VJbn1rBqJm/kFxhFDMGtSCyVOEzide42gqnyrf/ZP7kVRzS1mf8lF5Epf/K1NjfyK4xicn9mxLu+fLpnQaNRt8eIlE+8fzuEeGCa13TCFwV99m7Yi4rD8io1G8MfZoXil9/eax9I/HUkLZ3EeMX/Im41kQm929GxEtlkZ9eydhZP/MofDhTB7UiqrTFq662+TGeWuUz9i2dyIqdOVQaGkPvZpF4v3Jg8Y6TQT7x/O5+OQaN7keziu7k3d/LN/O/Zn9ORXqN1p8+6uZcrZhz6+awcN0VXDoMY0DHupRzsdCtTWXHvmTU/B1omo5hZJcQjDPUOLm64CQI/aHkyYFVLFy+meSQrgzu15bq/rbkHlzG+EUHMW09gmFd6lLGMpOLvy5k8S/XcGgxlKGf1CWo2M1eBVc3byHZN4Lw8sG468ynOFfbdA4ujWHR76lUGjOJ/q0q4V1EjFLG2dUTmP/jHcoOmsxnbaPxtXyTq20+ppp0Di6byOLfnlFx9ET6C3GgL703YU0M839MJHDgJAa1q4ZvSXOhFZx4XvGiVR1fXIOjCKsQSbC7FdKjK4hZuANVoxfEUyuEZOmc1YpOGpq8NI6tnsEXm5MJ6TuOfh9VwaekZSpwtV1zg9K9htGvbTReyoccWrOIb3alEtx1OH3bRONX3GJOm8uprQdR+wdRvnyQPtypOOKpzeHiL3EsWZuAdYvP6N+lEWFuQjoSEbKTq5kUt5nsGp8zontFrMQqLJJ2s3KlED74EeNHdadxuPNLmzH5fT3vOhvnzGHNITNaxYzi06bhL20agG5+1WZy9OvpLP7lIaFDxjOwfXV8iohRyjn/w1QWrL2Kd8/xDO5UmwCrV11t9TGeWpRph1kzawVbHpehx+gBtKnu905xv+9w4qkl5+FFbko9KRfoisnF7/juaTM+qe+FQ74axqvEU4Q6fT/z+kxkr8dgVszuSDnXortXuWc2sFPbkKaRLtiaFxIXem/i+S2P3Rvx8eCBdBJyLeqSNmcRP7YDcy9WYXIRV1sBq1yu/jSNySvP4959JhM+qYqPvRlG/1iMZ34nzrvAil5DWW/SjZULulHeI/9EIy+RX0YP4dv0+oyfKail5sfwZMYz8ZPVGH+2iOFNA3Ep0nm0iO+f4sx9a8pVDsbdJo8T83oycYsjvVbPplOoh24A1TzZzrcH3WjdMhz35ykMNOQ+SeQJbvi522H+hhxZ6tvf8/mA76DrSqZ3KYeHroPlcenrAYz8SU37pfPpXlx8p0BRHv7C6H7b8J4wm761fHEqJn9f4SlDm5dLpliKUshh9oa0sMVOMyJjLO0dsMlXJP53iCfoVGfXaOg+bzjNg92L6VBqEn8YwpBvVbRfPo0uEaXQcai8y6weNJKf5K2JnduTysXEdwqk7vGvYxgU787waf2oHfhCNVd5cSWDRv6Eqs0SZvYU0lHoaaDy7kYmDV9DcvQwJg5oSLCgLin8kbWDaT3XoO42iyEty710qqsl58FZEu6bU6ZCEJ72ak4v6s/kv8z5eNlMvaiRMWiSdvHDYScaN9KrQ+uH99cTT3Xij4z8/FsUbRYzqVsFfHQjbR5X1gxl7DoJTefOomc1fxyLCdNRP/6NCYO24vz5ZPrUL4vb84FPjfjBLZKNPfBxt38pV+w7Ljheue1diKeUm79MY+KyHSTat2HmoqE0CXVDfmwpI6fHY9p+NpO6VcWviPu4hIub96GoVJ3yXq5YP3e1fUr1GXMZUDcI10IbAJKzXzFq4s8kVxjJ7BEtCHPL5WDcSObttebj2RPpXEUvc15wyS+uYtT438lrFkNMj5oEOJmB5AZ/LpjJqmPmNBs9hm71QnC1NEb+irjQf0A8RSpS9y9m7JzdmHeYwfhPogko3NjyS3w7MoY/ZA0ZPbEHtctakfjDRGK+vU3osLkMbRGBV2HvA+klNu+RUDE6jFIFY6Xe6ouN8SzazPknnt9chIot6TPgE+qHCirqRiDey/z+8zkqEM8x/5W4UEGMpxGq1IMsHzuP3catmTihKzXKOhXaYJBz5fuxTPk1h9qjJtC9bjCu5iC9tYkls1dyVNSQwSO70zDcAytj+XNxoXclnsKi9cjiwcz55QnhYxYwtIE7kqQcbEuXxt36Ppt+e0xYzUqU9XfRl6k4cSFNFie/msCcTQoaTRhPt7ohRU/ypVfYcUBCOUGkRlBn/xsxnqvO5FG+WW/6dW1EeR97zIxEiPfH6YlnlylFXG2FSUN6ewvL567kkLoOA0f0pIlO2VPOPxXjiSqNI1/GsGCbmkbjxtKtXrkidVdc/ZHJUzaQVnUQo3s3ppzJWVZOnMc2ZSNGjf2UuuVcChFVBdd+nMT0X55S8bOx9G4SjkcRUvX6GE/1w03MGreM+OzqTJo9iKaByfw0eQ5/iWsxYlxPGpR3K+IuK72yk8OSsoQF+1PK4VVxITchfvHxUdbOX0Z8ciCfjP6cNlX9io/PeiPxBHX6UVZOimWbvB4jxvagfqhrobIouP7zVGasTyZywGh6N43Q1fmVGM984inY64kVo5n3420CPpvFsI7VCSipMtQr4kIeGKulJB1fS9zSrTz268SIz9sRHeCAifIq64UTxHPOfDJlJJ1qB+nmREE85fHWOUwW4jXbTWJUBztun1RQJiyUoEB7FHe2sSL2G/bLoun9eQ+aVy6NjYkIydGi4kJlbEGZdZ345QtYexJqDhxF9ybheL5EkDSZZ4g/kItvRAShZZzzbacY4mmkJuP4KmYu2Iy42hBG9G5KuHuhzQfFDX6dMZNfHobQY2RfWkR5YyFSvcHVtmA0VZNxYjWzYgWxmMGM6N2MiJfeu3HWLH65H0S3Ef1oWcm75Dm484nnygOp+DToQb9uzagY4KRT0c45+hUxcdtfEE+HbM4cuIyFbwBlAku99E0lV36awpzVJ7HrNJkRXRvoRHlKdr0qLuRlrEaWdIr1S5azKdGDj4YOpmPtIAT9SMFd9s7dLExdPPF0TGFv/H08gsoTHuatb7viiKfyOr/NmMPq45a0GT+Cro3K54tBakjauYgZy3ehajSakV09eZwgwdvLhMRtK/n2uCWtRg6jS0NBXOpF7WQ393EszQO/IF9Ex5Yx95tjWLYayZBuDQkpeiP7j6Xj4ReIW3o8Cxb+wdOIvgzr25oor0J53/Nu8de8ufx0szQdh/anbTUfLF8rLiTU8Sw/TI3l+7NOOjG3ro3KYf8OToVvJ57qO/w6ZjTfP6rM2KV9sd65keTan9Ik0Blr3WylJf3PkXSac4moqd8xsakvjrrTNxmP9y0jJvYsPv2nMKJ1eVws9UI+6tST/PTTbYI/bkNFL30C5ryEJXT//CfMuv/Aop6heoVa3esz2Ty6A/POVyTmu0k09XuhRCs802PIOnLqzWTRyMYEuVroXS+16Wwe3Yl55yOJ+XYSTf2d810VpdzbsZxZcb9zv8wg5k35mKhSevENcncwqe0MzlWewlfjGuLn9Ab3k3ewavUdIT3Kcs5YtGTOiuHU9RPytEm5/dsspv2uoOHnQ+kQ7avL4alrJ+VNvvtsKKej5jC1u5DWo9AqVHmJb4dOZsO9cgz+aiyNzc+wduFafjvrweffTaKVkPNK/YRDP+1GXrUFNcu+SHisvv8H08Z/ywlxCP0WjOejUHesX3MarknbztSecaS2Xsr0rnplWvm9eGLHzGWrqiWLlg2menHxncJJ19FYesZl0GHeKFqGCEJH7wDSv33L3zrxBOWt7xkx4gShUybRVVCLfYVEaUjfMY1+cSk0iZtG1wqlsDeW82DbAibM24S8yQIW6uI7C3XsF9SCE3G9WZTammkjPqK8V4HwlJp760cxZPkxRA2nsXhEI8q6WiKSJrJp/gz+yKlB70GdqBHohEWBJJ/yNuuGjeREuRjGfxqNX2E1H+UV1o2ZzvobfvReMprm9lf4Zelafj3pRJ+vJtAmzBtbdTJHN+xBEtmI6kJ+xuebBm848Uzfxex+C3nSYA6TPq2Ej6Mx8vs7WBwzn82S+sxa+Dl1i4vvFGzlxGIGLHxK08lD+ShSr7qqo7kPtjB3ymoOPy1LrwVj+Cjc660u5281Ic0T/hw/kMU7pdSauYIRzULwKDzhy5M4t+0Hvlm1ifN5IXQcPoYejYVTfROQJXF09QyWHrXjo+FDaFfFJx8bNekJv/PHTS/qN6pEgJsVxgUnnl+fw7zpaKYMbk6Yh7VuQa/JvsjPs2ay8Ul5Ph09gBYVvLE10SJ7sJdv5qzknEcXRgxsQYS3oKYrbMDf4I+4uWzKqUqvz7pQq6wLFnkPOLA6lqUbruHaeTJjutUmyFkfByXZN5c+c47i3X8eo1tH4F3MYk1+bDEDp/6GqvkCZvauQeBzN9oXCCovrWbYuLVk15/LzL41KVNwhKnNYvfMfiwQTttiJzx3q9XIHrJ/5VxWJbjRYfgAWlQsha2+Atz8YxGxf2YT1WMAnesG42JphCr9HBtj4/gzozL9R/WkXogrupSmWjE3tv7BJcca1KlYBo8i7jpyTiwZyIyNChrPn0XPl0Wb8snplW+HE7PmDmUGTWdY2yr42ennGm3WbuYOiOWI06fMntCBKL+XYrXfakAv3aC8wvfDJ7D2WTUmz+xPvdCCE0DBC2Uug2MP4th1DmM/zlek1ch4dGA1C1aewbHt5zo1SX0+QC05t/5i2fw/yYjoSt9P6utSdSgfH2btwsVsuGhPm7H6OCtXS2GOkHJoQX/mH3Si64zRtK3s9zymVnl9HePHr+FRVAzTBFVbT2G80ZJ7axOLpn/BQWU9hk3uS+iDH1i89gIunSbQyy+R40/LULNaeQLd9d4KAlaxg+I4aNeZ6eM/zk9noUWecoJ185ZyyKgh/QYJKqr5KvHqDC5u3sR1x2hqVw7BW5DtVl5l3eiJfJ9ShZhp/WigU6jVrxOy985naOwBrDvNYMzH0QQWLIyEZ8ZM5Ltrpek5ZTjtqwdiL2waoCVrbyzDYvdj/fF0xnSq9vwZ+eMjrFu0lF/OW9Ny1Gg+bSykFBE2naUcWTSI2P02dJw8mvaCCm+J5yINskeHWBv3Daesm9O/f1sdJrqQgpzbxH+xkD9Tgmjfp6t+c0CkIPn4WhZ8eQKrZv3o164a/rqczlpyE7eyYsFvJJVpT69uTYjwsi6koC7gk8fZr4cz69dsak+ZRI965dHp9CifcXrtPGJ1rrHDGd+vGeGeRqSe+omFy/ajrtmLAV3qEOSi93DSZFwifvM1bCrVpHJoaexMlFz/KYZp3yVRYWwMfRqH46EblBQ8O7qKGQv/5I5TS4aN6U79UPcXuV4LzF5xhlUjZ7H+WRXGTelHk0jPop4ZGhmPj/zA0m+OY96oL33a1SDAUSBBQp238fXi33ni14Ye3ZoQmV9n5c0NTJu8iltBQ4j5rCVRpQX70yK5s40vZn/BHnEV+o8fSCuByJW07ZTX+WXSNL5/GM7wCX1pWsFLPxYrnnF8zQyW/HEL+2bDGNFDiH98xrbZk1mxHxqPH0ePxmG4morQ5lxm6/r1bPzpOBatYxja2oSb1ywJqxBOGdvrbFi6lHVHtNQbNopeLSvhbSXYnxbxoWWMjduHaesxDO9Sm7LCpqxwcp24hUUz13A4uxzdRg+ibY1AvRChUC5xIge2HEXsU4VqlUPwLBAC04o5snwMC7eraDz2RTynRv6E4z8uY80REbV69qV97bL6zX5tLnd3fMOy3+7j3aIHXZtXxNtGGAuV3NwwnZmrruIzcIL+FPSVtGugkSdx4qdlrD4MNXv0oUOdoBfv3bmK5Rvv4dm8uy4/cynde0t4KW/y24wZrDppTZvRw3RpUJx0oplaxIe/JGbhNuT1RzKye2PCXNTc3/M7Z/GnQqUoAvM98XRrhrQEfo6LZd1ZO1qPGUm3RuWLboy9V/FU3No4k9lrbuE/YBT921TVK/9q8kg7uZb5S37jsnk9Bo7sRdOKnogPfs3iNYfQ1htEj0gJN1OdCA6vQLivPrxIKz7C1zGL2JZbm6GjhY0xF4zUj9gRN4MVO6TUHDGG3i0r4mEm2NpVdv6+gQ3rjmLcYBiD2jvy+LYx/iHl8FUfY/XyDdzyaEGf3m2J9tOrZWtz73Bwx0U0/kJYQiC2kuvsWPkFv950o1m/3rSp5qdX4dZKuHtwBxfVfoRHRRJglcapDV/y7QEFlbr04eOG5XDJzxV+f++3rPj1Fo71u9K1dVV8dfOoijt/zWPO1wk4fzqKQcIpqI7jSbm/dxWLlm8hKagbwwd/TM3Ad3N1fjvx1GZxJHYE36RWplVEHvflFejcqQY+gqtB2jm2/LmPo7s2se9qBjYRLWhRuy4tuzWmnKMlxnmZ3D+1jd83nybDKYiwkFJYSlJ5mmNBUN2GRAvJt7X3OLh+G0cObyP+5AO0fvVp1bAmDTt+REDaQXYfPsbuP3dxOc2asOYtqFm3FV3rmnNx0x6OHI4n/tQD1KXq0LpxHRp1bE1A6n7i9x1i79YDXMuwIbxZc2rWa02nkFTiN/zBtn1nuJ0iwalqFwaPHEKrMC23d2/h0LG9bN5xkVTbcJo1r03d1p9Qv5wjViVKbq/h2eYYes29Rvku9XA2ciMkyIW8O6e5kOJAlY8+om64D466ibLgknFmcV/mJH/E/LGtCXIrlAhX/YAtUyexUVKF1nXcyH2qwr+aDw83/sZtrzrUKmNK+sNMHCo2oHp4aZwKvVeTvJM5Qxew75k51YauYExL/yIKw0X6pUbMlQ3zWXLAhGrNauBrnEly8gV2rN1NVt0ZfDmuCYHFxXcK6WHWDGLS1VpMHduesPdIJPte48L73vw3iSeys3wxYC6Pm81kRJtQPIuZBTXiq/y2YDEHRVVoVN0fU3EKyRe289OuDGpM+YJRzV7N36mrhuoG3w+ZxNXoiYzoUIFSBflzNKlsn9qX2IuBfFTLFXOPYAJcVTxMuECKbRRNW9Uj0s8Zy4IcUrqXyUhYPoj5jxoxZUQbwrwLxQuqH7F99jQ2ZpancGRRNQAAIABJREFUcS0v8tLVlK7kTdLmzdx2iSa6rAXiJ1nYhtehWoQvzlYmhVw5Xk880Yi59vsilu3TULFBdQLMxTxNucjOn/aQET2BhWNaECokIH6lzVTcWjuCqZcqMnp4B106mIJ9EE3aEb6etJjtGRUYOGsQjYLd3slto1izUN5m5+qNHDx/gXMXbvAkS4VdYBSRZT2wsxCEa0CVm0VmZhYSbPAKiqZhq8ZULVcaZ6uC2GENedkPObf7L+KPp2DhG0KIry2KjGfkmPoTXSeacqUd8zcAClxtnxDycX18bRxwd3PFRhBDOJXAY6soWnVoStUQgdjn93uNHPGTy+z9PZ4LYlu8A/1w1mbw4MYdJN7Vadq0JuG+DmSd/o31v25i94kbJIntiGjTl8+HtiPK6glHdxzm6O5N7D7/BJOy9WlUqwGtujSgvIc9FtoMru3fx9mbiVw9vp/DFx8jd61IvVoVCQ6qSN2m0QS62mKmus/xP3dzaH8820/dQeYaTeP6tWncoSVlZRc4euwwuzft5sITYwLrNaJmg9Z0ahShyxOsyH7ClX1/su1cFjbegfg5a8l8cJM7uV5UbdaEmpG+uFjm46lVInl2i6N//c7BB8Z4hYTgY6ciKyUDUanK1K4eTmlnS51AhCbjGof2n+FG4lVO7D/EpYcyXCrUo2ZUMGUr1qdJdBlc7cxQPTjOll0H2Re/jdOJuThVakL9ek1p1yoI+fmDHNq/i+0HLpFsFEjtxrWo37ozDSNK4fje7lgqHh7fxJ6D+9i27RSJuU5UbFyfuk3b0zJYzsWDhzm4K54Dl5IQBdShoa4dGhJRyglzhZikK/vZFJ9AppUn/v4uiLIecutOLu5VmtC4ViR+Ttmc/3MDG//ayYlrj8i2Cadlr8EM7lgFu5ST7Dl8mN2bd3P+EfjXbkTNhq3pUs+JR4cPc2hfPNtO3ELiVoPmDSJ1m0CyjEfcvZNCnmMkjdt/RN3I0hhd/o45a27iGhWMeS6UbdiU6uVL42CcxfV9Oziwfwdb9l/kCf7Ubihg1YmGkT44WSgRP77A/i3xnHhojEdQML72asRpORiXrkSN6DB8XUxIPrWVPQf2sm37KRLFTkQ1qkvtpu1oHqLi+okTHNq+mX3nH6Lxq0WDWg1p1bkOjkknOH5wj+6ZW1n2VGhUn7rN29MiWMnVI4fYv2MbBy8/gfxnWnYMJe/sXrb9tYPj1x6RZRVK856DGNyxGg6pp9hbgNNDLb61Guhw6twgAm/nwgo87zGRaBTkJF/l4KbtJKSZ4ubvj5uRmEe37pDjWpEGjetQIdAVa1N9n9Yosnly6SDx20+RYuZJQIA7JjmPSLwjwbViPRrUjiLQrSBdlb4csnvH2Ln3ILu27iQhUYFXrQZEh3hjb6QgK+UhyTkmeEY1oVXjapTzttelPtHkiXly6QDb4o/xADcCg/1x1IhJFxvhFVWDquH+OKSfY+eeA+yJ38Hpm2Ico+pTp35z2javSlk3GRd/XMKib3dyOd0Yr7Bq1GnVhW4tKukEpLJvHuPwmSvcvHKKI4cvcC/HnvI1axAVVo7I2g2oGuKNYz5x0ShySLl2iK3bzvDUxBU/fzdMch6TeEeMU4X6NKwj1NkGM1EyCdv2cmj3VrafuEGWUxWa1I8iwNUEecYT7t1NRmZbngZtW1Mvyg/n/IOK92gtnfv14zM72H9gl86mbmbbE1GvLvVbtKdp1SDcFZdYv3Qh32+/QJqRJ6HRdWnRpQs1HB5x8Nf1HEx2IrJWNUKcNWSlyXAMLoPm/F/8dSINa6+yRLesjWvGLc7s3MrBc4mk5HlQo9cIRnRvSIj5Qw7v3Mve7ds4fOkx+NWgTu3GtG5flwhfK5L3rmbpsg0cuSPFJiCKGo3b0be+C09unGPfrv1czHQkrHIkgR62ujFQ5wimSuPK3h0cvZqNS+U6VK/WgGYtahDm64RRbgo3jsSz83QSOPnh726KJCmRO1kOhNVtRJ0qZXG3MUP75Cy79x1gV/xOTl9/hpkgEFO1AtXqNaW6kEauiO6FBkVOCjePxLOjmPeWr9uQOpWD8BDUkEvEOlU8SdjNgf072bbjFNdTLShXpy71WrSneagx988c0eF36MJ9FF5VqVOrMa06NiDCU8P9k8e4dD8LI3tXHK1EyFLvcPHMBR4o3KncshMf1RfGPrMSxQWrnpxj77797NRhlI51WG1qN2hB22bRhHipuLZxBUtXbyEhBdzLVaGW8D3ve2zfeQOtTwCOxub4VK5F9UpBuJqKSTy2j4N7thF/4Dx35R5UrlOLRq07UL+SP9bPjvPnD+vZ/9CacjWqU95NhDhdil1gAKJrO9hy9DGmbkFEt2pDw+hQvC0VZNw7w67N+7mWY4tvSAAuxhIyBLfvclWoGlUWT0E8TqtClnGPMzu3cOBqDjZ+wfi7GCNNz0DlVI4q1aIo62mry50tKPnfPLadXScfobL3wd/THFnKXe5k2BBcqyH1qgbjaWeO6OlF9u0/wM4t2zl5NRXryPrUrRKCh3keWcn3uJckwapsbVq0akSVIDesX5Nq5uU+/HbiiQZ5xgOuX7mL2Mwd3zL+eDvlJ3BVy8kR5yKVSlGoNIhMLLG0tMLG3lqfpFu3WSBBnJWLTJZFaroCMydnnG1tsLG3xUJYPGvzkGTnIJXKkCnVYGyOpaUl1nbCgkhCrlSKVCpHqRZhammlS39hbyVCniNBKpMiy3v5mVxyJMIzClSaF8/YmanIEecgkeYheHcaW9hg5yC4a0JervC7FKlciUZkioWVBVY29ljrEk+/37CnvzuXQ7M/ZcpBP4YuHU4NezUZqTmIrB1xcnTA0dGumPQdWiQJXzIkNp32c4bQSIgJff5tFdKMNNIz0siUmuHg5oqLsxWaHDE52Wmk5hhh7+qMk5Mj1mYvlVktJTM1k+ybW9gra0P7Wp44vdZ9RYtKksmzlGSeZiowc3DF8spKRsWeJmDkcia0CsbtRbLBF8Co77Fh5ATOVZnAyLYReL6csLIkEP4jzygRP3tGtkyDhZM7TkLervfZQdVKOP/VcBY+a8nkQU0I9ii0GVBQPq0KaWYqKcnJZCrMcHC15NrqMSw64cNniyfQurxnsae/6nsbGDcpgQqjhtOmQqkXbk6SI8T1nsI+937MHVYXd1E2z3K0WAmS2Q6OONpZPs+59gIiLZLzKxkV95SmkwbStFzhbwrlSycjI40MqQn2LoLtWINEjDgrjbQcI2xdnHFydsDmeZ7Tgje/gXiiRSXNIlWwlQw5JvYuWF7/jphFJ/DsF8u4dsLJWzFgq+/z2/gpJJQfwuB2lfAp7L6qlpOdkYlUbYGdsx1W+Yu5EpmCNo/czGwkcgV5SjUaQdXN2LSQWqqQylOti0/TGplibmmNja2VzhX9pSgSlNIcsnNlyLJSyZCbYOvohJ2tLXa2Fpjmj3OCS6heXCiVGtNi6FzJDztZKmkSY6ysLbCwtsfBzipfiKhQjbRKpNnZSPKUSDPSyTW20SUWt7Sxx85aeL8IlTSbLHEOUoUaLcaYW9li72iDuUiFNFeCTCJFLoydJuZYWOjHXwsTYSGsRiH8n5eHQi5DoRTqaoKFuTmmZhZY2+SXRyiDbhwX7lWjNTLDQhiDbW0w08p147tUIozBwriZn4Iov2y6OA+pGLFEQZ4kgwyJMdZ21lhYCmmKrLEsINnP+4saeW42OTIFsox0spXm2DnbY2dvj62lPkWS7lIrkEhkKPIUyGUKnUu+kak5FuZmmFlYY22lv1dQN83JFconJU+4x8wSCwtrbG3N0MolSCRSZAolakwwt7DAytYOa3NBdOV9rUqoZ07+fJSHSivCzMISS2tbbMy1yCUSHU5ypSZ/DrPCxs4ac1N92gYhAbtYnIsiT0pmRi5GVnZY6+Y5O2wshUWcCll2NuIciW4u1QqCPbb2ONhaYKSSkat7f34bCMIxwjxobYxSItHNXbI8Id2AMHcKuAgpBoV0VRqMzKywFdrD1BgU2Ty+fYN76RrsPP3w93HF1kLYaBLsJBeJVKKbA59jZWOHtUU+VholshwxuTIJ2WmZyIxssHeyw87OHhsLU903n+Mjy9PNvYXxUejmcSlywb6MBTu11NmpsVKKTCpFUswzekwFuy30jJ0FWlkuubkSvT2/hJOAhURnq1qMzS2wsLLFztpc109LfAkLOrEYiUKBJDMTicgSW2tLLG1ssbMRxuOi79aJF4pzkUnFZGTJMBZwFNZFtvlt/VJRNHlSfftK5DobFsptLihNCzoYKhUakYmuz9vk23xBPQq+I5Vk674jsrLDUehHdjZYmpkgyrcboR/lqTQYmQp42GArlNlEgzw7kyyxTN9vTMywsLHH3tZCVx+1QopUJ+IiRy70H40RJhbmmJuZYWFljaXQhwoNlELy+RyxBIVColPVxcIGayuhzrZYC8JTujqrkOXkIpUI44wKjZEZlhaCKFVRe7WxLWbceOfG06KU5SIR8JTloSxsh0Lf0CoQZ2UiFtaBGr0Ik7Vgw2Ya5DlZpKelkp4tAysnXJ0dcXSwwTgvl4yMHNRmVtg72mKikiPNkSBXqtBggoWtg25sNxcpkeTqxxzBZoXx2NzCCltba8zNRKgk2WRl5erHamMzXZta3/uD+WvPIPWqQtNGAqF0xlp38vdiDlbkZPIsOYl7F/ewdZ+UqP596NggDFcjLSp5Djm5cuTCuyVazK2tsbIWxj8bLIVQpPyxR7CvAjsQCeUyN8fSWmhH/XhR9Cr63myJFrNi3vvOTVLkRi0qof8Wah9Tc4v8cRTy5FIkuXr8tMZm+vlMGL/MjFAJ85M0l+zMDDKyJeRpTXVtJ8wd9vb5Y1WJ1uvC+CzX2Yyu7fL7irAmEPqKuakWhViYg/Vjs4CfpbUdtuYqMh4mcu+ZHEtXH/wEwUtrU914mieV6GxBqhDmCmPMzAVOoe8LxloFEnEWGamCrUnRWjri4uyEk6MNxkoJmRk5qEwssHNyxMbCTL8Joc5DmpODVBh/M8XIjaywd3DA0cG2aF/UCt/OIUcqQ5qVhVhuhKWDPQ4ODthaCeNgAUBCGwtcSaabj7MlGkytrbG2tsHGxgargjA2lVzXVjrbUaoRmVlgYSbMV1o0Kn3/MrG00Y2HbwrjKwHxFB7RoFQoUGOK2SuL03c0P40apUqNyNgE4+eLtXd89v/abXnn+bLXcH6z6M6Xcz8h1M0SjUoYbEwweUPdtfIb/DB6Fg8aTeXzpkLu06Ijglat1BFwE2Exkx9kXfCbsakxxi8FXheGLffQD2yxak7zcFe9K/TLQ434Jvu3HkNcpgkNI9x0LnAiUSq7Zwxh0bUIxsQOpUEZF71r3EuX8sYPjIp9SOMxA2hUzl2f4Pb/xaVFfmMdMXPuUmvcIJqW18fS6i/BVe4A249l4tewIeEeVugcT57tZt7wRVwJHcGsoY0JKojDLIKHklvrRrPwQX2G9muiEw8qOPVTXviaQaM2oO2wiOmfCm4yGgTTMTIRUmMIIjbFX1r5TX6OmcedGqMZ0Lz8K6ezgp0Ii0EjQb7/ue2o9GTiuaT/y+8unnhqxbc5tP0Ymb71qBfhhY0uoCGNffNGsuRiGQbNFGIkPYq1A+Wtn5mw8C41B/WhSYQ37yiC9kFYk66vaYS0QwUpEAoX6wXxrD1HiHMui7ORkMZGuN/oeX99fUWEgVyFGiGVwXvm4f0g0BGIvEpnq4I9FYxPb62vtqhNfiBV+feKoRXUAIUOLaTGek0S+X/v67rFQp6QssnU9I1z0ZvaTa1bcBthbPIudv0vVuY/f3VBHzXSjQFv3ZQW0lipNf9+W2uFdGjCppIxJu+bw/ufxvB/2b7/bnV0Y5hKjVZIKVNoHBPSPQnXy+I2f+97glvpGn58UJoK1apR2d9OR/pfWcZphfzsKpTSh+z95i8yKzWkfq2KlCqkISCUW60GUbFzU8lL+W+9t8Ql0gr5xoV5RoNWSIn3lnVRib/zjg8KawJhg09kImxqv994XiJb02pQq9X68feN6woBJzX64Uefmuy1a0eNGrWQw/0t970jJO902zuceL7Teww3FUJAlbiOof2/IqvFEuIGVKFUYdWQNyKlIu3wUqZvdaP3yLa63Jx/I4Xyiy9p0zn80x4sGzYl3MOxGPKoIXnzVIYtPYZtx1hmdY/C286YzOPLGRubQEDvcfRrUk6XgPwV49VmcXTxJLY5dGNgh8r4OhQXz/h/2DxUaRz7YgbxDt10J3SlC+SGNcnETx/OF0cs+Wh2vsKsSSYnvxzHorM+dB3VjyblPYp1PdBmHWP51K3YfNyfdlX9cRKCnHWXins/j2TIV0+pM3s+/Wr64/wWkaYXyKpIO7qCOVvt6Ty4DVE+xeRafe9mKD6PZ0r8LEYvP4Rpi5lM7xmNr6MJ2ae+JibuFF6dh9O3eYQu+XdxtnJCwNKyLb3aVyNQiFF87zJ9qA8oufXDSEZ9k0oB8SySTuVDLbahXAYEDAgYEDAg8L+AgJonOzZyxj6MCpFh+L011ZuKx9uF+yOoEFke/5IKL/0v1NTwSQMChREwEM9/2B6UuclcXj+Dcd9cJ/jzhYxpF6kjY2/dHc0vh1b+iD3LlnK2TE/6NQvFTa/g9DcuLekn17MlNZLm9YJxt301cbJwop2xcz4LbkTQqX0dwktZI72ykSUrDmNUszs9WgsukcUldNYiufg9czeoadKnPdGC4M27VvRv1Oi/fVSL/PFevl5+Gp8uvWkiCN7oAs4z2BMXx43QdrSuUwEfGxnXfl/CyoNQtVt3WlX2Kz6hrlbC5XXz+E3RgG7tquty6+m9H5Tkplzh99kTWHXJlz5zx9CuSiBO5u+elFcrf8z+FV9yuvTHusTAXnbFtfX7oFc88czcs4jF14Jo1bouFX1tkV//g+VfH0JdubMuID3A2aKY+A8tkss/ErdRTu2ubakR5IplyYJE3qcC/829Sgnpzx5w+JtpLNv6lJC+MQxsrY/HetV1978pkuErBgQMCBgQMCDwISOg4u7OXTz2CSEkOFAvJvWWS3FhJ4fy/CkbXBb/l3ICv+1Zw/8GBD4UBAzE859sCcUNtn+/nQsPHpGSlYepnSP2frXp2qUO/oLY0jt9S4M8+RS/rNyDWct+tK5QWGX0nV5Q9CZNGpeP38U6KJTSLtaYvoYYanJvc2jrUe5JwMRUg0xqjl+VakQG+eD6mkBybcYZflh5GJsG7WlUsZBCbwmK+UE/opGTcnoDq/cY07hHayr6OGAu0pCbeIgdR++SozHBRCtFZu5HVNUKBPu6YSPEB79SKS0ZZ9ex5rAltds0IkpQOs4nX4qbO/l5xznuPkwiS26CjaMDvjW68HHdMrjYvOvmgwZ5yhk2rt6DUcNPaVnJ97kARMnwLd7VVpObyJHtx7krVmFsqkUmM8cnqgqRwX64C7ZSjI1pMxL4ec1hzGq0omHlAJws3p1Ql6zs/91TqsQ9/LjtNLfuPSFLosLUzglHr8q0+aQxYZ72uvybhsuAgAEBAwIGBAwIvEBAi1IiRWVqhpmZ6TutD7UKKTKtCaZmZuiEnw2XAYH/gwgYiOc/2WhaBTmZuSgE/3PdewUVIyvs7a0KiZC8wwe1eWQ/PMe+w+mUaVqXEFdBEe4dniv2FjUKmQoT8+IJwYtH1MhzcpGrNLqfhKB5SxtBlOI1fuvqJE7+dYxcv8pULF8aR8vCaqglLeuH+5w2L5tH5w9wNM2XBrVDcRcUv9RycnPlKDVanYy61sQSGyu9IExxlzrpJFuO5eATVYFyvkWVabWKXLJy5ag1Wr3tCKZjaYe9ThDpPRpfm4f40QUOHE3Dt15NynnaU4xq+jsCrSZp8xxWZzejd8sK+DgXBJUIAjGCSILeVrSCwIKNlU7ApNiSqlM4LcQPe0USWd5Pr5z7HlV6x8L+r90m5KTNzhEETfR46C5ji0IiP/9rRTN82ICAAQEDAgYEDAgYEDAg8MEgYCCeH0xTvFQQTR65OXmYWBentPkhFFqFVCxDZJFPOP4fEYnXoSsoNOfmGWNlJaj0laDCKilimQgLnbrY+wWiv1eLa/KQ5OZhbCUojf29k0WVJAOx2kqnDGlSYtdYQc1QBuZWepXPEkD3XvU33GxAwICAAQEDAgYEDAgYEDAg8MEhYCCeH1yTGApkQMCAgAEBAwIGBAwIGBAwIGBAwICAAYH/XwgYiOf/r/Y01MaAgAEBAwIGBAwIGBAwIGBAwICAAQEDAh8cAgbi+cE1iaFABgQMCBgQMCBgQMCAgAEBAwIGBAwIGBD4/4WAgXj+/2pPQ20MCBgQMCBgQMCAgAEBAwIGBAwIGBAwIPDBIWAgnv9Wkygec3znDexrVqess/X7q9Jqkjm17TJWlasR5G6HuUE6+99qKcN7DQgYEDAgYEDAgIABAQMCBgQMCBgQ+JcRKBHx1OY+4OLFe2TIlGj0eUOKXCKRKVZOHnj7lMbTyeq1uSP/5bq95+s1pJ35i79O3Cdbri70rAiRmR2upXwICIkgMsgDG7O3KIXmPWLv6l9JKv8RLaIDcbYsibKoEvG1LXzzRw41u7ejko+9gXy+Z4sabjcgYEDAgIABAQMCBgQ+FARUpCde4Pr9Z4gVxSwe31pMIyzcg4gM9sHZ1vStdxtuMCBgQODDQ6BExFOTcZVDBy9w+8I+Nh+6Sa5jFC2bVKK0kyXGIi0ahYSsp/e4lHAbddlGdO3dmWq+dpgbf3gAvCiRmsR1Qxmx6hSpRh74utvq8zFq1ciz00nLlqA2ciCgVjt69e1MzUB7zItNLyHl2s8L2CitR7e20QS4CJiUrN5apZjb21fw/e0IevWqTxkXq3dKMlyyrxmeMiBgQMCAgAEBAwIGBAwI/FsIqHl2/QTnL18j4fB+jl++j9g+gvp1qhBSygHTl9eIeRlcObibk9ceo/KOpl6tSkREVaNahD9udgV5pf+tshrea0DAgMC/gUCJiCdqBVKpjKdbJtM37iDWbRYT178yXnamiERatBoNalUe4lubWTxnPYmenZk681OiPGwwLSEJ+zcqX/Sdam6t6cfAL06iqj2RhYNrUcrBHBFatGoViqw7HPvjB9bvvIG8dEvGzhlCgzJOWLzkApt3+1emf/GIOoN7ULesK5YlZZ35hVPn3uT3uV/ypM4wetUNxMnS4HP779uC4QsGBAwIGBAwIGBAwIDAP42AOk+GXCEnedcypn+1mbs+PZkyrAM1yjrwyupGK+HE1xNYujEBm9YzGPVpA8K8rbA0N8XYkBD6n24aw/sMCPwnCJSMeOqKJuP4vC6M+SWbOnPWMr6JL47mRVmlVvmUP8d2ZsEhIxrNXMvYxqVxsPhQmecL4qltGsf3Exrh52TB89Jq8pBkP+HYivHM+uMubh8vYKmOnJq9uEebxt45Y9jpPpgRnSribW/64r8SN6eK9P0LGf+7HT0ndCW6tMP7x4uW+NuGBw0IGBAwIGBAwICAAQEDAv8kAlrSdy9gTNxGbvsPZN7YTtQsjngi5fgXI5i/7gwOXRYyoUd9Ql0Nm+//ZEsY3mVA4L9GoOTEU3mFr3sPZM2t8oz6cS7tyrpg9fJ4oH3GnyM6MW9XBhVi/mTex4G4WP0fJZ66ltEgvbWW0f2+5JRtR5asHEz1Ui+IoPrBb4wfd5KImDG0D/fE5h9yLdbmnGLpkC9RdJnOgPoBOH2w5P2/Nl/D9wwIGBAwIGBAwICAAYH/Wwi8IJ63/Acy/12I5yf5xNPFQDz/b7W1obQGBIoiUGLiqX7wM8N7LuSkRx/WLO9NuJvNq/GHOYeY020cG2850+mb1Qyp4YX9B+tr+5YTzwLcxNuZ2H4a22R1mfVjDE38ndHzQDV31w9nzNEKTJ3cmXAv238uHlOby7HY/nwh7cTsYc0IdLH8B05SDV3BgIABAQMCBgQMCBgQMCDwXyNgIJ7/NeKG7xkQ+FAQKCHx1JKxbQJdp27HtO0KVg6rjtcrbqUaUuInM3BGPFkVRrBkVmci3K0x+VAPPHk34pl7ZimfDf+eq569+GZ5X6K87TDRHYY+4Y9R/dhaaiKz+lWjlEMxbrayJ5w7fJwbGTaE1q1NqIcNZoU275SZD7ifa09pDzssTAvv6mnJiI+h94+2DJ4/iHp+Trzk1fySPalJu32BxKcS8tQFynFGWHmVI9RFwp3bT8gWFIkLnjJyxL9iMJ425vq6yJK5dOQw5x+IUajB1q8KdWuG4mFr9iIGI+82xw5L8Syt4v61GzzOVKBSK1CoLHD1D6dytXBK2ZtjItKX5c5TCYoiZQkh1NcZq0IAaNLvcCExBYlcRUGpRebuVIr0Q/7kGolPc5GrXijhiUTGmNs64eLhhaerHRYmRq8QcnnKJY4ePsfDLDkqkS2+letSPdQTu0JKV+q0RC4lPiVX8eK7RlaeBIf64Wytr3Ne6jVOHr/AnZQspHmmuAZXpWb1cjpM9AfbWiSPr3L9USbSvOfIFtPPRZi7lSU8wA2rgjKos7l7+hDHLjxArBJh4hBApVrVCSvtgEWRDqNBnpXCkydPyRBLUajUaArJSouMHPGNDMLLzkLfju94qbLvcf70eRKfGeEXXYdIH1vMjE10MTSi/P6qEd/j7PFLPDMPJKpyWdxtTZA+usjpszdJkpjjE1WLymVcsC7cntnCMwk80PpRtUYYpRxEpF85yakrSSjtA4msGo6Pk+WLuG+tlKRLpzlzIxPHiJpUCnTF2qzQgKHOIemJBFs3Z6wtTF+JB1JlP+Dy2QRuPFFg5RlERKVQSjm+eL8m+x4JJxK4r/GlSo0wSjsYkX71FKevPCHPLpDIKuH4OBe9/+yJczwW+VMlOhQvB4uim0kqMUlPpNi4O2Fjkd83tBJdHc7ezMI+rAaVyrhhU7gOz9tEQ07SQ3Is3XGxs8SsOO8IVTp3Lz8gzyUQX087LIsZPJXpd7n2SI17QGlc7fLLp5WSfPliNXUIAAAgAElEQVQMZ29kYFdcGdQ5JCdJsXZ1fFHud7QVwc4V6fe4cuEytx+nozB2IiAqmopl3LEpPJjlv0+bl87dC+e4nJiMxNSL8OpVCfK0w0JXXw3i++c4lXAPVelKRIf54GScwfUzZ7j6SIaNfwSVw/V98JVpQyXm4ZVznL/2GJmFG2UiKxHq44TVazc2VYiTH/DwUTIZUhVakQgRVniElMPHxUZXHk3OAy6cukSykQ/hUcF4O5ghf3KVhIRrPMgU4R5ejaqh3jhYQG7STa5cusb9DGM8I6sRVcYd28I5rzQ5PDh3kgsPNJSqVIXQ0k5YFmljFTnJSUitXHC0tSoyD+igU4l5dPU85689QmruRpmIKH39isEYZRb3LyVw8eYjxEZuhFSpSnlhbNXZi4achxc4cykJUalwKgR742iuIOlqAuev3icdd8KqVaVcaUcsRbkk37jM5ev3yTDyJDw6ijIeb07lpRKn8PDhY1LSc8nTihDC7izdgwnxc8VW38hFLlXGPa4/lGPv44Ono3Uxmg8qMu9f57HSidLe7jhY6UcyrSyF62fPcj3NiqAqUZT1ciiir6DJfUqyxAJHB1us3pJ7TJNxn2t3k8mU5L2YZ6w8KBvsi6udiIw7N7ifko1MmGtE1ngGB1Pa1Vb3PW1uMrduPyQtR87z6eyVWhphWyqUsqWcsNFN1ArSbpzmxLlEnooVYO1NePVqhPm5YF3sgkjfZidOnCPxmQyNiT2+4VWpWiEAV5tCc7DQujmPuHD8OOcTU5FpjLH3iaBqdCT+bkXXFoId5Cbd4NLZc1x/lE6O2ppSYdHUqByEh525fizVZPHw2l2SMoS2fD4DIzI2w9reGTdPT9wcrDAz+SdOHP8p4qlFkpxI4qOnZMsKZyN4qVFEdniXC6SUi13+2klDbvJNLiec49qDNB0e3uWr6vDwtLfQ46GV8TTxNg+fZiF7fWODyBxn3yB8LHN4/CiJtNxCdmXhin9ZN0TpSSQVeY8Rtt4hBJZywS7fg02Tm8KtS2c5f+0BaWINVt6hVK1ZmSCv4jIaaMh5fInTJxK4lSJFbWxH6bAqVK1QBnc7M0Syp9y5/ZCnWdI32CmIzJz+h7m3jqpq+/73H0oEQZDu7i4FsREwsLu7COlGQcIu7L7qtbu769pid6NiBymc+o5zAPvm5z1+47f/csg+e6+19l5rzWfO15wbMztzVEue8+z5G4oqvj73mrqW2OjJ8/7Fi++vI6eOkYM1JroaVUGXHyeAmE/5N7lz7xEv3hRSVNOS+r72aAtecfvaLZ4WK6Fj4Yizoxm66so/B2jK33L/0lku3XnBx8+gauhIXV93rKQFP3/FD+Jinl87x5mLd3hVLES+tilOdeviYSO18+BT/l0ePn9N0T+poiynjqG9JRoVL3hy7xHP33yiqKYFfvXs0RG95o60/UWKaMvab/7r9ks+8+7RTa5evcPTN8VIaulj61kXVysDan9nuFfw7vE9nrx4R7Hgzys8y6sbYmtlip5mZcBJ8vkdj29e4eqdfN4Wi6mlZyuzpawNNL5Jw5NQ+uohD56+5EOp8M93d2l/7aww1desfJbStj++xdUrt8l/U4y4lh62HnVxsTZE46+h4x9bENIT/yN4lnBqbC8S1n6k4dilpARbUuc7+aeYj9fXMzV9HmdrtSQ8cRBBjnpVG+G/at//hyf/PXhWvDzF4tGZLD1ZhEfsbLJ7umOgVmXilx5jXK9JfOw5jYS2tuj+qDsWPOP4phOU23tTJ28Bc+55ERXVHhcDtSpwLWB3djxLPgaRldIFhx8iyIJbiwiNPINHTiZ9vU3Q+EuyEFP4/B73r+9j+bwdXBPaEtK9FQ3r++NmIOLlw7uc27yQFcfyqe3bky6B9fGrb4++FLI+5LFpfR41HH1wszNETVTAmVUL2VrgRO+RvfC30Kz8rEvxAcYNXcxDiwA6dw3EU5p7Ki+m9NUV9iz5jUPvrGgXFk47Tz0kb+5z79p+fp+/nasVNrSWtsW/AR7mdb4DbHFRAffv3eDIygVsvViEaXAv2jWrT4CXGeIPj7l3/RAr5m/jqsCZnqFd8DJRQ/LpOTeO7eX0BxOade9NK3fDKkNfwoe8zWzKU8De2x1bQ3XEL8+wdtEWntv3JKx3QyzrVG4w4sIX3L93jQO/L2Dn5QqsWnelZWN/6ntYoKUi4MmBZSw//AmbwBAaOhmgWvGKK3vXsfuRMa0HdKOhrTYqCgJuLksk94IGno39cTPX4HPeehZuuYy8V1/6trBHU/SCvF2b+UOtCznhwVjq10JSeJc9ixdwsNiZlm0CcDGpifDtHU7ty0OuXntaepujqVzG41PbWb/xKK+03PDxdMRMtzYqSgJeHF7B0v33UPHpQofm/vj72aGv9ovF/JczSUDBH6tYtPUJRk1a09i6gktHb/H+2SnyarUnYVAQtvq1kBM948BvuylzsuXNjjU8ceyKP7e5LzTG2dsDS8EJFi+6g03/EXSoa4qmFLSE+exfvIsSJ2te79zAC6dO+Eie8LaWNW4eFojOrmT9Ywe6DWyFp7EGSnJlPNi3gXNiB5yEJ1hyUJm24d1pKC3QJdtsxLzaN4nRq8sIShxBKydD1Ko3IUkJjw6vZsWBl+j7BtDYw4Dis2vYcMOQVv07Ut9Ki5rifPYv2UWJgzVvdm/kuWMHvCVPeV/LCld3S8TnV7P+kS2d+7fGy1SDGtI+L91NqYM1r3dt5Llzfwa19cZMs7qEv4iCPZMZs6aMgIRhtHYxRl2ujPt7NnJe0RGXiuMsOahE6xHdaWSnV9WHrw9B8v44s0ctoqBeLKEd3GUQ/JOR/mA9mRmruG85kPSwYBwMVb8DMMmniyzPmcaWZ44MyxhKgL0+KnJlPDywiXMCGxxEp1l+WJEWw7rRxEH6t6pxPDCVzNXFNI4eSmtXE2r/Uzuy9Cl/bF7NjisSbOr7U8/DklqlTzi//wTFbp1oU98O/VrVFxPx4dZ+Vq86RpGZH40beWJYcpbNhwTU7xKMl5Uuis8P8vvuQqzM3nBw+3OsW3ki//ITqmbOuFlJyFu3kYcW7ejZui4WWtJCbzJrkNJHx1i38gDPtb1o0tgLo7ILbNpwHa3AnrRvaPfD2lvB68u7WLvuFG+0nPDysMO4Tk1K8zawZFch9WJi6elvi478c46sPEiZnTXvD27kgXEg3krPeCbQwdbdHSvxOX5fdg2D9p1xKb/D3Q9qWLm6YFJ2nKWrHmLVdQDt61ujLduchbw4tJJ9hRaYvD3MzmdWdOnbFl8bbarrcIpeHmBm9ho++kUwqJ0H5hrV4yah9PEJNqzaT76mB40be2H8+RKbN15Ds1l32jd2QO/L3iKh+OER1i3fy3NtD/wb1cVSqYCzR+6j2zQIX0dT1F4fYc3BEiwtP3Js830MmnlRo+AFFVrSeWgN51fy+1UdWnd0RXj/Hh9ULXFxNaXs+DLWPjSnQ7+O+Nvq/OTorHh9hX1rN3DypQb2Xh7Ym9ShZtllNv+2h4+eYYzs0wgHvR+rjgp5tHU843+/hm63ZIaHeGKm/q0lKaHw8mqm5m7gvnlfEoe0xM20FnJljzm67SxlJtZI8tZzTNSAnl0CcTepVflOiN9wdHYOa994Mnhge7yt6vxcpOabySWF1McPbnBk3TJ2nv2AftO2tAhoir+b1JCEZztzGb/0OK+1vAhoHkhAUy+s9NQr973PH8h/9ICr+9dzUuBOw3rOWGgrUv78BOuW7+LyZ2tatAuiaRN/HIzroKpYxK19O7hUooutixPmWvK8v7ydVVvvodW8N92D3DFW/wbQJUU8PLKGFXsL0PcLpFldazSROiaPkPfZliYBvjgYStVllc9+7fJ9FOj50TzQB2sN+PjwPEcvlWHbNIB6DobIzBPxR+4cXMfW80Ks/BtR10GfGiVPOL9rB2eKbWnZtTW+NjrUpIQ3Tx5y68gGft9+mjcGLenVWeogV6Kk4C5nDp+mQM2dll3b4Guji+r/KZXofwWeUP7hGY8fXuXQhpN8dqqHt5sNOooVFPyxgVU7L1JsHkhIcABN/B0w1lKjhuQjdw9tYOv5cix8G1LP0YAaZflc2L2TM4WWBHYOob6dLiri+2ybPJ/jn/Rw9a+Hg56Eu3tXs+P0e0xadaaFtwUq729yZNdJRH6D6R1oS81Ptzmy4Xd2/VGAhm9rggIDaORhQs2SVzy6uIvV6w5yvcySwDbBBDTzx8FEG7UaEj7dPcymLecpM6tHAz8nDJVLyT+/l12nP2IR1InW/vboVheWlBTz+MR6Vu15iqZXAAG+dmjJFfLo4jEuF5tTv6kf9uVHmDX/GO+1XahfzwF97nFg7Q7+eGtEcKeW+Fip8uHmEfacFOAzoA9BjqoU3j7CxhU7OP1MHe+WwTRv3hhPM1VKXz0mb89q1h+4TKl5IK2DA2nq74CJjvqf1BsR8erqEY4f3ceeAxd5oOpDez8bzK2sMbWxQFtSwKW92znzyZxmnTvS1NXoS1qapOgOR/Zc5IOaOU4u1ugofeTG7nVsv1ET3y7daVnP4jvbV/ppx1MbV7L3sTpuTQPxc9BGvvAxl47nUWRSj0b1XdCuKODxzSNsXrWDPwp0aNqlPU09LdBQVkRRrpznpzawatsZ3hs1pZW0bw3sqPHyImer2n9fxYu2frZYWllhYmOJjuQlefu2c+ajKU06daKZtP3V9nj5K67sXs3my+DQqDkNnLX5fPcAG/c8pHa9dnQI8sTky3wXUvTqCY+vHmLriUKMXL3wdNSnRvlzzmxZx56z7zFs0oqgoAD8nczQUa+B4NVl9qzezGXsadC8Ec5an7l/cAN7Hqjh064TQV6mVF++/OMLnj66xpEtJyk0c8PL2xF9JQGvzm1l3Y4zvDNoRIvgYJo1cMBUtzbKgtdclbY9T4xtw0AauWhTfu8gG/c8QM27LR2CvTCt/X+a9F9W4f8GnoJrzOs/gkU3TOg9MZZgizoyb6BYUEbh22fcvXiCU3cEmPoG0yrAGzsTLVR+EY36x1QpeMCh5Tu4VFBE+a8+HPoXF5KTU0Snbmd6NrWmtspf0Vo1eJ7ms+dQ4rq6o6deo/JzKh9fU/D4OqePnCDvYRnGIZGkRbTHzVCN6sCk6OEKRg7dhXnaJIY1NKXOd1EOMQX7fudIrQYEeJjwdsUIorbqET43iVZWOjKDUPLxAFl9xnDOOZGZiS2w0v6msJHU3PqwnZQei1EcMY3oltboVFqRf3qIhRUISi4wZ1giayUdmDG2D+4W0iq7IBRU8Gp7GoMnX8YxejqxLe0x0lRGUV7Ew7WpZO4R0XBIDN18jdFQElKSv4+p8bO55RhGdmQQVtoqyBfvITPhKl6Du9HQ1QxN6bdN5UAsLOPDhYXEp66nwDOaWckhWNVRRFhykbkjElkrasfUnD54Weqholj5my+HWIRAUMr1xZHEL/1As/HjGVTfGoNaStILIyjOY2F4AqtKWzJp4mB8zDVREFVQ9v4yKzPGs6uwPlHSiLBU/ix6yIa0MewRNmBgdHfqSXNxhSU82z+VlNk3sBmWRUQLW3SkRpz02oISLs4NI3WVgFZTs+njY4meqgIfziwke8YVzPuG0rWRI0bSCKdEQOnHxxyZO441b+sTFtcdHxMVLs7I4Zp7F4LdrdFXVaDi9HSGpW9HtVsuo3u4YlhLRMntdUzYrsHIoS0w1/vE7knpLL5lTp/YgTR3MaV2DTnEb0+zOHM6u8QtyEjuinPRDkalLyVPrS0psZ3wstRGRUlBFl0o3JfN4IkXsQkfR2RLZ1mxK8V/VO1PwvuLy5k47Ti12g6nT7A7ZrXhzYHpJE3ZzFvfdKZHBWGnX5OK678z44QRbdtYcmt2NAvy5LBtMYwhnepja6xJzYrT5A4bx23vRFIG+GOpXYOKa8uZcdKINiE23Jkbzfxzinj2iWJAK08sdVWQFGwhM2YHar1TGdLCHp0Pe1m0Q4RfsD+mj+YTPukpjbNS6OVjjqZ0rZO852DOMCZecSE2J4wAe70qY7iMBzumM2nDa1y796edvyOGtRURfzzDgqTZPPIZSVT3ehg+W8PMkwa0DrHl3vwY5p+Vx71XZXus9FSRFGwlO24Hqt2TGNzKEa1HK5l5woBWrS25Oy+BFRXtyYjuhJtp7UpjV/KOA9mhTLruRFxWKM3s9VF8vpsFW8up16oR5o8WEjnlGY2zEunhY0GdH+Cu5OQ0wjNPYRyaSURLZwx/yn2XKkYmkTp3A3m1ezErZwB+NtpfI9mSQi6vm0bu/G3csxzGtPSe+FhqwvN9LNklwCfAD/OnS4ia/Ai/UYn08rNCSzaOHzg8PoxJl2wIHxNGkLPhn3itv19aJCV32DFzOpueWtG+bwcauphSp5Yy8uJyPp5YQO4tJ3p2aICjsRQGJBReWc2U3IMI6vekV2tfbPXVUBLeZXXmRhQ79yLYy5RXa2dxSjuQQLvHLE+cx2mhM10jB9LK2wb9WvByxzhStinQLnoIrdyMUZOHsge7mTNlAy/sOtCrQyOcTTSoIf7EuUWjmXfPiUER3fG30fliEJXdWMu4CSu4pd+ViIEt8JQ6zhTLOCstWHJCj/7pUbT1NEXp9mpmHdUgoKU9+b+nsfBMKebNhzCooz8OpnWoKbzEwuhxHCvUwrxZT3oGe2FnrEGNijPMGTmFmw5hRA9siqN+Dai4zbo5J9BsGoD10xWkLy8kIDGCLvWsqPQvSHh/aCIxky5hETqK4S1cMapaz8se7mXe1A08s2pDz46NZaoHaf/OL8lg3h07+oX2oJG9rqx/snOnrCPfql3VubUpvbKOGTN3I24Zy7C2LpTtnssxtcYE2r9gzegFnC42pdngwXRo6IRpnZoI8xaSOO4oHzRNadxT+lykkV5lBGfmEDv1OtZDoxnQ3Bl95W/eh7KbbBg/iZXXtWgfNoCWda2po6xI2bl5JI0/ikavFCI61MVC/YeXXvyK/TMymL/mNModJjFqcADO+l+/xSgpusrWmTNZuPkGBn3Hkdy3Efba8hQcWs6+Ukd869nwdk0SubccCYvqRxMnPdl8kHw8zozYiZzR609CWBu8zL530Py0Scr2mRKurRhF9qq31I2LpXczN0xUlFAQPOfwosX8IXakUYA/LmbaqKvWRKnafpGIZftn0R+r2FLqRX0vR6y15JEUHmFG9DSOKLchLrorDRx0UVZUQJy/m+lTtlNg3prBvZrjaKiKuLSAkwvHsuBsLVpGhtKhniUaMntOyIvD85m66BzKQQPp07Y+dtrKKEg+krdmOnM2v8Z9xEh6NHNG680RFk1azDnl5vTv1xY/e22UFSR8vLiWGXM28dotlPBeTXHSE/Jg50xmbH+PS+eetG3kjIGqInLSYonvbrB91gL+UGpK3/4h+JirgUBA6c21ZGUu5YFtKInDW+NpUgOx4DOfbm5hZu4WHph0JS60HT4Wtf8S8P/avvvfgadEun9XFHF23TaKnL3xdLZHW0FC4fFZJE89gCQompE9muCsXxNF+XIe7prDzO1vcGjfnXZNXGT2hbxYIBuPnXMXclKuAb36tcXX5BFr5l6ijltdfHysZbbQleVpTFz7Gs+oePoFuqBLGY93zWOPoDFBAb44apdzc20W45Y+wHp4DAND6mGppoSctI1vjzInJZeDkkAiIrvTzNVAptIqf7iH+TO289quDV07NMXFsBZK8mIEJe+4uWM+i09I8O3Vl3Z+VmgoCnl5/DdyF59C0qA3fTo0wlG3JgqST1zZMIt5G59hPyCULnrX2XFdAyefevjY1EZJcJVV6RNZW+BGaOwAWrjrISl7zN75e6ho0Jwm9V3QLb/B+uyxLLtrwaCYwbTxs6aWkhwSwQcur5zApGVnUW2XyMhezXEzqImiws8Ks+pnLiwvobTwBpsmTOb3UwL8hkbQL8QXS6miCCHFBWdZN2sJRz440T28L8EexqjKiXh+YA6ztt5Hq9kAerbwwFRNTNmr06yYvJAT4gYMGt6Nxg5alVFS4UtOLZ3BkhNCfHv2oUNTZ3RrKiD5dJUtc+ax8YklvYb3IdhDH/nSm2wcN56lt80YGDOUdn5mKMuMTwmFJ+eRPn0PJQ1CiegdhLthTRCWUVZ4gy2Tp7L8+GfqDY6gX1s/rGQKLSElBedYN+c3jryzp2toX1p4maBKEbe2zGXOlqeYt+tDt5Y+mKopIP78hnOrprP0rBJNBgygvb81lf42CWKREEHRBXbuK8TU3hVXJx0UJEWcXpTOzJ2F1Bs2kt4tPTGsqYh86S22zZnN1qfmhPTpQUsfU9QUxJS/Ocfq6Us4p9CEvgM74m+jXhkZFQsRCoq5sHkX780dcPd0RU9BQtEfi8jM3cmnesMI79sSTyPpvCjl9ra5zN38BNOQ3nRvLW27IuLyt5xfncvS0/I07DeAjg1tqtr+j+ntlyf+J/AUPV5FZP8pnFDwpX9Pf4yrpRoooFJHFwMDfbQ1NdGsU4faajVQ/I4u/kODxR+4fy6PB29L+YuI9K87iCKaNnXxtvk+uvbzydXg+QcFFapoSiUA1TJDkQTFWrXRMnSgcZdetG3ogoVMyvKVmirOT6N//HUazRhLH1dDvnMMCB+wccE5rDu2wlnnLesiR7DoUwiTpwzGu0qq+/nMVAbEb0d76FzSuzh+EzmoaunnE0zons7TkFmk95TKXv9BmEJwlfmDR7JM3I1Fk/vibPh1oyjclUKP7Eu4pcwhvoU1OrKItYDbS8KIWnwP+/C5jOrogJ40giF+xZaEvky/40vqzGiaWWqjLHzClWsSzO2N0aj1vaxYcHMxYWELeOSdwrzkVtjoqiAnuMaCISNZJurCvIl9cTPW+JNNS8S9ZWGEz/tIixmTGexjhma1v0BwkyXDI1hSEkLupMF4mWtWGuKix6yJHMrMPGvCFo2ho6MBaqLbLIuIZMltW4bPGU0HJwOZ4Sp+vYXUftO45Z3E1OhArHWrAV/A9fnDif5NQId54+nrYYJGeR5LYtNY/bkVY8f0lYHuV2WUiMJTUng4gX6/HBI6WHBj5RoUW3XA21Qf6bBVnJ7KwKTNqPaZz5geLhjXllqLF1mw4BHtuweg+mgFMekbKAvKIWeoP5ZalZJCccFuciInc1S9GxPG9ML56QIGp6zllXcKc5JDcDT4aliVHsiid/Z5nOKmEhVsi97fOCSq33tJ4XkWJWWxQ9KGlMTu1LXUlMlYPv8xlSFp+9AcMImUTm4Yq4u4s2IKh40609GrkM0xSax5V4+Y7AhauBpRSzpJSo8wvncW173SGDOiMTa68txbOYmDep3o6FPKtrgkNotakZzWjwa22ihL503JQcb2Hs8tn2SyRjRA7ugc9qqF0N7fkMeLI8k8asSw8dGyyKaMyUrPMmNYGkcNhpEdG4KTUS3Z+1N6YxVZGat55RNB/ICmOOhXfTdX9IQNieEsLgohJ60r6icXcVinAx18ytiRmMJmQTCJqf1oaKdT1Z5DjO83gRse8YwZ0RDxgdkc0WtPW+9Sdsansl93CJmRrXEyqhr7kj/IHZ7BUf3BZMW2xcVYmSebctmj2pK2DUx5vjSKrOPGDEnphYeBNnW0tKktNWxlS0YFVxdGkLpNma6ZCXTyMuOn6Swp5PiMOZx8dIxdD92JGhtJiKsxtao2rMK8jWw4eYl9a06g3CGbjEENsdGR4/HmmexTDaZ1fWOeLY0h67AeA7OjCHGr+m3ZOWaHpXNYqx+jo9vhbqr298ajpJC8ZZlM2PgW7xEx9G3uioGqQhWAF3Pj98lsVWxJ95beWGvXQPL+DEsyJrLzc1MiY3vR0L5yjCvydzE19w5u/bvRxLGM3dMPotEqBG/hPjLSNlDSOIaEgc1w1Kspc6qUHpnI0IlXsA9PY1iQEwbi26zPyWLVM1cGxwwg0M0QVdmAisjflEbMwvc0HZVEL3/rSshGxJNNo0iYmYfR4GxiOnpjLh3oimv8FpPKFlFbUhO7Uc9KjYdrJ7NX+ux8RRxIz2D1CxdGjAojxNsMNemkLz3FjBGZbC/xJyJ1CC3cjSsVPIWHmTx8ItccY0gaFoCTQQ1E9zcw+7AGzVt4Iz6YTsbuWnRLjaCdl1lVlL6Us7MiyT6gTvdR0XTwMa98/mW32Tguh1WPHegfPaDSGKvq37PN6cQteo1/UgJ9GtmhXXGXLROy+f2hLf2iBhLsaUItBQkvj85nxpbXOHXrTxtPEQdn7kE5qDW+HCY7fRXPnIeRHNYWH3N12VpW9scMRmZtpbBuGInDWuNhUpkOU3RkChETL2MdkcjQYFcMv3Gkip9sYUzCLC7q9mV0XGfqWtVGgQpuLEsgfcNnApPi6dHAljo/OMclhSdZuPA4dw7t5onTEJIiOlHXstqRU8S1bZs5dW43G07K0zw5jUGBLhjIP2Xngn0o1A/A1/IdG9Ny2K/ciYSRnWT3lQUhLy4kPnMvSh3iGdnFD6t/FMIXcndVCmnL3uCXkki/Jk5ovrvCgX15FOs64eXphJlOLWr8yefQPp9eyzaBJ/XcbbGURqtLjjI9fCKHVbuQEtcVP+vKtgkfbCQzbSF/qLRhdHIvGtnroICYd/snEzf9D7R6pDCyky+W6nJIii6yPH08q/KdCEsZRktPE2RBLvFrjs1MZ/qOEhrEJdGvuTnPV49h4sonOIQlM7S1FyaVJ/L66CzGTN1BSYM4EgY0x1FynFkZMzhVqxNR4Z2pbyN9VlWHpIL87RNIX/oQ6/4xDGrpJnOACO+vJyN1AfftRpI0ohI8ZbPs+Q7GJc7gkEII6Sl9aeIo7ct/Pf534FnZgs+c27CDcicPXBxtZY6+khMziJt4APk2CUT3aISdpjzigkPMzprBiRrtGRnRhQa2Gt+Nx7Odkxmz9C5mPaMYFFDO6f1l2Hu542yvjQICrixNImfVK3zikxgQ5Ia+ApTfWMe6uxZ4+3jibCrP/fVjyFhwHzBOhkYAACAASURBVLvIRIaEeGFcbb+UnGB27GT2S1oRE9uTJg6ayItfcnR2NjOPKtJ6ZBhdG9tXOSEqwUS6Zk7LWMYdk+5EDA3BU/Mua8ZOZMU9CwbED6edr0VlUU/xW07Oy2LGlnd4RsTTvc49LgrtcPNwxUFbAQRXWJGSw6oXHkQmDqKlhyHylHNr/Trumnng5emKqcIDNmVlsOi2NSMShhJS1xQlxHy4uo8929ezfHc+Fr2SiekdgMOPntRfvQbCh2zNzmDBZV16xYfTuYH11wKk4jLub5lEzuJTKAbGEtO3Oc56cjzePpGc+YcQNo0nrn8wrvqKIH7P0VmpzDosT3BUFD2a2qMhL6H4yhomTlrOHZO+RI3oRH1L1UoF29tTLM6ZzpZXbgyNHUyIjzHKogdsyclk4U0zhsQNo52vGdUur5I/5pE6eTefm40kqk8gTlpVtrXwEdvHjWH+RS26x4bTpZGNzK6THeIyHmydwtjFJ5ALiCamXxCOFUeZM242B4UBhI7sQ5CLdpW9KKHo3BKyph1A1HQ4I3o0lb2LX46KS+zYU4SZrbMMPOUp5czCFKbuKKFReDR9gl3Qkhfx/OBsJsw6gKBZGOF9g3HRVqzag4u48FsWufsraDg0lB4BDlUOTukdyrm0bQ9FZra4uDujLQ+lpxcwaspOihuGEdmvBS7a8oieH2Le+NkcKG/MsIi+tHDT+dr280vJmb6fioZDGN4rAIdfqLP+7SrwH8BTwtudSfTJ2I04aDwzwuvLvt9Zecghr6hEjRo1qKFUZZj82xb98nwxwvIKBCLxl5yMf35ZORSUlGV5CX/Nv18jnkXOg0jr54uBhnTBlUdBWR1NzVqoqKiirqmJujS/7IeAY/mxHLqPzqftgiy62+vLIOfLIXrN3btCjCz1qPF4BZHhiykJmcy4wXUxkeXGCri1cDgRyyroNHMSfT2MqP1jcLbiPLl94rnaYCpjB3hiWOki/etDcI35gyNYJunGoknfg2fRrhS6Z1/CPWUOcV/AU0LFp6fcfVSMhpkVhpoqUFHEp48F7JsQyqwrbiQsSKWVVP6IEIE0H/HbqKWknLe3jrJx+UbyJB507N+Vxva6lQbavwDP+8vCCPsleN5iyfDwSvCcPBgvs9oIXt/j7I5l/H7gNcbBAxnSuS6mGsrISyr49PQuj4trY2JpRB1VaVc+8bFgH1PDZ3LFKY6ZqSHY61dDnIAbC4YTJQXPuZXgqXx5DqHxy3jtn8mM6IBvILVq7Xm5keQB0zhvPpyZY1oguf8YTVcXjDQr5dO/BE/xWy6eeIS9hzlXF0cxatVbfDNmExNs9xUahcW8fv6KYiUtDHU1UC7OY0VmFkvv2zB4VDQdvU1Qq0p2+AKe8VOJCvqn4Ckif2s6sVPPoD94Msmd3avkH0IerIwh6rcSWo3LoLc02qgo5u29u3zWNUPrzRZSIxfxtsloMoY2wka70iAR3PqNqKg1yHWdRHI3d0w14O3tGxTpWaL3bhtpUcspC8kktXddzKu8CKKn60kePoO7HslMjQ5Ao/Apn3XM0JOcZ2Z4NicMhpITLwW6SsAU3FxCVOwGFLqOJbGrR6XkQ1zAnpwYph1Vp9vYNLrVNUej2jMguM6S8Fh+e9OIrInDcBK/4bOeBbrvtpMevZySlhkk96mHZZ3KiSbK30Bq6Exuu8QzObo5daTt0TVD+/0u0qMW8ykwjdiunphVzTvhnZUkpW1GrlMOyd29MZf2+c5NinQsMJC/zLyoMWx5ZkCDls3wMKrgzpUXGDTvTcdGdugpP2FdQjRLPwWSPqoP9ay0fs7JLb/EomlXMKt9gblbP9MsPYV+9W3QUgRJYR6bN9xHpfwEC9e/wD0uk1ApmNUU8/b+Pcq0TNDlEnOjcjiq3Z8xce3xqAJMwa1lxCWsR9wunfhudbGQhZP/+hA92UZ2Yi7HVToyOqELniYqVHx8Sf7Du9y6+YQiNRt8A+rjJM27UxDzbHsWidOPU6tjKuGt7KhV+oKH185w9lYRur5tadvUGSO1Qu7fKkTbVI8PezJJWvqBJslJ9G5gg7bs3RbxbNMoomdexyYih5EhLiicmEzylIPU6JBOYk9/rLWqNl7p+rk0hqTFz/FOy2F4cycMqvJRPt/bxpSs33ho3YW+XQPxMFFH8dVOxib9xmv/FJIHNMJOV553d2/yScsU3Q97yEn8jRfeMSQPDcBJv1LiK7y7gsSElXxoEE/SwCbY61a++xVXlxCXug2FTmlEd66LhYY80pzx+6V1MNT6xMGcRJa88iUqqjt+NlWeetE91qVmsLmiBclJPakv+38xrw5MIXXKfuRD0kjo3RBb7WqHnoDby+NJXvQU96RMRgQ7o3gql9RJe5C0TiG+d2Psq84Vln7gQ7GYmrVrU0vpEw9uF6JprMun/TmkLs7HPTKFwUEuVeMj5N6qJFJXvKFudBIDApzQkwFmBdeXxpG+BVonx9BVGmn5dj/7fJ+dU3JYes+Mdn26EuRtRm2l1+wZl8qyFz5EJw2kqZPeF8Ou+u0qv7yMeZd1ULiwjAOlPkTEDqSZiz5KSCi6uo1tdxUpOrWc7c9sGJwcRmsvU1TF73j0oJTa+trIXV9C2vgD1OiQSGTX+ljL5qKQe6tTGLW6kEZxsfRqbF/ldPi7t/pb8Iynnd5T9qw8i3LDEIIbuWMmdTz/qW9XQtHxDeyv4YmPiw3mUs3/F/DsSkpcly/gKREUUfDgCR+VdTAx0kVdQUhp0SdeHZ3P6DknUe8ymvgeDbDRlKf0wiKSM5dx23wombGd8bVSr3IKCSl995LXn+RQ09Whjvx1liVnsfyGKYNzYunkZ/XFcSUsfcfL15+QU9NFR1OVDwcnkzp1N8Lg0SQPCMBJ9/v5Xn5pCclZK3nqHM7o0BA8TFQQ3t9ARur8r+BpJObD4zwOrl3NvgfKeHTqR5cmThh+0Rf+3Vj/6u//Y/CUFHFq80EUnNxxdrCSRWWqwVOhTQJRMvCEl/unMHrqTj4HpJI4ILASbL45yi8vJS1rJY/sh5Ha3wH5MnUMTIwwkDmofw2e4g83uPhYBVMzEwy0K8FzzIL72P4EnieZEzuJfbQmJqaHDDx5eZDcUdPYWdqYhKSBBLnrf78XlF/h99QcVkr3/tRQApUOM3Hsb+Tp9mZUjFT9UO3AF1H6/iVvPoGqtjY1X97koYIBRsaG6EqDCt+AZ1TiIFrIwFPMxxsXeaJihLGJETryVeB5y5LhicNpU9cUXpxh79lPKL86zprteSi3jiO6d7N/CJ6P2JqTzoJrJgyMH0EHP/PvpLnlN9eQk72Io/ItyUwaQICbLoLilzx5+gF5TUOM9DRREpdS9Ok1p37LZsEhCc1j42Qgpi1fxpUVY5iw+Dya3dOI6tXsKxCJSnn/6g2fxCpo62ihXlMROeEDtozNZOGNn8Gz9I95pPwSPB+zffwY5l82oF/sCDr6W3yXclB+ax3jshdymCDSE/vj8mY12dM38dojkpjBbfD+4nEA8dPdTBu7hNtmA4kc1p56pt8qPU6z7WAFlg5uuDpK0wRKObOgCjwjqsCTAg7lZjFjw0vcI+MY2NYHoy+vrpj83VOZsOQWxv0jGdrRjy+XlxRzducRRGa2OLlWAulX8Awnsp8UYKHg4EzGTl9PgVsE0YPbUdfk67wQ5+8hd9wSbhr3JWJYJ/zMvrb9v8x8GSlKJF+yyP/hNUo4mdOThLVv8Bn9O2PaWaNdrT3/h1f4/+dp30htG2ayfHRrLKurx8opoKAgLUbx58fnI5l0yyig/cLMSvD87mQRQqEcCgoibi0eQeSyz7SbOokBPsaVgCnKZ0PMIHKfNWXc9DD8zer8nERdcZEZfeO47D9ZBp5Gf53kWdnQKvBc+sqRru18ZEnz1c0qv7mdRbvf0zhz/jcRT+mPJJTkX+TowWNcfFCEkrYxVtaGFGybyJpHdUlekEJLm+q8u8rbVOSf4+DZe7zIf8DtWwXIm3kR0LY1/o6GqNeokmNUgefSl/Z0bltXVoxKWign/3khKla+BLduhrOROjXkRfwdeC7Kt6R9O1+M1KDw5VOevBRg4BtC+yBvLLVVv0pNJSXkXzzKkWMXeFCoRB1jK6wNC9g1ZQ0PPROYlRKC3Y/gufg5Np3bUtdYA+G1razYexu93guZNtQXC6nV/+1RtJeMHlkySezE2WHUM6pd9WHryj7/EjwRU14mQEmxgA0JI8g9rELnebkM9jWnioEq7yCRVBVAkf67gqJXD7ly5gzXHr/l46dSJEq10NLXRvnxfpbtfk/DjJn/HDxF+WxODmf6KW36zcyiu6dpZYRe/Jpdo4cy7YEvaTnDaGhdKVkUC4VIQ3VvdqYTOuUB9UZnM6SxDToyI1XIo7UJRC34QPPsMfTzs5D1QywQIFGU582OdMJyn9IgI5OB/lZoVa1ZRUcnMCx9E6I205g42A8zDTnkFOT5eGQiI3POYBqaQ1SIVIIqtf5EPN2YTOTctzTLSqefn6XsHqKnWxg9ciqn6vRh8pgeeFtofvFeS6XrYwdls6tGR6aP74+3iTry0vbszCAi9wl+o8cwsIE12tXtOTaJEekbEbSazIQh/phrStsjx7s92YRNvoBm40DqSYsdVUslL21mw+matB+fTf+q64gEAqTWavGJaYzM2oUoIIbYHvWx1pbj3rpspp7UpnvScAK1LzItfDr3vBIZPawpdno/F88R3FlF7hF9WlreYG7uMTQHjCGijSvGqkVc2bSJB4Ze1DgxhTmndOmXFUtbdxOZs0skFFaO47EpROecwmDIGKLaumMsa7iI/M2jiJlXgH9qGv0b2n7p/5+vbCKeyZwUhylzbk2wjwXaNeUQFL/h+cM7PCrWp37XPjIZmI5Uxy96wtZRscw4+hnnkNbUszVEu44OeoYG6NTRoI5WHdRVaqAgJ0YolCAv94Z92ZHMvO9J3KjBNHbQq8qDLOLU1HCy1hfTNGccgxupcXZsLLlHVOg4fjS9qiC8cq4Ucnj8cMZvE9NiUjYDGtihUz1VhSW8e3aHi0d3s2PPeZ5LdDBQfsm1W0oEjslheJCzDMKk77hEXo63e3OIyb2DY2QKQ78Amojn28YQN+cRHnGpDGomBTTpjYXc+j2etLVlBKck0L2+TeUcFgkRIo/ch4NMipzK2Ro+NPazx6Dq+1qSD1fYsekUCi0yGD24GQ56StJwEruy48k9qETbnFH0bmiHdnUfJIUcnRTO+C3lNB+XxcCGtbkwIZ7p0nOz0+jV4Jtzv3uQ1WP8lgPjYphx046w5OEEuRlWGlDi5+zMimPefRcikofQ3MWgcuwFt1mdlMra4gDi4nvRwO5Hx4gUhJ5z98Ix9u7Yy/l8EVoGyry6fhvFZqmkh7bE3fj7VBHpWN3fMJtjtRtifG8FS44q0TYhnI71LFErvsaOrXep46jEhQWLOKHSgYToLvhaSY3q6j4UcnpWApOOqtEpMZKOvlZVa5a0DwkseOgiqyURUN2HvzUyqsBz6VNMGzmir1bG9b3nKXHuTWykFPo0fwLnr5cUUbB7HWf1fPBxtsVEqjL5E/CUvZ6lBdw4fZwT527xRqSGnrkVRh+Os2zzDfR7ZhDX3R8bTXixI5ukadv41CCD7NBWuBt/myMrQSKpLPYmfr6TcQnT2f6pPqNyRsgio9+dKZEgJ/OyC7j6WzyZSy6i02cc8T0aYvtDpEp4ZzWj0uZzSq0zE5L70MBBuwo853FBoS4BDRwwUC7hzfN8XpZq4Ny0FYH+ThhpfFWE/e1Q//KE/zF4igrYv/Esddw8cXYwl6lkfgZPMdeWJZG1+CyaPXIqHTY/jsfddYwZPY9jyu0Ym9gTX1sdFBUVZfafdDx/FfFEXEG5QOqEl54nqgTP+eeQq9sMf2fTr06biocc23iARya9SYmtBE/xtRWkZS7itHpXxiT2pqmj1vcKFOFdNmRkMP+IEm3GxBNYsZsZMzfy0jOR9LD21DP/VgP/9R2RCMoRoIiCokKlyuaX4AniinIEcgqVbRfdr4x43rJkWOIw2jgL+WPfNcSmTli938Wk2QcQB8f+Z/Bs72f+HbiJ3xxkRuo01j+yJz1rJK38rWT2Z9mrW5w/cZyzN15SoaKLqaUxJefXsv2yKq3i4ugd5Iw2BeyfOpoZ657jGpvOiE71saj5zYv2rf0kW6r/L+CpT7/Y0J/AU/z2MLPSprH2gQ2jxozA/Mlyxi/Yx3vrVjT3c8L4WwgQlvD+XRG1HJsTUN8Fs28cvuJn+9l+RQNrJzdcLKUFhH4BnqLrrEkfy6K977BsGYSfs/F3jCEsec+7olrYNw/Az9X8q9pE/Ioj289T09IBVzcb2W9+Bk8xN9aMYcL83byxbEHz+i6Y/Krt9vXQ/3iVvIt5PP70bTEkOep4tKdH+2Z4mFXl3f/NovDvwVNwlbn9Q1l804rQFdPo5aRLrb93mv+3tenLr8r5+Pw5b4rKZRW6/rz+08+3kUMRNQNTDDSkOua/asY34Nk4m5UZbbD6F58tqTg1gV4p9wmak0MvZ4OfpXOyl/8uy0NDWVzalqmTBn2piCv5sJcxfbK44JzMjMRgrHV+3LSlEfMzTOmVxL2g2WT2dv6HUtuqiKegHdMyumKvX+1BldYGymbI1Bt4pX4b8RTx6tRipszcQb5hCP37tsDNVBO1miKOj+vDxAsuxM1L/gk8JYJSikrKEQgqqPj8hmubFvL7eQUaD4uhh59pZSWv6ohneRsmp3fD0VANOZGQkuenWDF9KWdFPgxKDiPIQZMXK8L/MuK5uDCQnIxeuBurg1Ca+/mAvfMXc04lgIFD2+NhrE4N8UtO/zaV2dueYNCqP71aumNaR42aopNM7jeeCw7R5Cb/AjyXlNFy0ii6uhohOTSWsCkHqNlxNtOG+2FRTU3Vr9Gn3aT3ymanuCWTZ0fQyEr7O4/er8Gz6seifNbHDWH6oZp0mJPL0PqWX6Ds1/u0iIrPxTw/voDsqQeo8B9OVN8GGF6bTeiUK7glTvvn4Fl0iHH9x7BToT2TJw/C16LKsCw5wZRB6Zy2iiYnKhgHg28/21PEiQlDyDxjTeT4KIKqi9UIH7I+IZJFb5oxOmugrJDPF3+YVC46cSjZ5+2JGRshy8usrEFWxoVZoaSseINf+lRGBtqjJ/2DpJATk4eTddKEETmxtHIxrJTmSN6xP3sYk667k5gdShM7XdkGVnR4HEPGbIc2kxg/uD5W1RQpvcOFWYQnreJ9wwwmhgdgp6eMnPT6k4aRfc6WqOwImjvqf2nPxTnhpP7+krppUxgZ5Ii+TLJczKnJw8k8ZcLglME0sdNDtrdJ3nFoUgxz7nmSIM03ddD/uqFKPe9Tw8g+okXvjFg6eJuhriDi9tJI4pe8xDdtHL0Ut5M54TQmoVlEtHbB6Kf8ThEvtk9jI61p7/aU3+Omk99gNMn9/dDJ38aWB0b4+dbkj/HpbBC0ISOlhyy/86uEroiTU8PIOa7HoMwYQtxNKoFZmic7LozJVxyIyhhBcyeDv6mOLaMQLswexuiV76ibNIq+DWzRVZL6RUQIBYVcWT2Z364a0jVmKMEuhtQSnGbGkNGs++RP8uh++NvpoVylglFSrMxL/vaQFJ0kNyybM6YjSItoiatR1TtXdomFUWn8nu9G7IRIWlreZ15oFls+Nydz7BAZoH55z8ousSAylZUvfEiYEC5rx5dad5IS7u+ZT+6KPJQ829KphRNvt+Qw76Ixg8ZE09bT7Kt8Svrspkcw9qQBA0ZFEOJpWiltlnzk6KQIJl0wZ+ioMFq6GVcWahLeZU1SMqs+NiExqQ/+dt/k4AIlf8wkOusYmj2jGRjkUpXHKebD0VxSZt/ENnw0oa0q5Y0UH2d6WA6bixszOmcoTZ30v8JEWR6LYkaxMt+dmLHhtLB5xILwbDaXNGV09mCaOv4cXfx+jE8xKzKHkzr9SBrZDq8q40Dy6SjTIydyznAwSeGt8TCtVH8I761lVPIK3jWII75fY+y/UHz1VSWU3N/H4hkruYgrrTq1wOXDTibNO4du3zQiO/4qv7OAvbM3U9EwGJc3m8madRenkbH0b2bGmz3buFfHA0+1POaOXcunRvHE9mn03X0lxaeZGzOWI6qdiYvqTD2ZvFeasnyE3JjJnDcaRHxoCJ6m//RTY1XgufAyGiHDGdzRC6Uzi8hdfR31lpHE9G6MrU51QasfV2QBNzds5JlTPTztrdGVOgj+BDzFby6xYcF8Nl9VpG7H7rSWFvHTUEV8YSGJ0w5Ts0PqF/As2JFDwvStfPIbTVaYVOL6LVR8bYP4xU7Gx09n6wdfUsdKI8Mm/PrMavC8gFbvcST0bITdD6AluL2SUWkLOVWrMxNT+tDAsRo853PHYhAj+wfiaqCASCSg5Mkx1q48RYlDG3p2lhaPqpQ2/rfjfwyewlts3ZSPtYcbjvYGsqjhz+Ap+gKeGt2l4NkEh2pZZVUnBHfWkDF6AcdrtGNsSj+aOOt8070/Ac/vBkBYFfG8g/ngCPoEuWFQ7UAqPcOSUbM5ptSW2CrwFF1bwSgpeKp1ISOxD82cfgBPwR3WZWSw8LASIVkJBAt2M33GRl66x5Ee3pF6Fr+wFX/1QP4EPL9vehV43rRgaHx3LD8+4KWqFS4eDmhcXkjKlH2Ig2P+A3gaMzA+lF+CZ8o01j11JCMznFb1LXh/dStLF67nosCVVl3a0tDFCE1VuPp7OjP3lNMkOpbegVLwfMn+qaOYsS4f5+h0Qjv7Y/lXaUb/R/DsGxtKpx8inuK3h5iVOo21j+1IyxiB1ZPfGbfwIOJmcYT3ao6zzg9gJAcKNVRRqSmtw/HNWnppGwc+mmPn6lalSPgVeN5kXeZYFu0X0iQugh6Bruj+OPnkFKihqkLNGopf56XwLrt3PMbAxhk3V2PZvPgVeN5al8X4+fsQNIkhrFcQrj8oI6Qbg0INeHHhICfP3+JF8ffgWdu+KS2b+mD3nc345yvDvwZP0eOVjOw/lT80erJgfijeRur/6tMN/2mREkgLW6zm9LNPfBb/S/CUU8SgYX+GtnKkTq1/WFzoP4Cn8NZChocdxzl7AoN9TdD4RTRa/GoLyX0m8rDReKaObIBZncpIR9npyQxI2I3O8DlkdKrKq/xxoIoPkNF1KiW9Z5LY0Ra9ymSvvz7+pdRW8uEEuVGZbH5fl+isUIJcTVBXkkbvStiX1pmcc87Ezk0mSOUVj+UtsNSp9f3nLmStEVH2fCdjR0zjtFZXxo3ti5eJBkp/IrWVCItlBY3C55xDs/NkJg/x4fPW6D/J8fxRaluV4yku5/nm0YTNPo9O5/Fk9/NC5epc4rM28NY7ivTQFria1q7MyS3ez5juWZy1iyI3uSVqb54gZ2GFnpoSd36Q2qreXcLI8Pncc09iTnLrb2S5lcMuerKGuKG55FmGMTujM85G3+fL/SV4Usb56UNJWvkcr9R5JLSyR/9HABGLEcvLf1lEhC8OMXPUFPYLmhGV1I8mjvpwOLsyx/NfSG1FT9eRNGwGt92TmBIbjL1+pbFWcWU+4XHbqNVvPAlt65B/owgnV2tqa0gl13nMG57ITvV+jEvqiKtxZV+FD9aSFLmY94EZpA/wRunedUpsHDGvo07NikvMH5HEbs2B5MS3w6XqN5TnsSAskdUfGpI0LowAO93KTyMIbvJbRCxblHqQldQZd9MqR0mptHjRaI4bjSA7pjnKD65T4eCC2snJjJySh23kZOKk0dEvc6KEC7NHMnrjZ5qPGsPARraV1Ual9w1NZrdGPzLj2uNmUvW8yvNYGJHM6rf1iR8bSqCDfmV7Kq6wMDyJHTV7kpnYCY/q9kjzO0ekc0x/KJkxLdB8dodSawfMtTVQEV5jSXgi22p0IyOxMx5mtVGQgfNwxu+AkMmZeF6bzrQ9NemalUgHwzfc+WiCg6UuGtXVSiXvOZS7hPdNuhBgX8q22AT2aA5g9AAT7p0pwMi/AS4qp5kYNZf8+qmMGuCK8METVOxsMdKqTQ3hLZZHxbNJrhPpiV3wMq+SY5WeZVZ4Oke1BzI6Ohj1J7cot3XCQrdOZR7tLw8B52cNJWOTPG0mjKJnPatvCiUJebAqgbiF93CMGMfIEFeMFE6TOziD3SpdGZvaHW/LP8vlrrxZ+ZVFxKTsQLnbaKI7eWNelZ9XfnkxcakrKfCKIiO8Bc6KR8gZMZXzJkPIjmuHh5naF/VG6cUFxI9ez6eG8aQNCcBR6mSo6kv5nfXkZK6hwLUfw3s2x90gnzXxKWwStSEloQumb2/xwdgBSwNt1ERXWBKdxnb5DrI8vbqWVflfny+wYGQGe1W7khrTCe+qoirCu2tJS1rJx6bxxPeph8qT23w2tcJYRxMVuQqu/xbL6C0SQlLi6OprVZW7Vcq52VFV+Z1RhOi/4UGpGZYq55mXMJ0z+v0ZE98Bb/PKAhHSo/TSIpLS1/HeL5qUIYE4KhxiXPg0zhkOZExsB7zMv47Frx5hxdWlJIzagrhNEjHd/LCq8rZ/vriAuDHST6KlENWlXmWuojQyuS6NtBXv8I+Jp3d9NfJvl2FiaYxOnaq0hPK7bBqbw9qn9vQY3otAL0Oer0shff1nmifG0tXyE/c/GmBjYYhOVYlFyYejzF/+Gu+WTXAW7yd91Hbk28fTz/Yl115q4V7Pjdp5M0iZexeniCQG+irxLL8GlhbS+yojuLuK1OT1lDaPJapnQ+wqk3gpuzCfhMz91OicwMg2Bry5X4aptRn6un+Xu1wd8XyBZ1wigwJd0f78gP0zx7HwpBDf4QkMDHapUlz8MKqSIk5uOICSpzdONuaVxTZ+BZ6SQi4szWTKyjsYdItiqBTWtGvKJLylx3OJnLAfpfapxHW1RvxGjPrLbUyctpprhgPIju+Kn82Pc0eMWCyHXPlVliVnsOyyIf3GxdGlvs33UmhpMFssRk5OwruDU0icvJWiInD/JQAAIABJREFUhmmMGtoCN8Pv6zF8PjePuKzVPHePZoxMalvzZ6ltVY6nuOIVB6enMu9AKXWjUhgQ5IrRd18z+DuD5Nu//2/BU1J4iq2H5HF0d8beqjJv+FdS27cHp5EyeTMf6ieRNqwVHkbfq00+n19IUs5KHjuGMzqsHT5mKt80+t+A5z+U2r49zIyUKWx+W5f4tGG08jb+vlJs2QUWJ41l1UN7RowKpYXqMSZkL+GcRjdGx/WiiUya+e1R9Y5IPxf17Zr+b8Dzhgntm5qjY+uJs7s7dgaqlJ2cTfLkvYj+h+BZcWM1mVkLOVnz/7F33vFRFV8b/6ZnN7vpPZBGek9ICAmd0EEQUFFpiiBFmnTpRUUUEAsidgFBBUG6FEF6D51QExISUkjfzSbZ+n7uJoGAQUH4Kfru/TPZO/fMM2fOzJk55zndmDm+Ly29Mvl+3gKWJUvoNPRVnk0Kx1lkirFROYc/ncD8jQqajxrDCxGWlKotufnLRyxZfgirnlN5vU/SndzMGjiE/ZMeB6NHDLV1oS7HU3l+FXPe/Iy9Zl2YPr4vMSVrmDV/FTeCX2P80B7Ee94byVTX2FSSsnkLWS4BhESE4q4PXagr1LaQg5/NZMF36QQPm8SrPRvjeW+Zttr9rcZAJzvKlj0q6vuHEhZoW8WLcTvH806obdHBz5nz3gquBw5l3JCeJHjfe+gmyA7qCgUVSiXqeyoGGpuJEIst75sTf69leEjHU0fBxon0nrkFXYeFfD6+JfVt66ixdtdXyrm2az0H07NIveFK51e7ESkwHOqy2f3JN2TFDqBbjDPSOmvd1aBXSWl+MQqV5k7tyQe0cUKArKmVHfb6nI0/ctYe7cZTV7iRyS98gemwhYxu76sPR7v30Vz+iqGDvsK43+fM6hWIiz4RVMmZTwYxeoWWnh/Oqzu/U3ByMlby+oDN1J/6NgMTPe9hzb3fnvHhcjxVxz7gpTHLKGgyi4/GtcGv5uZVk8qK1way+HI0k5ZOomXOVjaUmaGsbET31l7YS+9x6CsPs7DPOFYVNGHGZ+Np08ARS/X9yIW0ZK8Zx4B5O6DjAj4Z1RT1xtcfzvEEZDtm0W/6z1QmzWXJ6KbcWjmYCd/eIn76R4xpF4BT9WmYJnUFo1/9iIsRE/h4YhIF2zdhktSBCDcbUj+7O8fTWnWZVRNG8Wl6PJPnD6eVX+2yAlryt87k1bkn8H1tLuO6hOJ6z9X/HzueQnL854wf+w1ZCVOYPzIJ/9tER8J4lnFqzTYqE1sQ7uaASJHCmrkzWXrIiq6TJvCi4ExZmlBeQy70EI6nNn8j0/vPJ7PVO8wc0AhvYROnK+PU0tFMWqWh67szeM7+GMt2O/Bct0bUc7FCfW0FY4d/TXnnt5naJ7Y6VKQqzHb0l6W0nTmNPuH5rF2aQtizHYn0csREeGfEEgpaz2POgMb46GMHdRTtf58xc/bi0Hsyo7rHUE9anasnsOP2n8axoHHMGNoKf70DoUN25CNGTdmI6MV3mNRNxN6vj+DdsxNBGd8wfNZxAsbMYVibQFyq55w6awtzx37MpcCBjB/SnjBXK324kfrqd4wfuYRbLecyW39DWi3PgUWMm7MXu+cnMrJHLPWtq+RRX1vJhFHfIG8/i8l94vCujoVWX1nO2FEr0XSfxfgeUg4vO0q9ru2J9hVK7exjfr+3uBQ3mUkvJ9LAwRRh0/3usNn63J4pM9qQ9+UMlhW0ZuqUF3A+9R177TrRVJzCr79l49X5aZo6XWDF9yUkCgyHXkbsnj2I969H0S1YjGPTzjSL8kV07H1em3MMnxEzGNK4kA2r8kno1oIQHwfMlEf48JXpHPEdyZShSQS7CqfiOuRHP2HM9PWY9pjDhO5SDq84hkeXdjT0qyZwqtOMaLm5fhqjFufSbPob9EmoIe6pIrTY+c4I3tlQSevZbzOwZSDOxpdZMWY8a02fYdro7kR53nGghBvt81v2UhLciDAvZ6xN1KR+P4lxS7KInz6TAc0D9bepAvOuEFb5zm4ruo0dRc94H2zUB1n06hwO1xusvxkN86i+2VJns33eRD4558WLYwfTKcod3aUtrNyciUf7ttgeWcSC9WraTxxLr8QGWOdtZM6oJWTFT2B8Xx8u/7gTy6R2NAryRJz+I1PHfEVBs0lM6NcU/+qbPvXl75g4YQXy1pMZ3zsRP4GsAzXXvn+DSd/JaDVuLM9Hl7Hlm/P4tm9NdIAbIk0aayaP45v8Joyb2E9PsKS3kupr/DBpPN/J2zBh3DM4nvqR485taBVSwE/j3uKg6wDeGN6JiHrVTp46mx3z32DJaQ+eGz2Yzg3rI608xEfD3+SAywAmDe9EZM1vhfZ1xZzbvJci/4aEN/DA1lRN2uppTPoqj/hx4+nbIqjqhk6fGzmRyStKaDZ+PL2bBVaF9gpEeFOEW9zmjBrzIg0rtrL8vDetYkSk7fmNTNfWJNkns3jhespbj2b0i0LuXD5b3xzLp+lRjBjXF/+0n9ltGoVr4WlSStxo1akZ7mlrWJsfSVKzaPzN9zF/xCIueScRYOdBYrtEogKknFnyOu/sd6TPxGG0qNzJupxIkppG4O9ijur4p4yctReHfmMZ3CWG+noqeDknv5jEnJ8qSZo4jmfdzrH2mD3NWsQSUlvv6tTr35MLOZloKMvYy1dzP2BrfjB9xw2lixCxIORVK7K5fK0UK3cPXCQ32Lg2g8BG0QQ2qGLWrdPxVJ1l2bjpfHXOnf6zx9AzoUF16SItmT/PYuKHB7B5fiZjultyfr+KkEAjjn27gK/PedJ/2gi6NfK+K3JKcX4re0v9CQtyRb71TWZ+cZZ6L01lePf4uxmEFRf4ZU8p/mGB1BedY+mUeWxVJvH6uL60DHGslcZTScp305i1MpvIV8fxcvsIXC0FcqF7cjyrHU9hTTr48RjmrriK37A3GdmjMT4SI7TyLFJztNi4OFftsx5ob/aojqcORc4V0kpEuHi4Yn1jC+vTfYiMCibAterU//eOpzHq/P18Nv1dfU7lyLH9SQpzuguPi6tmMue7TIIHvM6ATtH3ONaP3/E0VudzcOlM5m+QkzhyDP3aheNcq1hl5cXveXPWSjKC+jNqYCei7DJY+85svjzuwLMTR+oJb2pzaZWn7GB/sSf+gf54177NfQjHc+meQrxb9WFA7w5ECaXITIyQ7V/MpPe2omn7F248T7nSd8Iwuif41CorVs75VW8y98tkbHuMY8QLLWiQvYZZcz7jiLQnE18Xwo6ro3i0Wfzy7jQ+3mFE+4ljeM4pnRMKTzxMUtiwWHDCezB2ZC+aB9Q+qCnn8s79FHo0wD/AFwfdI4TannCoJkfyvUv+Cz/M1eeYSrqNYeSLrQgwOcOKt+bxY1ZYFStwQ/e7DhHKL/3G4WJXvP398ak+ONMWJ/PLb8W4BoUTVs1WXqfjaaylNHk5c+f9QFbIAEYO7EpDj9q+VzlX9hymyNkTd1uQyUyxd3HDLvdXtqY50yA0grB6VfPi946nMdrSk6x8+11+uBFE/1EDeSrO465oqPLLezhS5IynXwC++vXv0Z6Hczx1xeya1ZfJa3KJmfIdc57+8/xO1dX1rDrrSVPf03w4+Sjhb86gV4QL4sKNTH35BxwnzOOVBKFsx6N15NHffjTHU8iL+XLwSI7Fvs30PlG4/44dSCg3tompfd+joPvHzH4xFBepMRVpm5g39m02qjuz8KNhJNSV3ylwtu1/h77zinjuvbF0DnC+ww72Rx1XJvNx/1GsMHqWT+e/RLh7DaOdjqINE3nhrROEjl/CpM7+esdMffkbhg9ZzKWAkXwwswehwoYdHcVHlrH0m59Yc8qDEV9Mo9mV9exzCUSx/wYRPboQ4+1QXRC+akOTs2chE6auJi9uPAsndakKyVGeZPHLo1iue4Yl7/XXs9rqt2/5R/h88lS+PWdHjxlzGdSiPjnLhzDisxLaLFjA4ARv7Gp0Q3mGpYNG8o2iM+/PH0isl10Vnb7sAj/OmsRHh6zoPvNNBjT3JP/7kQz/+DwNhn/ItJ7huAn5Vbpijq1YyrLVqznlPoxPprbk+qb9uHftpGf8vbh4IGOXqei6+F36x9TH1kRNUfIK5sxZS2WbsYzrnYB39UGLKucAn81YyGGnHowc0lUf3ntvceOKvXPpP2UdFs9+wlv9oql/D5GLTnmLY8vmMO/nSlqPnUjvRB9s9clXOkrPr2P1aRdatYvGS3yLPZ/NZeH3F3HrM5OJLybga2ehD1ss2z6L3nMO4z96IeM6Bv3+1rQu/VCl8+PEEWxxGs7UgS1o4GRCwbEf+XzJt/yc04hpC4fQ4Mxydlh149nmAbhJjcjZMJWhC9NoPH0OA5s2wEF/UFTJofkvMSclnilT++Cb+j3f58XxdLsovB3MyN0wjaHvbUMWO55FE7oQ4maFNvcAn89awlnPHrwqMLO5S+4wBWtS+X7saDZYD2DqsPYEu4qg9CxrFszjs41yWs57l5ecjrD8oCvduyfgZ3aU90YsIrvlZF7vFYu3rSm6sitsWDiP9aWxvDCgp561VqRPctGSK+SbvvcLJTFjWTjhKf23tXkH+WL2Es54dGNg3/aEu0urSyRpyd00g9cWphE3eSav6HNaq8BUnfmM4RP34T1qCv08TrJqvyNduiYQINzoqi+ybPRkkkPH68u4+NgrufzDDKYtLyBOYIRtbsL2yeP5xe4VJr8ayMVVvyLq2AHTXxew7LgtHUb1x/fKbq65taZNnD+uEg0XvhjJxO/ScOswktH9WxHoYols2xwGf3yLpGljaF++lZ8yY+nWLooGgrOuSePHCWNYL+7DpKEdCXMXQ+k51i56j883lNBkztu85H6S7w860vkpoZbcnRD8OtUleyeLJi0lq/EIRvZKwFcfcq4m/8iXzHn7Z/LD+zJ6SBeiPKwxM6ogZdkkZu71YMDYfrSsDkPWlaWxb81PHFNH0qFzIoEuVpjqctk6ezgLNucTNmI+Y7tHU1+q5dahL5n76SmcOr5M707R1LM2w1hXwJ75Y/k4vREjRz1Pgr89pkIY7caPWPhzAWHP9KNny2CcxRqOfTKGxYckJL3SmNyVK7no0YvhAzsS4WEFqd/zxth1mD03kYFRN1i/04hWXZoR6mND0S9vMWphCiGjJjOwTVXupxDBkb1hNq9/fI3IsVMY0CoYoWKKwKJ58P0hLLgUyYjXexOQ/TNrs0NoI5QPcxFB7i/MHbWISyEjmPRqG0Jcq4MhVef55vUp7HEewJj+vlxaewjrpHY0DpFw+sMJfJwazdARL9A00EHfv2ubF/P+ulsEd+9Dz1ahuFiZ6kPGkz+bzMILIQwc9hxNAh31Yce6snQO/ryOIxVBtOnYhGA3KWa6W+yYO5pF54X8zldpE16T33mTzbPH8MnVUIZPGnQnv7PiEB8Pm09KyFBG9A3h1safuBmYRGPdHj744hDmLfoTX/ATqy840W3YQL0jLCGNNVMmsE7XldGDYsndsgttQ3tSVv1CikVzBvUPIvtIGvbxzYkNqY+19iLfTZzCinNSmg0ZRb92EXhYydn17giW3IhlxPCnMN2/iYygJFrGhuAmMkKTvpZZE9ei7TKCgUKpFokR8pQNLFm4lHW5MYyfOQC/qxs5ImlGUmIkPn9KmqXiwrIJTPsqj0aTJ/NS61D0PDPaCnL2LGHGgg3ccOnG6HG9aR7kQMG2hcz96jg2T4+lX4MMjuV60iguHH+3qlBHXfFO5o94j12WPZg6oRcJ/rYYa9JYN30Sn+y35Kmpk+jdMlifU60rPcP671bw44rDWPWcwejOGs6clhDTKBiHom189P4ackJ6M7RfeyLcq8JZdfIr7Fh/CvOIeGKC6yMqOc26Re/zU3YQL7zWn3aR7tVpCXKubN/AaYtwGkUHU1+qInPP17z/2RHE7V9hwNMJ+NgKt5465Nc286lQuse7G/16tyOi2hYL4abTp3zGlcCRvDG0EzH1qg4Ay65t5qM3P2JHSRyDJg2mizD2Rjf59aN5fLX1Co7dJ/HaM4kE3E5O/qPNiZqMn+cw5YOfuVTvZd6Z3KdullzhcOu9cSz8/gQ2z73LlAFtCdMznWax44N5fHNYRMfR/QnIPUWuWxQxEcF46A+ZdZTsXsi497Zj1GkSY16sDqvVlpO5dxmLPj+IReuXeblHExrYVeFRlrqVpQtXk1GvE316dySqXq21Sd+VSk58Np63V9wkatwUXukYjfvv9q0qLq2azszPrxAw4g0GdWlI9X4fXekePhz7Hts07Rk7rnd1WK2W8sz9fLfocw4K5TBe6UlT/yqOD508lW1L32fNdQ869O1Nh5h6SEzUFJ5dzycfrCbDuweDXupMw2riOJ38Krs2n8I4oCHRYT7cLjmtF/0EX096mxUZYYx4YxCdY+v9PodZdYkfZ8zk86MSuo0dyQtJoTiY67WvqjTNe1tQJgkMtG0IFehR/+xRV5ELLdleQNhL4xj2bDN89VhrkV/ayCfzV3Ba0oqXBgklUhwxzdzEu9M/YqeyNaMnCCVfXDA30iE7v4XVK1fx3X5T2o4dQTfpdS6Z+hMS7IFy76d8/EMq9boNol/XODz1efSCru7ml1M6fKJiCPe1w0xziTWzZvP5uXq8PH4o3RNqiIJ0lO5bzJT5m1C0ENhp2xHmWMNqW0Uu9MnWPEL6jWXoc83w01ce0CK/vJklC5ZzStScfoN60TJYSP+pIO/Eaj5avB1Z2DO83Lsd4a6iKqbd4hR2bDmLkX8McVENsDMzQitLZd+WAxQ4RxAfF4ZHNQcAOhkHP53MwvWlVYcRHSIRRNJV5JG8+kOWbC8htOcrvNg+ApdqNuuSlJ38ck6Hb0Q9SnZ9y3d7NDR5tS+R5VfJs/UjLDoSL31YU1X5mGnzN1DaZASvv9SRCCFmV1dJXvJqFi/eTnFwd17u24GIGtlLLvLrlrPoGkQRG+2H/b0b3T/Tgzr+/0COp/bWYb7/Ziun0lK5ePo86UUanMMTCfcNod2AvrT0FdgM6/q6juLkvVxyjsT95DyGf2PJsAUjaellh3rvHPq8V0bfRePp6OtQRRv+jz6P6HjqFBxd8Apv5z7NvAlP4e9UR/6Dppgzq97h/T2WNOuUiKdxIdnZJ9n81TaKW81h8QShRmZdMftqLn4+hDfON2P2pJ6EuAoFpP/oUZG250e27d3D5g2HSFN70qJrEk3adKeTbxEHdx7g4Laf+OVUHuKwDnRo1pLOLyQRbF3OxY2fs2TVSXRhSbQV6LRlOeRVuhMTImfLB8s5axVEkF8MXXu3wbP8Avv3XqIQCU7ONpipS7mZcpSDyTcxD2zLc3276tn9cvavYdve36pkoQFtugilH0RQWczN1BuUmnoQ17kHrdxvcWDfIQ5s2cDBKwqcE7rQtlkSL/dohPzMJrbu/Y0tGw6SqhaKPCcRIhT7K8sn/fIVctXOxDz1HF2bheAmNUNTeJZNny/hhxMaglu3Jc7TDHnuLSrdogkq28onK85g6R+IX8NuPBNUzMFDR9m7aQOHU1V4NO9C66ZJPP1UIzzFarJPbWPtugPcFPkQElQPcflNLp/PwDioNZ3aNibI3QaL27V3Cji381dOXE0jZf92dp/OQuUWT5vmUfj7RdGyQzw+9uLq8HQdSlk2Kbt/4qd92Uh8Qgmob0VlQQ7FRp7EtWyEXfpWVq/ZyM7DKWSV2hL9zGBGDO9GpHk6e7fs5eD2dWw9mY1lcDvaN2tJp+dbEXLfws41OqOm6OT3LPrmIk5x0Tircigw9SfWLY1Vy87hEu+FqsyNpGc6Eu1tj6WxkmOLXmbGkSBGzhxCq+ocS2FTnrvzPab+pCS+oR1lFa406tSaKC97RMYy9swbxJuHXWgd7YjEOwRPcSlXz6Si9WlK+3YJBLlZ3xOaoeLW4eW8v+wctrGJBNtruJVZjHWgCzd+2khecCOcFRV4tu1GklA71qySrIMr+XzNNaRh0fjbykm7kEa5c0Nat00kzMvhTv1gId/03Vd585AzLaMdkXoH4ymWcfVsKlqvJrQT5Kk9jlRy7INBzD7qz7Cpg2kVVJOfKhx0nOCLiR+S4hmHh1aNZ1I3kiK9sBfic3WVZO35ksWbivBuGIKD4hInLqrxT+pKu8QgXCXCxmQWi4470cjXiArHJnRqG4Zy+wf8cNMWBzMN5u4xtGoRg4+TUNpCR8mvC5i6yZik/r1oEyYUqzZCnbWD92esQRYeglW5iOjOXUgQyLz0rL4q8o+s5IPlZ5BExRPiqCM/qxiJvzNZ67eS5xeNY6UKz1ZdaB3pXSX3Hz3acnJPb2XlmhNUeoQS6iWmLOMspy7LkYa0oFO7xgTXs9OfjOsd86IL/PLVCo6pfQgL9UAkzyUzW47YL5bGDUPxcZHqx10n26fPazxonUi4sx0+wfWwKkvj/DUV9RLa0SYxVF9TsqpZLeVZR1j9xU9ctgwkIsCO8vSLpJU5ENm6DU0ivHEUC2zjaq6tns+q6+ZYlt4g0ySMzs92oUmgcxW7dsUlfnpzAfssQvE0VuPStAtt4vxwEWs4+elrzNnvTr/xg2kf4V59ul3B0Y9e4+3D9Xh54mDahdf8XcPNHQt4a0MFEVEemJk6EdokgXBvR/13Kk8sYeTsg7j3H8egmjxOoRs6Gae+ns4nZ5wIdTfG2Ks5HVtH4+tkgfLmUdZ8+RMXzfwID3SgMkMgb7IjvGUSTSJ9cRLqDeqx0KHMO8WmZes4Z+xDSANbNPnZZBdUYB3YiITYcHxdpFgIiUTKk3w+cjb7nXvz+qu1bkcrjvLJ8Lc47NaPMYM73rk11dxk1/tvsbEslHAPS8ycgmmcEIFn6TY+/j4VY7NSsm4aE9SxJ52bBeMqOMJUcGXtOyz6zRj/eqbo3BLo0NKes6s2kmku6LAYt4jmNI31w0UqHCKUsu+jWWyqjKPHs51o6GWNqZGa7N0fM3f1LXwaSNBYR5LUTqijWVXmCXUBJ35czMoTxgQ2DMXVtISbRSK8HXPY8WsO7kEOaI09adK2JdF+zvp61fd71DeOsmXnHnZu3MSRS3Ic4pJo0aoD3TrE4eeo4NSyhbz35TbOF5lRLyKBFl160cXxJN/9nIZteBCSSiN8myeREC4QqZVw8bft7Nm9hQ07T3FD60XTpGa0fuoZWkW4Y3xjF99/+T0HCl1p2DyeAFs1Rfnl2AY2QH30R9Yek2Nf34+4Lj1p09APZ3MFeZcPsvnnPaRqnfEL8sZOV0p+kRan8MbER/jiJBEwVFGWd4WDm35mb6oWJ79AvOx0yG4VoXUOp3F8JD7OQj1IwZcuIevcHjb/kky+hTPe3k6YyLK4eq0Eu/AWtG7eED8XCeZGOSRv2cmeHRvZcjCFYvt42reOwdfRlIqiLNKu3UQhCaZl16do1dAHB3090EKOfjOPj9ddxePZCbzaLa46ZPt+6Ku4tusHtuw5zLFjp7iQlofCzIWA0CB8w1vzXK+2RPs6YqHNYP8PP/PrgaOcOH2B67lyjB39CAn2I7hZD17sGEzpLx/x9VkRQQHWaEy8adwqkUhfB0xLLrFv52/s3ryBXSevo66fSMtmbejyTCsivZ0RKUu5eX4Pm7clc8vUES8fZ8xkN7maWoxNSDNaNY8lwK3KRuktT/EVDu87xvmL5zm6dy8nr5ZgHdaUxNhQgqKa0jIuEA97SzRZJ9j+629s37iFIykFSCNb0byloFdBGKclc+S3rWzccZzUSg/iWzUl6ametIryxVmspPTmBfZt2kZyngkO3t64mJZx8+o1im1CaNK6ObEBbkgtqipF6FRl5F89zNYNv3Gl0h6fQB8cjOUUFGpwCImjUZR/1TxDS8mVwxw4fo6Uc0fZvy+Zq0VSQpokEhseQkRiC+KC62NvqeFm8nZ2797Gpi2HSckTEdqyFS07PU2HYGPSjh1g15ZN7D55HaVHPC2ataVLz1ZENbinesO9Q17teC49YUl8Yig+Hi7Y2FtjVHyNUyfT0Hg1oX2HFkT7OCAWFFVdzJU9q1m+cg/ZduEkNg7BkRIKFFJ8vXWc27SBQ3kiXP0b0bFbEnHBHlhW5JN6ZCsbf7tEhY0PAb6OGJcVUKS2JyiuEVH+TsjO7+K33b+wecthLuSJCGrRnFYdn6Z9sBk3kg/yq9C35FQq3RrRvHlbuvRoRbSfKxJtNavtUVPiEsJoUM8Fa0H+klROJ6ei9kykXYcWxPg6Vskv6IqgW+f2sW3rAVJVdngLt63GCopKtDiGxBIX5Y+z8hoHd//Gr9t3c+qWFYExUfqa0GZGuir+GnUhF3b9wr4zBdhGNyOxSWvat08k3McBE9lNzu/byi8HUlHaehMo9Le8iBKNI8GxcUQGSEn76SOWHVdRr4EjZhb1iEpMJFbgRJBd5fCuPfy6eQO7T1yj3CWOZkJ/u7fSR+lYCfv38/vZvnU/1ypt8Qr0xdG4nOISLQ7BDYmNFi4hzB8hr/uOgjyQ44m6jKLCUsorlSjVGrQ6MDE1x8zUAomDPRLz35NG1HxCU1GO2qSYbVMGslIykrkjWuJtZ8zpD/rxxqW2zJ/Zi2DnqpIJ/+yj05cIyC5SoBM54e50x/A8mFw65Mc/ZPi7RTzz9giSGjjUupavaUGHSl5A7s1sckuUWNg6YXnuU8bMO4rfmI95o0sATjV5XrU/qklj1eiJJDeawtjuYbfZEe8vlw6lvJhSeRllCiUaTLAQixFLbLC20FAmk1NWVkaFUgNCbLbICmshJ8/UCI2imIKCfG7lFVKmNsPGyRV7WxtsJSAvyKWgzASJjR329hLMUSIrVVAuL6SwoIjSCg3GQukZGylSG3vsbMV64626SxZTLK0sMRMSXbQCQYlaL4PUxgaxUQWlpYJsCirVWkwsrBCLrbC3sUJTXkJpWXV/dKZYSsRVzp5WjbJSYFC1RGJri8RCyAkQrLMaRXEBBfm3uFUoR21mjZOLAza2dkjum8tLAAAgAElEQVSQU5hbQJmJFda2DthZKJHJFSj039VhYiFGLJZgYyOuklOloKSohNKSQopKKjCSOmAntkBsY4eNxOIOi65+QNRUyOQoKiupUJRTqdKgMzFHZGmJuYUIibWASe3CyzrU5SX6dpWKIgpK1Vja2mNjbYOdjRgqSiguLqWsUo1W6LdUYAa1xtJISVmJgJWccpUGTIUYe6E/wjjev7DzbU1UySm4lU9hQSkasS12dg7YizUUZqaTW26OraMzLkIpF31bOkpTk7miFPK2XLAW6MmrG9KUF5CZlonMxFrfhqOgF8I7lSdZMmQim637MGNIS+qLyylQmCKxEiER+vc73Koa1CllFOTmklsgA2sn7IXfW4vQFGZyI1+NyM4BZxcHJEICvTD8ShmFhSXIC/MpVllgbWeN1NoOW6kIs9o1+CpP8unQSWyWvMjUIa3wsqqSx8pKhNRWGEeBfKx2eLyO0rRTXK10xtfLBRvRnT4LzmVJVhrp+WosbRxxcXXUU7bXvK6pKNHPh8IiOYgliC0l2NrbYqXXTR0qWR43MnKoMLXB3tkFR2tLfShfekYxWNlgY+eAnfSOXmkVhdwqM0ZqI0VkXl2mSlOuH6vMUrCyc8TV2Q5xzf9u45hHXkEpWqkjDhJxNY5ZZOar9DomzAepxe9LQ9VlVwQCseKiEhTyIvKLVZhaSZFaWWFlbfP7sdTPvUJKS0soKKnERCzFRiJGJLVGIhKIFapwrjz1Ga9P3oBZj0kMauOHTWUBZaZixCIptnY2SO4tW6VVIissolReSEGRCnOpDVJhntjWwkVwfGXZpKfnIMcKO0cXnB2kWOpz1YVHhTwvk4wcBaZSO5xcnKrrq+qQpZ/hqsIeLy9X7MQ1uXCCHpzmWoUDXl5u2Amb7RrdVxSQeT0LmTCOdvY42FlV6b7ev0zn7NVy7L08cbUT16r/q0NZmk369TyUFtb6cChHqWAP9cqMvKiIElkhBcUqzCVV/bOt7t9da6TgeBQVUyIvpkhYsyyssbUWxsMaqbiWTdLJyDh7FYWtJ/Xd7PUF4asmWinXz1yjwu6evws5+oU3SM+UY2Jtj62DA7Zic0y1ZeSmp5Mj0yEWWIpdHLCuNT7qsjwy03MoM5XqMXe0NkWZf4PMQqG0iw12Dnb68bx9iFCUT5mRGKnECovqEkia8kJuZmRRohNh6+CCk53wv5peC2taIbfy8igo1WBlb4/ESoLUUkdJTib5lWZI7ZxxcRTG+o9LuemUCkplcuRlCpQqLcYWIkRiCdbWwpqio7y4gMKSMpQaHUZmloilttiYV5KXepnrBRokrt74eDpjIxx0oKFCJkMul1NWoUSjE9ZaEVZSW72um2jLkRUXkp93i0KZEmMrO5wc7LCzk2JcUUJ+gRythRW2DkLZhyp8dJoKZMUllJcrKC6WoTIV1iIbbO2sEVvUYCiMofDtYkoVFSiKi5EpTbGys8HG1hZrscVd9k+YvyUlcioqFZQUl4GlFWJLMRIbm2p9qZobilJZ1f6gUo3OxAKRqKodnUZZhZW5FdY2UiyFPV/VVpuKkgKKZEpMrR2wlVhWR4zcb3eio1ImzGEF5ZUq1PoSeUaYmJphJthJWyliC+FWX0lZcQmyMiGnTNhzCizvxpiZmWFuZYudtQjkN7l6KY0CtRXOXj54uthWOQCaSuT6MRH2OEI/LKtK4Qn2U7DBeudNQWmJnPIaPIS9hkjA4575I3RDU0mZXEFFZQXl5RUo1VqMzSyxtLDAXGSFVL+fMdK3KRP0Sq6gUqXFyNyySq+klhgpyymTyygrV6IWdEQk0ttOiUiYq3qBKC8tQVZeiaKkmDKdBVZiEWKpDdZScfU6fAdTQUfkxaUoyoXxlFFpIsZW2KfZ2iC+Pc8E0YU9UzkVFRVUVAi5eUaYWlbJbmklwcrCHBNjHSpFlQ7LFZWotEaYW4oQSayRWhqhVAh9qsHSAkthv1gLy/vuQ2sczzOuvDisL+2iXVEVFVKmNcVc0D1h7ZBW7RGrjRKaChnFhfnculWIrAJEdk442NljKzXR752F/ZGZyAZ7B2tE5oIt1qGplFNSoqBCUUKxrBJjUdUcEOyhpbkx6nIZcmFchL5pjDATWer3wlV9K9P3u0pPqvomtZHo55mxutrxTHak19C+dGjo9ifyV/VCqypHXlJKWVkpRSXl6Cwk2NrY6DETW5qjPfc973y5nwL7KNq0SSTCxwmJhRCRV4OkWj9H8rJvkn7uN7b+JiO0T3+ebReJi4kWVbm8ap9cUkRJhQ4LiR02NtZ6PRH6qyq9SeqlNPIqLXD09MHT1Q4rYW+g12M5clkZ5UpVVX8tq/sr2PIa2UtLKZPXLft9yhrf3xW5z38ezPF86GbvfkFXvJ2ZvT9B9+p8ff6jvVkay4cOYVfom7z1csM6w1If8ZP/yOu68gt8PfYtbrSbwWvt/HCs5UTqSi+ze9MBSv3b6fMKLIx1YJTPjlnDmH8hivHvjqR1A4cqUpN7HtXFb3j9nQzaTxhCmyDnv+F2WIdGpUStAWMzM0xvO0oCXTfVVO21jKBWjVqtQaMFYxNTfW3PP0yn/TtHR6dBpVTpnW8zM9M7eb7CQsY9Cfh/IpdOKJOgFhxJM71D+sd1YR++kzqNCpVGh7GJ2Z+W73n41ut6Q6t3/HXGprfHWCeMpUbYCBhjXKuDQt81Qk1b49/3W5BbWEz1elK9hujzIEcK9TvfYoqQEyrV6Rc9gd79T3VDVyWX1tj0Ds4Ci6pah5GJSR252jq0ahVqrTGmZkL7v8+vVl9dwfhRQv3O2fp8TS9rquW5u5+1UfqjPgubPrVai5GJKcbGdZRaEvqgn0BCKaZ7DwIEeQU8a2MmzDlh8avS0T/KRr8to6DbwkGJHtM63qgTR0EuQW6TuuX+0zmg0n9T6Hft8a7zNa1Q61cwCnX9Vk3qqkmME+p3Tn2DPokNsEONRqD2r0PH7hqX6nbvP08ELFVohbZMTOqYp4J+/R6D+433H+mBVqPSOxu/w0LQD/3w16Vf1eN/n74Kc1DA7UHsgH6+6jG+X1+Fb2nQGd873jo01fr5e/3VohEOzO7R3Sr7VDWH6+JLELDQIvyv2g5Uz1njal17EJult7E6ofRY3Xaiqr/VdqB6Xun/JtiWOrF+kK8+2G+06kqUKh3GZsKh+58f7t1rS1TV41DF7lw1X2uq2VWVP7nn0dsQtR7TP15Tq/Spxr7+IZfFH9qlB8PhyflVdX13nTFm5mb3HBw+oJS18fgTu/OALT7iz2rWBuMH0+e7dOT+a9kjCvXXXr/teHrwklDHM8ELs5p9xH3md9WHqtZzYS8krDNmt2141f6T++zbbttCYW16HGNZ43iedK4iF2ri/YDyV8OlZ36vsaM19kynr1X83TUHguKa6AnELEzrWKN0Oj2TtLLsBru/2kB+aBNatGyEV626SXpbqcfo3j2GFrWeAMgYE/3+/QH3E3cbrKq9rr6U5APs2R5SQ/4Wx1Obs5oxfTbjP3cu/aLdME9bztih63Cd+D7DW3hi+0fEQg/ZoX/25yryflvE7M2uvDLmacLdahh/teSsn86IDw5i/ey7vNknCjepCUWHPmTc3OM0GDCRge2CcRLXcVKrK2b/wslstOnDsGdj8bT5MzKnfxYBw9cNCAin4HmbpjNkQSrx02bXygn9p7AR5JnBsIXXiJ08k4HN/atrkP5T8hi+i/YWv8wZzqJL4bw+dRCtgoV8HgMuBgQMCBgQMCDwn0BAncb6t6az9IwH/QXHs3FNXuW/pHfq62x8ZyafnnSmj76cis8DlB/7s75pubn9J46J/AiNjsKvdr3MOl9Vk7VtLcdE/oQJv9dTaP/7n7/F8USZxoY5b7PbuhXNfXXkHl7L8mP1ef2zaXT2exLyOx/fQOrK09n2wYecDHiJV9oH46wv4aKlcOvbzE2J5PmeLYiob4Xi3I+8v3gvxk360vephnjezmW669iBstNf89YqNe0HPkNjXzss/vS66PH1xdCSAYGHRkCnRJZzgQ3zp/HpMWeemzaCpxuH4i6pFSL20I0+wgvV8mxcMJ1PjzryzJQRPJ0oJPL/Q/I8Qlf+K68K4dR5FzfxwcwlHLbuxrjXetIssp4+fPq/saz+V0bK0A8DAgYEDAg8PALq8mIKbhxm5YKPWXvelo5DB/Fc+1g87WqH1j58u3/XG0L6U0HmYb5fuJg1Z6W0HzKIXh3i8BLSx6pTA/6aLGqu79zJDRcf/IMD79R4/YPGKs/sYF+5B96BQfjZ/vNJiX+t33e/9bc4nhrZLXKLFSgUFQixpOc+Gc3S8hdYOK0HgXWR8DyOnv1jbQh1LA+z8rNdiLu8QpcoN6RmRmhKL/HbpoNkVAh5ChoUZeZ4xjQiMtALZ+saAo27hdYVHuPbJXuwSupJ22gvbCweLrznH4PA8OH/twhoMg+wZtNhUlIzKVGZY21ng2fjZ+jWpAGO95Sb+TtAEuT5abMgTxYlSiEPrEqerokCSccf1fX9O6T7//gNDTcPrWProXNczSxGaSrF1ro+8T27kuDvqi9dYXgMCBgQMCBgQODfioCGjIPr2XHgBCnpBcgqjbGys8cjqh1dW8fi51pdKuqJ7Z6GG4c2sPPAcS5cL6C0Rv7ItnRJiiXA1eoRDkh1qMoUqEzNMLcwryaZ/GMgdJVlKLSmmJlbYP7olUyeCNT/946n6ixfvz6X8zETGdczEPGNH5n55kF8Xp1Iv6Ze2Ojpmv9jj7aS4vQT7NpfjH+H5gQ6CoxxaspLZJQL+TgCgYDOFLF1bdKLezDQZHN43T5kXrHEhHrqSS3+g0j9xwbe0B2Bca+4VKHPz6h5TEU2WFvdIZX5O1ES5CkpVeiJQp4Eef7Ovj+Z3xIW3hJKBdKz20Nigsj6HuKUJ1N4g1QGBAwIGBAwIPCHCOhQlpUgV1Qg8FfWPCYWEqwFUshqBtgnF0RB/lLkivJ/qfxPLrI1kv3vHU/1ZVZOXkxmdEeiLG9w8ngWtgk96NoiGBeBFvy/GlulrURWWomZRPI7RrIHUguBtbBEgZFYgkhg6fuv4vRAYBh+ZEDAgIABAQMCBgQMCBgQMCBgQMCAwL8Zgf+946lTUpqbwY2sIiotrLGzFajVHfUlGf6zTue/WSMMshsQMCBgQMCAgAEBAwIGBAwIGBAwIGBA4DEj8L93PAWBq0taaI1M9SUtDA7nYx5FQ3MGBAwIGBAwIGBAwICAAQEDAgYEDAgYEHiCEfh7HM8nGACDaAYEDAgYEDAgYEDAgIABAQMCBgT+pwgUXoUjp+BmPqglEJ0IYV4g/o+wxvxPwTM0/l9BwOB4/ldG0tAPAwIGBAwIGBAwIGBAwICAAYEnD4HM3bDuGoQ1ghBXOP8DfH4EWg+CZ5qAnYHS+8kbNINE/wsEDI7n/wLVykwOb7+MdWI8fvZWf60wujabo1vPI24YT4CzlP8i+a8AfWXWYX69JKVRIz8cJBZ/naZam8/+r39G0awrib7O/NVKGdqcY+w4b0l4bACuNhYGJuH/xfwwtGlAwICAAQEDAgYE/t8goIXNc+CdozBwCjyXAKrfYPB00HSB6QMhzOH/DRqGjv7/RsDgeD7u8Vdm8uuXP3IzuAsd4hvgKDL5i86UipILG/h8nZwmfZ4mpr4NFv+xeiqqzF/5enUW/h3aE+/vjPhRCvNqrrFyzCKKnxnD8/He2Jv/RRpgVQkXN3/J+pI4nusah5edpcH5fNxzxNDewyOgzOL4L79xIV+JTqfF3CeRVnF+uEjN/qJ9eXgRDG8YEHh4BHSUXN7HnhNpFCiUVJSpsQtrQcs4/ydfd3WlXNm/h+TUW5QpK1CobQlt3orYAFd9be7H/egqi8i4cILkTBFhceH4uFo/UJ2/xy2Hob3/EQLZyXAsH0KiwNcZirbCK7PAti9M7gcB0sfwYS3F189yMS2b4oo7JcRqGtbpdGBkirnIFldvH7zc7bEy/6t71McgrqGJ/5cIGBzPxzrsClJWvceP8ua88HRjGjiKMHmE9UmnLOHSlk9Yfi2Sfv1b4uco5j+TCaBI4ccFPyJLfI4uCQE4ix/R+GmusGzEAoqfm0DvBB8cLP4q8DpUJZfYtnQ5V0N682KrQJyt/jOoP1ZtNzT2NyGgK+L4V+/w/a2G9HwqHPWhr/jiVxFd3hhMxzAPJP+xA6m/CVXDZ/4mBCqLblGi1mFkZIyu6BRrvtqOIronz7ZviJfNkxxeWEnxrVJUQultEy3Fp9by7XYZET2eo11Db2zMHh1AVXEGF04e4+iRoySfSiFDbkvcc4N56Snh0NPccKj06BA/OS1oVVCpBTNBcUpg5RxYJ4N+r0GHCBA9DkOupeDyUU6ePc/pQ3s4cCqVYmk4LZrHEuhujXC2r9MoKSvMIOV0CrfMGtC85/N0buyPk/hxfP/JgdsgyZOLgMHxfIxjo7zyI7M+zqDpkL60DHBG9CheZ7VcatlF1sz9hOwWI+nf3Bf7x2KcHmOn/1JTSq6tnsOS9Ea83Ls1Qa5Wj+Sg60V4bI6n0Jga2cW1LFiaSePBfWke4ITBJv+lgTa89BgQUKetY9akH9B0ncDQLvW4sWohq7MCefaVp4n1svtrofyPQS5DEwYEHgQBnVbw3IwwEopRa8q4suYd5v4qotOQfnSMqofVE7vf1VEluiC7IPoV1s2byy7z9rzSrzPRnpK/HA2junWOXet/YsO2I1wtAmtXbwIj4mjcJJ7IYB9cbS0xM9D/P4h6/ct+UwknfoVft8G+G9DkRejTHjykPK5TBo2ynIqKCgr2LWXWhz9xrX4/Jg7rTkID66qKEjotGrUSeeYhfli6nN3XrWk9eBQvto3ATfxXD+z/ZcNgEPcfRcDgeD4u+HX5/Pr2eLY4DWF0rxjq2TyuEDg1+Tvf4411tvSf9CKN6tn86zeauoJdvDdxM3YDRvBsrBe2fzUstvbYPVbHU/A9C9i9cDI/Wz3P6BcS8bZ/hPzTx6Vjhnb+HyKg5vqayYz9rJDWMyfzQiNPLEsLkGktsbGRYmFm/Lj2K/8PsTV0+Z9AoOLc10yeuR2LbmMY8nQsXtJ/y2a3kgvfvsGcrWZ0en0oTzfy5uFF16G4up0vl/zA0QIJ/vEtaN4oBC9nWyQSKVKJ2DCn/wml/Nu+qQNFKZSWwpVtsGQrhPaGlzqCh+ixSiHb/zET31nBZe9XmTn6WZr4Se9aK3SaMq5vWsTsxRu54tyTyRP60Sbc5V+/v3ysIBoa+58gYHA8HxOsmvQ1TJp4kPCJ4+ke7ob0MUYQ6WSHWTT8E5QvzGRQSx/sLf8tC3Vd4Gq4sfYNJu8PZvSYnkTWe0x5LI/b8USH7MgHjF1SztNvDKRVgBOifzPsj0nPDc38zQho89k2ZyjvnQnh9TlDSQp25V89/f9m+Ayfe/IQ0GT+zJwxS7gaOoKJr7Yl3M3iyROyTok0ZK2fw4RPLhM4bCIDO0Ti/pCi60pO88Oib0g2j6J9p+ZE+LhgY2WJmYnhAOlfogR/XUyNGoQ7cmPjqttNZQ68ORS2GsPMGVXhto8xq+e24+kzmJmjBMdT8rtDSmXKKmbP+pRN13x45e3xvJgUisMTG4Hw16E3vPlkIWBwPB/LeGhIWzmKsfsjmTb1eSLcpY/TfoBOzv53BvFxRS/eHNFenzv6r/WBNGn8OGYc+0MmMuF54Wb4MXnoj93xBJ3sAAuGfoT86RkM7RiIy5MbE/ZYtNjQyBOIQMVxFg+ZwhbxC8yZ1IMoT+u/HN73BPbOINL/QwQ019cwY9xiTnu+ysxRXYnxsvqXrGca0n+awaTFJ3EfMIMRT8fhLXmYlVhF2oZFfHvJlWYd25EY5ITI1LDL/38xBTRp8N47kOYHw/pAhBsYVcKHg+CjyzBtPvRqAn+Zm+L3KD6I41l5+lumzfmcrdlhjHzrdXo1D8TaoJL/L1Tyn+zkAzmemltXOHUtj3Ihy776MRK7ExTiQNmVK2SVVqC5TaBljI1PBA7yS2QUlKO+/YoRYrdggh3LuHo5i9JKNbdfMbLFOyYQN7H5HYdNW0FxdiZZeUXIFZWotbo7vxfOjWx9iAl0w9L8IY6IFJkk7z3MZYUTUc3j8XOwRFd0mWOHTpNRJsIzKpEYXzssH5ZdVZvF2rED2eD+BnMGJVDP9j5htloZ148fJPlqEcauYcTHC86MjltnD3D0UiHGjgFExwp/M78n51FH4cY3ePk7Ka/NHUoLb/vHaZ8eSf/Ks06y//AlyuwjSYz3w1EMxVeOc/R0OnKL+kQkxOBjL8Ks2phpb67jjcE/4/T6TAY0vT/7rFZ2neSDJ7hWaIxzaCPiglyRkM/5g0e5VGCEg380MYGuSCyqSYn+wPGsuHmKA4cvUSgOILFJCK5Si1oHAyqKMzIok7rjbHNHTj0oukK2TH2FVaKBTB+chJ+T5YNvkDQFpJ65Rq68Es1thEW4BAXjWHGdtKwiFKo7rHPGNl6EB7gjtaxyxCtyznHwwEluFFegQoJnTDMah7hhbXFH35XXDnOozBk3dTqXLmdSVKFGo6xEY+GIZ2hD4sLqY2tpitH9ZAkMxsvRqlapHi1FqWe5lltKhXA4W/2YO/kR5mVK7qXr5MgqavVHmIgWSO0dcXZ1xclGhOnv8pIqyDt3iAOnrlOkUGEk9SSqaQIh7tZY3M6B1lCYeo5rOaVU3gbLCJFLAEFeDljp+6wk/+JRjp6+SnaRApWZA36xTYgPckNag4lOQXbKRTKKyvSEIPd/LHD0C8HHWULNq5rS6yTvO8jp68WojEyx9Y6mcXwY9e1FekKG24+2kpLcLG7mFiJTVKLSaO+yS0Y2nkT4uyMV/VXmERUlGSmcOXOFfGMPQtwusXT6txQ0ncbYjtYUpKVSaOxMUMMY/Fykt+VH6PvZY5y4XIR1aAIxDZyR1A5h18jIualA7GSHxNIcStNJPnKSTJ0nDRsF424ruvuwTC0j+6YCK+H3InO9s6stTefk4WTStfVpGB9KPbuad7TIb5zmWPJVikV+xDQKxsPWElNdObkpJ0lOyUMUEE9MgAvWtam5VYVkZFZg7eKItbjqG6CjPPs8J05cpFAaQnyMH87S2iQrGuQ5OZSJHbCTWN6nzJSa0px0bmTmUlSmQqvP0RPjGhCEp5OkDnZwNYVpF7hRaYeXpys24jrst7qI6ymZaBy98HCypmqa6ijPucCJ4xcplATRKMYPF+vaIfla5LnZlInssZOIHrokllaWwemjZ8kxrk9YdADutuaU3zxPcvJFMktNcQ8XMHW9C9Oqd06SpnQjslEoXg6mFF9M5sT5GyjEXoQ1DLtnzgtpBTIyziVz5nI2WvcoGkf6YCcyxVS4hROSG+99dJUUpV/gzLmrZBaUY2zrTURsFH6uwpy+58daGTfOnuDUxRsUqyT4xiUSVLSW6XOWkxE+jjnDOxFZ745dVcsySTl5kouZCswdfQmNDsHT4Y6N0spucOb4WbLxICQqAA87CypvXiD55EUyS4xxDRMwccPG8j67Z7WMrJTTnErJoMzMCd/wKII9HbCqo16Z8K1zJ05x8UYhKokvDROCKd0wg7e/uU7w67MZ1iWG+jVhMLfbvUGZmQM+YdGECLarVrs6+UlWfLgH88Q2JPoak3XxIumFYOsdRnSYN46SmjkAuvJcLp1M5uItSxo0jMbf3ZbaXdLK88hRWGBrI0V8H7p7tSyXzBtZ5BTIUVbnqoqc/QjwcsZa9ID7Jm0xGSmpZBeWobo9tGKc/fyp72yNcWEaV9JzKC4XFgwjxK7++NV3wloQVldGztWrZOaVUvEH9thI6k5Qg3rYS6vmTmX+Zb1tuiqsB4hxD40nTo+PaZ3rr1aWydkjhzl5JQ+F1hSb+qE0bBSB771l6LQyMs8c5UjyFW4ptJjY1CckNo6IBs5I7xl/rTyHy2eTOZ2STr5Mi5V7CLGJMfi71VQX0FJy4xLXbxYgU9ZmjzXG3MoGe2dXXJxtsTI3rbJrmqswaTaYNoVBz4GvLWgzYfIQ2GsHs6dA6yD9hejjev7U8VTlcOCLuSxYfhijliMZP7gbcV6SWuuAjsr8NC6cOcuVzALKdFY4+0cRG+5TZZO1JWSmXOLa9ZvcKpEj8mlMbIADqtxLnL8ozC9HvIJDCazvqN+n/e7RlpF75SwnT6aQfqsUjeBTxCbQMNC9zvmrVcooyMkhN78YeYUStaa2UhkjcffHx0FHQeYNcovK796n3PtxMzvq+3kiLr9J1s185LfH0AgLBy98nU0oyckmt0hxpx0jCa7+vtRztqmOOtJSlnuV88knSUm/RalGhGtgQxrHBunXv98NpVbOzfPHOXriEjlyDSbWHgQ1jCXST9jXGVFxK43UjBwKFXd2jHXpgpldffzqW1GRk0VWngzl7R9ZYO/li7NpKXnZd7djJHHFz7c+zjZVtlZZeI1TR5O5nFVMBSJcAhsSG+GHq/X9UgS1KOWF5GbnkF8sp1ypRqutpfe/w+aPtfiBHE9tSSaXLp9lxzefsvk8BHXtRYcmjWkc6YIq8yqXj67l8+X7yLZL5IVnW9OocTyuqgzSzm9n2aebOK8NoHOvjjRJSCTSRU1W6hWOr/2U5XtvYpf4Ij1bxxPfOBAXYcEvS2Xf2lWs3VeIW2w8EQEeOEgsMRXKlHz9BTuv25LwQk9axjemcYAzljUezZ/NVl0xJ9ZsINcnEtO9S1ld2ppXmmm4mG2BT2g4XibnWf3lfmy7D6dXQn29Ijzwo9jD2y+8S/ELCxnf9T7sYKpsjmzYSaZtGNH+VqStW8pW8848657BVfMQGnrK2PvVcs43GMjk3o1wsTG/6/OqC58xZPRRYubMpG/Delg/povCB+5jHT/UFSfz86Zs6oeacvDLNZQ070eCLpU8C0+CQ70xvfgTy/ZJ6TS0FwleVQtn+b65vPRuAU+/M46uwa51Ekuoco6yeWcG1sFR+Ekz2PjZFmdrcwEAACAASURBVEw6dMcj6zpmQdHUl+9n2Xdn8X5pPM/H18dOGKv7OJ6qrP1s2K/AO8KOc98s5VrYEIZ0i8K9GkBtzi+898ZX5DefwpieYbhZ1zaQKi5+8RrjD4cxaWpfGnnb8cDuhFZG9uXLnPt1BV9sPE2lbwd6tG9KQpNI3LR5XL9yjA1ffsfedDExz3SndWITGgvOtYUxxafXs/YkNIgMx99Nijb3KKu/3kC2/3MMfqEpPvZVRq1s1zyGf3EFt2ZP06NNNPVtLTDRKsg7u40Vy3aR79mJV4Z2I9rViIKrVzi3cwVfbjpNhXc7undoRmJiFN4O4tuHAqBFnn2Vqxd+44cv1nOi2I2Wzz1Fi8QEYrwsKMlI5cKu7/hiwykqA5/llR5x1LcBWVYK+3ccositOT1e6ECE4FQKAuqKObN+Had13oSFB+BurSPv6Gq+3ZCF7zOv0quZHw56siwtMuG753ay8otNnFZ4kdSjPc2aNCHK2wGxJoPfli9nd6EXTds1IcRdjPrWOXau2cZ1l7a8+GwzApzEmKhSWDn1Q45ZhtI4IRJvWyVn137BhpM6wp9/kTZBjuhyT7H954OIu01mUPtg3CQgu7KdZV/toLhBa9q3DKeeWEPhlSPsOq0junM7YnzssaxI58imNazdcxPbkBgigjxxshZjps5m36pv2XHJjIhu3WjVpAkJwoFI9QHCQ80vVQ7HV3/L5gw3Etsm4KU8zrZ1m1m7Mxe/js3x9wmncWwwdllb+P6wlKS+/8fcW8dFlb7h/29CbOnuUFIFRQXEFhDsDgREbJCUDmksBGPtXLtj7S5cu7vAbkVCYoaZ72tmUHHX3XX38/19X7/zJ8yc88xznnOf+7rv67qePjhbaFBXvoz8g1s4U2mOZdUZVh+rhceYgbS31K6mh4t4cyiH1HUltAsJwMtajnOr9lFibsTbAzt4aTUM3x4SF80vq7uKVwdySFtfQvvQUXjZGdBQ9Jwjq/ZTYm7I6/3beWY+BL8+bTBVg1dnd3HsaQOM1d5zbPNx5N2D8O1qRsXZ3VyRN8ei/BQrD8nTJWAAHax1kPlXiHh9UHKNYlyDA/BqaiittJfnH2H72QpMGldxbvVxFNz86d/RGp1q0wvR6yPMSVvHJ5cg/Hs0w7BRzThdyZsre9iw6TTv1Kyxb9YYPdU6fL68mRV7i2kVEsoQl8Zo/PEhFj5iW0Y6624bMDR+LO52+tSveVpxEVdWT2XOlseY+ccy0s1GasJRnn+UHefKMDIXcWHtceQ7+9Gvky261V8WvTnKL2nr+Og0nhE97DFS/hfvFNELTqw5QKGhHu+P7eapkRstlJ7zQqCGqV1zzLjAutW30e3lS6+2FmhK+NfCFxxbs4+P+rq8O7GPl8adaVbrA8V1dGliZ4b8ta3seGSIx2BPWpvJipfC1xfZ9utO7jWwp2M7SxTunOPemwLOXK9DpzFDcW9ujHKNDKrs2Vl2rf+NKwIjWrRphb1pA8qeX+FoXhFW3T1xstajYXUIFb69zI4VW7lRy44OXdrQRLmY62cKqHyxi2VbL6HkmcXkkR2x0VZEUjh5cmoLGw4+poGdK20d9Km8toMdN5Rx7d8LVxtt6vOSk+sP8EFHhw+n9vNUryMOdV7zSqCMsW1zzOUus3HtLTS9htGrnSVa33HSxXx+cppt6w7wuIEtzq4tMKy8xm/bb9CgbT96drBG56t7uZB3V3awaut1FKzb08nZCpXi65x7XMHzXcvYcUERt4xk/LvYoa0opkxy3vUHKahnjXO7lrLz7rhBA5e+9OxgU31eMUVnl7H0Ui0afH5NcW0drBxbYaNZwa09O7hSpzW9erTDRrc+8uWPOfnbOUq0jRFd30aesA0D+naVmhnJHp13nFwwhfWv7fD17U0rc9XvklzB2+sc3LyVvOf1MGveDEtDNeqW3WDnqn28txnJeO9O2Op+n1/8ZZwSlfKm4CG3jm5i9a5zvNd0xdO9Ex1cm2Oi1RCe7WXe1JUcf9GIZp0607lLB1pYfCkwVfDxaT6Prh1i66kKrJ0csTPXQLHiBb9vXsPeS6UYd+1Ol04dcLbSR61BLYrvHGLfpWJUTK2xMlFD4cN19mz4jQeN2jNosBv2ho2+A0al+SfYtHo/z1Rb0KGzIxYq8hQVXOTk1TJM23aktY2eVPYkLing1MbV7H+mikPHTjhaqCInLTZepczUhQ5tbNCT6qNEfLp/lK3bzlNm1BqX1pZoK33m2YUD7D1XjKlbXzydG6NRR47PbwvIv3WCLat/4+wrTToP7UM7O11qlb7hwbnjnHtRF1v3fjLH2PpVcGEHHCkADQuwVIcbe+HwK+jmB32cQe1f8rb/4eXyd8Cz4t0d8nasYvWum4isvBg+vBculto1trSr4PXl3azbeh1F23Z0cLJEpfwehzfu57G6C737dqapdim3jx7n+IE9HL74iHqOfWhjYYypmSFmxqqIXl7mwO5zlBh3pE+fjtjqfgO1ok8POLFtO+eK9WjRtg3WOrUpe36JQ3vP8cmwI7282mKpXRd5SXHvxVWO/badI/dE6Fo3x66xHqr1lRC9vcDuTfu5VGxIh25d6dTJCYvKMyxfeZy3yta0aWWNtvxDjm7axenX2nTu40Er8/oU3j7B/tMVOHgPo6ttA4rvHGPb2l2cflqfFh5udOncnuaG9Sh/k8+lfRvYcugqJYYd6ebWlY5trTHUaIiS+BMPT2znt7NFaNu70NpWlzrlz7l8aD/nPujTrpeXNGZ98QIVlz7h963r2P+oLjbtOtPGSh15SZEw7yrF+o64OtlQlbeAZUde0sDKmVY2Osg/OsKWXXm81uxEL482mDf4xN0T+/i9vDnDhrpj27CE28e3sm5XHk/rOdDVrSud29tjWL+Cd/mX2L9hM4evFKHfoRtd3TrjbG2IZiMlSu6f4NDFt9TWt8LWXBPFT7c5tGUXtxRb0HuQF63NVL5t4yQu5+X14+zZdpC7Qm2aNGtKY301GiiJeH95L1v3neejrivukrlxtsJQs9FPaYR/CngiElJZUcy5WaOIWq/IoIVTGGanj3o9RRAKqHi5ldjhM7jhEM2cSDfMdJSpJRYiKDnL7FGRbFQYyC9Zw7Ez1ED6lYo3nJweSPymtzglzCfC3QId5dooygu5tTyU+OU30RiYSkRfO/RV68gqr+JC9sQPZfr1lkTOCqWzmQ7KtRWlbnM/c4he7WXlQTW6eNpQtj2MwJUvsOgzgfED2mCuo0pduSLysieQ86QTsUnDaKHb8Kf30Kp6tIqJo3ZjlDCNsa6GqP7JLEfAo12ruaDijIutCTrKipQeSGPkrKsoO/sQOrIrJvmLGJe0HWG3DHLHukir2zUP8cedxA5ZguK4mYR2k+wP+vc/XJB/lHW7LvHiUzl/2/z5weTJKWji0HcA7S3UpPfrx4eI1/t/5UijDnSxqWRPVBCrnhjjOW4CA5yboKtWF7miPGYH51DgEkmsdyv0leUpWB3MhF36hGeOpZ2p+p87t4JH7F17gYaOTtia6dGoVilHMgOYe6kejt5h+LmZ8XRZIKlby+g8OZvR7Y1R+yvgKXrF4TVHqd2qHc2MCtk4MYwdKqOYHtUTS+16yCHm0+EMApLzMA/NJcJTsq3LdxknH3fF47cEfLNC8LLSrk6af2rFIayspOTifEJi1lHRbSqTfVthrlMPRaoQVLxm9+TR5Fw0Y8zUCDztjFCro4B8VQFbklLZW9EGn+DBOBmpUktYwrP9OSTMv4n5qGQmeDSRWp+XHEgj/rItQ/p1wN5U0qmX6IRECD9/4OLSaFI2PsM2MIeIHpZoKAkoubiA0Ni1lLlnMdm3DRa69f6kLRIJK6n8fINfw6NY8daFhLRRuFrqS7tnIkElpVcWEx6zmk+d0kkb5YKZmgJVlZ/5cGUtmdN3U9gqkORxXWisWZeq/K2kpe/mc0tvAoe4YKymhLDkGYdy41l4wwzfpAl4WGlLiw/S65ZcYnFIPOtKO5M22Zc2lnrUUyjk4rJMfrmkTb+AQbRvaoiykjxi4Wc+5h9l8bQNvGs1mqBBThjXv8T8rKs06d4Fe0s96itWcm72eFJ3KNJrWgKDHYxoWFXCvY3T2N1wBL4S4Fl8iDnpi7imOYDxI9yl81hbXsT7M8uYMus3KjrHEzGwOeX7k0lbdg4lt0kE9W+NhdaXuSvicNYYss8aMiIlGC97U9RqKyD/s4Hpy1ISf+L6uhnMOapAR19vPBxNUeYNB6aFMn3rfRp5hhPp7y4F4kqlJ5gdvoT37UMY378l+qVHWL67EoeOThg9XkJYdgFOiVEMa2OGmgQEiD9yZMoEpl2xImTyOFw5zOKT6nR1N+PRklhWl3sRHzwAe+NGssRW/IHDmYFMu9qE4GSZrlT+9jrm/65F5y7GPFoSw/JiDxLD+qL3+hhHXmpgZ2+L6t1lpC64iZl/DCNsnrD7SCX2nZwwfbKcsNwnOMeGM8TJHDVpreE9BzMnkn3dkuCksXSx0aG26AWHlu2m3L4DbUyf82toNg8dowkf7oKFhvSH8PHodEKyzmM8Ponx3ezQqxEHy25tIGvKKm5r9WeCnzsOknupWMa5ueFMOaGB7+QQejoY/Wn7GUnxKSf+FzZdqM+AnBT82lui+TXuiSm6toU5OQvYccsAvxkJDHWxQE3uJYeX7aasaTtam79kdXg2D+wnEerrSpPqsRYeyyZ0ylkMRicw3qsZ+v9CJF55ZyMLTjbEtZMFz9cksvhMKfrtRzCin6u0k1ZPeIEFYdO4ajaKEP8u2OjURnB7g/Q7bTs14eW6JBadLKNJv/H4dG9NE0mF5dUupsf/hpxnICN62mMgvMGmWXM5InBm0BAvnCzVkH93nEXJuWzKtyIwK5ieLYyqQbjEFGcvC2dt4pGeOwN7d6S5ibq0UCaq/MTpJXO5bdEbL9fmGDWUQ1x0nc05sznw2ZGBw3riIgGOClV8PL+D+YsWs/2sgHYx0wiRmAs1qKDgwEJmb8xH32MQvTs2x0i1NuJP51mRupB75t6MGtIBsw87WHKqPm3aN+bVxhSW5BWi084Pv37tsJMUqISXWBw5g8sGvgT5u2On9637XF5wkMW5m8jXd2OAdOyq1BYVcWFFGovvmDB49FA62GhRW05M0Y3NzJm9jxKHgQzp5Yq1Tn0Uqwq5uHM+Sxdv4WyFKxFTQ+nT2hTFx4dYMmsjj3S7MqBPJ9l5xUVcXJHOotvGDB49hA422tSmiDMLsliTd5OPhr0YPsgdJwlbQ0lMyY0NTJ97Dd3+IxjQyQrx6TXsL7bAsVVjPm5KYNYtc0YH+tG5qbY0JxEXnmJu5DTyVIcQPqE3rUxqUJXL7rI9O5tVl+rhPsoXL+cmqNdRpPziEhKmHqZ2nwiCBrpg/tN8ShFVAgGl19eQkrqGV/ZBBPu64WBUj1qKQl4cXcaKkxWYunTEpZkxmsoNqCvp8skCCVVCAYKi06zfXkrTVg7YNNFAQfyJ47MjyT0kh3tYMAM72KFdRxEF8XMO5Oaw86kubiOH0kVSAKr6zMuTS5m26Ax13CYwpr8TZiqyyobw5QmWzVzCGbl2DBvei7Y2mtRREFN4eSNz523llU0A44Z1wU7jPaeWzmTZaTnaeg+nZztrNOsoIC68zObZ89n60hr/CcOk81v1aB8LZ+/gdeMe0nXSVK8+teQl3Z533Nw5n2WnFXDxHk731qY0lBMgKL3NprQ0Vtw1YWTkWHq0MkRJJKC88DY7585l5wMd+oSNpVcbMxoJS+BTITx7Cm+LoFYD0NEDA11oUOf/mqvtl1eKDHiu4pJcSzw72GOiIXkeqqgoeceTWzd48EEJE6du9OjeHnsTDep/beKIKb65lXmzd/DCojfeg9yxN2yAoqiMN6dXkbPsIvXdA/Dt2QIduc98urGJGTN+5XeBCwETffBsbYZavVogKOHFmXXMX36cItshjPVxp7lePSjL5+Diuex8Zoz7gD50ai7JLyRxpJR3t3axdGkeVa0GMqy3C+YNnrJv1kyW7n2Hjc8oBnm0xKihkhQTUPI7S+JzOVjZnjFBQ+jcVAeF2xtZdrEuFg5taNNEhVrCa6xLmc76p9aMDvWnm4M2lBWwf/F+Klp3pINrUzTLb7E5M4sVtw3wDQmgl4uFdDxiYSXvji8gZfY+PruMI3C4O/Z6ElZcBY8PLmH+9qfou/WjTxcH9BsqIS+qpPT9bfYsXkaewIF+3n1p21gFReFrfl81l2XHynAYOIy+nZuiXVcR8adr7Ji/kM0FJgwZMwj9+/u4rmRCMydnLFWUqLqxnozpayhoEkDwyB600IHPBftZvr8Mp/YdcW6uRemtzUyfspybOsMIHNWPtk0aoiQvRlj5nlMLk5m7p5jWY4Lw9myBbt1aKIpfcnThL+y4Ux8Xn2F0a2lCQ1EZr39fzawlx6ls5ceooZ2xVq9+xgr2Mz93CbtfNmZIwFC6SQzVlBSRTH/p2eWkzdrDp9YjGT+8G/Y6daglzUH/+fg54Ck9j4Brs30JXFELnzXZeFtqfutWFf1GdO9UrrVJZWFMZ2nnRXpxwVV+8Z3ASgUfVs4cjqWWxH5cxJu8NWzcto2V+z7hPm0ZkV2MUJF2GMs5kdqfqE0ldMhcQYybCapfq5al7I/tTeo1F1IWhNPeQOWnkLVsCkS82bOYfeo96WXfiGvTvYk7pEPAjEQG2OvTUMqlE3JnUQDjf62F97x0htjq0OAn2SiV53Pwi7hOu1kZDG+my3dNM0n4/XSKleuLcO7dHnPtBijKiXm/IwrvrGs0jZxNtFdj1ITPuHGvkAYGphhqNKDWH7diKT/BlMHJPOkxm6QhErro33MyRB/vc/7yQ96VVFKzI/7PSwKopYKFoyPmGvX+mh4mesv+pXtR8exOc+VbzBoRxyE1H9ITBtPSSFlGTxTeYdnYQFaJB5KTNoym+nW5mutH9DVnslJ9cDBQ+YMWVkxR3ko2fmqDl2tjdBspIid+z6644Uy7aMXEnBi6W2tS9ewmDwrroWtiiGbDalryDzqewofbWHbOCE8PO7Q/biEqcAFvu2SQMcpJ2t2Ro5zzswKI2dYA75zJDGz2rVr/ZZ4qTk3DNzmfztPiGdLcAOWfXBNfvi+4sZAJwcup6D2XDD9JV/LLCYrZlziMrHOWhOZG0s2qujsluMPK4FCW3TYnYFY8fZvqIbnVotfbSPDP4Zb9JKaFutFYqy7Cx1e4LjKiib6KNFB+OwTcWT6R0AV3sQmfS1QPSdVdDsGNRQSFLqes+yzSR7TESPUvfkzVA1YHB7HwTUcyp4zG2Vz9axFGcHsZwcGL+dR1OumjnDBTl2XoVY/XETl2NheMRjMnaQBNDRpRdfdXIsKWcNPYn+yE/jTTl+gTRbzZnsCYnBvYhk0l2MMK7S8JueAmSwPDWFHqyYx0PxxN1ai8toK4hNUUdkoiwdcZM/UaVJCqT/yeG0zWCXUGTo6gj8U9Nm6Qo1N3R0z0JLGmknO5AcRvrkX/WZMZ6iDr3pRdWszSRy706ajLi40xpK4rpG1iKqM6WKIpjUMiXu3PInL6QWr3ziB+eHNeLRtL4ton2EXMJbJXU/S/bp75maMZvmSeMWN8VhjdbHX/RXHiK+qk5PJKktM2U9whnAhvVyw0lJAXF3IgNYCpJ1QZkBTNEGdzVCX3ufI888YkcVjDj7QwT+qdX8GBul3xctLj8dIw0o9qMiI9lB7Nqjt3n88xd0IiR9X9SZR8/tRijqp50t2xkn2x8exX9iMxuAdNDaoT2M+/M2d8MofVfJkc3pvmhnXI3zCbI+rd8HQoZ29sArvqDSGimxKPP6lj16oF1saqKH5+x6sPldRRU+Xj/gUckozJxYiXqyaRflQDv+SJeDUzkAEZyTUmpHBU1YfEsN40N2qAqGA78/bVpqOnM0YvVxGVfAgVn8lM7O2AoVRLV8aFXyaSfLARQxNC6d2iJoiU6O8SmDT7EvoB6YT1bYGxpPVWeZ3lYXFsrepBbORg2pj/IOacnMfC4/c5trsAu6AkAns7YFSt3RMXXWPHlpOc372BU7W6kZA0ig7WWsgX7GD+PiXad3PC+PVaYlIO0HBoIhP7SBIj2Vgvzgsh5UB9BsaF0MfRRPoc/9wh5MGmuRxt2Bl3xyoOT05kVUETRsYF0bu1CY0kCeLnU+SOzeCCyTiixnnQVF+RR5tnc7heJ9xbyXMsNYmNH1ozPtKfrk11ZVt7fT7OzDHTuGw2hpixLggPT2fqlo+0Hh/CsE42aEloChXnWTgxhd/EXsREDcW5sao0RouLr7I2cxqbn1vjM9EPDwcD6ldz0MWlt9mQs42q9n1xa2OFllIJ19ZkMGX1E6zHRDCymz369WSxRnBvA4mxc9lbYMaYmfEMdW1C3Qdbyc5YxQMzbwJHdsNBkuRKprDqGTuSI1j6qg1hEUPRv7mJE/Xa0dlRjpPpyfz6wASf6CD6OpuhLJmTsjzmTMjirN5IIsZ7Yf+Fwlt2j23TM1l935QhQSPwbGlEA9kFeL4jlahFL3AMC2d4R2s0yq6xLnMK6/Kb4B8xim4tDJANXcCDjUkkzt3FI+PRTI33pp3xe36bkcXqe8YMCvTHy/H780YvfkGLkHB8OlmjWXmRJVHprLlSj27Rkfh2bYZOXVmSJnq3n+lh83hkO46JPk14svMoOHagtcUndiRlsFe+B+ETB+BkoSztbJZfXkpMym7oHkbQoLZY1GhJi57+RkbMbM40HEh0+CDaNpGsdwG3V8eRsqGQtiHhDOtoTXXY/rnlKHmV31tPUvxyXracRIR/Z+zUPnL98EGuFKrQ2N4eG1NNGtSuppX+8azlZ9i8sxLbFk2xtJB0Z0s5mRvC9IO16BkdziDXxrKuuvAR21MlBZNaeMRH4S25H4qSGtVBciJmkdeoH5NCBuAk2RZEXMKV1WlM+/Uh5qMiGd2zFUbSPc9EvD0xj7SZOyhsHUyEvztmrzeSmbWKR+YBRIztiaNxPZl04O0JFqTksPNjK4Ii/XFvKsfpX9KYfUyR7hMDGdC+SY33vZjKJ7uYMXkFD4yHMXGUZH3VRU74iK0pCSy8ZcrY6HEy4CldWi/YkxXLnP1VdE2IwberHZrSdSSGygqoFIJCLaitRDVK/+l78bMf/NLxvK03nMjRPWltWl/6VbFIQGV5GYUFFzi48yC3BaZ0HjIM9xbG1eyxZxzMTeeXI+AePJEhXWxQ+/KsF51hcUIORxXcGD9hEK6NGyF6tJWMpAVc1RxOeFB/XMzrf+3Aiz7fY9vUNJafUaJreDjena0RnV7AlFmHEbmNY/yQTlipfutuiCufsXdmKr/e1qFf4Ch6NP/A5vgMlv3ekP5JEXh3tZUVUyVH+VkWR05jn7ArQSFD6WilQvm5LewqNsW2eXNsJAVAwTXWJGSw+okdEyYF4NVSDwUquL1pE/f07bBv2RxjhUdsS09h0S0jRkWMoVcbo6/MttLTC4ibvpvyjhMJ8emKjZo8otcnWJI1m0PCToweP4xOtqo1OoSVPN87i4wVN9DoPZ6APq3ReLSJGdNWcENnCMHjBtC2en5E706zLDOXLS9tGRU2DJ1nV6kwsqSpQ1PpWhFeX0ty5kryrcYTNqonjvoKUHGbrZvvYmFjTzMHEyQ57tTUhVzXG0HouP44GX+h85RyZmE8M38rpm1gGD4edrKCr/Axe2aks+hAGc6hEfh5OaAjecY+HGdBkuw3jQ/2pouNjEVReW01KZmLOanUm5hJfng0U/+as5efW0bijF2UuI5loo87Nqo/Azllt+7fAc85fgQuV/wPwNObFTN9sdJqgDB/P2tPKdCkZCOxSwpwTVtcA3iKeX9mAQlJK3npEEFKeA9stb5orD6zP7bXfwaeRQ/u8kHbFP3ad1niP5ENdX2ZkzEEG+0v7f8KzkwdyqT18vRfOJuAFno/TWetOJ7O4ISn9FyUymBL7T9v6F6cz503KhgbKlNXChDKOTt9OJG7NBk7L4W+1lrUkxdRVSUxPJPoan4QWirPkzt8EtfaZpMxwgHdf0JAIgEVFQKq/qCN/amgJaeAUu3aKCrI/XX1QlTEw3sf0DTWo879ZYwPWY/8kBxShjVD7wvXquIMM4dHsl7Uk1k5Y2hlVJczWUNILuhGTtJQbKVA5PujJP8Ob5SN0FepJ6Nrlp8j1y+SXSr+5CQPkNI15EVVVCGPvHyN8f0AeFa9ucs9gS4mWnV4ui6MsCUf6JyawUgXU1lXWnCHFYETWV7qxZQsf1oZ1aAYVA+r8uJsRkVdokV6Mn6tTKgRI39qKiVgb0LwMip7zyX9Z4CnuILCgrs8Km6Eobk+6hLAWFxE4asDZAfN4oplKLmxPbDWrQ/CSoRyiijWWDPiivfcO7GVNZvPU2Hdg2GDOmOj00BKpxXcXExQyDLKeswi3e/vgeea4CAWvOlI1pTROP0d8FQV8PbBOfatWsWB55q09wmgv7PEeVkBcUUhj+8+oqihAeb66tSXF1JcVMjrA9mEzr6IRVAuUb3t0PvCaxTcZFlQGMtLvgDP+lxfGETs0qc4xOUQUhOkSmdfxKutsYzLOYPuiJnEe9biydNGWFnroyrVKvwYeIreXeRUvhbNDAtYFZ3Cmmf2ROVG0M3uG2iU6KOeviqilqoeWqp1Kb3yK5npy7lv4k9USD8cjb9QSso4muHzvwHPqqfsTp1EzilVhmXE0N/RBKnnluA2K4Ij2EJfEqIH4WiiLAMBH/aTMTqL45p+5MT1RbviJWVqhmjJXWJeSAandQJICOlOMwNZAiC8tYKwyA2Ie09m0qAW1H99nzINI9Q/7SMtbAnv2kcRNtgRky+dhPtriYvfQlWvZKKHtMZURY539+7yWd0A9Y97SI6Yz636Dji174qnWxtsjCXMiJpPsmQT89sUqRmiLX+NReEZnNLwIy6kh7RyLh3TjeWEx2yg0iuJqKFtMFNVoOrdvjYxoAAAIABJREFUfe6VqmGgJcfV+RFkHWnE4KRw+rY0ltE3hXdZHR7FhkpPYqMG08ZMBopkh5iyu9uZnrqCgiYD8R3YBXuDhii82k1m9FJeu8QQM0JCyf4jz7aCK8tmc0W7DhcX7abcNYqIEe2xkrQ8xUVc276N+7VKyVu6lefWE4gP9JQW0ETvHnC/VAU9LXmuL4wk61B9BiaE0beVqazwKLzLmkkxbChzIypyKM4WNcf6T6FDxPuH9/msootq4QGyohZR0DSQqLEeNNWV0eyF99cSG7mK4s5xRHi70FhdTjrnn1T10Sw6zJToZbxxCiXCryOWmrJijej5dlJCZnPVeAyTByhxYP4Cjij1Ji5qKG0bq0nBnrBgK8mRi3nRKpzIER2x1pLMl4inu7NIzD2EnEc0oYOdMGlYSdHrZxTcu8Odx5+obdSCdi5NMVKvh9yL/cyImylNCGPi/Ohoo/W1SFx+9hdCk3/lssogMpN8aW8p5mROHDl7q+gaHYl3B2s0vjCGBHdYEx3Lkoe2hKaMpVXDMqqUtVEtOsy02EU8sBzDpLGe2OtLKHkgfLCehOhVfHSNJNynHZbSzrOIN0dmkThjD8KukUT4dMK6ej4kYPLu6ljiFz3AKmwy4zybIX8im6TsPVR0iibavwu22l/0xeVcmB9G6orzNOyfSfyIDmjcmC/9rKDLJMJ9OmKj+eWzAu6uiSNh0X0sQ5IY5+WA9sM1xCUu4nyjgSRGD6O9lTq1qt/zwkebSI6ez22LQOLGOaFaXkVDbQ0Ub68kKWsfeIUTPMSVxtLnU8iDDQkkrvmAc3CYFERKwNnXo/whe3Il3Rsdug0dhEdrY5RrveXg9CSWF9gyNmIkbs11+Umi7dfT1gSeYf30eXVwHWflWuHm3g57E2Up2+avDnHxKbYeUMDOwY4mZpItPf4CeIorKXr+kMcfa6FuaICWci1En4v59Po4i5PmcbJ2b6Ijh9LeShX5ssusiE1j+TUd/JLDGODa+KspjrD0HS9fFUIDTTTVa3F7VQIZS6+g45dM6CDXb0BdWMq7F68ppD6aWuo0KDzGrPhsdpV1ICrGn67NZB3mr0fFFVbEpLE234rR8ePo4WhI3apq4HnblLFREuCpj7jwCVcPbWT93rso2PXCe1Bn7Ax+nkH3T9HhZ///TxpPUWUJby5tIHf2Fq7iRECYP91aGlLv1QFmJs1k+4fWhEX64+Gg93WtUlXAb1PSWPGwMaPDR+HVUh+5R9vITJrPDcNRRIzrTWvjmjr3cm6vTSN98TEUvOKJ9LHn3bpUcrZ/wjkiCv9q4FNjkrn2ayJZv97DZEQ0Y/va8PngPHIXn0GxcwDjfNyw05I971+A535hVwJDhtHRSpny+5e5J6eFrr4eWpKC9h+AZ/eWetLid+GtSzyurY2egQGaEuCZkcKim38Gnp+rgWfZV+AJb47OJW3mVt63DmVSQA9a6H1PC6y4tobUzJXcNhxO5ITu1D+dzdTFZ2g4IIYQ765Yq1Y/K8LPvH/1msKquqhr1ePd3Xzk1CVj0pFKZH4IPEWF3L5cgJq2HtoGWl+B5w29EYR8Bzw/c2ZhHDN3FdN2Qg3gKRZQ/DKfJ+/lUNbTR0etNqKyEore5LEqcwGHytszIWIE3ZpryHKNotvsXpDLklNi2o4Yh6+nPdrV/OHy88tInP7/Cngu+4C9b18cJcLtLwCp/Abb5u2isOtUlvyo4yk/jOU5fljWK+C39TfR7tQJ48tZ+E65iVNqTeAJoopPvLx3gd/P3OZFUTHFn0GpoTra6ko8+G0+uz95MHXJv+14gkggQKyoCPlrCQ6Yy6eeuUwf1VLaVZMeVfmsCRxJ7jkTJqyeyiArrZ/e2Lr8aAqDkl7Se3GKDHj+ETiKhAhECjIgJ+0E3mbpmAmsFA5g1lRfmun+hAtu5UVm+URwxWW6FHjq/d9yg/3ZKPanz4kQCsQoKMLj9aGMn/sOt2nTGNnaEJXq3K6qYC3ho3I4oz+GJVOGSHUlJ9MHkfasO7lJQ6QGM398XYmEQsQKMqqirGm6jKDA5VT0ySbN929ccH+k8awSIEARRdEdfg0KYXmRB2lZI3EyVpUG0qrnW4gdNZN8p2SmBrXHVP3Pe3VWXp7D6EkXsU9NZkSb/wo8l/Lcoh892hig+pVuV8Ht35aw740zsXNrdDylOXQpzy6d4NjJizwqUkRF1wRTnVfsyV7Hw+bhzIrtgZVOTSfISp5fOMKF+8948vAOd1+AbrMOeHq1w0ZfmTrV3XMZ8FzCU9O+9JBoY5UqKHzzlJdFdTBq6YZHJ1v0GtVGoeoBfw88F5Fv2IMezkYoyxXx6kkBL8s1admtF11aWaDVoNbXIq649BlXTh7j1MUHfJJXQdfEDJ1Xe5i1/j42obOI7vVNE0c18FxaYEzPHm0wUqvi5o7V7L+pRv+52Yx2tfiTPq/kQAoj0nZS3imd3AltpQULJSUFFKRcrx8DT6oqKBPIo/hqGwlBuRxU6MHM7DG0tdD4TsMrFou/mquIK4t49eAKZ8/e5OmHTxSXialVXxVN9To8ObSCvW9aEznjv3U8qx5vJTE0hzyVYUxNGkorU1lXTvRuL+ljZ/KoVRwJAa5YVIOmyisLmRi1nKcOMcwM9aCxRLSoIEfRyZmEpv+O3ugkgro3Q1/qwlzFky3xhC14Rdv4ePzaWqCCpNouz8cDmUycfo76bbvg1FiLBtJ1IuLD5e1sylOke3oqI9rJNJFVQqG0Mv9uXxrB2XlUaOmgqWmMtWNnvDzbYK5R/1tyIrmqQCC9RuGJbCIyf0dnZCJBEnpn9Zgeb44nYsEzWsck4i/pNEtiRpUQIfLIFZ1iVogErPoSF9qbFkYysFr1dAfJofN43iaSGP8OfwKRYkEJ757c4eKJfew9eIkXYg10lF5w9aYinSenMdbNDt0/7kUjfMDG3COodTHizuJ5nKg/mJiJvXEwqk/JtR1sv6+Oba0zzJt/ikaD4wnp54ixhKb4dax5zA7L5KTqMGJC+9DSWBbLRc92khI2jyeO4UT7d8RK69+l+tI4KC/Hh4NTCJ95HYsJsYz2aIaedPxCnmxLJmrhExzCYhnRyRptJdk7TqQg+c5UInLvYDUxmoAuduhUS8dK8mYTmrKOQtcExun9zgqJLrVHKvG+EpAm07e9k3w3+xqm42IY0636eqLn7E6LJHf/R8zdPGhtoUVdOQGl75/z6G4+xeqt6DW0Ny5NtKivWMXj7anE5R5E5JFM4shO2EgGJz2E5G9MJHruSWr3mky8X0caVx5ianQ2B/EiMd6X9tYaX5N9cdFxciZmsLW0I8kpAbSzVJeal304PIOomZcxHBXFGC8HDKQxVcjTnWnELsjHNjAKfzc7dCSXFb1gX2Y0OfvFeCTF4dPRRrbWpHG2mBMzg5myuZh2ycmM7NCQc1lxzN4voHNSEiO72knnVTb0fLZOjuGX44p4Jcbj20GFS9mx5Oyrwi0xDt9OfzhvTghTNhXhOnkyI7taU7krjbjZR1DoPpkYv45Yf0WLYkpOzyUifSNFrgnEj+yIlYaEqlrM2fmxTDtUix4RwQxwsZB130Qv2JsZzYJ7loyOCMD9TyBSSOm7p9y7eIqDew9y4YkAFa3avL11B1zCiZvQE0ejf++KLwOey8jXccHaQJmK6/u5UGLNwLBA+ruYo/oFRf8gn6h6uZ8tZ9Vo3sKWJkYSictfAE/pPSnj1c2z5J08x523QuppGWGi+4nTK7dyQ60/MZFDaWepCi/2MDU6h23vWxGTOp7ujobUVEh+jd2S+ZoSS+6Wd7SKTWFsT0cMv/8g4i+5xrVfiUtZwlnlQSRHDqODtdr3+YnwHhsSk1h0vDY9U6MZ3tkGDZEMeC74XUyLLm2x0a/H57fPefqihPpWEu1bW+wMVb++g/9zuvUfvvhPwFM63RVP2JOdxNztt9Hol0jUCHes36wnPm0xR4os6e7uhKVejVxDLKTk3RuK6tvg5u6MjaEK4i/A0yCAiPF9/gA8Rbw7lEt89noeWwUxeZwV+cuyWXKqLn0mT8K7q90ftm+RsD1SSZ13GDmvRCb5uWFV7wNPbl7gwrWHvPzwiTKRAnUaqaNW9y3ndxwkX3cQk0JlwFNcWYFATgFFRUWZQecPgSeIKsulJoLSz1U9lALPhXkCmnd0pZnJN820IP8k2w48QLNfJKHSjqeIW2snk7noOLV6JRDh646dxvdZrPDBVrJS53Ggyo3EiG7IHf2FWeufYBOSyPgBbTGtU+NmisXV60+EoELyzpSMSWaY+UPgiYjKcgEKknErKlQDzwWcKrejXTsHTKVtTckhoODkdg7dV6NXRA3gWf2Mvbl7kdMnz3DrZQW1NQwx0S3l0qadXK7VhaBwGfCUnkksoPTdE25dusD1By94/6mMKrnaNFJXo967i+w+9BD1PqEE/3/f8YQB85LpZ6H+zYCh5ACpPtnccUlj0Y+Ap9xQlmb3oOjIUT5Yd6GdrR6iPdEMyrhBm9RFNTqe1e+Dqgo+Fz3l+JxEZh6Tp0tIJMPaqHNhmi8z7rQjbeG/B57VZ+bdzlh8Mm7hnD6H4A5GqFSjZ9GbncQOT+NIgyHMmT0ax3+xv2RlXhZDYx7iPi+dYbY6/0ipEj3fxCS/mbzoOp3p49r8tQtuzWBTcYbsYdHcc5tLirftP1JtqfzEi+dvKakQIhLXdF37pwgmh5xiA7QMdFCu80Wr8TffEb9jT4IfWTdakjAzhI5mX3SbIt7+Fk9A+gGU+ucyc4wThipizkzzJvF+J2Yke9NMX0Yd+utDxIstUYye+YR2mVMZ62Ly1y+4v3G1FT5YRdiExXx0zyQjoA1GUpqtmMKDqQSknME8bCaTPK3+oO+Ujary7ExGxN7BdXoi3vaG/4FqK+t4lrpnEju4KfpftTWlHJk6lllXbQmvSbWtes3ZlbnM25GPetdhDHa3x1i9IXVFecz0n8q5xkHMjPkj8BRTWVrE5/JKKisrKHt7g13L13IRZ3yDh0iBtsTYSQY8l1LcJYOYwc3QV5ajSlDKizNrmb/yLAIHP8LGumOt/pINIX/f8ZS4rMZ6t8RQcg5hJSX5B1m+4gJK7YYzoldLDJSVEL85y+pZv7DzgRqdhg7GzcEE9Yb1EJ3OZuzUs5hMyCbqB8BzWWFHkmMG09xIjhPTJpK7XwHP7JmMaWeBxh/y96J9yfin76C8UxazJnbCQqtmVvEXwLN6wVU93UTcuBwOKngxI3ss7Rpr/q15lLiqkrLiZ+QtzmT2wVJa+k9kWDtD7iycyKzLTQic8l+Ap5iPBzMYn74LsdcUMgLaYlHtflNx8RcC4w6hMTKF4B5NqzvDQh6siSTilysYjplOdP8WGEo5nKX8njOB1BNa+E8OpbuEZiv5s/gDBzPGM+OaDSGTq7WU0sJYKadnTiDthBY+kSPpaKUtc+oTf+BodiTz7toRlhpIV5sa+4aKi8mbOYH0PG2GBXvjrPGWPYtXcVWlO0GjvWhmUNP4Q1ouJW/mRNJPaeGfGEJ3ewPZmKT6zkBmXLEgcPIE3Oz0auyRK6YkL5fg1GOo+SQS3KcFRlJas5iPh6cSPPUy5kEJjHX/AYgUl/Jw70JyV19CsXl3ertZ835HJgsuGjAyJfTH+s4Xu5mzWUin7s14uS6WOfmORET54ar7kj3b76PeshX1z88kfX0pneOjZfrOr21WCWiYTWjqUZS94wju01JG75WM9ch0QqdexHh8HOO+ALh/Cr1/+n8JZ2aHkH5UFe94md5SOhXCx+xIjmJRfjOCYgPobKvzTSsvLub32SFkntLCNyaQ7i0Mq6nfZVxZMomk5Y+wCo6hxf1lrNxTjEtCKqO7VoM0PnPul1DSDzdiSMxEejkay64nuMTioERWPWtKUIwf7W0km8yLEVUJEXy6xpbZv3JNvSfjAjyx16vgyFSJLrmQNvHpjJPsdfkF7IuesTs1klmnlemfEMFgl8YonplFaNomCl3iSB7TFbsapjflV5cSnbCCfJtgkoO642AoAS0lnP0lgszD9RkYPZE+rUyr5+QJu9JiWHjfmjHRo3BrpitbzyV5zAlOZ/NHJ6JSxkj//jWElF1leVQSvz60ZELqRDyN7zI/Yirb3rcmKm0C3Rz0v+6ZK3q+m6yoXE7V70vMpKG01bvFgtAMNr1rTWTKGNyb69U47zWWRyfy6wNLxqcE0cNRg2u/hJC54T2toyYT4NGcbz+zghsrYkhemY9VYCLjureQAmlxyVkWRmZySLEnoSEDcbaoZjsUHmdOxHTOaPoQNl5GG/2+zi3m86PDrJi7irMVTejS251mJQeZtegsjQZGEvyv9J3fFqQMeC7iUj13/Ef1oaXSBVbOWc+N+m6MDx1GByvNv3TaF9zayrYnjXFwsKaxxEjqr4Cn6D1Xty5hyaYriO2706+7C1a6KtQTX2Z5TA5HFLyInDQUVwnwfLmHqVE5bHvXkujUCXR3NPrx/sail+ydEs2sLW9pEZ3KuF6OGP3FRsgCCfBMXszZRoNJif4B8BTcZb0EeB5TomdaDD5dbL8Cz4U39PAO9MXNXg/FKgGVpc/I27SBM8XmeAzpRzsbbaRM4P+Hx88AT6jg0tIYspbs5YVtMFkRQ3Gu2k1S6mKOy7szaeIg2lur/ylPk1OsQ/16dVBSlEf4j8AzRwo8n1iHMHmsJY+WzWDJyTr0nhzJcLc/Ak8B9zemkjr/EHKeSUwa4UEzLXlEgjJKX11g45z57MrXwX3EcDybvmdHxi8cl/dgYnXH809kwb8Ant/dBqEMeC66ps3QcT50a6H/tfj1+cJKMn45jKhLSDXVtkoKPDMWVgNPPw+a/hF43t9MZup8DgjdSJrkhfyxueSue4xVcCITBrbF7Ce1/j8Gnt8vIBnVdgFX1Acx2q8HjgZfuq9lXFiVyYKDFXQIqgE8RR+4uetXlm04R1mTrvTu2R47A1Xqc4P1aXPYW+TEuPAReHwBntLLiRCUl/L64mYWLNjOfbWuDPfpgX3hLqbPO4yg4/j/n1JtGUBK91q80e6Eu1MTtBvU4tOOSQzMuE6blD8DT0n18vmB6cRNPYR891hifV0xV6/iUNx/1Xh+uVmlnMwYTtxRM8Lmx+Fprl7tOiXize4EAlKOo+k/i4zh9ug0/LF194/ihvDWIsZMOI5d+lQC2hig/LfWp2I+HUzGN+k8dnFzCHczQ10SCMVF3L70DG0bc1Tq1v4zICs5SPLAGZR4zyGqb2O0vrNd/POoBPd3sWD97zz5UMb3Gz78U+STAE9tXIaPxN1Gkwb/ZONaeoppfnEcMQgiJ7aH1LRHGl8lGtDJAaQfUWHojAyGOxrQqFYVd5aMJeS4FfFpATibqP29S6z4E0fS/Eg9Y0l47iTcGmtKE1RJ+//qMy2amKlS74vH/F8CTxFvdsYTMOUOjpOnE9jRHI1qPfG5nJHE7myET24SA5rq/ZkiLZGiHUrFO/sj/aZF0tf2x5/5uxn9d1RbMYV5c4lO28CrpoHEje+GvbGKbNuRkoOkDk3jd/NAZsZ40ej9E+SNjFFv0ODPWmfhZ57vySIk9zQNe6eQ7NtGqmn9MdVWjLDkEZsSglhwtiE9M6cy0knI3kkTf45qWy0WElU8Y8fkiSw4r0KPlMkMb6XCncXRZG54js2YeMZ0b4GJam1pFbL0YCq+aXkYjc8mqrsqH5/JYWisSQOleyz/jmrbkPvLQwhfcBvLsDlE9rT9RsuVTnoVTzZEEpR7Hp2AXBIHOWD4nWnG3wNPys4zd3wsqwuaEj4nku52et+7mUqWsUgk7XrKtpUQ8vLYPNJm7KbUZTyhfl1pqivPyaz/ReNZxeON0QTPvolV6DRCveykjqmSiuW9XyOIXFWOZ1osQ1qZImPaPWRDdDgLbpoyJiOCnvaGMi268C6rQiPYJO5DQuRAWlbTcik9w+wJSRzXCiAxpMdX+i2V11gaHMsOxf4kRg6ghXE1aPx8hjkTJnNEzY+kMC80Xt3js2kTjNRVqFt5laXBcexQGkDipP600Iezc0LIPKmN3+SJeNnVJf/8Y5SbWKCj1pBagpusDI1hi7gX8ZGDcDSVJc98PsPcwGSOqPiQENYb++qOpuw5EnB3ZTjRG0V0T5jEwNbVv5syzs+dSMohZbwTQ/BQfc7dcnOsTDRRrTYEq7i7iYzUtbyw9WHM0C7Y6z5jXWQsW4TdiY0cgOH7uxTqW2KirV6t35eYFc1l5RtnenSWdKWiidtVj8Gxfpg+vcRLzZa0adaACzMmMf+RA2Hx/rTgCc/qmGGmr04jJSH3VkUSs6GSbnERDGpjLrtHEi2qVN/ZgCHxIXhqvORemal0Gwu1f4jb38WSyuusiEhgm9CL6Enf9KnCgm2kRC3mqUMwUSPbofLiHiX6JhhoqFJPeJ0V4QnslOtJZNhAWptVz3nFdVZGJrDqiS1j43sj3DaDpZf18U8Jo/dXgHmLVZHxbKnwYFLEAIw/PaREzwJD1QLWBE9mc0VXkuJ8cLH8pvOR6PI2xUex+IYJ/inB9GwuYE9cFAsuauGTGUn/1mbfKJD520iNXUq+pT9hYzxprl+Xwn2ZhGTnoTZsMmH9W2H69fn9zNVlMaSsfY1DUCyjPJqhK6F4CW7wa2QSW8u7Eh4+hLZN1KRrSvh4Bxkxi3lkN45JAZ3QeHWfYl0j9OTPMyckmzzVoSRE9Ke12TeWzecry0lIXsdL+/FEj+mGTflvJEfN47yGNymRg3Ay/1IYFfJ4ezoJS+9h7hPGqO4t0C87zLSQbE4qDyY+YgBtJLrD6ptXdnUF8clredl8HFGjPWmuW8yBrDBm5akyOCGMfk7m3/ZKLLvOqvgUNrxpwdjIkbg1kxV6hPfXkxi/nk+uwQR7d8Cq2uyj/NJiolP3It8znKDeBnx89Bl9UyO0NWWsACofsHNaFmsfGNF75DC6tTbk9dbJpKwvxDk4lCFW5Twu1MDYSA+tP5pR/M2L7EvH84ldEBGjutFcq5yH+35h+uJTVLYKIGykRGf8Tdv37VRiivO2cljOluZ2lphKXah/1PEUU3RpNVOn/8p1tT5MGDOADraaMsO8z3nMDZnCfjyJnDSYJvIfqKr/kt3Tc1l7SRPvtAgGujZB5Q/ATha7K7ixMoHUpRfR8E4hbEg7mvz5g9Itl8TvDzMregbbPjoRmTAGz5oUU+ljfZ7FkRmsLbBifOIEerY2+gHVtlrjKark9cHZTJ5/kJKW44ka2Y1m+jVbXf+Uh/3v//8p4Cn+xMm5McxYeZgip2jSQwbhrHaZ+QnT2fDKnrC4sXR3NPhTjlHzvfj3wLOSW2uSSV90gjq9E4gY7sDbNZOZuek1DuGxjO7VCoPvzDjLubQ0jim/3sV0dDzj+jljKonvVW+5sGYWczY/wqD3KPz6tsW87hWWRU2jJtX2fwKeP0m1fX9sLpNnbORF82Cix/WhtWHN7b6g/NIKJmet5JaRP7ETeqB8NpusRaeo0zeOMB83bL92JavvsUhUveXX99K2nweeC/k5qq2Y4mubmDVzBWeVujBy9FDc7XWoV0seubJzLI2bzs6PbRgX5kvLhiUIGiqjpqEuzbmr3klA/1w23dXCc6Q//Ts0od61lf8Pqbb/QeO57IUeHgNHM2Kwq9SwRpJ8Fu6MZGDaNVr/CXiKKb25lrT4BVxUH0JivDdOJsooyZf9DxrP6htceZVfRgSxVtGbBdOGY6vzJVg/ZMOkQBa/7UBk6jg6mqsiLjjGrtOPef7wGdpeAfRork0DJTEvjy5i9XMH/Hs5oNFIVjsVf5A4zi6lVuBMQj2qgeTXuCGm+PF5Ljyuj3VLCWAUcGaKLzE7VPBbnMlgG5kmVPRiL8uOadLTqylaX8yZasSeqqdrCfPfjWFCJqNcjH7gnPt9oBKXf+LtxxIqhf+m21l9DjlF6qtpoFz3nzuegqvzGRu8GtHAOWT4Nke/+mUmeLSR2ImLeOUcRsK4LjTRkGiTxHz8LQ6/pfL4TwuhW2MJZavGuMXFPLlwgSd1LWneWJuGwrNkj4xhR73hzM0Yip1eQyk//+W+5ZxQ98S9qe4386m/BJ5VPFgZyIQlVQyYk8yQZvqyl37lDZZMCGVVWQ+mZo3A8Qf6TgmwebYhgnE7dQhNGUU7c41/vX/qvwOeAi7NDSBqxUtaxs0i3FNivCN7m1blryV83Bxu2YQzO7orhYf3UKJQRoVjb9oZa/6p2FF5NpeAqNW8ahXPnMhuUmty4V9pPEWv2B4dwIx9AjpPnUtQBzkORv074AklHEn3I3VrMa4pEjZBKVuDo1j5rDmTcibhKTHdkf6UKgrWRRA0+zpNQmcR6V7M8X3yuHa2Q1+t4A/AUxXBvXUkRizgkUMkGUFuWGrV2EtV9I6D6eOZelYP/5RIejsY/MEQ7B+Ap7iEa0uiiF3xhBaRUwnysPlmdCQFSNfYeaiMls626GrWp/zuVrJTF5Cn6EFIpA8drbWoq1D+P2o8JcyAJMZlP8YpZTL+bS2kmi2Jo+ciSdfkaUtipk3Erbrz+PnyEqKStlHZOYxJPu2w0KguUlWeZc6oJH43CSJhghvWOpJ5ElNybi5hib+hNCCNyEGOmFRrw4WPNhAbtpzCzvHE+DhjriarlAofrCU6bDXlPZKI7K/C+bXn0PNyw8FcF6X89cSGraCwU/V31Cs5NX0UGRebMDFpHJ20b7FifQnterhiZayGYsVpckemctZkPPGBHtjqVY/p/Dwiknai0DuZyMFWyH0sQ11HnQb1JFR3AefmjCYlz4ix8eNwt9OTJuLikossCk9iOz1JiumP6vl1nNfxoHW9+xw//gIDj64on8lhxnYhHtERDHY2p9G7XaQFz+NZm0iifMy4v+kwSq0N+HDxBkUGbnRvp839dRt539KL9vZmKBzLJDDnEdbdLWmk7YJbW3saN7jC3KB0zuiNJjbQldK9m3nr6IFrU3M0aglbQL4xAAAgAElEQVQ5P3csqXn/h73zjo+q2vb4d9JnJlNSSSWVFEIgIfT00DuKylW5oqIgKCgKgr2giKLXgu3aEZEiVXrvIL0ltJAGCellZjKTTH+fM0kgFBF9997n8875c+bsfdb+rbXL2nuv3wrkkecm0C++6eTWKrAzT32FleaBPD/9bryPLuZQmz5kJUUTeEMcxq8vME2FS3l56teU95jKs2PSbLGaLddsp39VQtKTzzKmu4Et83MI6ZNhY3J2KfyJl6d+RlHCszz/aG/i/IQyVuoOfM4LszbjPHAyj98dQ/5nU/jgbAemzBhLZgc/nLGiy57Pyy/Op7rXdKaPDiNvxS7cMrLoGu3M7jee5rNLXZk67QFSY3yuxNZaqnfwwTOzWFHbi+kzx9M3zonts57kg8OBPPzyJIZ0btt04mqp5eCXL/PhPiWDHhvL0C4hyJ1FNOyfy5Nv7Mbr79OZMKwzbZs3EUxlW/nwhU845nMHjwv5BUPlV2JQX5v+NZc7P8kzDwrXeJswsV2z/eIi8ROf4cFkCzsW5BCYkUrn0Et8O3kWuz1HM/XxoSS1nBCaytj+4Ut8etiLYU+Mt5E2uddt4p2n/sFBvwd5fvIwkkKarhhaag/wzWsfsd+9Pw8/PJxuYQqcG3/hU6Fe5b0888TVd7HV+zKfHfZkyOPjGN49DIWzht3vT2HOHk/unf4Ew7qGNG9wWajc+TGvfnIU72HjeXhYV9oKhHrC9suRL3h65k5kf3uK8cO6ECLgYtVy4tsXeOMnDanPTOWe4LOsPqSgeyc5ZYf2ctErhXSvbL7+cDm1vSYyeXQm7b1q2TT7WT7PjebRp8YQV7qOnaKuJHfrSERLrNlt+Dg3kAu1ccRUf5E9X7/DxxsqiLpvCuOHdyVECF2y6ijPLUAt9sO/jYySdSspCk+kU2w7bOq6qeNpIueH53j9i6N4j36Zp0al0K55rLIUr2bWjI/YJbnTtnngfu4X9FHhiI78yEffnsB/9PM8PrIn4a3ZuxrOsmW3itCYdrTRbuKd177mhN/9TJ80kp4Rwjqi5Wng3Kbd1IXFEBUiJuefr/DemgZSBVKovh3waXWFWH92ETNfXcDF2Ad56pFBJAa2Ihe6EuPZ7Hja+NM+Y/qs+ZwNeZSZTwnkULLbQFp4xYL2ciHlFne8vb2Qu/1ORsPmr9yO49lYsJ65b37Akl8M9Jz8CpPvSSVSruHQN68zZ2kVnSdM4cGBCfi1dg4bzrFjn5rAiEgiQj2wNJ94nvQbwzOP30mPsFZXuRtyWPLmm3xzWMHwqU/yt4xIzAe+5M13f0bVfQJPPjSQjm1aEQbqz7H0zZksyIvg3icfsZE1SWigcMvXfPjZOqoEdtyHRtA9TI6zvolc6D/reDpgqt7PtzPfZVVNFxtT7sBEv1aOuYHcZW8x6/tzBI+azKMjuuFVvJJ/vPklB91H8NTkv5ER3fqmXwO52/ZR4x9GZFQ4zftLTXPxzciFrrOgFnKh23M8TZz76Q3e+nw3LkOnMlm4Jtx8fcdyeSMfvDqXjYZMnnr6PgJLT1AfEEp0XAyehiK2f/shX6wuI/KucTw0shfhChf0/5kYTwNH/3E/k35wYfT8D/h7rM+VEyJrzUqm3vEGJ7u8zFcv9rdRodv8CSEu8f4nmK9O55X3p9AnWlio2e5zUb3iGUa9eZzEl77h+f4hVxyIhoJNfPL6HJbmhTL2rRcZ1S24icWPetbPGMHMo1146YvpZIV4/G4nwJb2ZOxHHJIM5a1PJ5PWVmDG1XFh2Zu8skRLxoRJ3NUzDKVDIesWnsS/ZwjZH7/CoQ6v8MLfOuEnrWXtS4+yRPkUbz3aKuWJ8SxfjZvE4a6zeWV0wrW5II2n+G7KKywqiGHC3Gfo7XqYeXO+ZvFhf5749kWGRPogMV9m948b0XYeREq0L+43iZdo3Ps2D8yu5q45UxkSJZAR3eYY9m99zUzBj08x4YP9uAx8gw8mZxDm5YZId4FVs1/lJ3UyD0+8h14RnlfjDM99zaQnD9DptZe4Lym4iUSl+TGe+o7pry3kQuQ4/vFMPyTH5/P+1ws55DOBz18YTrSfFHPpHpZs0hDfN5kYf3mroPdcvp/0HnX3PMv9PcPwupKH1ULV2pcY+24FA997hXttzLR6Lq6fw3OzVqDrM5v3nkgnzOvaXasmkRrZP+dB3q0YxqtThhFnY0r9fY/h+KeMnzIP47C5zGrNJGtLD3Q/sw9E8sTc5xhiy29oIvf7yUz+OJuwiR/wwshOBApX96wqjvz4BfOWLOGY32N8/GIml9btxStCwy+lHRkyIIlwH/FVohVTOXs/msGri4rp8OQcnh0ej7+7I8ImwWNT5tE45CNmPZREiI3V1kT1oW949eVvOCEZwvRZj5EVVsXiSZP5siKNmXMeIyXC+8rAajz1BY8/9Q2qvnN461GBZdZG8I/m7FJmP/8he5wGMeP1cWSG17Ls6cl8ejKYR957ibs6B9sIYqyqIyz+6jt+WnQU33FzmZFVwpZ9bejXL54gz/N8OX4q3+v6M+eth+kW5omjsYbjC2fx1nId6ZOf5t7kcDxsrFNGKvZ/zZvv78Z90ETGjehKsPJqAvYW/e2d8xCvLBUx9IM3eaBbGNcS+VoxVBxkwaw5rG5I5fGpo0mJ8GrOQarm7OqlHPdIJatzOLLq3Xz7zj9YlO3JXc9N5750IU2BEIuhZdsbDzBrb1vGvT2VwfHX5YC8DXMxXljAjKc34DnuOcb2icXPqZID89/j/a/XkU0mL378LEM7BiHRZrP4zXfYSDoPjr2DHuEeTafhNn8+nyXTn2Gl2/08N2EQHQIloMlhyRsv8+k2F4a/O5MxvSLxsi38BJbv15n8j1w6TXuZsZnRtIQgGk99xZMzdhI08TkeCDnFkj0eDBjSk+ggKdVrX2fyB7l0fOYlHsmMwde1gd1zHuG9wp7MePpvhBQsYbmmB4PT4wnxdEZkymXhtGf52e1epj8+mE5BUtCcZvmcN/hkg4VBs1/jvrYX2HjEm4z0eEL9hGuDZgoWz+DZlW6MenY8A4XruWg4s2Iu732+kpqerzBzbDDZi/ehHNAbp50f8v0BKb0f6UnFggWcDhjFpEcH0jFQCvmLeO6ZFTjfM51HEor5eTP0aJPD/NVncO89kQeiLrI335temV2JDpRhOf0tU6f/yAXvTMY/NYbeHQKQaDYze8InlKY8y+TBFravuEj8oN4kRgsnU2YKf3qe6cudGTltPIMTg5tkXfUx73+2gqruL/La2FDOLN2Pos8AenYIuYHx/NfNw0LFhlk8/X4O7R5/jnH94pvjUw0c/uRxZh2N4LGnxxBfs47lxVFkZXYh2s+V6g1v8fS7P3M5ZgJvTb2TLqFyLJUHmf/OPzksz2L0/YNJCpVSvup1Zvzswl2TH2RAQjDOtSdYM+9LvltSQMyk1xmXUMLaHZDcP4WO4TKqtn/Ey19cJOHRiYxKi26yI1M1R+e/xTtLiwm76wnG39GNEKUjlTs+4qWPc2n/6CTuExhdXRq5tOMb5v6YR+Cg+xjZpyOB7k2LTWv1Lj6a/jF5Hccz8b40Yrydsery2fjZB6y4HM6g+++mt3AbxTYnWqjc9DZT3z9J6KNCfGcCgbZrkwaOfP4ksw8H89DkMSSqN7HyUjhp6V2J9W9g74fP8emFDoydKKRM8cHZqqNg4z/5aFkJoYPu5a4+AiGeMyJzJbvmvsin56J58InRZMX54tJ4id3ffsTCXH/63ns3fQQWfGE9Yq1mz0fP82luex6ecJ/tdO5KvctLCB14r62dQr3CZmn1nk94ee4ZIh+cyH1C/k8X0F/aztcfLuVS2/7cMzKLDgHuV+Yzc9FK3nh+GYZ+E3jkzh6EyUTUn1vLF+9/zrLLHZny0liiL67joFtPeroe4/sf92DpcT89NetYke1Ov0cfYZjAgCwqZMWrz9tOiCc80hP11p3oO2fQKynmaqzr7YxRZ37ghRe/5XLiM0wf2494/6aY4MbSpvQ7awp9GPzkFO7NjMW7Zisfv/0dh6QDbSy9pUfLCEhKokNMYNNGs1XF9vem8N4mBwY/P42/pUXj4SDEBs/kxbkCCc0Mpj3Qm/YCCZRVQ/bqH/nxxwX8IhnKjKeG4ng6B3HHRGJ8VGyZ+yHLL0dzz4QH6J/YEl5QT97WNRx3iCGpcxwhUjUnln/E3GWXaXePQJCSSEBTHALaC1tZe9yB6C6daR8ix3hpJ/M/+JoDrlmMGXsHvSKa+CCs9fls+uf7/FQQwAAh3ZUwnwlsXMZcfnrlJb48E8a4GRNsp6DC0sOqzWfTp28xd201HR+e1tQ3WkgXfwNvS+l2vnjvW9afUTJo6kRGpsZcSyB1G/qy5Une+C4v/GMJF8LH8/qUUaRGNafLspXXU3l6Fyu+/Yolu8vxzvg7E8eOoLtt/rPSUHqAxR98ynZ9F0Y9ci9ZQqoaW5iEijOb1pLtEE1S146EeThjtjmen7CltiNjpj3OyORwlAJolnrOr/mE9+cfR5L+IGNHpRPj4wa6S+z5YS7f7nMgefTDjExr13SQYtVSuPkr5i7KxbvP/dw3pAtt5WbKDy7ln3O/Z4+pJw9PetiGsY2VWvcLX0x/h3WNmTwxZTRZzUys18CjP8a8F2YxPz+GCTPGMaxb8I237EznWfraa3x1OoSx08YzvEdI87V5K5o9n/LCnNXUpz3JlJZrtZYGivcu4JOv9kKv+3jw7nSiPIX1oxVt4Va+m7uIc8oM/jZ6WNOGmamG7NWf8+mSfAKHjuWB4d1oa7umZEVbsJONx0yEdOxMxwjPa3gS9Mfm2U5OL0Q+xrTH7qB72xuvH5rOL+XNmV+QHfAQT08YSc/Q5kACq4Z9n73AP35W0XPS04wZ2AlvBzOX1r3HG3PXo02ZxNNjh5Do54LIWs/ZTUtZ9MP37HHI5PHHR+JVcgFRaBTxMUryVn7Bp9/tpKHrGCaMvYOeoTLbJmDDwa95ac7PqHqOZ/KYAcR73f7q+LZYbY35O1iyfg+7V69kX6GVsD530Dc5i2GDw6jetYl9+zaybO1xqmQJDB6aSuqgkYSWbWTXL7tZs3Ifhea2ZNzRn5Q+dzAorJKda7ezZ/PPbD5VjSxhCINT0xh0TxSVq5ewcu02Dpwpod6zG3+bNIWJQ9pjzd3Cut0H2LJsNccq5CQMGUxK+iDuzYxGJv6tu6AtZmih8ufneODNHNrfk0kbV39io7ww5B/meImUTgOHkJEQiqfYCZHqGLvPeBMfeIL3J32H47i3mdQ7HE/zbt4a/S6qe+cwdUg7vFu8P6uOA+8+xOzKkbw9bQiRPs3XTW0LwkJWvfg8i7XdGJ4VQEO5gaDO/hT+tIKi0ExSI52pvliLLD6FHh1DbN+/UX0mzn31GDOyU3ltxkjbSe0f2wO7rRHr9l+yVLH2xTHMPtGOEel+iANiifQxUnTkGCXijvQdnEliuDfiVrl9rLoDfPjobMqGvMmUYTG0sU0AzWvnolW8/uJi1IlDSA/UU2UIpJP/RVasKiA4LYVI1zqKa6XEJvegY6iQE7YVUreI8TTXnWDR2x+y17UXfXuG4qwuo+zYGuatr6bni3OZOii6iQHt+sd0ju+eeI5T3V5kyshOBP0Wk3Dr8sZC9i7bxJ4dq/l5Xx7GoHQG904h646BhKsPsWvfXjYtW8fRUjfa9x9ASuYQ7s6MRaE/y7qvPmfJMSuxGb3pEuKKrqKSRt94IrUb+eLHbNzaRRHReSijskJoPL+P/edqsbp74aNwwawu5dzh/Ry/JCI0cyT3DRfYECs5uHIzu3esZvXeC5jD+jAotem6tr6ulMJLdYh8E+k7ojfBqoP8cmAP61ft4Xy9N90H9yOlzzCGdXXh3MZt7N6+mp/35GII6c2IPvH4y0BXfYm83Ms0enSi38hhpHcMQuFipvrUWr77fDFHzdGkZXUjVKyjsqIB7/h2aDd9yeJsFyLaRZAwdCQx9Yc4cmgna1btI08fQPKg3qT0Hc7AriG4m0o5vnE5qw+UIW4bQ3SwlMbSXM4UWQlL7U/vnnEEeYhpMQdLzWl2bD/ChfzT7Nu8leMXDfh160Nq5ygiO6XTR8gzJm3eZRWYFC+fZteKFewrk9A2NppgmZHashoISKRXN29Kt65k5eqN7M++iEqWwPBxk5g4IhFx8V4279nHphVrOVrsTHQfQY+DuCczDh/570gGbqzg4PwPWHihDZ07BeCkrkRjLWfPgq3UR/SiQ3wCnYPNlJw5R6V7PH0GZ9I5/Dr7x0jlLwv46Ids5Ik9iPUyUVVRydktS9jZmMGLsx+35eNsCm/Sc/jjx5i5P5RHnxtPn7ircZxW9RG+fv5jzgQlEWg1E5QxhN6JYXi5GTny8QRm/hLK2BnjbGXEIgvVez9j5qJK2if40NjgTZf+WSSG+yC2zasGKg78yNwfsnHv3IuOflBTqkKs1LF/RTay5ES8yo9REvwwY4cnEtFMuGKsPMDCD38gW5pA1zgfHGpKqBWH4VW8hk2VkST4GjAFpTEgqwPmbXNZXOiKWFtMMe0ZdPcQkoXcsE4irA1nWfbGe+wRxxPiYMKn1yAyFUeZv+oyUg8XRG5+dExPo3OEsNnngLVuOx++tBpzyr3cPVC4tu2EyFTC1vdnslwVS4y7HnGnfvTvFUeQosl+jJUHWfzRD5wUd6RLnC+OtZepFYfgWbyOLZXhdPQxYQ5OoV9mAhE+zWyMtzXCGjj2+STe2OXDfdMeszngTYeBFip2fMQby1TExnlhsfoQn5FOUjshT2Y9+z96ilk7Xegc549PZAxB0kYuns6j0S+JzD7JxLf1xM1JhKnmJCs+W0COJIb2AU6oakUEdfDh8upl5MjaEyCy4NdrIH26ReEndcTSUMbJDYtYdbQB35j2hMr0lOQc53ytGxHJ/emT3JEQz6Y+aNEVc2D5PJYd0eHTtg1ujZWU1SuIy+hLRrcY/AUCs5bh1tLA5QNLmbfiHE4R8UR5Gyg5n49a3p7kzGQSIoWbRk1kG4KDefzLp5i1w4O7poxncFJLjlEhhcYnzFpWTWSMFyJ8iUtLIynaD3cnKw0lB1j+3UrOOYUTF+2Dsfg8BWoZMcmZJHeOpI17c0ouLOhKDrJy3k8cqfcm2E+MvrKMenl70vpm0i02ALlriywWGkoOsmLeSs46hNnqNZWcJ7+l3sRI2rSk+hK0prvEgZ++Y0UOhMRF4etQy8UiFe7RPUlLTrSlWXNpnULNWMWRpZ+z6ChEJnYgwEVNaa0rQcpStu0sxz/KGxyC6J6VTkfnX/j2p1xMDlrKy61EZI1gcEaHZqe3kQsr3+Wj7WZCA11x9OtCVlZ3Ym+XZdVYzJGN29m1eTXr9p1B5ZlEVkYW/Uf0IynSh8aTC/jona9Zf7IGl+CO9EgfxF1DfDi5aBX5kvZEK804hPYko1dHwrycUZ/fzdadO1i/cjPHCs20Tckipc8Q7sjoSKDTJXYs/JYle2vw7ZxK92gPLHXVaOXhhBiPsGLVYTTKICK7DGR43y6083Ohofw8+9euZk+BBe/IaEI8oL6qFrNXLF26dSLCrymvoaG+nNx961izOx+LdyRRocKL1dSaPInt2o2OkX7IhIwD5kZUJdnsXLOZk9XO+ISF4uOkpfRCHjWyaHplptEl2h+5qwPlxzaxfecm1qzZy+lqD7oMyCKpnQ8ujbVcLsinRONGRNoQhvTuSqSvtClF0G08lppDLJjzMcvP+TL86ccY0SvihmvEv16NiYt7lrF2614OHjpBTkEZOkkoHTvF0NZHYLcX7nE3oFHXUqs24qwMpkNyH7KSE4kSiAivTKJ6VJdOsnP9Rg5etOIdHkWopwhtjQqLTyxJXTsRacNWyILTxGp7xK0nyfHhBPkp8JCJqMs/zrF8I8E9+tEvI4lwgYCu+dZTo+oyp3etY8uxChy9Qwn1dUZXlkdetZTInhmkdYvBz3COrauWs3z1Tk7kVeDcrjf3jnucu1P9qT+1i307N7B640FyGwPonplKnyF3kNYpHF93K+oLh9h/5BRncg6xZ9dhzlfLaJ/ciy4d29OxZxpJscF4uZkpPb6VnTs2smbtPnIqpcSnZ5A+cCh9Y1woOXWInWtXsflQLg1+3UlP68PgOzNIiPBDbFBReno3GzYfo1zkSUhYG1x05eTnVyOO6E56endibHg2HbQZ6yu4cGAj63bl0qgMIyrMC0ddDbVGJe06d7XdVpELYFrU5B/az9FTp8k5vIfdh85SLY2lZ3I3OrbvSPfULsSGeONmLuXkth3s3LCGdfuyqRTHkZqRSf9h/YhxLeX0oe2sW7WZQ+e1tOmWTmrfoQzPSCBUXMbepfNZvPMy8rhe9IjzxUFTTb2kLUGW02xat59yFz8iu/Wlh4+avEObWL/jGBcqnAjPGMUjj/+NtKAGTu/ey64Nq9l84BzaNl1JS+vL4BHpJLTzu5Fc9SbGeluOp1Wvpqaunvp6LQYzOLpJkUrleChdMWlUaOrrqW8wYBa5IJFKcFd44GpUodFqqdfqMVmdELtLkcg8ULoa0dSpbf81Gi2InCW4S91ReLphrK2hVq1tuh7qLEbu4YWXQgyNKuo0Wuo1OowWEc4SKRJ3JV5yt2b2ytvozdSz643RvLA9hMkfTKabzExdlQaRRIFS6YGXtxJJywRnbkBndEK1+RUmzndl3KwnyIzwwvHEx4ydcZqMt1/mng6t83wKV9o+5Il3Vdw16wn6RHi1CnQ3oqkoo7KmFrXeGYW3D74+7pjraqhT1VKjdbAxRHn5eCET8mDdbHAyF7Doqekc6fo8z9wZj9/tJhi9HVj+N+9od/POAy+wNeAx3p7UCw+rmup6K2K5EoWnF95K6bWTqfAtaz1H5k7iHzUjeHliX6J8W5EjGDVUllVSU6tG7yzHy8cXH3cLqpo61LU1aB1keAj1esmbYj9ay34Lx1Ng5tJUlnK5rAK10RWllytnvn6W9/a35bH3n2NYnP9NGYzNhYuZ/txBOj4zhREJQbedXscmllWPpkZFfX09Wr3A1OuGVCpF5qHA1axFoxH6kw6DWYSzWLBnBR5yITmxCW1tlc1pqKrTYXKW4e3ridLDExn1VJVVonVwR+7pjZfcFZFejUqro762ltpaDQ1mcJHIkcnlKL288HB3xUlkoF5gYtXWo2002fqWROzStEgUEnybhD4lQ6mUImpUoRZkE/qtxQEXqRSpTIlSKqJRpUZTr2lujxh3qZttIjGb9OgNVpzEMpQeMsTOTYszq0lLXWUVFZWVqHRmnGRe+Hgq8fCUIaqvpqyqHpFUbosjcDVqbFgJ3xUYoN2kEqSCHUldcXKwYtTWUVOnRlVbh6YRpB5KJK4SFJ4ets2na/qNqQG1WkujvhGdrgGj2YqDixixmyuuEjkKAZPWBawmdHXV1OkMNNbVojG7IvOQI1d6opSIaKyroVZVT6PJIgx+uHt44a0QIzJobFhpNA22cdFZLLHp0VMubkpwfduPBYNawKkalcEVhVwMZ+bz3OwDtH3kGe7rFoCTrgEHsQSp0gsvgbnX8cZEzRa9mqqyUiqq67FIvPCwHuPrl+ZyMnwCrz452HYK2iSVFXX+Mc43+BAe5o+HpFU8u5DOpzifwkoTbgov2vj7IBc74ygSyhwlt9GHsNCAK2UswiLrUgnVWisSb38C2nggada/zU0SZCovp6q2HrOrHKVcjlzujL66nAq1BVHOQhZpB3D/kC5Et6SusOpRV5ZRXlFLvcUdL08pYpkCiaWGkktVGF0UeLbxw1vuBtrLFBaWU48YpY8/ft5y3ISYFVszjWjKL1JU1oCzXIm3ny8Kx0Yqii5RaxUjV3ji7SXDrUVei47qcg0OMiUywe5slZjRVV2iqFgNUiVefm3wtNlks3KFfl5ZTllFDVqLOx6ewjwnR2IRcKnG4CLHo40fPnK3G3Mz39I+rKgLjpOr8yQkNACvlo0SQSJdNcWFxahFUhRKL3yE8VCYu4SY0KdfZIVlIFMe7UeUp5FarQNisRh3D0+UMvHV8dhqpL66kqqqatSCvSs88PZ2x1pXwsUyHQ7uHrTxb4NS0uKUCX2wlhpVPdraGlRGRyRSKWKpDIVSgbu45b0m51ivqaamqobKKjUWiQK5UL+XEne36/qqzUY01DSP8WqDE1K5DJnSEw+5BNdr0nRY0RSesKWxCQ4JxLv51NSmpQYBkxLUiFEovW1zhLhlPrcY0FRXU6eppVZlxEkiw12uxNNTjuT63JPCuzVV1FRXUakyI1YoUAhjrdL9ql216M32bjV1wiL++npdrp/LLejV1VTX1FJTq8PiKkHmLkPh6YlcIozF10/8VgyaasrLy6nRWJB4eOAulSEXW1CVllCld8Ldwxc/HwVikY6yoouUq024Krxp4+eD4orewFhfTnFRGVoHKQofP3yVUlxv1wuyGtAK475Gg7bRiMXBFYlEikypQOrmhEVXS1VVLVq9GYvIGTdhXejhiqGigNzCasxSX9qGheCnlOLsKPh1GlRqYR5psK3znNwkiG1znwRXRwsNqhqqKyubwoQcJHh6e6L09ETm2Iiqogq1xRWpMP7KJbgIbbCaaFTXUqdtRKdSUS/YpaAzpQcKd7dW6w8rpkY1dbVaGnRqVPUGHKUKFAoPPBTSpv7TolerEV1dLeoGva1OHa5IxG5IhHlQLsW1eXwx6lSohbZoG21zlqtE0lSPxYzR0LQelio9fkW/t+j8gvNbJcwFTsi9PJAJurztuUSwmxrq1PVoGwyYzAJrqgPOLi62OclGVWAVUveZsVhFOAl2qGjqvzfYoMWITl2Lql6LulaFHjHuSjlyhRK59Cq2LY7nKf/RPDa6L53aGKmt1WJxdMFV7I7CQ3i/1WZT8xwk4Fen1tGoU6PWWXERi3GTCOOJvGmcMOlQCesajc5mK46uUtu6UiF1xtKgQaNRo9EJ65Qm7JQplgIAACAASURBVN3lHrZx27YmaaynXtdAQ4OOhgZDk9/gJkbs6opYJkfqJrTXilH4tk2HeoxmkU0GibDucBNhaNCiUWvQ6Y1YHV0Ri92Re8iRuDk3pRox6lDVCaSOOjRqHRZnMWKx1Ian3F1YG10TR2az/bq6enQ6Dep6PQ5iAUsPPJRSxC4tc7AZvbBmbGigQddAo8GIWehXbm64uUlwl0lxE8YswUYFudVCvzRgdnBp+rZSjpvISINWwEeH3mjBwVVsW5co5RLcnKw0amqprhD6mMamU6W3Jx5CH3MyUF9VhcrohFjpjcLFSINGhVpnwGwVMJbj4a1E6myhQaOxfbtBLzCpuyKWyJArZVew+S1zvS3H87cq+X/xv+E4H4+ZxBK3B/hk9r2093HDZDAhcnLB+XonxrZoUbH11Qf4zPQgs6YMsCV0L5r/BI9viealNx+iS6DimmNxa0MO3zz9FiUDXubxfpF4NcfmXRnLzAYMJhFOLgLNc5NBCiyZtt+cnW7pQBvPfc/TbxXQ99kJtuvKzbm4/89hNx7/lHFPLcRh1IfMvL8TfhKzLS+yk4uzrT033+Cz0pDzLTNmXyTzuYn0vSFtjRWzoSk/pbOTkFalaaF842/XNf+mjqcVTe5ONu6vIyQzkzhfNxys4FC9jdlPzuFk9GRmPtmf6Ja8UNdUaSR3/lTm5KczaVx/2vtLf8fg/y9QjTB5GY2YrQ42PK9MClYLFiGH6TXgWhHSLxhNZqyIcHRyvjrJ/AtE+d9WYRHS2hiFJLVOODs3pcqxadViERLX/nqu2Bs+bMVsMmISNr+cnHG8VZ7ZPyS01ZYGxCRMyAJd+U13gf5QxbdXSEi7ZBb0ZyV/wVSeXStj9IwJDOjQBmezBYdfk8lUxvHN+6jw6UK39v64OwlkBQ5Ub32baZ9coONjz/Jg7xh8W4i4bGOPETNC2pmb5A22CrZnQdT8vRZT+7UyVkFuYWHwa/JZhdRLRiw2mvtm/VvNmEwmSla+yqwziYwfIxBptU6vJNi0EaPFwVamSRdN+rE4tM5da8VkMDT9ZkvDdB3UwrebDObKmGQVbAgHHG/2/k01JXxXSG/iiONNHH5BrpvJKqQ3MQuU/S0Lvtuzgitv3UpHwn8m67VtEPJBvvyskL9zKtPGpBHlCSaLYE9X+9z1IghyN9l7i15a8Gq2jZv1QaOhqV7nW43zNiO70u9/G4MWDG/d96xmU3MO5+vHwCabvh6T1uLb7LTZrm3y3EIfQl1NQ9ZVu/m1139PvS2YWK/0hVsbRVPfsuAg2G+zzMJvNpMW7LfZ4Fvk/bU+KOjZ1t8db8Ttd5rl7b1uMaHXC/3SBdcbnPDfqMJmN0IOcgecBBtrGeeF1BNC0eb0J9fW0mQ/gl3+ls5aMBXZxoxfyZveNEPZxhshZ/iV/nF7rf+LvWWxjX/CWkQYS66fF684noFN6VS6hzhhMlkQ/ep4eZ3mhNRUZusN883/GxBtc4wJW592dGxy7m81tgj9V9jE/k37+zciIMy/RlPzON7cD2wmf6s+9q+T57/G8TTlfc+kRz6hdtAHvDeuK4G/lQfTUs6ypx9gXfjrvD4miUBxEQufnsgKn6d5e1IGoZ7X53w0Ur79fWauD2DslOHE+/+LEgZb69j7/gv8LLuPiXd3pa3yZrGI/zqDuP2aTBT88CQTPqkk6+05PNqz7S1zeV1Tr7GcnR/OZKPvGB4fnkDgrWmAb0+kmzmeljLWvf4Uc3eLGfbm680xpXUc/HQ67x4I4J4pjzIw3t92Le/6x1q3j7kvr0Jy1zju7B6Gpy2u0P7YEfj3INBYsJ1Fy04gTR1Jn3gRu96YxjrZvUx+SCAKuvUVTVP298yYuRRVzynMGJ1MuLcL1poDfPXyBxzyvZOJDw8kPtD9tq96/XtaeGOtVu1pFr78IsusI3jhyREkhrSOQfpPSfFX+Y6Fqk1Czs9sIifO4NErMaF/lfbZ22FHwI7AnxEBU8FK3nr5M04FPMzTguMZemM+9D+j3HaZ/u8Q+K9wPI31pWQvep1pn+UQ/cT7TBsRb3Pgbn2gYaBg5Zu8s0NOWloYooqDrPz+AP6TP+P5YVH43ITdx6IrZOOHH3Mi5kHG9ovBR9qKOecP6diK9uQ8Zi3U0/fhu+ghkPT8p09hbiq3kfqyHJbOnMY/T4Xz6DvPckdiGErX2z29sqAr2sinnxwn4v6H6BsnxOL8IYCuFrqp41nNprffJifmDoZnCjn2Gjm7/CO+2G4gcdRohnSPaCaIue7bVi3Z82ezWJfO6JFCXkXx1Zik/6WY9uJ2BG5EwMzFFa/y0hIVPcY/xTDlPj7/poj4+wUSixAUt0jOLtRlPPsDMxdo6XXnUNLi/XFWnWTVF9+xz5jAiFGD6BohxFnfZoDRf0o9pgoOfPceX+4xk3TfI9yd2g5vW2Co/fndCAjXZivOsWHu63y+R0z/KRO5KzORYPem6/T2x46AHQE7Av96BEw01FVT/MsC3v94KacVg3ls/Cj6dmmL8pqr9//6L9tr/P+NwF/f8dSfY8P36zleUERxdSMunr54h6Xyt1EphCjcfv36pLmeytIa6nU69LjhkPM50z7Xcde7L3Bne4HI4WaKN6Mr3sfCL3ciHTqWwZ38kP3GovFW5mOtOcz8f+7ALf1O+iaFoLxCbPB/a3T68xv4cf1x8govUtPogtLHm7DkUdyVGo7H7d4DNuso2b+Qb3aKGTBmMJ0CFTfmo/w9zbzpVVsz6rPb2XCgmAaccLY2oHX0Jz6pE9Hh/ihuGlNrpebID3yz05mew/qSFHaVkff3iGN/147A7SNgRX9xD8t+Po7ayQWrUUSbTukkJ4XjIxVYMW/9WPUVnNqxjaNFGiyYaWwUoYzsSOeOsYT6NcVD/7keK+pTm9mcZ8W/XQwxYQEor4/T/XMJ/KeWxnL5ID9v2M/Jc0XU6p2QeygJ7j6cwT2j8f+tmz1/6pbZhbMjYEfgT4uA+SK/rNrMviOnKaxSoXeU4ekVREK/YWQkRdKmOTXSn1Z+u2D/Zwj89R1PSwN1VWoazZam+ACrFZykeHrJbkrQ0aQJI9nfPcu72fE89cydxEgus/y1N9kT/CDPPJhGmEdz7rybqc2ip6bgMNv3q4nqn0a0t/SPOVTmUg6s3IMquDOdOzSz3f5JDi0sjSqqVQ2YLNYrd8KdpZ54yK4jbfkNs7boayg8vIMDqgh6p8biI/tfXCM2F7Pytc/RDBvP0E7BKFvIjoUAdZVASiUIYwFnKXKZGOdfifExlx5kzd5a/DslEicw57YQlfyfdVH7h/8rEDA32ggKDGYzZosjEnkz8clt9XmB+EUgATBiEWKABSIAdzkyYdf5z+ZzNivTrFOjMTsjkbjaxmH788cRsBrqbSQdeiFuyDbHgZNEYSNXcW7NlPrHP2EvaUfAjoAdgWsRsBqor1OhbRDiYFseB9xs5GxNxIP2x47AzRD46zuef0jvJnIXvMhnlzrSL1FC6fGjFMuSGDIsg7gAOS6/dd3Vokdd14izXHYj++rtyiNcn6rTIpLIbOx8v/XJ2632z/aewHqpanTC3V1wBm9rlf0rTTCiLq/BIvdEJrCO/cGqrMZ6VFoRYncxLjcjnfqzAWiXx46AHQE7AnYE7AjYEbAjYEfAjsD/AwTsjudNlWTFoCql6GIpKr1AiS1H4emDj1JId/EHPZr/B8ZgF9GOgB0BOwJ2BOwI2BGwI2BHwI6AHQE7Av8OBOyO56+iKqTwEHIKNqWz+PX0IP8OtdjrtCNgR8COgB0BOwJ2BOwI2BGwI2BHwI7AXwcBu+P519GlvSV2BOwI2BGwI2BHwI6AHQE7AnYE7AjYEfhTImB3PP+UarELZUfAjoAdATsCdgTsCNgRsCNgR8COgB2Bvw4Cdsfzr6NLe0vsCNgRsCNgR8COgB0BOwJ2BOwI2BGwI/CnRMDueP4p1WIXyo7AfycCVt1Fjv1ykoLLldRqIDhlML2ifZC52Em9/jstwt5qOwJ2BOwI2BGwI2BH4K+CgN3x/Kto0t4OOwJ/AQQs9fkc2LaTbWtWsj3HRPdn3mXSgBj87Mmo/wLatTfBjoAdATsCdgTsCNgR+G9GwO54/jdr3952OwJ/NgQsBnT19ZSte4sn5x4nctL7TBsaR4DUfuL5Z1OVXR47AnYE7AjYEbAjYEfAjsDvQcDueP4etOzv2hGwI/AfQaBx+5uMfm03wePfZdowu+P5HwHd/hE7AnYE7AjYEbAjYEfAjsC/EQG74/lvBNdetR0BOwJ/DAH99lnc/9ougsfPYdqwDvYTzz8Go72UHQE7AnYE7AjYEbAjYEfgT4OA3fH806jCLogdATsCLQg0bms+8XzM7njarcKOgB0BOwJ2BOwI2BGwI/BXQOA2HE8zVbknyK/UYbTcRpNFSkITo/CTuOBoe92M5lI2Rw6fJL9MTYNIQVhSKimdgpC5OHJj5JYFdcEh9uw7RYnWioOzkrCkZLrG+uHu7ADaYnJOF6PWm7DeShxXX9p1CMNb7IwDjVSc2seeE8XUG82IZCEkpfagnY8Eocqmx0z1hRPkVbRupwixfwyxXjryL5Sgamz1TaGdCVH4SVu1szibo4dPkVemogEFYZ1TSO4UjNy1uZ2WavKP51GhM2C+IrsIHF2Re/nSxq8NXu4uODo0oWKuusCp/Eq0hlZvSwOJbR+MwtVExdkcLtY0NOlF5E5QXCyBClecRNBYkc0ve05SrNFjQkbbpBS6R/sivdrg31SmIW8/+xv8CTQWcjb3Mmq9BYuxEaObDyGxnUlqH3C1bc216Sty2L/3BMXqVt+N8kXqcgXoq9/Vl3E+u4jqBiO/bloOyEM6EuXvjquTUFRPZfZ+9p68ZLMBkXtbElO6E9XGnZZPmKvzyM6roL41bmI/omK8aSzK53KtDuMV42mqP8KlnNyiW5Spa20XDsjbxtMuQIabTaabP+bqfLLzy6nXt9KfJIDo2GA8xGYqz5+hqEp7RX+B7aMJVIpxFoFVU8yZ8yXUNRhvYefXy6GnMucX9p24iMqGTTAJyQI2MlybOuN1jwVN0TH2/XKSSyojImclIQk96NI+EEWLzTaXsKiLOLbvAKcu1mESOaMITaBH1/YEKFxxtNRQkJ1HuUZ/1a5FYnzbReNtuERhSS26VoOHg6Itce38kbs5N9duQlN8muPHz1GsccQzNI7YygU89d4B2o57hfvCTFSVFKMWeRLWqTMdQr1b2bGZmoIc8svV6E0tzRMhbtOOKG8DxQWXqdUZrtqXSEFwfDiuVXlcqri2jMQvmui2nkgsVVw4U0SlVm8rJ5IGEhMdiFLiggN6qs4cZP/xImobjYjcg+jUsxvR/opWGDfJVFCupvFmMhVeplbbWiY5wR3Cca3Jp/iGMpG08zZS8qtlCiguV13zHTffSKJ8bl4mqEMkAXKJzcZu+ljqKMo+S+HlSmpU9UiiMugR7oa6+Cw55y5jcPcnIjaWCH8Fbk439ml91VkO7z9BYY0OI+4EdupB15gAlG5XDdBQeJjD9R54mUopyCumRmfCYtRjcvUkKDqBzu2D8JA4XzM36CvyOHexAk3j1b50g/wiOUFxkQQoWtqnp+pCNqdO51NW14BIFkBM5y5EByoRt+q31vrLnM8tpqa1Tm6o3AFZUHsiAxRIrjAsW9CrKyktLadGpUNvMmFpPZA5yAlqf508edmcyrkqT3RiF2KCmuSx6srIzb1EtabJ7n71cfEiNDqUNgoxTc2wUF98ioMHjlNQrcfqpKBtfFeS4triKXG6BkeLXk1laRkVNSp0jUZM1wqMLCiWiAAl0luwSFtqizhTUEadznh1FnPzIbydD5byYi5XqdFfaYADssBYIgJb6tRTfe4IB08UUKU1gDSAuG5diQ3yvEYnvzk52V4wUJV/jiLB/m9lFrJAYsKl1F8soaxWy1WpAQdX3D288fVrg7dcjLPjjR1DX5XP6VM55JfWokOGv2CjsUF4SlrGr1tIa6nj0pkCSq/5rhve4ZH4WCspKa1E3XhV2zYbjQjEw921SW/6KgpOZ3P6wmVqG8DdL4pOSbEEeUlxxsil40dRS2WYKksovFhJvdGE0WDGRRlAZKdE2rf1xv26uddQk8uxA8JaR4MBKf5xXenSPhgvydVOYVEVc67gMjX1hmsa5+DijtK7DX5+3sjFzjTBZaHu4jkKS2vQXplYRbh5hxHhC1Ull6lUNbYag2UERIcT4CXDtbm8tiSHw4eOk1fZgMVR6MdJdI4LxdvdGeoucb7gMtXa1vbmTWiED1SXUlpZ10r/DrgHRBGm0FNWcpkqtR6rgxif0AiCfRWIhcXRNY+VxspC8i+VU6szIXLxIqRdEK71JRSXVqM1tCwURLh6hxLZtg2KVn1KwCm38DJVmlY4OXsSExWCl4e0+Ut6agrPkp1zgcvVWqzSNrTrlERMiBfuvzoQXxXSUneJ3MJSqq7Txc2tzgF3/3aEBXkjbwIXi7aCvJzjnDxbRKXKhCQglqTuibaxzLX1EG6opii3iLJaHVemrRsHWdz9owiyllLQ6IqbqZaKoouUqw2YTQZMznL8IjqSEBeCr9yVa6qvzefkoePklqrQI8UvprNNxz7u145RTV27mqILFymr0d5SFqlfFOFCW92EthqozTvB4eMXKFM3gsSP6M5JtA/1uYKzoK8Lzfq6ollXL9qG++KoKqO0vJaGK2OJCKlfO0JkBirLmnR8u2XCgnxQ2GSyPzdD4LYcz7qLpzl/agsLvtzAGZdE7n94GPH+clydHHC06shb/wVfbSpE1u0eRmR0o0dyLG0kzjiaazi16huW5njQa1Aa7f0kWFQX2LP8Z05IMnlwTG+iPMU2R8n2WDXkrvuKr7Y2ED9kMClRvjgbqji/bxs5rincNTAej8L5TH/vOD490ukWG4h7wxGW/HMNZ8Td+fvoTEKlBi4fXcfKA16Mnv0EmcEizq1cygnHGBI6hOHrbqZs/yLmra2hw5iJ3NNNcICF7mGm7pLQzq38+NUGTlvaMWBkX3r2SCbBz0Rx3lkOr/yWRXtKUHS7m+EZ3W3ttDme5hqyf/6WpdkKug9MpYO/OxZVHntX/swJt3T+/vfexHhLcLKqKD5znpxtC/h6bTbW+HsZO7wTfhILmtIz7N1yBG1Yb+4e1ZdYXwkOqkucPX+KbQu+ZkMORA+5k949e9IroS1KVxN5C1/l5QWnsIYn0zcjg/TMzoQoXak/tZIVxxxplxBHWBt3zGUH+Om7tVS1v5/H/tad4OsGhF/rGvVbZjHxmyJCM0cwPKMjgQoXHC06yk9u4IcfdqGKGMqj44cQ38YdZ5GVupOrWHnMgYhOcYQL3y0/yNJ5a6iMvY/xo3rQVnHtQCQMLoVnczm5YSG7ndMY0D0Ub6kDuoLN/DBvG/luiYwYkUmP5F7ECI6ng4pTPy/nOBHEx0XgJzNTfuAn5q+tJPre8dzdMwSlqwNm1SXOnM1m58Jv2JCtJ6TvXfRP6UnPhDZYyvI5d+Bn5i3eS7EkkTuGZ9I9pRdRYhWF+afY9uM3bDylJ6TPHfRO7kVKZ38sZQXkHl7N9wt3c1GcyIjhTTLF+suaneGbI2gWJu/z2WwX5DhlImLACHr36kWvhBA8xWYKfnqDV+cfx9i2B70zMskQ9OfZ5HiiqyAvN5cTGxaz3yWDAd2ESdgB/cXt/DBvMxec4xk2LJMeKcnE+Mtwc1SRvXolx62hxLWPwE9uofLQMn5YW07k3Y9wd69wPNxaTQPWevI2f893W+qIyOpHalyAbRLJO7CDHIckBvVLIFjphgNW6vO28MPXm6mNzKJfWhwBYhM1Fw6y85QDSUP70ilQRPX5XLK3LWTe+pM0BGcytE8Kyamd8RdVUHj+MOvmLWJ3oSsdhw8jPTmZXrEByAWv3VjFiZ+/Zt7mKgK6p5HaLRLnsmMcWLeCBVuKkCdkkpWVTnKnABzKjrF53THMCXdy/4gehHm64YgZdcl5crO3sfi79ZysDyJ9WB9SUlJJDBRRUZjLkTXzWLKrEJf4YQzJ7EVycjTu9RcpyN7Gku82cLIxlN7DepOckkKnEMHxLGTF7NdZcESLf9fepGdmkZEUhpdYx+m1P3PcFERs+0j8FVB5eDk/ri0l9I6HuDulHV5iAWML6pJzNpmWzNvACXUA6XcMIDU5mYQAqCzK5fDq+fy0Kx/nDkMYnJlCSkqLTNv5ad56jmsCSBvah5TUVBIDHKi8mMvRNU1lnOKayiSnRCOztUMos4ETGn9SW5Wpuii0/WqZQZnJpCS3J1BwWH5tTjSXcGTtVnZv38CWY8X49R5Dj0AFge0iCA9wp7HoF9atPo4oaQSjBnclxEOwEdvgjfr0etYcNeAfIzhocqg6xs8/rqMkeDAP3JNm2+gT3E/trg959rszyBMHMKxPZ0KFOcDaQOXprSxZuIPyNlmMfmQYXUI8mhemYKi9yIXck2xZugdLQipJUYEoHBu5uHMRCzefhZgBDMxMJTUltsnxNJRyZOX3rDinpHufdBJCxKhz1rJoUy3thoxiSI9wPFv6Q0MVhRdyObF5KfvpSnqXdgQoHNEX7+GnBZs4bW5H/8FZJKf1IjZQicSpgUuHN7JqxU4uuYXToUM0bYVFrbOJ8l+Ws2TLWSwx/RmUkUpKrxgClII8ZRxZ9T0rziro1juNxFAJ6px1LN5cQ+SgexjcIwL5pWXM/nQ/ppAEunaKwNN8hvUL1nKssR1DRvYmro0jVTnbWPeLM32ffJgBCSHIRVoKdy7ih01l+HXPJDUhBHerisLDu8k2tycrK4lwHzH6S4fZvHIVuy66EBoXT1SILwqJM+byX1i5eAtnzFH0HZRJSksbb7EgtqhLuXAhm51Lf2DDkVp8ew0iKz2VlMRAnGpLuHB4HYt+2sl5axT9hTrTk4kN8kDqpOHs5nUc13oTHhNFkIeImhNrWLKuCN++93FXRhx+7jfdIfuVKcpAXXEeeSe2sGKvgZjuwmLeA6eGS+xZupitOQbC+w4kMy2dXjEKDGUXObNzGQvWHaY2oB+jhvWgnbcTusoLHNp1hGplZwbcOYDOYZ7YujEGyo+u5sflp5EkppPaJQJ37Rk2Ld5MRds+3DksmSgfyTWL6xsEtWgou3CBnB3L+HH9Yaq9e9C/dzppqYkEuqi4nHeYDT8uY+dZExGCrBnp9GofhKfUBWP5Mdb+sILT4k6kpnchwl3LuY1L2FIRTOadQ0mOcefEly8x/xhEZQ2nb7dIvKVO0FDN+Z1L+Wn7JeQ9/saYO3oS6SNGhBXNua1sPKpBERZDVFsPHGtOsf6ndRR4ZnDPXVnEB8psfdRSX07BhdPsWr6A9Yeq8Os9iiG9ovFx1lGZd5i9R6qQderHiAFdCPd2Q1uWR37ODlb8uIFD5Uq69M8iPSONxGA3NKX5HF2/iOXbT2MI603/rAzSUtoT7OWOC1ou7l3Gwo2XUCSkktY5AqVIQ9GxvWTrw0lO70o793qK8nLYufxHNh4sR9GlH5mZGaR1bourppSCIxtYsmw7p/VhZA4QvptMrJeF6uLz/LJ6OZsOnaY+6j6eenQY3SOUzQcizZoyFLLruy/5dnUODvG96ZOVQWqXMNz1ZRTl7GDljxs4WK6gS7/etvZ0jvRHKb5qo9b6Cgryz7B35ULW7b+Ia8IA+mVl0LdrJD5KCRgqOLl+IStPOhGbkka3dgp057ewYstlfFOGMyS9PX7SW9u8TRe29i9k48EqfDPvYFBKB4Jkrjg6gb5kPysWrueoKpA0AffMZNuGg8zFivrCLlauOog2oDM9ukbj69JAybGtbD6kISRrGP17RuHTZOxgVHG5II9TW1exTxtCx4QORPi42Opfs3Qzx9SBpPbLIiMzhdDy1Xy88BDakFSG9u9BlJ8MFxqpOb+XVUu3UuDamTvG3ElKbBskDlbqL+xky5EaxEHRRId64VR3ms3L15Mr7c4dI/uRGCJv3kRr1otRRakgy7af2VcfTIeEeCIFWS7/wpqlmzimCiClX28yM5OJbeuD3EXLhV2bOVblRkB0LKHeTqhOb2bluvOIu4/gzn5JhCicmuw67zR7Vi5mwy+XkCT2o3dWJqmJwYh15eQf3sCylTs4VR9ka2tmZgoxXlZqSk6za+ViNu4vRtwpi8ysLNKSQpA2VFBwdBPLlm/jpKYJH0Gm9iG+Vxx/u+t5IwK34XiC2diIXnOQuWOn8ZPrvfzz7b8T28YdR5EIEWaqVk5n9Dun6DTtI57uF4mf0g1nBx2nf3iNWRtcGfrkQ/SJb4uncOxibqCu5BDzZ33C2fYTeO6hZILkLoiE3bu1b/PyP88R8fBUHsyKJUDmgshcxd5PX+T9jW6MnPMCgyq/Y/apLowe2pEQbzGOjbuZ8/eXWO/7MJ+/fhftvFwxqk+z4LXV+E9/kt7m7cx6dT2ijEd5clQX/GROGNWFrHv7Wb7KT2TSW4+TEaK0LXBa2vnJuBksEd3Bh7NG07GtLxJnKyaDntIVzzP2vZPEPf0BT/ePIsBDaGcDZ36cyaz1Tgx64kH6dgzB080RkbmRusuHWPDWp5yJfpRpD6UQonDGpNejOfIpT0xdgHHYh8x+OJFAuQMmvY7qI/OY+e4W9BlTeXNcCsEyBwx6DYc+foznl7txz4cvc1eHtvgITr2+iDXvfsB+pbDI70yknydymQRnawHLXnyNDeZUHnrqHroGyHEyqila9y7Pf3GB+MffYELvMDxuYzdGs/4Vph9LYMyoNDoJi0AnB0RYMGqrOPTPqby6vJKkKR/xzMBIvF0KWfbSa6w3JfPgk/fQLVCBk1FD0fp3eeGLC8RNeI0JvcPxbBnkbGtVM0a9nrpt37DUeQBDkwLxloiw1K7ltTFzONpuIrOfGUT7YE/b6Yq5cCmv/g97bxkW5Rb2b5+goBKCdHdJiYHd3d2diAHSIQ0iKigKdmF3d3d3YHe37q2VNgAAIABJREFU0jXMzHvcM6Bsxe3e+3ieL//3WV/2sR3W3Otes+q8rt91rZj9iBoMY2K/ephoKiHKfsHBpMksfeTImJjxtLLWpgoiCgqyubZgImHrRbRPjGVwHSv0VZWguIjC97uIHp3MdRtP+febaVNZUYyoKJur80vqzIhhkLs1BrI6hXw+k4J/5EZeu3iT5N8JJ3Ntqgj98XdGLYmIwsJsri7wJnyLAl2nT6ZvTWu5UUb0kv3JqZxTbUD7Vu7YGWlTVb0KyhWEPhZ2/mKKioS+WcwGaQe61TNHX00B6bf9xI1K4rL5aOL9Osm8f0I7xC+2ERe7j4K6gxkvQH41ZUTZLzmcHM7S+7YMjxxHGzs9VGR7jIg3h+YQv/gWer0nMLRtDcyrVUJR/JULy+JI3SehTUQgPd1MUflwmNS4xdzS7c244W1ws6hGJUUxX84vZ+qcvYjbRuLf2wWDymJyri7CL2w9uS3jiBhaHztjNZQopvDzeeYHRLHxuQPjEv3oVENQIlREUfqNy8sTmLPrA/YDx9KvuQtm2lWgIINHm2MJWngJze5RBA0UDA8qKIhyeH9lPbPnH6ew3hj8hjXFWqeK7PcpzL7GUp9w1uc0JzpyKPUdjBGM5cWFn7kwL4jY9c+wGzcdny5uWOpURlEioijnGkt9I9giakd0yADc7QxQUa6I6NUB5s07g7JwwKnrgLG2BmoqyvByF1On7iWnRj88+zfEUlhrsl9xNCWKpXfMGTR5HO0cDVBVFH4+eZuW+UWwPrMpEZHDaCgYymRDsJAP++LxTr6IwZAYJnWthbVuZRSlIopkdSJZn9mE8IihNKpugpqy/D0uzg8hbv0TrDym4tO1dpk611nuH8G6jMaEhw+jkWOZOgtCiFsnrzOpa21sdCtTsXSMlbcjSkXkZWWRcX0lEVPW81C7B76+fWnsZEK1KhWRFGbw4sRyZq24SpVWE/DuWx8LLWUUil+wO2Ea+zKc6OnZj8bWulQqzuH10bnELUnHuH8gHh1dMFJTJPfYDGIum9GhUwvq2etSRalkXcn7yvWVEUzd9AzrEQn4dK+BadUSrBWLKCrM5My6HYjrN6emlQnqihIyjszAO+kMWv3C8e7ujo1eFZQUc7i9bgbJe7NxHzqKHk0EQ2gFxLlvOL5wCisf2TDEdyjN7fWRLYOl69CpFWwtakzLOjaYaSoizThCktcszmj0JtSnB+52elRRqoDk8Vbi45dztrgR48f3okF1Q1SVK1JBQUr28VlMmnUOrb4hTOjmLutvoT3p65NI3pNJ7SEj6dHUEYOS9pxYFM/Kh1YMmjSURrm7WXjNmEaNa+FsXhWloiss8Ytne2ELJocMooFNNSQ5D9kxez+Ve/eldU1Lik4tImnJZaq0Gc6gTvWw1a5MBek3rq5JYt6uLOp5e9OnrgKnZ0wj7VQR9cZ50quxI4ZqylRUVITsE8yZJLxjLwK9ulPXTpfKShUoEd2Uf2YS1qbCbG6uDCNu9Xvc/IMZ1qoGZmpKKEqKKfxwiJn+szmj1p3ASb1o4KAv77fX+0hO3MMHq86M6t8Me4MqiHPecGJhPMuva9PFZyyda5tR8pP/g/OaFLGoiKLMc2zeXUiN+m7YWmqiKMnkRLIfs09UonPgJHoKhvAqFZAWi8hJX0N09EpeOnoT7NEWVyNlJEV5fE3fRmrqXt7YDCTAoyM1TFXJTd/EnOQ9fHbpx9BezXExVqWCOI93J5cyY8U9jHqPZ0hbF4z+9qoniWy+59xcQ3Tcal47eeE3og21LNVRUpRQXPiRo7OCSDmhTMeASfRq4oiBoNLKvcPW2XPY/dGR3sN607yGMWoVxOS9PUXa9JXcNeyJ57BGZGxL4YpmA1q0aoqTvirKggtSUkz+t5tsjJ/Oxju69Iz0pXcDG6pJX3No9ix2vzGh7Yj+tHQyQkWcy5uTS5ix9CrqHSYwprs7FhoVSvafHO6uj2VK2hNsxwUxumMtjJUlFOV95e72uSzY8xLzfn6M7lwbkyrFFOXcYl10PKuf2zPWfwTt3a1QV1JEIvrCtRVTmLbqGtV6T8arbzOcDKqgVFHCxzNpzF5yDhoNYEDXxjjqVaGCNJMbm+awcPsHnEaNp18zB6qRw+21MSSsfI6tpy/DO9TFqqow3kR8vbKSqdNWc02jB0GT+tHcxQCBDcWifF7sW832cyc4cFeHLl7jGdTaCd3vRhUpuXdPceL4VhZufU/14RMY2bke1hrKKEqLEeXcZkPsVFY9tWGM7wg61LNGXZjnZSeHbJ/O4+HWBOKXpmM4xIfR3Rpip1mJioq53Ns+j7k732DdbTC9WtfERL0ikrx3nFs5i1U3NekwZhgdapvxt0nbZc8Q1pApTF/5FCsPP0Z1roNpJQXZ+UOScZoFockcEjVjnNcAWroayvaxoueHWDp3B2/M28kM7DVM1FFWlFCU/ZH03UtYdVGRev0H0qmeFcJPLqyDxUVFZF3azoEcG5xdnbDTroAk6wyLw+ZwsKAxnl4DaFXDCK4sI+VCJRybtJL9v5pMISWlOP8b6ZsTmbX+GmqdgvEe0BwHzXccW5DKrsdaNB06gDZupqiJc3l7ZiXJy89ToeloRvdujG21MgAulc+brMs7OZhtSXUXZxx0KiDNOsviiDkczG2Ih9dAWrsZyd5V+u4Yi1J28lizCYMHtsXNTB1x7lvOr0wm7Tw0HOlBr6Z2aCkIfZnL3c3TmJF2D+MhXozo3ghb2VgqpvDTSRZHp3IwryFjJg6kbU1jmRJDLJLXSUy7i+HgkjoyR4yIbzfWkzh9BecrtcfHS15HaNPfrqH/YHX7f/lP/hF4yq0hN5k7ZByrlIaxatZg7HRVv1v6snYH0DP2NvVilhDYyhTNSgqIX24nYkIS99wimOnbAgutMt4uaT4Pl09i4gYF+iTEMsBNH9Xcs8weH8aW4i4kJY3B3aSq3CovecuecE9mnNJj+Px4Or3eyBbV3gyoZ4iWcGooPMP0PgHsMhjHqvg+WOmqoEAel2bP42Xn4bTM306gVxrPXSexMKor1tqChVLC+01+DJn1lCZxc/FuZopmqbRIdJP5wyeyUnEgy5MGU11f/cd77gmmT9wNakcsJKC1hez54lc7iPKayR3nUGb4tsRau9QDIEzkfB6l+eG9QUz3uBgG1jZEXXDy3FnIGM9liHouJHGUG0ZVS0TJz1bjNWIOt6v7sjSmB3Z6wruIuD1vFN5rKzF02RT6OOij/P4ye/bcQmJVmzquthhrC5LhEgIS3WO5pxdpTx0ZPz+Crva68oPw+y0EDU7mcaMIZk9qgblWiZTnb0a36NllrkuscTIVZFJlRRMi7i3xZOKip9SavIigDrboVrzP8vHerHjsgOe8CLo56H1/bvDQ2TyuH8bMSS1lh/WfWa3w+FLWKneka01DGXiSvZ+IvlO46hzInKB2JdZaEN1bhvekNB7ZeTInvDvVDdTkv+XWYEYmP8Q9dCberazRlp0mRaQv9MBneTHdFyYwxM0EjdJXyNpPZP94rjj6kxzUHjs9wRosB7L0hWPxWV5EtwXTGCrUEfbgTxfZunk7W9MO8rVpBKlBHbDTL63zp+VBxJ1FnviuUaDP3Gj6uZhQ+eNV9u+7hcisBrVc7TAVZFPlSLyEb84/vowNyu3oVNMYPVnfHCB6YDyX7HyYGdgBBwNhjIDo/gp8fJbxwGo0yeE9cTISxq2ED9snMyb5HjUCZuDVxg69KgpIsy6y0D+KDZlNiZziQRNbHWTDX/Keg1N8SDpahR7TohlYpxoPlwQQsy6TJlFxjG5qi45MviPh/YF4/GccoXLP6UQOroO5ZkVE6Uvw8l1ObofZxA2vg4WW0Hmfubx1Kzu3pHHwc0OCUwLp6GiI8Cp5t1YSHr6Eu+YexPp3p5Zg9SwZHLlH4xgWexrjMUkEd3eWAYvMVlH4mn0Jfsw5VYkO4TEMa2SJltAm0R2WT/QjLbsdiVOG426lRQUkfL68je3bt7DywGfqBScT0NkZw9JdXqjj5c+aoi7MiBxELQsVPl87yIGb+Ri51MLFwQwdQdFQOrUerCbAfxl3TIYyI6w3bqZVZX38cWcknrNvU91rKl7tBagorXCXNC8/0rLaMD1uOHWttb9b27MPxzEq/hymY6fh19UV4+9tukuatz9pma1IiBtBfVkdCZ+vbGeH7D0+4e6fhH/XGhir/XjOikkBLP/WUl7HRl7ny5UdbN+++Xsdv641MCmt84dhK7q/En+/JbypHULM+NY4Gv5Y18TZt1k1OZS1j6wZEhdAj1qmVJU8ZF1QEMtvGDBgeii9a5vL587HPcSNm80N67HETOooO7wXv7zB7SIjmURKs6wXHhGP1gQSsOAm5mOTCOhREzP1sutOIefWbEbSsBk1LE1RV4Ccowl4TD2N/ogp+HWviamaAsUvdpMwOYVLWoMI8+uJu2XVkn6XkHE8CZ+kK5iNCMOzo+tfoCH/zBq2SRvQtIalHHhzjjJ99DRO6w4lJqA7Nc3le0HhxVQmRKzmsfUEEoN7Utvixx6RfyIRj6ln0B8exaSupe3Zw/SwFC5oDmCyX0/qWmn8aM+JmfglXcZ42GSGqt/gvHJ9mta2lR/+i66waEIkm4raEhs2hAZ22iiSz820VTyt2YoGZpnsj5nC2jeueId70MbVWO6pk3zk+KxQZu4rouXkMIbUz2KzTxRrHljgkRhEz7qWP+Au/xTJHgmc0hlEuI8wB9XKCX8pb7AU82BNMJOXvMM9PJwRLRzRL1Vq5hwnyXMaJzUGEB4g73+hWcWPNxIRupTLGj2IDu5PA1v5HP20PwG/2ZcxGBqGV7c6mP3DMfq9VYUX2LS9iJr1amBtqYEiuZycOZ4ZR9XoE+FPz3pW39+3+NEGwkMW8czZn8lj5eApzCLx653E+c/hROXuxEweRGPrPA4lRjL3tAo9gn3o3cgGzZLFSTjozw2cyQWtvviN70rtf9BnxQ/WET55Ca/cgggZ3QYXw++dxcmZXiQerULPMH96NbBGQ1HMq/2JxKacplK3ALz7NcG2WokcUZLBmdRgZp+rRk+/0dSqkouSrjGGejqolHWciZ6wJWoyC89r0CcmkH6NbdGUPGVbdARLz1WmY3ggA5o6oF1RWKIPkuSXInufoEk9qWepXjIGinmyKZLwhY+w8wrFo5PgpZX1Fm92xRMy5wgVOkURPLQ51XUqQPFDNoWHs+SZEz6hY2jnZkRFJHy9eYB9Ozeyct8bbEdE4tuvMbaCYSfnJuviElj92IqRQWPp7G4uN4xKPnF6XjTJOzOoOymI4e1cMVAW82hjJJGLnlLdJ5jRHWpipASSb7c4tHsnm1bs47XNcMIC+tHETrPkzCbhw6G1HMv+yrktZyh0Gsi4ER1wM65cYtzN4MbJGxS82M/8Le+xGu3N6E61MfkeAfKIzVERLHnsgFfwGDrUMv6rV+77ABTzcmc8EfNuYTImkLFd62ImnIFfHyYlLoXjtMN70kCaV9cq2d8kZJ5bSGTyKSp1nIhnr4ZY/dHaUszjzTFEL3qEzYQARneu86OduWeY75/IAUk7fP0G0MyhGoqSD5xaEE/qUWgzYTx9mzmg+V1JLaXw5R6SY1fzyKQP40d1ppbpj/NM0ZXt7M21xdHFEXstIbztLAsCEzkgaoO330BaVK+G5O1d7udpoGdggN5fVArFPNsRT8y8kyh1CcV3cCscq75k97RYlhwT0ywwgCFtXNATxt2XY6SGpnBSuSOTvIXfTZi7fy1FV3eyP8cKe2cnHLQVIe8cC4MS2V/QEi+/wbR0rCZfW57tYkbsYo6Lm+EXMJQ2rvqysfflWCoRKSeo0N6LiQOaYy87BBbzZFs8cQvvYjbGjzHd62Fa+pvnnmNRSBL78pozwW8wrZ20Stok1JnKlIXpmIz2Y0yP+pgJ4y/jDsf272TT8n28MOuLv+9gWjuX1vnT2fD/v5//O/AcOo5VFX8PnvVjlhAgA08Jrzf5MWraBSx9VjGlty06clfL95J/Kp5BQbtQGZjKrBG1ULmRyPDAjeS0ms7iwBaYaso3BAEGMl8/5U12FfQtjFC6f5p07TrUNFKXx4SUC54SPl44xjOzerhoFPD23lOytaxxMNOiCkVkZ2bwft9Uxs5Op3bEUkLbW8ohVva4W8wfMYGVCv8EPCW83hyAx/TzmHmlEdvbHj2B8sq+5+kEhgbvRLlvMjNHumNQtSKiO4vw8FxKUSl4qhXy6dFl9q9awYE3hrQe4UGv+mZoyAT4Im7PH4X3GgE8Y2hVeJ61aTcw7DWAtjVtMRCszGVJTlrA5yd3eZqtiaW9ELehQFF2JpnvDjDdcw63a4SwYHIHrGXSm78vUlEhIgUllAQPSekfF33hwaltrNl4kQKnrgzu1wpHfVWUFMo8184UbVUFRNlZZLw/wAzPOdxyCWLe5I7Yfoe80mdLydi/mB1aXelSw0AOjdn7iOgbz1XnIOYEtf0OntKCzzy9+5QsDQvszHRQVRCRnZXBhwPTmTjnJo4B8wjpZC8HNGFxWenFuPmfaT0zkTH1LKhWurhk7yeyX/ngeWfRWCYtL6TrfAE8TdEUv+DY5nOIjTPYGbeKJ25BzBZg9d+A5+Jx+K6G3nMjacc1Nq26jnan3rStY4+h+g+w+fXXkJJ1aAW7tdrR1tkQXVnfyMHzsp0PSWXAU1rwhaf3npJV1QxbUx3UFIvJycrg/aEkJs25ht2kFIK6OMqgK/f8bMaHruG9exizA9rj8P1dRGS9fc7bLGW0TQ3R4irzPMNY+7Y2oan+tKtuQJXSaZL1lhdvslDWMcVAS0VmaRfdWYKXz3Jy2iczZYQ7FlpiXh3fxjmRAd92JbDuoRPeyaXgmc/VeRMIS3uMrfdsgnvUwET9x8mp8GQCQ6JOY+o5g4AuTj9gUYCw/bF4xh9A3CaaGeNbYKNbCYVS8Mxqw4z4kdS10kL86oRMgqf/bTeJax5S3TsJ/5/AM83Ln9UCeIZ1oFL6dtZe06BNjza4VzdB/ac4V2nhF57de0aWmgnWZrqyPs7NyuTD4Vn4pV7BwjOJwO5l4E4kQGQJeMb+FTxzDscx8jfgucLbn+UZpRCpg/jVSXacK0Tv6x5mrXuIzbjp+Auw+gt4Nmdq3Ega2Mjr7DxXiM7XvSSveyCrIwDuPwbPB6sI8F3Mx8ZxxIxpjJ1umXg2aT7XF/kQvuIOZqOTCelTG/OqIlkc07MMVYytTdFVr0BxbjaZH46S6pfKJeORTA3uKYM3heIiRFSUeV6/r11F33hyfjcbNp3jm0Ur+vZtSw3Tn2KQpFkcX7WHyk2a4WJpjPD6OUenykHvO3hKebUzksCZh1DsPJ3IYQ1lcsrSUvxwLSFBK8hoHs3kYY2wFQ7McpMG2cfXsV+lIY2cLeSGgN+Ap/TbNdZNS2DFfWP6+3nRq4HVd8Nl/skkPOJPYzAiCm8BPFWlvN4VTdDMA9AxgYhhQl+Wac+jdUwOWiEzaHm7KyE2tcPaWIdqgjGlXPCU8OX6OZ5Xs8Po3Tbi4lby2GYCU2WGG8EQJ5Rist+/5F2GIhpGhmir5ZG+fgbT0+5h0NeHCX0bYl26v34Hz8GE+3T7HwPPmZ7TOCEDz164W8rBXFr4jZcPnvGtsgGWZnpUrSghLzuTD8fnETb3LNUGxBDQtz5W3y2E/+xgJs06yYZ9FahT3xUbi6ookMOJpAkkHlOnT4RfueD53NmfUAE8DSR8e3GDYxvXsf+BMjV6DKVPS0f0Mg6SEDyLfUUtiYoYQXMn4SBbUoofsyUijLR3dfAPGUGLsp/9psnFD9cRHloeeOZyctZEEo+o0DPMj94NrKnKG/bHhzB7TwFNo8IY0crlB9Qj5snmSCKXv6GmXxCDm9mjL3jhyqgYRN+ecXn/Rrad/ohu4x70au+OpcwTXsS3l494/k0JPXNT9DWVkeQJc/Qki8PncUalJ6FB/Wn8Hdx+BU9DSQYvbx5jy7q9PKjgTJch/WjhYoS6AOUCeEZEsORJdSYJ4FnTGN5e4MCFTCp/OMaK7bfQ7BWKTwl45l9PIzx2ObcMhxHl15eGNnIDhTB+cz6+4t03UNc3QEcWGlAsA8+oRU+w9wmRgacxb7m4/yKZlT5wfMUOblftQaD/z+C5jlPKFogvb2LXrap0njCarnUtEOyYkvcXOflYDZ33e5m76g6GI8sDz0iWPLb/D+Ap5e3BRKJm7SCzQTDBo9rjJpBySRE/3U581DKeOYzDd3RHahr9TbKIkj75E3gelLTDx28gzRw04eMxUsJnsiu7Ef7BI2nnZvBXaC68yaqweNY+tmFE6Fi61TUv2dulZJ/dyhGxg8zjaaupUC54KhaLEKFIhQpl1BGiTF5cPcTWLSd5o+lO594dqW+rSxVFuST+xRdFtEyF80IlpPnZZH04Q1rsAo7TBl//IbRyFgxrZYuUnHPbOVJsI/N42lcTILgEPAtb4eU36Dt4SosyePP4OV8UtTAxM0SrkpT8nCw+nl7O1AVHEbfyxXdYW5wFeEXM672JRM+9jNZAXzx7N8Kq9GCTd47FwUnszW/OBAEiy4Dn021TiVt4G+PR/ngI4Ml7rhy+xBeFt5zZsIfrFdvi/X/g+Y8W7f8l8BRxYVpf/NZ9pVHcKia3M/9F2im6kcLwcct44R7BxugOFO/1Z8TMM+gMX03qKFf0yxxChUOBVFoiKyjIo7BCZZn0UgZD5YKnoOjNpUipCpUrKCLNfcX1k8c4e/05OcraGFlYov96K1NXP6dB9DJC2sm9l2XBc8VnVwb2dMdA/YeHrjB9Owv2fKVF/JISj2cxF2f0x3/tR+pHr5QBrHbpAC7pftGNuYyauIxnNUNYG9UFMx2VEvBczLvq/enZwBAVSSbvXz7jTZ4udTt1p7W7tSzQX34oKwHP1RKaDXRBteAzl7ZfQLFtELFebWTSql9SfEhyeHXtFCfPXOd5jjKaRhZY6r1m57S1PK87mfkCeOr8GTx/jKAiXl85ypXH73jz5D7330gxcG1Gh06NcRIC1EtdQpJcXl0veW62EppG5ljqvWHX9HU8qxMiA095rEnZIubp+qVcc+tOaxt9NIW1+TfgKdSS5L7mxqkTnLv+lKyK1TA0t0T/7U6S1j2lZtB8gjvZlYCnlIKHW5kStpRnjsOZOKAJFmpi8rM/8/bePhbN3MaH+hGkBv/V4ykHzwK6zJvOMDct3u/fyh3NujQwv0fq2CRuOgbIvaT/FjxX5VOvlzNVxd+4svMi0uaTiPRqL4vl/X2Eh5jXW5dzzrYTrRwM0Raszb8Bz9K+uXnmJOeuPSGzgqa8b97tIXn9Y5x9UwjuIsSTSHi1MZBxs45SqcdcZo5pgIVg9v5efsw18ctNhHjO4qhSd+Ykj6GBlfZfNi+pVIpCGa3xd/BsN4spI+ug+/EwO9PVcKtvwaP5E0m+asPEWSXgKXnF1uBxJB+qQKc5MxnT2BqdMnFlvwdPKLqzFG+fxVwzHMnCKQNwM9NAsQx4To8fgbv+Z47sSEfVrS4WjxYxadYVrCcklgueqzLd6OKshULmVfZcEtNwXDjjO7lgWE68mTT3DbfOnuTstSdkKGhgYG6B/ocDpG54iP2EmQR1/ysQ/mfw/NaCqVNGUs/wC0d3pqPi6o7Fk6X4JV/GzGNa+eD5tRnxU0ZR3/Arx3bepopQ5+lS/GbJ6/w38IwlekwT7MuCp+Dx3hHBxKT9FLacQtL4VtgbVBKy4/D21jlOn7nKk28KqBuYYa7/kSNzN/HAegwJIT2paVbqTREGXBHvbpzm2sOXvHz6kIevRWg5NKJthya4mGuj8nMgqvg5O9Zcx7pZQ+zN9WVe+l/Bs5ir8z2JTLtOxfr96VDHvEQBUYKXRRm8e5uBZp2edKxnhW6JJ104jLzdvZYLxk1o4GiBobAf/AY8kRSS9e4xNy5e5t7rr2TlFEJFFTR0taj86jhr97/DxTte7vFULebawglELr9ChXr9aF/bAp0ye4RwYHr/NgONOj1kHiLNqpVRqlhB7mUvFzxBXJiPSLECH/fEEZi8h8IW8cR7tsbJULnceSwoFAqz3vHk+iWu3H3Nl6xsClFCRUMHrcqvObnuAG8dxxPr+x/Ac3E6mi3a0cDeUOaBlpWiRxxec4CXdh7ElQFP4SNp3jvuXDjN2SsP+SJRQ8/MAoMvx1m6+S5GQ2IJ6FvvX4On+MUuNt0wxd3dEWsjYb/+E3gu5EaVRrRt7IB+pRw+vX7B6yx1HJt3oHVDJ4w1KyG5sRS/yGVcENekZ4e6WMvUR6WliMz378hQr0HnDg2wM/zh8f7dqUsOnou5pdqU1o0cMK5a+m0iHh1Zx6EXVgyP8ZeDp/gGy32jSDtbjGuv9tS10ZcpRL4/PfM97zPUcOncnvoORnJvrug96eev8eDpc549esTrgqpY1WtDu2ZuWOmq/UiiKM3j/Z1LnD17mYefJajommJu8I0zy7eSrtuXsMD+NPoZPBdcoWK91jR2NKRy3ifevHhDlmp1mrRrQ0MXE1niMFnzvoOnA5NCPWhrX8i5A7eRmjth8XEbU1JPUrlbcAl4wru9CYTO2saXemHEjOtELdNKvxm/si8vAc/H2PmEMKa9A4VnD5IuNcPR8hM74+ZyQqkLAeWBZ2VXqldKZ0PqXgqbeODRV5B1inl+5jQfdWwweLODqXOuYfAb8Fx8pSL1WjXCyVQdUdZn3r3PQFHPiYYtm+FmrYNqRUk5Hk8xt1YGM2XJcXIdu9GuvkMZ4ylIRZl8fJ+BqlN72jR0xESmdf278mePZ1nwlKSvITxmCefUehEVOJgWjj954YofsTk6ikXHKtIxKoihbZzRkR0kJbw+sI2bWtVxdnHEXFiryvF4/jhzivh49xI37j3i2dMnPH6Vh4pFHVq2b04tW32Z1FpWpPl8uH+F82cucf+jiMraJpgbZnFx7Q5uqnbCL2AwrZx+Bk8Jbw5i1onoAAAgAElEQVRu54amPU6uTljI2lI+eMof8YEHV85x7tI9PhRVRtvEAoPsi2zccZ3KHfzxHdqmBDyh6OUxls5cwnnF+vTq3xl3k0qIcr7y4ckJNi7ZRrpWTwJ+8niWgqfRKD88urshvXSE9EI9bC2zOJQ0n8NFLZj4f+D5h3Es//h/DTzPJ/QpAc/VhLX/FTyLrs9m2Pg0XtYOY1NMR8R7Axg26ww6Q1aQ6lETg7+A59+8y2/As7SG+P050mbOZe8rQ9oP6U9LZ2M01VSQnJrK4ITr1AxbXC54rizuzqzIXtjqlVqRQfBSjJ51j7pRi0rAU8SFGf0JWPORetErmdzB6hfwLLqewsiJaTyrEcz6mK6Y6ZaC5xLyOswgYoAj+iogEhWR8/QgaatuUrXNSEZ0dpHFJMqktoLHc/l7XMYGMKqVFRl7pjF92xecPaIJ6OaEnpBQ4PsLf+DCimTm73qBXttB9G3tgkk1NVQkZ5gxZBrXZJ7H9lj9K/CUUpSTQU5BEYUFBeR/usOeFRu4qdyUEd59ZbLoSpIPXFwxm/m7n6PbeiB92wjPVZc9N3HodK46+5MaWg54SrM5tWQj0g7dcDfWlUttfgOeQiKM1bPns/uZDq0G9KVVDTOqqasgPTODkdOv4OCXSnDHUvAUNuNsPr56wsNH78gqFCFRqIByVQPMde+zxGcud1xLvJdlpLbfwTN1Kl3Elzn/yZwGDV0wVThGzOCpXPuv4LnsJbbDfBjVzo7cA0kkbv2A3fAw/Hq4YSTor8stIm6uWMm7Zp1paG4gP2D8BjzFHy+yZs4C9jytRvN+8r7RqqqC9OwsPGZcxNprNkGdhWRYEl5vDGTsrCNU6pbKzLFCrGL52RnFrzYR4jGLI0pdmZ08lobW2vxdHsdS8Mxul0Rst4rcuvQRo7r1cLGoyMnY4cy4ZMOEMuC5OWgssw9XotvcJEY1tJbJvkrL34Gn6NYixvstkYHnkikDcTPX/AGema1JiOuO8u3LfDSqQ11XC5ROxDNq2kWsfgOey5+Y02/iaNo7FnBsThLbXlnSP9SfnrVNqFoGhsUfL7N+7gJ2PapK4959aF3TAh0NFaTn5zA+8TwmHjMI6vY/BJ5fmzMltgeV717lo0Et3F0tUT6VgMf0C5j+Djy/NCMutgcqd6/yobTO6QQ8psnr/CfwbBRLtEc54LkzkomJeylqNZXE8S2x183i6voFLN5+H5WGPenVrhaWOhqocJH5E2ZyTn8YccE9fgJPKUW5WeTmF1JYWED+53scXLeZa8U16TO2H41tdEqSvJScXXLOsXZ7IfWb18LKVC7LKg88ry8YT0TaLfQGTsGrqxum3w/5paNLASUVddQqCxnES/9NRPq69byp3Yw6NuZoC+fA34Gn7JQjpigvizcXVjEz9SDfHPszZlBzLJ+sIHjOFUxHR5d4PIu5sciLiOXX0ekfh1e3mpj9o/b8HjzlLZbwdkckvrP2kt8sjqnj2uBsVPbg/vOCIkVclEf2m4usSZrLwS8O9PEYSHPr56wOSuGy0TAi/pPH8xUu3pPo38ie745l4aAalMoFncFElgFPyefrbFm8mB3pFandpSdt69qir6GK9MoiAmedRL1vJP59/i14Ssm5sJ49eTWpX9MeC8Er8kfwXMRjGw+8hzSjup4ixcLe+/I0WzZdQeTclf7dGmD+ei1Bkcu4XLUH4d49cLfS/EUhpKBUBXXVKiiXk935594v9Xg+sx/HxEFNqf5dl5zH+YWhzD+rQZ/wUvC8yQr/KJZfUKNLuBc96luj+ZN1WUFBicrqqlQRYslk47GIvOxc8gsKKSzI58vDo2zddolsuy4M79cCJ0M1FCVfuLltGcu23oQaHeneoR52Bpqocp3lQckcr9SVkID+NPzF43kfsxETGdzSGf0KYkSiHF6f2crWSwXYd+pP10YlCWpKwVMmTe2LyacHvFO1wdXNHvWr8whIPEqln8AzRABP91BixnemllmJBLbcvbAMeHoH0cf0Mw/fqWLjWgM79WssDEjiSMXfgGcVN2pXV+feoljWvnNmmOcgWlh+5uLFfAxtbdB9vpLgpKsYjPiNx/O+OSMmDKKFiwGKYhH5H26we9VGzn4ypsOYUXSpZ0H2/p+ltsWkr5pM3JJTKLUPZnyfxtgJstW/FAWUqqihWkWIB/3Tef3fgaf49moZeJ5X7U1U0CBa/Ax1oodsio5i8dEKdIgOZmhbF3RlsoRcrm3bT6aNCy7O9sgEIX8LnlJEednk5hdQUFBIwddHnNy+g4tfzWgzpD+t3UxQV/hK+u6VpG2+QqFDG7p2bER142qocou1USkyYPP2H0zLn9sozeX69gNkWDni7FIdXVlbygdPydd09q5cxpbLBdi36UaHRk4YCVmFb68lLuUABc28ZeDpJPN4CnaMPL6+f86Tx6/5nFWAGEWU1HQw0nnL/tQVnJa0lkl5f/V43sJohC/9HAp48bYCJo5uVK+WTlrYTPYX/B94/mkUf9+BpYLb4p8UIcbzX0ht32z0Ydi0sxiPW0XiIMdfJKh5x6LoF7ybKv0XMtejFmq3Ehnit4GsFgksC26FabWfYwElSCSKCPkQ/lL+Djyl3ziT7EPc5q/U9o3Bs52zLJGR4EnM2RdKr+gr1BDAs7USb59VwNpWjyqKd/6V1PbtJn+GTz+N4Zg0pg1ywvAnYM47HsvAkJ0o9Z5Lioc7hhrlSG1LYjwlBS/ZEjqWRbdM6T8jlv41DFCvWOrxVKD33CkMcTOmUsYtNsdFkPbAmL7hEQx0N0JdFnshJeNMCgGxm/jk5k3E+Ha4mmmgLHvhA0T0iuWyUyDzJreh8vvnKAop3VUq/yZuQfg6CVKFkmQ3ZTu9OJdXu+KYOOcyuv0SiB3sRpXbCwmK3cjHGl6Ej2tPDfPS5x4kqncslxz9SAlth8rHFyhaWKGrWnIVQMFVVq/6RKPujTDXk2fUKxc8pRmcSwkgftN7XCZEMLaDG2aalWSegdyDkfSPvYCdbyrB7dX4/EIRcytdVGV3FIgpys+joKgYCQooVhRSgB9nysCp5cZ4ysEzn/YhHVDNNqBh87pUN9FAOWs/EQOmcrU0LvRfezyL6JQYw1AhjiUrnW0J0aSl69AtJIxB9YUsxeUIn6WZHF25B402bXEy0pVLYcoDT2kGF+YFE7/hDdXHhjG2Uy0sqpX0zaEYBsedw3JiMkEdNfj2SgGdD2vxj9nI21ohzA3qiH1JnOiPn1g+1xQKLpHiEcy617UImh9Ih+oGf7G8y46/EgmKJZOyFDyzWvrTrmoBRg0aU8dJkN5nczByKNMvlgFPhTyupIwjdNUzqvvOI6Sb0/c4TuF7/05q+2lvFGOn7qWo5RRmebXEVq/yD6ltRjMmtdek0KgBjdwdZetIzoFoRiQI4DmjfI9nTmtiI4fTwKYq2Xe2kxS7jFsaHfENGUojay15ZlVpJhcXTiZh/QtsRwbj0cUdKyGrrjD+jsQzYsppjMZMJ7CzLtlvFTCWXWPwiBX/VWr7tTET21Wj2Lg+Deo4YqZVmZyDsYyedv5vwLMhE9ppITauR4M6TvI6h2IZnSCv8z8HnoXcWOjF5LR7WIydRUjvmmjcW05UwnqeWgzB37Mr9Wy1ZGoTco8zfWQ8p3SGEhfcFcO892BohFZV4SqFn8Z8cR5vDswkKPUUSm1DCRvaWJbJsPSvCm5sZPN7V5rVtcVMS26lKE9q++nAVHym70bSPoHokU2xLyNtLYU2iURQ0MhVNLIizeLU+gNUbtAIJwtjebKPvwNP4ezy4Rxp02ax65MrQ72G0a6WKUrnZv0itf10cBp+03dS3HYqUSOb4SAEOP2lCPPtp/YIn//G41laNf/aQvzDVvLAypPpgfJY07/26E/fW/yRC2nTSRaStgyZwNCOdTBTPs8cWYzn/7LUVprF1bRYEtfcx6DvJEb3aIyDkOhKUYG8kzOZkHAEld6R+PeyQPxJiq6BDhqypIN/KoWkb9nKW/v61HKwQkdmGfuTx3MR36W2JTGeksK3HEgKZfFJKY39Qhjk/Ja1YTPYntuMyKhRtHQx+MXoJqx98jH051b+O6ntJ47NDCJpWzaNwiMY1bYGBj9b/CQSJMJzpaAo/PenJojz33JsbgTzDxdQzzuEYa2dUL27hmkzVpOu3Z3xHr1o6qQnT5CXd4bUidM4VLEzwQF9sFX8ilhbD21NVV5vLi/GU0Lhu4PMCVvIiaIGTAweRktnQyqLS6S2j6zp18qUqpY1cRWykeqrkn8yGb8ZR1D+Dp6KFNxcTlh0Gjf0hhAT0I+Gtj/H+JUdv6Xg+Qir/i0x1bCkhqsbLrb6qOadIsU3kcO/Ac/TVdyo5WZP1WsLiF5wG+O+nnQ1zOSLqjk21hZoXJtHQNJV9H8Hnj9JbaXFubzYO4voBYfJqjORMI+O6FyfReRfYjylfDmRSviMTXx2DyTUoyM1jX8ez7+Z9+UO+X8Hnnw6ypzQmWz74o5/mAcdaxvL8ziUloKrLA+JZ80ja0aHT6B7fQv53l54j727X2Hk5IJTdUNkGorywFM4GwqDTpZgtEwR5/PhxGLi5h3gq+to/Ed3wPbLLpJnruRqlbaMGtOP1jUMUBESyuWdZ1FgInvzm+HtPxDXKlkUa2ihpVVNnvSt8B779rzCoLozzo5GJW0pBzyl2dzaOJPZKy5Tuc0YRvVvg6uhPO9J/vlFhCbuJqeJF76D3VDJElO1mvAMwcghQVSQT0GhCLEEFCoqU1lylbTwZPb/Vmp7C73OzbEytMHZwYUaDoaoFZxnoRAX+n/g+afF+vvn/0seTwVEb3YROXoKl238mBvVDTudKmUkoQVcTxmJz9bKDEyayqCawuJxldRxPqzL6kDC/Ik0Eg77ZUZ07rXNHBS1oE0NbdTLZmT9O/AsusKcwT6s/tqY2EVBtLIqOUQi5tnKcYxKeYx71DKCm71m785KtO9aAx3VByz4xzGewnvuJnpsPBctJjEnspv8GpQfs5sbc8fgu6UifadNYXAdeSzELzGeJeAJ2RyK6EfULgntZy7Cu6kZ1ZSLy8R4ypMLqSmIyHywl1nhc7hQqT0BMWNpaqlJJUURV+cMI2DlJ+pHz8e/rQ06JX0lfroar1EpPKodxsKQFrzftxuldp1w1SuZ5L8MGQmfj+/ihkVT6plqyZIilS2F55MYFrCOL01iWRjQjG/rPAla8ZG6UXPxb2eLbknSEPGzNXiPTuGhWyjzQ1rw6cBeKrZpj4u+NlUUJHw+tYZ94sZ0rGuOTmla8fI8nkVXmTfCn1Uf3JmcGkhbe8FIILRIzPM13oxNuY9L8HyCWn3myF4lWrZ3QV/7N3LiP8V4LnlKtWbdGDGiH03tS+6PzdhHZCmsBv4Hqa0sxjOa/i4mVFUUkfnoAKmRKZxRbMGkyLE0t9WWvY8g5bz3OBctK3N0lR+wYfVrGnRuhLlBSUKS8sCz6DoLxgSw8k1NguYE0F4AxJK+ebHOj/Ep6TJvcGCbTE4cUKRJPTG7p0Wx9l0DQpK8aCVksiwz1/Ju7uRogTuNnNR4uSaQkFVvqReayMQ29vI409KSd4tdRwpwb+SEgbYqxbIYz6U8Um1I5xEj6NNCyEwtxCBncihqKAkCeM4MKEkuJCX3dhqhgUt5YDuOqcHdcTMpMTwABcenMiTmJMYeSQR1c8aoNPmO+A27o7xIOqZE5+g4RjazRbtMcqGl91Wo32W4zMrvYCxk8VMg82AMI6dewHJ8+eApi/GUJRcSPKdZPDmUSlzKKcSNxhPi2QYHQQ4tusFiz2BWPHfEZ1YAnVyMZcmzhPH3YmMQ3ik3sJwwi8D2+Zw7rED9Zs6YaL/4z+C59G4l3DvL36O6SVX5exyKY0zCOUzHlCQk+inGc+kdZdw7D2NYv5Y4llPH9z/EeL6rF0GsZwsc9MvIOHNvsCwwjFXP7PGM86VLTQOeLPcibNlj7Lxn4Ct4GUskrJIXm5nsnco10zFMC+pI8cWjZIqzKarVkQYWBmj9dF9k0ZX5TJi8imeOPiT6d8HNVLUkEchXLmw+SIFLE2ramqBRchD/FTwVEH8+RWpgPPsVuxAWOpCGNlp/Ma7lpR/gdIETNUwVyfyYh7qpMXpVnrF90ytcmrljY1YiKf8b8JTmPWFfSgKLjhXR0NOHoe1cMVStSMEvMZ4KiL+cZm5QPPuknZgcOohGtj+1584BTuc74mZvgn7ZZEp/AE9pzm1WhYez6rEDY2O86FTL5C/ZMfPu7OdUjiNu1U0xUC/g6b55zFhwhPz6Y/Ae3p4axmpULChNLvS/DJ6i26z0C2f5XVNGTvGnh5DgSGZllPB6eySBKRfQGhyHfzclbp8uxqW2IxZmpTF/vz/PSL5eYueRHGzr1sTeoloJHP578IRczs7xZuq6F1SflIBXZ0verAxn+u4iWgQGMrh59RKoLWlL/j2Ons7F2tkOM6M/t/NfgaeimK9nFxI5bSf5zfzxH9YSx79I3fO5f+QsuZYGfHvyFRMHeyxN9b9fPSRvYRE3lwUQs/w2xiOn4NPHnYKdk4lZch29IdH49G2ITYm8U/J6F1OCUjij3ofIgB6o3LtAkYML1W1M+bylPPCUe57m+8az7oktnvGT6F7PErUS8Fx0Lge71oMZ3r8tNawEA5QC2Sdn4zfjMMpdS6W2QgjUXTbERbPitgmDw7zoXt+SssM///5hzmZaYm9nhWk1iVxqu+AcOXatGDiyP23chCuRKqCQfYpUATwrdMb/Z6ntwbWcrOxGnZrOWEivkhY1k9NV3Klt40TLlm5YW+gjPptCQOI/B09hzH46nERo0iae200kxqcHJulzfgJPBcRfL7I8eho7Muoz3l+48UAeHlBa8h8c50KWKTa2Vpj+7NL+Zcj/O/BULP7EmYUxzNqTSyMvX1n2Zb0y6p2iB5uJj13NU+tBeI/pQh1TQUouIePaPk5kGOHk4vzD6PcLeGqQdfUUd6qYYWllidFPNySIbq8mInYZl6r1I8KvD/o3ZzN14XnUeoUwaVBLqpdkr5W83U9SWApHFTsQ6NcP3RdXybOwxcHBlmpCxvLr+zj51ZDqLi7Y6pVAe3kez+L7bI6OY/E5FbqH+DKwlSPyR0h4tz+JqJTDSNsF4tNfj9fX8jG1scfB7jcJgP4U4zn/GJ/MmtFvxADa17GRZedXyClJSFTQnAk+f00uJMl9z8sPxaho66CtIVz/9n9F6IF/Dp5FV5k9cCJrKw5k+ZwROArXqcj6UMrX7X70mXKT2pHLCS2N5xRn8WBHEjFLn1PTJ5Ixza1kdyzK73vbwNSoLRS2nMSkgcL9jkL66kLenVpM9LQDVOoVSUj/WhiqyS8Rl2ams33ddQw6daW2yU8JJ/KPE9c7hN1ao1gxcyAOZaSxFN9j+RhPFjx2IWBRFF0dhEBnkGZcYs38ZWzedAuzgBVENr7LlmNm9O7pgq5KOqlDvFhbYQBLZg3D2aA0fkPKt52B9JtyHdfJiwkVZLXChBNn83DnTGKXPsXVK4zRLWxL7oeTknVvI9Oit5DfdCJegxpgoSnP7Ft0cy6jx6+gqNdCZo4WrlOR5bIm+95G4gKTOa/Si+hpHjS2EGCyiOspw/FZo8ygZdMY4GQgX5zFubzYMxWfxFNI3ccQEdQTV4PKPE3zZMK8hzj4zSOiuyP6AsxJM7iyZiFpGzdx09SHJZFNebT9BMY9u+KsXwrjv06IgvQNLL1hRseOwv2SZSZN8XvOzA4iYsM7agYkE9LVjm8bJzJx3n3sfeYS3sNJfjeVNJMra+XPvWXixcKIZjzZeQrj7p1xNtAk/94+Np8SU7tTS5yNhcO1vA3Sb3sI7x/PZQc/UsM6ybP7Fj9g5fjxLLhnx8TUSLq7GCKE4Ekzr7B+0XI2b7yB0cRFTG7+lD2njOjS2QVD7fKlO7LvHziVy7a+pIR1wl6/NH6niJvzRuOX9oGaAQn4dBZkk/JsgvI6CVy2ncScyZ2/Z5P98zJSxM35HvivltJz7hQG1TSVZ9cV5/JyfyKBSccorDGC0MBe1DJW5d3OOKJWPsZuTDSDdS6w73UNOrewx6iafOGVft1NxJBpXLLyZvbkzlQ3VEWh+CGrvbxYkG7J2NkR9HQzRnC8SzOvsnFJGps2XMfAcy6hLV9z8Iw+7dvbU/HRRhKS9iJu7YvfwAZYligMpFn32LP5OtWatqGWlQ4VPp1ndXwS+4pb4h0wiAZWJXcrSrO4v3sL16s1pXVtS3RVKiC6uYBxfit44+wlixcT4vlkEiLpN/ZHDGP6eXPGzg6lq7OR7IAsLfrEtQ2JJK57id3wIMZ1dsVA6G/Bgrk4kKAl51HuNJXpE1phryfEMhfx+thcYpOPo9jUE+9hLbAX7oYUOkZ0i8We/qx46ciEOF+61jYriS+R8m1fFKMEYBs7i6DuLmWS8txiybgAVhd2JDF2KHUshSybIM57xaGZQcw+ko3D4BD8+tTFTO0F6319mH/TmJGJYfSuYy47OEszr7Nl+Qo2rr+K7qhkglp/5MR5HVq2Fq6GeczS8YGsymnD9CkjqPc9q62UzAOCJ/I0BqMTCRYSEpWeuES3ZHXSntvjGeNDN3cLqsriZKR8OxCDR8JZDEfNILBHDdl1S7Ii1JkQRNozW8bG+NL9L3Vi8Ug482udPwxckSy50EKuVW6Lb4Qn7VwMkCn6JVnc3TSd+LVPMe/thUf3OphpKPJ0XRCB866iNzSBkH51sRRSKEqzuLkljVXr13NFeyjTg9uScfoSaoYZXP/qTKsWtbAzVCuTtOUjFxdFEbvmMZaj4wjoXQcLDSH9YSYPD+3gTJ49TZvWwFK4Rqtk78k8FI/ntJNoD0kgsFctzAU9uhBrfmop0+ZeompHTzx61sOiJJmO5Ostdm+/g0aDJhg8WUvKmtsY9AtmsOk9Tr6xoXlDJyz05GobacZBpnrM4LTWYOJCelHbogQwCl5zdtVsUtZepUpHX3yHtsbZQD4O847PYOxUoT0x+PaojbkQ+CjJk7Vn+tyLqHUYi0ev+liWbc+OO1St14w69oJhsswPU3CBueOj2ZTbgpiYkTRx0P2rOkVaxMfL65mVvIusOiOZMKQl1fXkBl5p9kMOCbFNtRpT016L7ItrSZ29hiuV2uHlP4w2wpULMnf9SWZ5JnBcoz8R/vJEQH/238kGHXdXBBC2TMhqG8XIVk4YlLRdmnmUGeOnc0K1L1HBfahrrYGi+AlbJgcz/7w6vWNC6d/EDsFpLc26xc7Vq9m49iLq/WLx61DI1etVqdvABRuzv8+wK8l6xPGdZ8iyakCjmrbolaZ1FZJQzZggyxTbIyqIvg1svmc0F91fy+TQJTx38Sd8bDtcZV4oKblP9pEaN4dDme6MnTyOTrWMUHx3llUz5nFOuSXDPXrLDAbypN4Z3Nm7i3QVNxrWccRUGKN/mk93VxMatozXbkFMHtMG19JEM0JbE71IOlKJrhGB9GtkK5PVSvJec25lEgvPVKTpiDH0FvqrJKN4xp397LldGdcGriin7+e2igv1ajtjVrVM8prPV1g1NZ7VN3XoPTmA/k2tydwdQ3jqaZS7hRE0WMhEqyS7Oz1991rWrl3LBdXuhPt1htu3qeJWGxcHE95tCCdi0SPsJoUxtmMtTIQ2SHN5dmAuCbP387XWaALHdaOOmToVRPdYNzmSpder0TtwEv2aV0e75MyXeXwW/jMOUaFzKH4Dm8oTxUiL+HxtK6kp2/lQfQBjh7ajhpHccC/NecLxPddRcKhDTSdzNJWKub8ujOhF19HsHYDXwOZU15afp6SZJ5jjl8ghOhIUOJCmQlZX2UEih5srktiv0JiO7Zvioi98xxSmbnqIToeJjO/TEBttJRkUByZdQXfoJDy6ussy0srX1ftsCI9k2VMHvEI86FDbRGbYEGeksy15GkuPZ+E2MhjPHnWQHoknasEtjEaGMK5HPXk8oiSftxfWMHv+KST1BzGqX3PshWuzZEPoLof33qZC9brUdhESH/5p1ol4sCGSmMUPsfIMxqPbj3YKybXmBiSxX9QG/+/xnBLyXpxkdcpyLik3Z8jInjSyqSa7I1ya+5wjS2az6bEOrQYNpqOwlylJyX56mgNnPqNXsz61hau/Sudz9mnmByaxr7AFPgFDZLGYxU8Oye6Kt6pZGzcrTfnd40IRf+HG2iSmp11GpYs/vkNaoH5hJjGphylu5Y//8Pa46iuhIM3h3v6NrFu7mnNK7fD17o7a0/so2Tnj7GyN4vMzHDj7CV3XetRxMinTljMsEJL/5DVjkv9QWrtooyh+wd5p0cw7VERz/0CGdaiBvpIC0px7HNy0lvWrzlKhrS8Teqjz4n5FbJxccS4ng65syGSdYUFoEntzmuLlP5S2rjrfE1493BzHlIXnUO7gxcShbXHRk5+Jf1tH8oEzaSms3HUb1bZeePRpgeMvapc/rRz/b37+D8BTxLOTmzh09jR7tp3hmcSSlj3b0rhldzpYfuLkvpOcO7ydAze/ULVWV7o0aUL7fi2w06yCQu5Hnlzaz/YjT1A0tsbGTAPRx6fce5SFQYMOtG3kKpODCXIboUgKvvHq5mG2brtMpp4DLvZGVM77zPtvCpi4N6W+szEaykIgu4Svtw5z5PpzXt87xf6D13mLBU07NcfVyhLXFu2pbaZOZcVCPlzZxuKFW7irXIu2betgXDGLDx8K0K1hS+bO/6+9Mw2O68oO8wf0it4b6AZ3EgRAgAQJENwEbgABECBIcBGpZTQp28nYLjtO7Eri1LgSV8qVzIzjpRyP7ZQ98Wg0o1FmxhpJlEiCFBdwAQkQ4ALu+74vQDeA7n69ry91H8BVIglxJIY1ev2377v3nO+ee+7y3j3nH3j/oouKsomUr3iTyb529h3cy6Z1e7mSmUjDmkbm17/K0okDdO3oYt+2j/j0iAdL5UqWV1ez7K06Sp0msiJerih6XgjhtdoAABgTSURBVCJrVCFF4x2kvFc4d1FiRNVSGhdWMCFPJEm/RddHW+lsb2Fd+2Uyk5p5c0kZ+SaZcN8NLl64TdQxnaXfWENt+WiMtztZ19pJ+8Z1dF6WKWp8lfrqBl5dWsloUz9d//g/+N57ndxOOSipqqV+5Vu8Pi1M+89/wiendUxvbGTWWC2hXi9R9zSKpU3807+cx1leRkFFM/9KDFDx6fETbFuOD3Bpfxv7L0tkWV247XpSgTvKBe4jN6Cg9nV+Y7VIDJ9D2nuYDW//kI9Pa5m+uJFZ43QPtfspP3j/PPapk5lYsYz6ETc5fvwQe3YdIzy+mprpY7EZ7n3SK5Ps3cfHv+zgum4KS5oXMGNhM8vnjiF5dhPv/HAtpzQV1DfMYbw+iMcTI29aMcHNP+CD8zamTC6kvPmbLJ0+aigq8EPKZXyc3r6FvZ1b+fjTI/TklLNseTU1y95kgekc2/d0sadlPV2XYoyqeZUlNYtZ1VxIYN8OOjq207LtGL2mcpY2V1PT/Ca1ZeJzyidPGMlrnWzYvpc9G9fTeSnNhPoV1Fc3sqpJ5PPycfCfv8efv9vO9YSN4jmLlP5bZtzG3/6ih9KGGei9MSY1r2J+yQgs2T5Ot26hfe9WPtlylN6cafflWDTFTux0Cz9+ey0nmUqtYGMI4/VGySsrIrjtbT46a6KktJCK5rdomj4GW5bE7ZNtrN9wgD5bIWWlYzHHB/D4YGTlfKpE3l1xmpeJE7h1krZ1LRzsszJxailjzAl8vQOiIPPmlTPe4qG7ZQeduzeyYe9FIiMXsGLJIhpWL6Uw2M3ujnZa17dyrMfI1KZlLKxt5vW6MvKtepLSXc53rGPt1vOkx09nxtTRZPffou9COz/ffJUR8+uZXV7O1LF6gjfPcPy0D9fc5TTXzlI+4dJp0tzYt4GdHW1sWt/JxXA+81YuoaZxNUuLQhxua6ejtYXtR++iL1vC0ppalr2xEMuVNvbubWPThk4uxsdSvXwxi5a8SuOM8dikbn78F/+Tn+66RNRazKyaOpZ/4w0qUt188t5ajqdLqV78CgWmKH2eCM4phYR3/IS1Z/QUFhcyvXkNk6PHOHZ4D5vW7+VCciJLVtczdaxj8LN3OcqdfRtY13EFiutZsnA2C5ctYXTfPg4eEHrs5UIon7krGlm0ZDVNRWGO7u6gY9sGth+7i25yI01DelivtdO5d5eix4Wgm7nLxTOv0lQc4dieDtq3Cd3vKM8sqa6l+Y1aykbZH3nD/XnDf3Dj+TY3ildTV+LCPcpNnjmF99whjlzLoqR+BY3CfzuF/5ZJeE+w+afv8PHRJMUL6phTaCbW5yXiLGViZDc/W3uK7AmFFFYu4/W6iaSvHab7Qj+pHCcuEcwl1MulIwc4ei3BqLmreGtNLWUj45zfuYOO9l20HfOTP3seFQVuHuRbT+Lt3si69gukJtbSuHAOC5cuo6okH0tmgCvd2/m09Rj9prGUlI7HmgzQL2UxoqKKV8oL0J54h+/96AIjqyqwhFNMrFvK/LKx2LUBzrW10t6+hfVbj3BbM4m6phrqmlczOdbNjs0tbOs4wdV+E9NW/S7//g/XMMvqoXtnJ12t69h88DrZk+pprKmn+fUaykY50Mf7udK9g82tR+kzjWVSyXhsKYl+CUaUVzGnogCXSaek5/Gf66Tj6Hkun9nHrp2HuRp2M2txNTOnlFC+oI5ZxfnYhvyOHA9w52wHm1r2cUc/RtHTnpHwDqRxTa1i9ogB9m1pYdOWDk5c7Sdn6gp++4/+kDVz7Hi7d9K1t5X1m7u5nlVEbWMNdctfo3rqaJyPBcl72EZSN7vZuquDnRtb6DonkVfVRH1NIyuaJpE+381BwW3LIa7JhdQuqaZu+evUTMtHvtzKz3/yIYfCE6haVEWxPYmvL4y1qIBY1y/ZcDzFyIIiKpeuoXFWIfkPOvoRE830naJtZzvtO9s4NpDL9KpKCkc8fIDRx9FP19F+LsbYhQ0sqKphyZIJRI4f4eDOFjZ2nCHgXsDyhplMzNMS9d3m6qVbBI2TqF65kvrZRbjNwvfFGLh6mF2fbudor55Rk0oYb5cJDQSQ86cye045E/Mt9w9MP3caTd7i8Lbd7N2xkY17zxDInUND/SIaVy1hknyJIwfa2bpuC91XMxTUNFC9eDmrlXzGRuIDVzm6aws7DvegG1XMpAkO5NAAgYybsjlzKC90o4/e4njXfs71xDA4RXoiCHsvc+LgEa5EXMxc+iavNlQyzqkn3X+aHb/4KWsPSIyeU0NViYO0r5+wdSLj4gf5ZMNRou7xFM1sYuVUDVfPHqVtYwt7T/vIm9dM/cwi3Po4vttXuHxLwlC4gOZVjcwpduI/sYM97dvZtLGTM/1WKhsWU7v0VZaUylw62MXuLS3sPHyddMFC6msaWP7aIsonuMhJStw918mWTfu4QT7FpROUnJ39vhTO0lnMrizGJZ1i1+52drRsovN0H5bKxdTXL2VVUylc7qZr1xY27TjM9dQEFjTUUL98DQtHhzi5p4WPPtzGmchIKutW8c3fbKKMg7z3s0uMW7yc+ikyZzs6af90HdsO3UI3ZRG1dU2sWDoLa283+zuG9AnkMadhIRUFLiU3uffWTfpjFooXNFE3Wcv1U4dp37yRvSd6ME6rp662ScmpWzDGqaxprx9rY2vrIe5q8iksmajo5wtkyJ08i9nTixlpffIaTNhU6s5Rdu5uZ/vGTXSd6sNSUU9tfRMrm0rJvnqEA22b2bj9MFeT45hXX8PiFatZNH0ibmMc382TdGzZxckBHe6CAvJ1Ee5evkS/sYg5tYt4ZcooMlf3096xi527juG1TGbm9BJG2wdf+ogDz9TACXZsaueU382c2oXMrVtCw6xxZN0+RveZO4S1dvLEej/Wx7UThzh6KYi9opHX1oh8tbloAudo++D/8lFXH67pC5k7xQVSPyHTeMYkj7H500P4rWMomtXI/DFxPFcOsbvtKB5TKTMqSxnziCwn2blpDyf9bmbXLmBebRMNcydh9e5nrXLv1sX0hfOY4hZNhMgZN4bUic1s7h7AMrqYmU0rqZ8zhbH3vzIcGrUZiSsH2unavZkNrQe5GBlNVV01DStWM39EiLOH99Iq+J/swTC1lrr6ZsX+tDePsV+xv0NciY25/0xNpcjXHuDw+3/H//nwJPbm/8Dvv1lDqUgxp/6G88ZTJhbowy8FCYbipNBitFqw2nJxGpMEfAGCwRDRRJosvQWLxYrTZR+8OyA2k3GJPm+AeDqGfyCCzmbHqNVjc7txiETJj63b5WSIfs8A0WScgC9IxujAabfhyHNi1j8I3ZwK+/CH4sSjIULRJBlZg8FiJsdgwGx3KgltlTVeQtTXS6+nj2BMRm934XbaceTZIdDDbW8YndVBXr4LfdyPJPQMx0nJWnKsFiyKnikkv0QwKBGJCz3Nip4OlwPTY3om0jF8vgg6qw2j1oDN5cJhGrxXihxH6vMRDAUJxpKgM2OzGJXcTulUjFhcRmdykJtnU5KqEwvQ5w8SkkLEUyJwogWzxU6u04w+O0Ww9y4ef4RkRkZjMGN1unDbtMR8Xno9XvqlGBmdDXe+E5szDxsSvbc9RLRW7Hn5uO3iUvvTT9pSEcE5Ssjvw+8LEk2jBOawWmw43S5yrUMHB3KSUH8vnl6vcln78XY9tz2ElXbtXHn3P/GjCyOZWVPP/FmTGWM3PBTkQ0R8izDQe5s7d65zsnU9HaY3+av/3EyRU2bA04vH048Uy6ATm+FcO848G0ge7njCaKx28vLd2A2fl8A3RcTnQwpKSJEEaRHZ0TLIzZYdxR8QfRwinpTR5AhbtuN0GkkH/QSkIKHoo8/Yc3SPyP24P5FjEv2K3TxUp9VOrsOCXiNCxvfg8YdJpGWy9YNy5OlDXD97jpshLc7RBRQWjMBmFAEkhOwDBIJBgo/JLuTITocY8HgUOx9kk4fb6VDYZAU93PGGyTbbFDY2o055OyPuqvg8A4QTMSR/iLTBhsM2ONYsD/OTU4QHvPgiCWIBP6G0AavDqtiU02JAm5Ug2O9XuIZiKWSNEbPFgl3c1UgHh7hGSaRBb7JgsjmUoDwiTY9ySBr14fV6GeiXiGDCkWtDd0REoj3A2H/93/i92nEYoyEyRhMGfQ72PBcO8z2bkYlL/UP+KUZS1mC0DI5bhzFNOBBACoaIJFJk6UyYzUI/G5rY0FgPiWe0GIUd2HNxWAxoUiG8PR784ThpWaPI7HC5sesSBPo9iv0FommFscsp7M9OdsjLXU+ILLON3HwXxqREUPGZMZLCzqxmjDoNg15RBKYJ0Ndzm9tXT7FrYzv65j/jd2pHY80KEQwO6WG2YLE7cRgz9/WIJlJiAGI2W4f0kBTuSjsZDcZHnhH/BXn0GftgcutnvaEZ2nj2zP1Tvv3mTCbY4wwMhMnSG9AZLeS68rAK+7/nPuSkYiMej4f+QJSU1kKeKxd7bi62rDD9PV6CmLDluXHbc8hOSPhDYUJ+P35/kOjQmFP8istFri0HXfow73z7bY7pJ1FVX63cF3YKW78v+2DCcu+du9y5foq2jR1omv4rf7CqkgmObDLxIL5+P6FIEL+UQGO2YbdaceQ6MBt0EOvj6plz3JDANmICEwtG4lA2fymifjHmJYIRMefpyDGbsDrzMAl7Fj5EmXO0GG25uPIdmLOTBMVYlyTCwlnrcu7b2j3eT5LHnuvAYngwF6aiElIoQiwSJhxNkMpkozeZyDEaMdscWB7mLqaVVAR/3wDhWAwpECKls2C/N46z4/j7+/EFIyTToM0R87Mbh1lDMjg0BiJxZQyYzMIH5WEz6Z8a7EQWXAMSkhQilswoc49Z9JsjBzkaIigFkAQ3eYibIw+7GK/pML4+YSN9BCIpNBYnLqdTme+yIwP0eCTkHCu5bjd2IcMTpqbE0Xf5s7cPkRk/i9pFVUwdn4fp4TzTckqZA+/evcON07vZ0iFT/R+/xeISF9qQ8FFJMpocLGYjem0WmWSceCJDttGKM9eOSfi+ezaWSRDy9Su2GvRJJLJNWB02rA4nDrPxifmXH5honJAvgCQNtZttwGS2YHM6yCFKKBhEksLKnKPNMWMSaxG7GYPylUOGRMjHgD9EWPITTGSTY7VjtYk1kRmjcgifJiYFCIWCBMRYCkZJyNmDfsDmJC9PsB9K2SUnifj78fZ66POHSWrM5LpycYgxqoni6/UipQ1YcvNxmTJEwkHFnmLJNNlGEQRH9IlMKhEjkc7GYHUqchjE9aGQTxkvUjBGIpONwWQe9F05EBXzrRQkEk8KA8QkfFeuHbNxcCzLqSiB/gFC0ShBSchlwma34cx1YsnRk50M4fffs7c0WQbh/8TcrFSOJObt6NCaTbTryMVuEL5/kF0io8FgdpDndmDWxvEPJNBbLZh1aUKKHUtEYikxOSl27HBY0CSH7DgkdBV+NQejbjBmRCqRRNbmYHU6sGpF2jJJWR/ElDWwCZPZhjvXikE/+MowkwjhH/ArfeQPxsnKsWC32rA7xVh+Wjq1QSsSa1ixNrnXF6INsQ50iM1ePEQwEFD8lDKPmcxYhf6KbYrGk4T9AwQiMaJCT/SKHxF25nBYydGlOfUvf867XX7yKupYNLeCArdYnzyYIORUjEBfDz13rnOmo5Wu+Ey+9a3XqS7OIRQKEfQHCPglwsoYMmERviDPRa7dhEF88iSniAYG7c4r7C7bhDPPOWh32jgBj5dASo/Z6aBny9/z/kEfzvJ6aueVM8FtxfCYLFJfD3fv3OBsxzY6YzP4N996g9opFoL9g77FH06SneNQ7orm5trQxgN4vQFSOhNOsTY0GR9Eeb6vZppYMIAk1gthwVKD0STGei42XZpISPRx6EEfK/7O9BD/xKPPiKBjmjRRv5c+XwyNzUWew/KILl/n/ecw3nh+SXhEkBex+NPq0Woeu5D8eU0o5ZPI2Tr0Ws2DIBDPKU4mlSAhZl6NDr3uwaZEzmQQEYue9aHDsJv9onoOu+IvWDCTUvil0aDT6x5sMOUMGR7KnzesamUyqaTCT1wo1+j06IY23J95/Fntyj42/8X38dS+RUOFyEMqFjmfpS9nUiQTUaTzH/PXH+j47T9aQenowXuOL6wvh8Xmyy+USUSJinMJg+HJnJ/Q7KNsxOHL0Lnl0+xcTpMUwZeytUoqhyefRYjImAlScjZanRbNMw4tvhgZmXQyQTKdhVavI7n7L/mt77Yz7t/+L/5k5WTcOrFq1im5H7+0sfrFBLxfOpNOkBC7aMWXDJPxZ9oaGlMxicvrv8/H8hv8VnOF8gbmZfjde+PZs+A7fPf3aihxZ5MUC1CNDs3T/HdG+G1xQDPod4SNKP2l+J2hADoPbRyFXxH1iv8Uv/JQzmA5sJ3//U+3mdZYw6zycdiUw5DHe/8exyCXW/6edelVfHPpDIofDigkfJLi+7XoNI/OJZlkjFhCHNwZlOikL8S2niLPr9T398exZmgcvxBtvrDImbTo8xSy8DfCjzzso54ZrEcm0PYD3rlezPwFr1BZIA54P2d9IGdIpRLEpSts/sd1xBtfo2HOlM8G6Rm29BllwyGiX2q1X7bve7YQwq8LE87WDua//UzPKvomSaUGAwJqdU/xlYqdJEnJWY+Wk2URq+izAWOeLd6XU0LIlRRBADXoHvKrX07lL0Et98Z9thbtU+fZr0JWMb8O2q9GSdc0ZEGyxN4fv8fl/Gm8sqCKIkeOcpjyGS+bSZNKxghe3c5PWvzMbFjMwpnj0COTSacG+00WwRt1T15DPMvu5BBd777HZXcZs+fPpdj5DFmu7eDdFh+VdfVUzx6vBB+S02KdmkLOGvItQ2uUezFUhxMI7Kugr9b5KIEXt/FUyasEBIH0VX75g04mv95M2ajcRyOtfR6h+AV+8c8HmfaNZqaI8irFrwWBeNtf8pvfaWfcH/wN31459UFwoV9D7ROXP+Tdg0U0109l3AjjS6Fh8sLP+JM//iE987/Ld0Qez/ynJdL5akRO3/iEn3aNpXZROYWjnp13OHFlLe8dnEDjonIKRr0cHL8aMl/nWtPcavk5+/PnMreihLEPJ7j8XCwJrq37Bd2jFjCvYtIwyn+d2aq6f+0IZO6w7YP9WMoqmV5RyL14dU/kkLzBlg+7sZbPoLJ8GOW/CNDMHVo/PIB5cgXTK4q4n2L5SXUkb7D1o24sUyupFOVfznO2L0Lga1NW3Xh+bbr6JVE0eYYPP+hhwbJXGJX3IEfqk6WL0Pn+Jkz1jUx5YgTel0Q3VYxfnUBafPJ1mwstf8t///ERHKv+lD/+ZjXTJorP2ocSlf/qrbxcNUT288lWHfMXTGGkSOr7//U3+Fn1zY4f8d3vb6Cn5Hf4L/9uJVVlo4feOL444VIX1rPhVgXzZkxg9FAkxKe2HjnI+tZsXqmawuhR5hcnqNrSCySQ4tLGTdwuncG0oqF8q89oPdrdwi6mMX1ywYMgXi9QYrUplcBLSyB1hdZtNxlbMpmSSSOenFrvvgIxjm/dQ6JgEiUlhfeDdn0p+qWusn3bDcZMKqWkZOSwZDmxrZ34+CJKSou+XFm+FIXUSp5EQN14qrbxYgnIMXz+FBarSfmM9Nk/mYgvAFar8knVcJ54dp1qiZeVgOw7zqaPd3Pq4hVuDUTJtuWT755C/W80M3OsczCX6a/bT44QCIBZ3Pce1pj4CgGkrtL+QSuHzl7kmjdAUp/LiBHjmLn8NRaViYBdL64D5JifQMqk3C1T7is96yc4SmASd3iUO3Lq79ePgEw8IJE05pBj0A8rPYEcDRCUB8sPy45+/aCpGqkEPp+AHCcYTKIzGDEahnPNQyYWDJHR6TEYDcMaf8NG/zLJMmyh1YLPQ0DdeD4PNfUZlYBK4KshkAorQYZEQAvlvpH4ZRmwuoYCHn01raq13iMgx5D6AoTjSTL3+WvIceRhE8FF1P2caisqAZWASkAloBJQCTwnAXXj+Zzg1MdUAioBlYBKQCWgElAJqARUAioBlYBKYHgE1I3n8DippVQCKgGVgEpAJaASUAmoBFQCKgGVgErgOQmoG8/nBKc+phJQCagEVAIqAZWASkAloBJQCagEVALDI6BuPIfHSS2lElAJqARUAioBlYBKQCWgElAJqARUAs9JQN14Pic49TGVgEpAJaASUAmoBFQCKgGVgEpAJaASGB4BdeM5PE5qKZWASkAloBJQCagEVAIqAZWASkAloBJ4TgL/D1Czf1YpfemdAAAAAElFTkSuQmCC"/>
          <p:cNvSpPr>
            <a:spLocks noChangeAspect="1" noChangeArrowheads="1"/>
          </p:cNvSpPr>
          <p:nvPr/>
        </p:nvSpPr>
        <p:spPr bwMode="auto">
          <a:xfrm>
            <a:off x="30797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4">
            <a:clrChange>
              <a:clrFrom>
                <a:srgbClr val="FFFFFF"/>
              </a:clrFrom>
              <a:clrTo>
                <a:srgbClr val="FFFFFF">
                  <a:alpha val="0"/>
                </a:srgbClr>
              </a:clrTo>
            </a:clrChange>
          </a:blip>
          <a:stretch>
            <a:fillRect/>
          </a:stretch>
        </p:blipFill>
        <p:spPr>
          <a:xfrm>
            <a:off x="460375" y="1787451"/>
            <a:ext cx="10316482" cy="2390775"/>
          </a:xfrm>
          <a:prstGeom prst="rect">
            <a:avLst/>
          </a:prstGeom>
        </p:spPr>
      </p:pic>
    </p:spTree>
    <p:extLst>
      <p:ext uri="{BB962C8B-B14F-4D97-AF65-F5344CB8AC3E}">
        <p14:creationId xmlns:p14="http://schemas.microsoft.com/office/powerpoint/2010/main" val="3954118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1107996"/>
          </a:xfrm>
          <a:prstGeom prst="rect">
            <a:avLst/>
          </a:prstGeom>
        </p:spPr>
        <p:txBody>
          <a:bodyPr wrap="square" lIns="0" tIns="0" rIns="0" bIns="0" rtlCol="0" anchor="t">
            <a:spAutoFit/>
          </a:bodyPr>
          <a:lstStyle/>
          <a:p>
            <a:r>
              <a:rPr lang="ru-RU" sz="3600" dirty="0">
                <a:solidFill>
                  <a:srgbClr val="004AAD"/>
                </a:solidFill>
                <a:latin typeface="Bookman Old Style" panose="02050604050505020204" pitchFamily="18" charset="0"/>
              </a:rPr>
              <a:t>Задача классификации ирисов Фишера-Андерсона</a:t>
            </a:r>
          </a:p>
        </p:txBody>
      </p:sp>
      <p:sp>
        <p:nvSpPr>
          <p:cNvPr id="11" name="Прямоугольник 10"/>
          <p:cNvSpPr/>
          <p:nvPr/>
        </p:nvSpPr>
        <p:spPr>
          <a:xfrm>
            <a:off x="635669" y="2285628"/>
            <a:ext cx="10542403" cy="2031325"/>
          </a:xfrm>
          <a:prstGeom prst="rect">
            <a:avLst/>
          </a:prstGeom>
        </p:spPr>
        <p:txBody>
          <a:bodyPr wrap="square">
            <a:spAutoFit/>
          </a:bodyPr>
          <a:lstStyle/>
          <a:p>
            <a:r>
              <a:rPr lang="ru-RU" dirty="0">
                <a:latin typeface="Bookman Old Style" panose="02050604050505020204" pitchFamily="18" charset="0"/>
              </a:rPr>
              <a:t>Классификаторы библиотеки </a:t>
            </a:r>
            <a:r>
              <a:rPr lang="ru-RU" dirty="0" err="1">
                <a:latin typeface="Bookman Old Style" panose="02050604050505020204" pitchFamily="18" charset="0"/>
              </a:rPr>
              <a:t>scikit-learn</a:t>
            </a:r>
            <a:r>
              <a:rPr lang="ru-RU" dirty="0">
                <a:latin typeface="Bookman Old Style" panose="02050604050505020204" pitchFamily="18" charset="0"/>
              </a:rPr>
              <a:t> рассматриваются на задаче классификации ирисов Фишера-Андерсона, описание которых дано в виде набора из данных о 150 экземплярах ириса, по 50 экземпляров из трех следующих видов:</a:t>
            </a:r>
          </a:p>
          <a:p>
            <a:endParaRPr lang="ru-RU" dirty="0">
              <a:latin typeface="Bookman Old Style" panose="02050604050505020204" pitchFamily="18" charset="0"/>
            </a:endParaRPr>
          </a:p>
          <a:p>
            <a:r>
              <a:rPr lang="ru-RU" dirty="0">
                <a:latin typeface="Bookman Old Style" panose="02050604050505020204" pitchFamily="18" charset="0"/>
              </a:rPr>
              <a:t>ирис щетинистый (</a:t>
            </a:r>
            <a:r>
              <a:rPr lang="ru-RU" dirty="0" err="1">
                <a:latin typeface="Bookman Old Style" panose="02050604050505020204" pitchFamily="18" charset="0"/>
              </a:rPr>
              <a:t>iris</a:t>
            </a:r>
            <a:r>
              <a:rPr lang="ru-RU" dirty="0">
                <a:latin typeface="Bookman Old Style" panose="02050604050505020204" pitchFamily="18" charset="0"/>
              </a:rPr>
              <a:t> </a:t>
            </a:r>
            <a:r>
              <a:rPr lang="ru-RU" dirty="0" err="1">
                <a:latin typeface="Bookman Old Style" panose="02050604050505020204" pitchFamily="18" charset="0"/>
              </a:rPr>
              <a:t>setosa</a:t>
            </a:r>
            <a:r>
              <a:rPr lang="ru-RU" dirty="0">
                <a:latin typeface="Bookman Old Style" panose="02050604050505020204" pitchFamily="18" charset="0"/>
              </a:rPr>
              <a:t>);</a:t>
            </a:r>
          </a:p>
          <a:p>
            <a:r>
              <a:rPr lang="ru-RU" dirty="0">
                <a:latin typeface="Bookman Old Style" panose="02050604050505020204" pitchFamily="18" charset="0"/>
              </a:rPr>
              <a:t>ирис </a:t>
            </a:r>
            <a:r>
              <a:rPr lang="ru-RU" dirty="0" err="1">
                <a:latin typeface="Bookman Old Style" panose="02050604050505020204" pitchFamily="18" charset="0"/>
              </a:rPr>
              <a:t>версиколор</a:t>
            </a:r>
            <a:r>
              <a:rPr lang="ru-RU" dirty="0">
                <a:latin typeface="Bookman Old Style" panose="02050604050505020204" pitchFamily="18" charset="0"/>
              </a:rPr>
              <a:t> (</a:t>
            </a:r>
            <a:r>
              <a:rPr lang="ru-RU" dirty="0" err="1">
                <a:latin typeface="Bookman Old Style" panose="02050604050505020204" pitchFamily="18" charset="0"/>
              </a:rPr>
              <a:t>iris</a:t>
            </a:r>
            <a:r>
              <a:rPr lang="ru-RU" dirty="0">
                <a:latin typeface="Bookman Old Style" panose="02050604050505020204" pitchFamily="18" charset="0"/>
              </a:rPr>
              <a:t> </a:t>
            </a:r>
            <a:r>
              <a:rPr lang="ru-RU" dirty="0" err="1">
                <a:latin typeface="Bookman Old Style" panose="02050604050505020204" pitchFamily="18" charset="0"/>
              </a:rPr>
              <a:t>versicolor</a:t>
            </a:r>
            <a:r>
              <a:rPr lang="ru-RU" dirty="0">
                <a:latin typeface="Bookman Old Style" panose="02050604050505020204" pitchFamily="18" charset="0"/>
              </a:rPr>
              <a:t>);</a:t>
            </a:r>
          </a:p>
          <a:p>
            <a:r>
              <a:rPr lang="ru-RU" dirty="0">
                <a:latin typeface="Bookman Old Style" panose="02050604050505020204" pitchFamily="18" charset="0"/>
              </a:rPr>
              <a:t>ирис виргинский (</a:t>
            </a:r>
            <a:r>
              <a:rPr lang="ru-RU" dirty="0" err="1">
                <a:latin typeface="Bookman Old Style" panose="02050604050505020204" pitchFamily="18" charset="0"/>
              </a:rPr>
              <a:t>iris</a:t>
            </a:r>
            <a:r>
              <a:rPr lang="ru-RU" dirty="0">
                <a:latin typeface="Bookman Old Style" panose="02050604050505020204" pitchFamily="18" charset="0"/>
              </a:rPr>
              <a:t> </a:t>
            </a:r>
            <a:r>
              <a:rPr lang="ru-RU" dirty="0" err="1">
                <a:latin typeface="Bookman Old Style" panose="02050604050505020204" pitchFamily="18" charset="0"/>
              </a:rPr>
              <a:t>virginica</a:t>
            </a:r>
            <a:r>
              <a:rPr lang="ru-RU" dirty="0">
                <a:latin typeface="Bookman Old Style" panose="02050604050505020204" pitchFamily="18" charset="0"/>
              </a:rPr>
              <a:t>).</a:t>
            </a:r>
          </a:p>
        </p:txBody>
      </p:sp>
      <p:pic>
        <p:nvPicPr>
          <p:cNvPr id="12" name="Рисунок 11"/>
          <p:cNvPicPr>
            <a:picLocks noChangeAspect="1"/>
          </p:cNvPicPr>
          <p:nvPr/>
        </p:nvPicPr>
        <p:blipFill>
          <a:blip r:embed="rId4"/>
          <a:stretch>
            <a:fillRect/>
          </a:stretch>
        </p:blipFill>
        <p:spPr>
          <a:xfrm>
            <a:off x="2210869" y="4514850"/>
            <a:ext cx="8124825" cy="2343150"/>
          </a:xfrm>
          <a:prstGeom prst="rect">
            <a:avLst/>
          </a:prstGeom>
        </p:spPr>
      </p:pic>
    </p:spTree>
    <p:extLst>
      <p:ext uri="{BB962C8B-B14F-4D97-AF65-F5344CB8AC3E}">
        <p14:creationId xmlns:p14="http://schemas.microsoft.com/office/powerpoint/2010/main" val="10297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1107996"/>
          </a:xfrm>
          <a:prstGeom prst="rect">
            <a:avLst/>
          </a:prstGeom>
        </p:spPr>
        <p:txBody>
          <a:bodyPr wrap="square" lIns="0" tIns="0" rIns="0" bIns="0" rtlCol="0" anchor="t">
            <a:spAutoFit/>
          </a:bodyPr>
          <a:lstStyle/>
          <a:p>
            <a:r>
              <a:rPr lang="ru-RU" sz="3600" dirty="0">
                <a:solidFill>
                  <a:srgbClr val="004AAD"/>
                </a:solidFill>
                <a:latin typeface="Bookman Old Style" panose="02050604050505020204" pitchFamily="18" charset="0"/>
              </a:rPr>
              <a:t>Задача классификации ирисов Фишера-Андерсона</a:t>
            </a:r>
          </a:p>
        </p:txBody>
      </p:sp>
      <p:sp>
        <p:nvSpPr>
          <p:cNvPr id="11" name="Прямоугольник 10"/>
          <p:cNvSpPr/>
          <p:nvPr/>
        </p:nvSpPr>
        <p:spPr>
          <a:xfrm>
            <a:off x="635670" y="1921262"/>
            <a:ext cx="10542403" cy="1477328"/>
          </a:xfrm>
          <a:prstGeom prst="rect">
            <a:avLst/>
          </a:prstGeom>
        </p:spPr>
        <p:txBody>
          <a:bodyPr wrap="square">
            <a:spAutoFit/>
          </a:bodyPr>
          <a:lstStyle/>
          <a:p>
            <a:r>
              <a:rPr lang="ru-RU" dirty="0">
                <a:latin typeface="Bookman Old Style" panose="02050604050505020204" pitchFamily="18" charset="0"/>
              </a:rPr>
              <a:t>Для каждого экземпляра приведены 4 следующие характеристики (в см.):</a:t>
            </a:r>
          </a:p>
          <a:p>
            <a:pPr marL="285750" indent="-285750">
              <a:buFont typeface="Arial" panose="020B0604020202020204" pitchFamily="34" charset="0"/>
              <a:buChar char="•"/>
            </a:pPr>
            <a:r>
              <a:rPr lang="ru-RU" dirty="0">
                <a:latin typeface="Bookman Old Style" panose="02050604050505020204" pitchFamily="18" charset="0"/>
              </a:rPr>
              <a:t>длина чашелистика – отдельной части чашечки цветка (</a:t>
            </a:r>
            <a:r>
              <a:rPr lang="ru-RU" dirty="0" err="1">
                <a:latin typeface="Bookman Old Style" panose="02050604050505020204" pitchFamily="18" charset="0"/>
              </a:rPr>
              <a:t>sepal</a:t>
            </a:r>
            <a:r>
              <a:rPr lang="ru-RU" dirty="0">
                <a:latin typeface="Bookman Old Style" panose="02050604050505020204" pitchFamily="18" charset="0"/>
              </a:rPr>
              <a:t> </a:t>
            </a:r>
            <a:r>
              <a:rPr lang="ru-RU" dirty="0" err="1">
                <a:latin typeface="Bookman Old Style" panose="02050604050505020204" pitchFamily="18" charset="0"/>
              </a:rPr>
              <a:t>length</a:t>
            </a:r>
            <a:r>
              <a:rPr lang="ru-RU" dirty="0">
                <a:latin typeface="Bookman Old Style" panose="02050604050505020204" pitchFamily="18" charset="0"/>
              </a:rPr>
              <a:t>);</a:t>
            </a:r>
          </a:p>
          <a:p>
            <a:pPr marL="285750" indent="-285750">
              <a:buFont typeface="Arial" panose="020B0604020202020204" pitchFamily="34" charset="0"/>
              <a:buChar char="•"/>
            </a:pPr>
            <a:r>
              <a:rPr lang="ru-RU" dirty="0">
                <a:latin typeface="Bookman Old Style" panose="02050604050505020204" pitchFamily="18" charset="0"/>
              </a:rPr>
              <a:t>ширина чашелистика (</a:t>
            </a:r>
            <a:r>
              <a:rPr lang="ru-RU" dirty="0" err="1">
                <a:latin typeface="Bookman Old Style" panose="02050604050505020204" pitchFamily="18" charset="0"/>
              </a:rPr>
              <a:t>sepal</a:t>
            </a:r>
            <a:r>
              <a:rPr lang="ru-RU" dirty="0">
                <a:latin typeface="Bookman Old Style" panose="02050604050505020204" pitchFamily="18" charset="0"/>
              </a:rPr>
              <a:t> </a:t>
            </a:r>
            <a:r>
              <a:rPr lang="ru-RU" dirty="0" err="1">
                <a:latin typeface="Bookman Old Style" panose="02050604050505020204" pitchFamily="18" charset="0"/>
              </a:rPr>
              <a:t>width</a:t>
            </a:r>
            <a:r>
              <a:rPr lang="ru-RU" dirty="0">
                <a:latin typeface="Bookman Old Style" panose="02050604050505020204" pitchFamily="18" charset="0"/>
              </a:rPr>
              <a:t>);</a:t>
            </a:r>
          </a:p>
          <a:p>
            <a:pPr marL="285750" indent="-285750">
              <a:buFont typeface="Arial" panose="020B0604020202020204" pitchFamily="34" charset="0"/>
              <a:buChar char="•"/>
            </a:pPr>
            <a:r>
              <a:rPr lang="ru-RU" dirty="0">
                <a:latin typeface="Bookman Old Style" panose="02050604050505020204" pitchFamily="18" charset="0"/>
              </a:rPr>
              <a:t>длина лепестка (</a:t>
            </a:r>
            <a:r>
              <a:rPr lang="ru-RU" dirty="0" err="1">
                <a:latin typeface="Bookman Old Style" panose="02050604050505020204" pitchFamily="18" charset="0"/>
              </a:rPr>
              <a:t>petal</a:t>
            </a:r>
            <a:r>
              <a:rPr lang="ru-RU" dirty="0">
                <a:latin typeface="Bookman Old Style" panose="02050604050505020204" pitchFamily="18" charset="0"/>
              </a:rPr>
              <a:t> </a:t>
            </a:r>
            <a:r>
              <a:rPr lang="ru-RU" dirty="0" err="1">
                <a:latin typeface="Bookman Old Style" panose="02050604050505020204" pitchFamily="18" charset="0"/>
              </a:rPr>
              <a:t>length</a:t>
            </a:r>
            <a:r>
              <a:rPr lang="ru-RU" dirty="0">
                <a:latin typeface="Bookman Old Style" panose="02050604050505020204" pitchFamily="18" charset="0"/>
              </a:rPr>
              <a:t>).</a:t>
            </a:r>
          </a:p>
          <a:p>
            <a:pPr marL="285750" indent="-285750">
              <a:buFont typeface="Arial" panose="020B0604020202020204" pitchFamily="34" charset="0"/>
              <a:buChar char="•"/>
            </a:pPr>
            <a:r>
              <a:rPr lang="ru-RU" dirty="0">
                <a:latin typeface="Bookman Old Style" panose="02050604050505020204" pitchFamily="18" charset="0"/>
              </a:rPr>
              <a:t>ширина лепестка (</a:t>
            </a:r>
            <a:r>
              <a:rPr lang="ru-RU" dirty="0" err="1">
                <a:latin typeface="Bookman Old Style" panose="02050604050505020204" pitchFamily="18" charset="0"/>
              </a:rPr>
              <a:t>petal</a:t>
            </a:r>
            <a:r>
              <a:rPr lang="ru-RU" dirty="0">
                <a:latin typeface="Bookman Old Style" panose="02050604050505020204" pitchFamily="18" charset="0"/>
              </a:rPr>
              <a:t> </a:t>
            </a:r>
            <a:r>
              <a:rPr lang="ru-RU" dirty="0" err="1">
                <a:latin typeface="Bookman Old Style" panose="02050604050505020204" pitchFamily="18" charset="0"/>
              </a:rPr>
              <a:t>width</a:t>
            </a:r>
            <a:r>
              <a:rPr lang="ru-RU" dirty="0">
                <a:latin typeface="Bookman Old Style" panose="02050604050505020204" pitchFamily="18" charset="0"/>
              </a:rPr>
              <a:t>).</a:t>
            </a:r>
          </a:p>
        </p:txBody>
      </p:sp>
      <p:pic>
        <p:nvPicPr>
          <p:cNvPr id="2" name="Рисунок 1"/>
          <p:cNvPicPr>
            <a:picLocks noChangeAspect="1"/>
          </p:cNvPicPr>
          <p:nvPr/>
        </p:nvPicPr>
        <p:blipFill>
          <a:blip r:embed="rId4"/>
          <a:stretch>
            <a:fillRect/>
          </a:stretch>
        </p:blipFill>
        <p:spPr>
          <a:xfrm>
            <a:off x="2902317" y="3398590"/>
            <a:ext cx="5849798" cy="2667508"/>
          </a:xfrm>
          <a:prstGeom prst="rect">
            <a:avLst/>
          </a:prstGeom>
        </p:spPr>
      </p:pic>
      <p:sp>
        <p:nvSpPr>
          <p:cNvPr id="3" name="Прямоугольник 2"/>
          <p:cNvSpPr/>
          <p:nvPr/>
        </p:nvSpPr>
        <p:spPr>
          <a:xfrm>
            <a:off x="635670" y="6066098"/>
            <a:ext cx="10775669" cy="646331"/>
          </a:xfrm>
          <a:prstGeom prst="rect">
            <a:avLst/>
          </a:prstGeom>
        </p:spPr>
        <p:txBody>
          <a:bodyPr wrap="square">
            <a:spAutoFit/>
          </a:bodyPr>
          <a:lstStyle/>
          <a:p>
            <a:r>
              <a:rPr lang="ru-RU" dirty="0">
                <a:solidFill>
                  <a:srgbClr val="000000"/>
                </a:solidFill>
                <a:latin typeface="Bookman Old Style" panose="02050604050505020204" pitchFamily="18" charset="0"/>
              </a:rPr>
              <a:t>На основании этого набора данных требуется построить правило классификации, определяющее класс растения.</a:t>
            </a:r>
            <a:endParaRPr lang="ru-RU" dirty="0">
              <a:latin typeface="Bookman Old Style" panose="02050604050505020204" pitchFamily="18" charset="0"/>
            </a:endParaRPr>
          </a:p>
        </p:txBody>
      </p:sp>
    </p:spTree>
    <p:extLst>
      <p:ext uri="{BB962C8B-B14F-4D97-AF65-F5344CB8AC3E}">
        <p14:creationId xmlns:p14="http://schemas.microsoft.com/office/powerpoint/2010/main" val="42641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1107996"/>
          </a:xfrm>
          <a:prstGeom prst="rect">
            <a:avLst/>
          </a:prstGeom>
        </p:spPr>
        <p:txBody>
          <a:bodyPr wrap="square" lIns="0" tIns="0" rIns="0" bIns="0" rtlCol="0" anchor="t">
            <a:spAutoFit/>
          </a:bodyPr>
          <a:lstStyle/>
          <a:p>
            <a:r>
              <a:rPr lang="ru-RU" sz="3600" dirty="0">
                <a:solidFill>
                  <a:srgbClr val="004AAD"/>
                </a:solidFill>
                <a:latin typeface="Bookman Old Style" panose="02050604050505020204" pitchFamily="18" charset="0"/>
              </a:rPr>
              <a:t>Задача классификации ирисов Фишера-Андерсона</a:t>
            </a:r>
          </a:p>
        </p:txBody>
      </p:sp>
      <p:pic>
        <p:nvPicPr>
          <p:cNvPr id="2052" name="Picture 4" descr="Ирисы Фишера-Андерсона"/>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440" y="1967068"/>
            <a:ext cx="3771900" cy="3648076"/>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p:cNvPicPr>
            <a:picLocks noChangeAspect="1"/>
          </p:cNvPicPr>
          <p:nvPr/>
        </p:nvPicPr>
        <p:blipFill>
          <a:blip r:embed="rId5"/>
          <a:stretch>
            <a:fillRect/>
          </a:stretch>
        </p:blipFill>
        <p:spPr>
          <a:xfrm>
            <a:off x="5346440" y="1556896"/>
            <a:ext cx="5293376" cy="4088447"/>
          </a:xfrm>
          <a:prstGeom prst="rect">
            <a:avLst/>
          </a:prstGeom>
        </p:spPr>
      </p:pic>
      <p:sp>
        <p:nvSpPr>
          <p:cNvPr id="8" name="Прямоугольник 7"/>
          <p:cNvSpPr/>
          <p:nvPr/>
        </p:nvSpPr>
        <p:spPr>
          <a:xfrm>
            <a:off x="5570374" y="5809724"/>
            <a:ext cx="4693299"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rPr>
              <a:t>iris = </a:t>
            </a:r>
            <a:r>
              <a:rPr lang="en-US" dirty="0" err="1">
                <a:latin typeface="Consolas" panose="020B0609020204030204" pitchFamily="49" charset="0"/>
              </a:rPr>
              <a:t>pandas.read_csv</a:t>
            </a:r>
            <a:r>
              <a:rPr lang="en-US" dirty="0">
                <a:latin typeface="Consolas" panose="020B0609020204030204" pitchFamily="49" charset="0"/>
              </a:rPr>
              <a:t>('iris.csv')</a:t>
            </a:r>
          </a:p>
          <a:p>
            <a:r>
              <a:rPr lang="en-US" dirty="0" err="1">
                <a:latin typeface="Consolas" panose="020B0609020204030204" pitchFamily="49" charset="0"/>
              </a:rPr>
              <a:t>iris.hist</a:t>
            </a:r>
            <a:r>
              <a:rPr lang="en-US" dirty="0">
                <a:latin typeface="Consolas" panose="020B0609020204030204" pitchFamily="49" charset="0"/>
              </a:rPr>
              <a:t>()</a:t>
            </a:r>
          </a:p>
          <a:p>
            <a:r>
              <a:rPr lang="en-US" dirty="0" err="1">
                <a:latin typeface="Consolas" panose="020B0609020204030204" pitchFamily="49" charset="0"/>
              </a:rPr>
              <a:t>plt.show</a:t>
            </a:r>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56032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Реализация метода</a:t>
            </a:r>
          </a:p>
        </p:txBody>
      </p:sp>
      <p:sp>
        <p:nvSpPr>
          <p:cNvPr id="10" name="Прямоугольник 9"/>
          <p:cNvSpPr/>
          <p:nvPr/>
        </p:nvSpPr>
        <p:spPr>
          <a:xfrm>
            <a:off x="709127" y="1530221"/>
            <a:ext cx="10562253" cy="40401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latin typeface="Consolas" panose="020B0609020204030204" pitchFamily="49" charset="0"/>
              </a:rPr>
              <a:t>import </a:t>
            </a:r>
            <a:r>
              <a:rPr lang="en-US" dirty="0" err="1">
                <a:latin typeface="Consolas" panose="020B0609020204030204" pitchFamily="49" charset="0"/>
              </a:rPr>
              <a:t>numpy</a:t>
            </a:r>
            <a:r>
              <a:rPr lang="en-US" dirty="0">
                <a:latin typeface="Consolas" panose="020B0609020204030204" pitchFamily="49" charset="0"/>
              </a:rPr>
              <a:t> as np</a:t>
            </a:r>
          </a:p>
          <a:p>
            <a:r>
              <a:rPr lang="en-US" dirty="0">
                <a:latin typeface="Consolas" panose="020B0609020204030204" pitchFamily="49" charset="0"/>
              </a:rPr>
              <a:t>import pandas as </a:t>
            </a:r>
            <a:r>
              <a:rPr lang="en-US" dirty="0" err="1">
                <a:latin typeface="Consolas" panose="020B0609020204030204" pitchFamily="49" charset="0"/>
              </a:rPr>
              <a:t>pd</a:t>
            </a:r>
            <a:endParaRPr lang="en-US" dirty="0">
              <a:latin typeface="Consolas" panose="020B0609020204030204" pitchFamily="49" charset="0"/>
            </a:endParaRPr>
          </a:p>
          <a:p>
            <a:r>
              <a:rPr lang="en-US" dirty="0">
                <a:latin typeface="Consolas" panose="020B0609020204030204" pitchFamily="49" charset="0"/>
              </a:rPr>
              <a:t>from </a:t>
            </a:r>
            <a:r>
              <a:rPr lang="en-US" dirty="0" err="1">
                <a:latin typeface="Consolas" panose="020B0609020204030204" pitchFamily="49" charset="0"/>
              </a:rPr>
              <a:t>sklearn.datasets</a:t>
            </a:r>
            <a:r>
              <a:rPr lang="en-US" dirty="0">
                <a:latin typeface="Consolas" panose="020B0609020204030204" pitchFamily="49" charset="0"/>
              </a:rPr>
              <a:t> import </a:t>
            </a:r>
            <a:r>
              <a:rPr lang="en-US" dirty="0" err="1">
                <a:latin typeface="Consolas" panose="020B0609020204030204" pitchFamily="49" charset="0"/>
              </a:rPr>
              <a:t>load_iris</a:t>
            </a:r>
            <a:endParaRPr lang="en-US" dirty="0">
              <a:latin typeface="Consolas" panose="020B0609020204030204" pitchFamily="49" charset="0"/>
            </a:endParaRPr>
          </a:p>
          <a:p>
            <a:r>
              <a:rPr lang="en-US" dirty="0">
                <a:latin typeface="Consolas" panose="020B0609020204030204" pitchFamily="49" charset="0"/>
              </a:rPr>
              <a:t>from </a:t>
            </a:r>
            <a:r>
              <a:rPr lang="en-US" dirty="0" err="1">
                <a:latin typeface="Consolas" panose="020B0609020204030204" pitchFamily="49" charset="0"/>
              </a:rPr>
              <a:t>scipy.stats</a:t>
            </a:r>
            <a:r>
              <a:rPr lang="en-US" dirty="0">
                <a:latin typeface="Consolas" panose="020B0609020204030204" pitchFamily="49" charset="0"/>
              </a:rPr>
              <a:t> import norm</a:t>
            </a:r>
          </a:p>
          <a:p>
            <a:r>
              <a:rPr lang="en-US" dirty="0">
                <a:latin typeface="Consolas" panose="020B0609020204030204" pitchFamily="49" charset="0"/>
              </a:rPr>
              <a:t> </a:t>
            </a:r>
          </a:p>
          <a:p>
            <a:r>
              <a:rPr lang="en-US" dirty="0">
                <a:latin typeface="Consolas" panose="020B0609020204030204" pitchFamily="49" charset="0"/>
              </a:rPr>
              <a:t>data = </a:t>
            </a:r>
            <a:r>
              <a:rPr lang="en-US" dirty="0" err="1">
                <a:latin typeface="Consolas" panose="020B0609020204030204" pitchFamily="49" charset="0"/>
              </a:rPr>
              <a:t>load_iris</a:t>
            </a:r>
            <a:r>
              <a:rPr lang="en-US" dirty="0">
                <a:latin typeface="Consolas" panose="020B0609020204030204" pitchFamily="49" charset="0"/>
              </a:rPr>
              <a:t>()</a:t>
            </a:r>
          </a:p>
          <a:p>
            <a:r>
              <a:rPr lang="en-US" dirty="0">
                <a:latin typeface="Consolas" panose="020B0609020204030204" pitchFamily="49" charset="0"/>
              </a:rPr>
              <a:t>X, y, </a:t>
            </a:r>
            <a:r>
              <a:rPr lang="en-US" dirty="0" err="1">
                <a:latin typeface="Consolas" panose="020B0609020204030204" pitchFamily="49" charset="0"/>
              </a:rPr>
              <a:t>column_names</a:t>
            </a:r>
            <a:r>
              <a:rPr lang="en-US" dirty="0">
                <a:latin typeface="Consolas" panose="020B0609020204030204" pitchFamily="49" charset="0"/>
              </a:rPr>
              <a:t> = data['data'], data['target'], data['</a:t>
            </a:r>
            <a:r>
              <a:rPr lang="en-US" dirty="0" err="1">
                <a:latin typeface="Consolas" panose="020B0609020204030204" pitchFamily="49" charset="0"/>
              </a:rPr>
              <a:t>feature_names</a:t>
            </a:r>
            <a:r>
              <a:rPr lang="en-US" dirty="0">
                <a:latin typeface="Consolas" panose="020B0609020204030204" pitchFamily="49" charset="0"/>
              </a:rPr>
              <a:t>']</a:t>
            </a:r>
          </a:p>
          <a:p>
            <a:r>
              <a:rPr lang="en-US" dirty="0">
                <a:latin typeface="Consolas" panose="020B0609020204030204" pitchFamily="49" charset="0"/>
              </a:rPr>
              <a:t>X = </a:t>
            </a:r>
            <a:r>
              <a:rPr lang="en-US" dirty="0" err="1">
                <a:latin typeface="Consolas" panose="020B0609020204030204" pitchFamily="49" charset="0"/>
              </a:rPr>
              <a:t>pd.DataFrame</a:t>
            </a:r>
            <a:r>
              <a:rPr lang="en-US" dirty="0">
                <a:latin typeface="Consolas" panose="020B0609020204030204" pitchFamily="49" charset="0"/>
              </a:rPr>
              <a:t>(X, columns = </a:t>
            </a:r>
            <a:r>
              <a:rPr lang="en-US" dirty="0" err="1">
                <a:latin typeface="Consolas" panose="020B0609020204030204" pitchFamily="49" charset="0"/>
              </a:rPr>
              <a:t>column_names</a:t>
            </a:r>
            <a:r>
              <a:rPr lang="en-US" dirty="0">
                <a:latin typeface="Consolas" panose="020B0609020204030204" pitchFamily="49" charset="0"/>
              </a:rPr>
              <a:t>)</a:t>
            </a:r>
          </a:p>
          <a:p>
            <a:r>
              <a:rPr lang="en-US" dirty="0">
                <a:latin typeface="Consolas" panose="020B0609020204030204" pitchFamily="49" charset="0"/>
              </a:rPr>
              <a:t> </a:t>
            </a:r>
          </a:p>
          <a:p>
            <a:r>
              <a:rPr lang="en-US" dirty="0">
                <a:solidFill>
                  <a:schemeClr val="bg1">
                    <a:lumMod val="85000"/>
                  </a:schemeClr>
                </a:solidFill>
                <a:latin typeface="Consolas" panose="020B0609020204030204" pitchFamily="49" charset="0"/>
              </a:rPr>
              <a:t>### </a:t>
            </a:r>
            <a:r>
              <a:rPr lang="ru-RU" dirty="0">
                <a:solidFill>
                  <a:schemeClr val="bg1">
                    <a:lumMod val="85000"/>
                  </a:schemeClr>
                </a:solidFill>
                <a:latin typeface="Consolas" panose="020B0609020204030204" pitchFamily="49" charset="0"/>
              </a:rPr>
              <a:t>Разбиваем данные</a:t>
            </a:r>
          </a:p>
          <a:p>
            <a:r>
              <a:rPr lang="en-US" dirty="0">
                <a:latin typeface="Consolas" panose="020B0609020204030204" pitchFamily="49" charset="0"/>
              </a:rPr>
              <a:t>from </a:t>
            </a:r>
            <a:r>
              <a:rPr lang="en-US" dirty="0" err="1">
                <a:latin typeface="Consolas" panose="020B0609020204030204" pitchFamily="49" charset="0"/>
              </a:rPr>
              <a:t>sklearn.model_selection</a:t>
            </a:r>
            <a:r>
              <a:rPr lang="en-US" dirty="0">
                <a:latin typeface="Consolas" panose="020B0609020204030204" pitchFamily="49" charset="0"/>
              </a:rPr>
              <a:t> import </a:t>
            </a:r>
            <a:r>
              <a:rPr lang="en-US" dirty="0" err="1">
                <a:latin typeface="Consolas" panose="020B0609020204030204" pitchFamily="49" charset="0"/>
              </a:rPr>
              <a:t>train_test_split</a:t>
            </a:r>
            <a:endParaRPr lang="en-US" dirty="0">
              <a:latin typeface="Consolas" panose="020B0609020204030204" pitchFamily="49" charset="0"/>
            </a:endParaRPr>
          </a:p>
          <a:p>
            <a:r>
              <a:rPr lang="en-US" dirty="0" err="1">
                <a:latin typeface="Consolas" panose="020B0609020204030204" pitchFamily="49" charset="0"/>
              </a:rPr>
              <a:t>X_train</a:t>
            </a:r>
            <a:r>
              <a:rPr lang="en-US" dirty="0">
                <a:latin typeface="Consolas" panose="020B0609020204030204" pitchFamily="49" charset="0"/>
              </a:rPr>
              <a:t>, </a:t>
            </a:r>
            <a:r>
              <a:rPr lang="en-US" dirty="0" err="1">
                <a:latin typeface="Consolas" panose="020B0609020204030204" pitchFamily="49" charset="0"/>
              </a:rPr>
              <a:t>X_val</a:t>
            </a:r>
            <a:r>
              <a:rPr lang="en-US" dirty="0">
                <a:latin typeface="Consolas" panose="020B0609020204030204" pitchFamily="49" charset="0"/>
              </a:rPr>
              <a:t>, </a:t>
            </a:r>
            <a:r>
              <a:rPr lang="en-US" dirty="0" err="1">
                <a:latin typeface="Consolas" panose="020B0609020204030204" pitchFamily="49" charset="0"/>
              </a:rPr>
              <a:t>y_train</a:t>
            </a:r>
            <a:r>
              <a:rPr lang="en-US" dirty="0">
                <a:latin typeface="Consolas" panose="020B0609020204030204" pitchFamily="49" charset="0"/>
              </a:rPr>
              <a:t>, </a:t>
            </a:r>
            <a:r>
              <a:rPr lang="en-US" dirty="0" err="1">
                <a:latin typeface="Consolas" panose="020B0609020204030204" pitchFamily="49" charset="0"/>
              </a:rPr>
              <a:t>y_val</a:t>
            </a:r>
            <a:r>
              <a:rPr lang="en-US" dirty="0">
                <a:latin typeface="Consolas" panose="020B0609020204030204" pitchFamily="49" charset="0"/>
              </a:rPr>
              <a:t> = </a:t>
            </a:r>
            <a:r>
              <a:rPr lang="en-US" dirty="0" err="1">
                <a:latin typeface="Consolas" panose="020B0609020204030204" pitchFamily="49" charset="0"/>
              </a:rPr>
              <a:t>train_test_split</a:t>
            </a:r>
            <a:r>
              <a:rPr lang="en-US" dirty="0">
                <a:latin typeface="Consolas" panose="020B0609020204030204" pitchFamily="49" charset="0"/>
              </a:rPr>
              <a:t>(X, y, </a:t>
            </a:r>
            <a:r>
              <a:rPr lang="en-US" dirty="0" err="1">
                <a:latin typeface="Consolas" panose="020B0609020204030204" pitchFamily="49" charset="0"/>
              </a:rPr>
              <a:t>random_state</a:t>
            </a:r>
            <a:r>
              <a:rPr lang="en-US" dirty="0">
                <a:latin typeface="Consolas" panose="020B0609020204030204" pitchFamily="49" charset="0"/>
              </a:rPr>
              <a:t>=44)</a:t>
            </a:r>
          </a:p>
          <a:p>
            <a:r>
              <a:rPr lang="en-US" dirty="0">
                <a:latin typeface="Consolas" panose="020B0609020204030204" pitchFamily="49" charset="0"/>
              </a:rPr>
              <a:t> </a:t>
            </a:r>
          </a:p>
        </p:txBody>
      </p:sp>
    </p:spTree>
    <p:extLst>
      <p:ext uri="{BB962C8B-B14F-4D97-AF65-F5344CB8AC3E}">
        <p14:creationId xmlns:p14="http://schemas.microsoft.com/office/powerpoint/2010/main" val="181910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Реализация метода</a:t>
            </a:r>
          </a:p>
        </p:txBody>
      </p:sp>
      <p:sp>
        <p:nvSpPr>
          <p:cNvPr id="10" name="Прямоугольник 9"/>
          <p:cNvSpPr/>
          <p:nvPr/>
        </p:nvSpPr>
        <p:spPr>
          <a:xfrm>
            <a:off x="709127" y="1530221"/>
            <a:ext cx="10487608" cy="48519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bg1">
                    <a:lumMod val="75000"/>
                  </a:schemeClr>
                </a:solidFill>
                <a:latin typeface="Consolas" panose="020B0609020204030204" pitchFamily="49" charset="0"/>
              </a:rPr>
              <a:t>### </a:t>
            </a:r>
            <a:r>
              <a:rPr lang="ru-RU" dirty="0">
                <a:solidFill>
                  <a:schemeClr val="bg1">
                    <a:lumMod val="75000"/>
                  </a:schemeClr>
                </a:solidFill>
                <a:latin typeface="Consolas" panose="020B0609020204030204" pitchFamily="49" charset="0"/>
              </a:rPr>
              <a:t>Вычисляем среднее арифметическое</a:t>
            </a:r>
            <a:endParaRPr lang="ru-RU" dirty="0">
              <a:solidFill>
                <a:schemeClr val="tx1"/>
              </a:solidFill>
              <a:latin typeface="Consolas" panose="020B0609020204030204" pitchFamily="49" charset="0"/>
            </a:endParaRPr>
          </a:p>
          <a:p>
            <a:r>
              <a:rPr lang="en-US" dirty="0">
                <a:solidFill>
                  <a:schemeClr val="tx1"/>
                </a:solidFill>
                <a:latin typeface="Consolas" panose="020B0609020204030204" pitchFamily="49" charset="0"/>
              </a:rPr>
              <a:t>means = </a:t>
            </a:r>
            <a:r>
              <a:rPr lang="en-US" dirty="0" err="1">
                <a:solidFill>
                  <a:schemeClr val="tx1"/>
                </a:solidFill>
                <a:latin typeface="Consolas" panose="020B0609020204030204" pitchFamily="49" charset="0"/>
              </a:rPr>
              <a:t>X_train.groupby</a:t>
            </a:r>
            <a:r>
              <a:rPr lang="en-US" dirty="0">
                <a:solidFill>
                  <a:schemeClr val="tx1"/>
                </a:solidFill>
                <a:latin typeface="Consolas" panose="020B0609020204030204" pitchFamily="49" charset="0"/>
              </a:rPr>
              <a:t>(</a:t>
            </a:r>
            <a:r>
              <a:rPr lang="en-US" dirty="0" err="1">
                <a:solidFill>
                  <a:schemeClr val="tx1"/>
                </a:solidFill>
                <a:latin typeface="Consolas" panose="020B0609020204030204" pitchFamily="49" charset="0"/>
              </a:rPr>
              <a:t>y_train</a:t>
            </a:r>
            <a:r>
              <a:rPr lang="en-US" dirty="0">
                <a:solidFill>
                  <a:schemeClr val="tx1"/>
                </a:solidFill>
                <a:latin typeface="Consolas" panose="020B0609020204030204" pitchFamily="49" charset="0"/>
              </a:rPr>
              <a:t>).apply(</a:t>
            </a:r>
            <a:r>
              <a:rPr lang="en-US" dirty="0" err="1">
                <a:solidFill>
                  <a:schemeClr val="tx1"/>
                </a:solidFill>
                <a:latin typeface="Consolas" panose="020B0609020204030204" pitchFamily="49" charset="0"/>
              </a:rPr>
              <a:t>np.mean</a:t>
            </a:r>
            <a:r>
              <a:rPr lang="en-US" dirty="0">
                <a:solidFill>
                  <a:schemeClr val="tx1"/>
                </a:solidFill>
                <a:latin typeface="Consolas" panose="020B0609020204030204" pitchFamily="49" charset="0"/>
              </a:rPr>
              <a:t>)</a:t>
            </a:r>
          </a:p>
          <a:p>
            <a:endParaRPr lang="ru-RU" dirty="0">
              <a:latin typeface="Consolas" panose="020B0609020204030204" pitchFamily="49" charset="0"/>
            </a:endParaRPr>
          </a:p>
          <a:p>
            <a:r>
              <a:rPr lang="en-US" dirty="0">
                <a:solidFill>
                  <a:schemeClr val="bg1">
                    <a:lumMod val="75000"/>
                  </a:schemeClr>
                </a:solidFill>
                <a:latin typeface="Consolas" panose="020B0609020204030204" pitchFamily="49" charset="0"/>
              </a:rPr>
              <a:t>### </a:t>
            </a:r>
            <a:r>
              <a:rPr lang="ru-RU" dirty="0">
                <a:solidFill>
                  <a:schemeClr val="bg1">
                    <a:lumMod val="75000"/>
                  </a:schemeClr>
                </a:solidFill>
                <a:latin typeface="Consolas" panose="020B0609020204030204" pitchFamily="49" charset="0"/>
              </a:rPr>
              <a:t>Вычисляем стандартное отклонение – это мера, на которую элементы набора отклоняются или расходятся от среднего значения</a:t>
            </a:r>
          </a:p>
          <a:p>
            <a:r>
              <a:rPr lang="en-US" dirty="0" err="1">
                <a:latin typeface="Consolas" panose="020B0609020204030204" pitchFamily="49" charset="0"/>
              </a:rPr>
              <a:t>stds</a:t>
            </a:r>
            <a:r>
              <a:rPr lang="en-US" dirty="0">
                <a:latin typeface="Consolas" panose="020B0609020204030204" pitchFamily="49" charset="0"/>
              </a:rPr>
              <a:t> = </a:t>
            </a:r>
            <a:r>
              <a:rPr lang="en-US" dirty="0" err="1">
                <a:latin typeface="Consolas" panose="020B0609020204030204" pitchFamily="49" charset="0"/>
              </a:rPr>
              <a:t>X_train.groupby</a:t>
            </a:r>
            <a:r>
              <a:rPr lang="en-US" dirty="0">
                <a:latin typeface="Consolas" panose="020B0609020204030204" pitchFamily="49" charset="0"/>
              </a:rPr>
              <a:t>(</a:t>
            </a:r>
            <a:r>
              <a:rPr lang="en-US" dirty="0" err="1">
                <a:latin typeface="Consolas" panose="020B0609020204030204" pitchFamily="49" charset="0"/>
              </a:rPr>
              <a:t>y_train</a:t>
            </a:r>
            <a:r>
              <a:rPr lang="en-US" dirty="0">
                <a:latin typeface="Consolas" panose="020B0609020204030204" pitchFamily="49" charset="0"/>
              </a:rPr>
              <a:t>).apply(</a:t>
            </a:r>
            <a:r>
              <a:rPr lang="en-US" dirty="0" err="1">
                <a:latin typeface="Consolas" panose="020B0609020204030204" pitchFamily="49" charset="0"/>
              </a:rPr>
              <a:t>np.std</a:t>
            </a:r>
            <a:r>
              <a:rPr lang="en-US" dirty="0">
                <a:latin typeface="Consolas" panose="020B0609020204030204" pitchFamily="49" charset="0"/>
              </a:rPr>
              <a:t>) </a:t>
            </a:r>
            <a:endParaRPr lang="ru-RU" dirty="0">
              <a:latin typeface="Consolas" panose="020B0609020204030204" pitchFamily="49" charset="0"/>
            </a:endParaRPr>
          </a:p>
          <a:p>
            <a:endParaRPr lang="en-US" dirty="0">
              <a:latin typeface="Consolas" panose="020B0609020204030204" pitchFamily="49" charset="0"/>
            </a:endParaRPr>
          </a:p>
          <a:p>
            <a:endParaRPr lang="en-US" dirty="0">
              <a:solidFill>
                <a:schemeClr val="bg1">
                  <a:lumMod val="85000"/>
                </a:schemeClr>
              </a:solidFill>
              <a:latin typeface="Consolas" panose="020B0609020204030204" pitchFamily="49" charset="0"/>
            </a:endParaRPr>
          </a:p>
          <a:p>
            <a:r>
              <a:rPr lang="en-US" dirty="0">
                <a:solidFill>
                  <a:schemeClr val="bg1">
                    <a:lumMod val="75000"/>
                  </a:schemeClr>
                </a:solidFill>
                <a:latin typeface="Consolas" panose="020B0609020204030204" pitchFamily="49" charset="0"/>
              </a:rPr>
              <a:t>### </a:t>
            </a:r>
            <a:r>
              <a:rPr lang="ru-RU" dirty="0">
                <a:solidFill>
                  <a:schemeClr val="bg1">
                    <a:lumMod val="75000"/>
                  </a:schemeClr>
                </a:solidFill>
                <a:latin typeface="Consolas" panose="020B0609020204030204" pitchFamily="49" charset="0"/>
              </a:rPr>
              <a:t>Вычисляем априорную вероятность класса</a:t>
            </a:r>
          </a:p>
          <a:p>
            <a:r>
              <a:rPr lang="en-US" dirty="0" err="1">
                <a:latin typeface="Consolas" panose="020B0609020204030204" pitchFamily="49" charset="0"/>
              </a:rPr>
              <a:t>probs</a:t>
            </a:r>
            <a:r>
              <a:rPr lang="en-US" dirty="0">
                <a:latin typeface="Consolas" panose="020B0609020204030204" pitchFamily="49" charset="0"/>
              </a:rPr>
              <a:t> = </a:t>
            </a:r>
            <a:r>
              <a:rPr lang="en-US" dirty="0" err="1">
                <a:latin typeface="Consolas" panose="020B0609020204030204" pitchFamily="49" charset="0"/>
              </a:rPr>
              <a:t>X_train.groupby</a:t>
            </a:r>
            <a:r>
              <a:rPr lang="en-US" dirty="0">
                <a:latin typeface="Consolas" panose="020B0609020204030204" pitchFamily="49" charset="0"/>
              </a:rPr>
              <a:t>(</a:t>
            </a:r>
            <a:r>
              <a:rPr lang="en-US" dirty="0" err="1">
                <a:latin typeface="Consolas" panose="020B0609020204030204" pitchFamily="49" charset="0"/>
              </a:rPr>
              <a:t>y_train</a:t>
            </a:r>
            <a:r>
              <a:rPr lang="en-US" dirty="0">
                <a:latin typeface="Consolas" panose="020B0609020204030204" pitchFamily="49" charset="0"/>
              </a:rPr>
              <a:t>).apply(lambda x: </a:t>
            </a:r>
            <a:r>
              <a:rPr lang="en-US" dirty="0" err="1">
                <a:latin typeface="Consolas" panose="020B0609020204030204" pitchFamily="49" charset="0"/>
              </a:rPr>
              <a:t>len</a:t>
            </a:r>
            <a:r>
              <a:rPr lang="en-US" dirty="0">
                <a:latin typeface="Consolas" panose="020B0609020204030204" pitchFamily="49" charset="0"/>
              </a:rPr>
              <a:t>(x)) / </a:t>
            </a:r>
            <a:r>
              <a:rPr lang="en-US" dirty="0" err="1">
                <a:latin typeface="Consolas" panose="020B0609020204030204" pitchFamily="49" charset="0"/>
              </a:rPr>
              <a:t>X_train.shape</a:t>
            </a:r>
            <a:r>
              <a:rPr lang="en-US" dirty="0">
                <a:latin typeface="Consolas" panose="020B0609020204030204" pitchFamily="49" charset="0"/>
              </a:rPr>
              <a:t>[0]</a:t>
            </a:r>
          </a:p>
          <a:p>
            <a:r>
              <a:rPr lang="en-US" dirty="0">
                <a:latin typeface="Consolas" panose="020B0609020204030204" pitchFamily="49" charset="0"/>
              </a:rPr>
              <a:t> </a:t>
            </a:r>
          </a:p>
          <a:p>
            <a:r>
              <a:rPr lang="en-US" dirty="0">
                <a:solidFill>
                  <a:schemeClr val="bg1">
                    <a:lumMod val="75000"/>
                  </a:schemeClr>
                </a:solidFill>
                <a:latin typeface="Consolas" panose="020B0609020204030204" pitchFamily="49" charset="0"/>
              </a:rPr>
              <a:t>### </a:t>
            </a:r>
            <a:r>
              <a:rPr lang="ru-RU" dirty="0">
                <a:solidFill>
                  <a:schemeClr val="bg1">
                    <a:lumMod val="75000"/>
                  </a:schemeClr>
                </a:solidFill>
                <a:latin typeface="Consolas" panose="020B0609020204030204" pitchFamily="49" charset="0"/>
              </a:rPr>
              <a:t>Вычисляем вероятность для Теоремы Байеса для каждого элемента</a:t>
            </a:r>
          </a:p>
          <a:p>
            <a:r>
              <a:rPr lang="en-US" dirty="0" err="1">
                <a:latin typeface="Consolas" panose="020B0609020204030204" pitchFamily="49" charset="0"/>
              </a:rPr>
              <a:t>y_pred</a:t>
            </a:r>
            <a:r>
              <a:rPr lang="en-US" dirty="0">
                <a:latin typeface="Consolas" panose="020B0609020204030204" pitchFamily="49" charset="0"/>
              </a:rPr>
              <a:t> = []</a:t>
            </a:r>
          </a:p>
        </p:txBody>
      </p:sp>
    </p:spTree>
    <p:extLst>
      <p:ext uri="{BB962C8B-B14F-4D97-AF65-F5344CB8AC3E}">
        <p14:creationId xmlns:p14="http://schemas.microsoft.com/office/powerpoint/2010/main" val="1186835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Реализация метода</a:t>
            </a:r>
          </a:p>
        </p:txBody>
      </p:sp>
      <p:sp>
        <p:nvSpPr>
          <p:cNvPr id="10" name="Прямоугольник 9"/>
          <p:cNvSpPr/>
          <p:nvPr/>
        </p:nvSpPr>
        <p:spPr>
          <a:xfrm>
            <a:off x="709127" y="1530220"/>
            <a:ext cx="10487608" cy="5038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bg1">
                    <a:lumMod val="75000"/>
                  </a:schemeClr>
                </a:solidFill>
                <a:latin typeface="Consolas" panose="020B0609020204030204" pitchFamily="49" charset="0"/>
              </a:rPr>
              <a:t># </a:t>
            </a:r>
            <a:r>
              <a:rPr lang="ru-RU" dirty="0">
                <a:solidFill>
                  <a:schemeClr val="bg1">
                    <a:lumMod val="75000"/>
                  </a:schemeClr>
                </a:solidFill>
                <a:latin typeface="Consolas" panose="020B0609020204030204" pitchFamily="49" charset="0"/>
              </a:rPr>
              <a:t>каждый элемент в </a:t>
            </a:r>
            <a:r>
              <a:rPr lang="ru-RU" dirty="0" err="1">
                <a:solidFill>
                  <a:schemeClr val="bg1">
                    <a:lumMod val="75000"/>
                  </a:schemeClr>
                </a:solidFill>
                <a:latin typeface="Consolas" panose="020B0609020204030204" pitchFamily="49" charset="0"/>
              </a:rPr>
              <a:t>валидационной</a:t>
            </a:r>
            <a:r>
              <a:rPr lang="ru-RU" dirty="0">
                <a:solidFill>
                  <a:schemeClr val="bg1">
                    <a:lumMod val="75000"/>
                  </a:schemeClr>
                </a:solidFill>
                <a:latin typeface="Consolas" panose="020B0609020204030204" pitchFamily="49" charset="0"/>
              </a:rPr>
              <a:t> части данных</a:t>
            </a:r>
          </a:p>
          <a:p>
            <a:r>
              <a:rPr lang="en-US" dirty="0">
                <a:latin typeface="Consolas" panose="020B0609020204030204" pitchFamily="49" charset="0"/>
              </a:rPr>
              <a:t>for </a:t>
            </a:r>
            <a:r>
              <a:rPr lang="en-US" dirty="0" err="1">
                <a:latin typeface="Consolas" panose="020B0609020204030204" pitchFamily="49" charset="0"/>
              </a:rPr>
              <a:t>elem</a:t>
            </a:r>
            <a:r>
              <a:rPr lang="en-US" dirty="0">
                <a:latin typeface="Consolas" panose="020B0609020204030204" pitchFamily="49" charset="0"/>
              </a:rPr>
              <a:t> in range(</a:t>
            </a:r>
            <a:r>
              <a:rPr lang="en-US" dirty="0" err="1">
                <a:latin typeface="Consolas" panose="020B0609020204030204" pitchFamily="49" charset="0"/>
              </a:rPr>
              <a:t>X_val.shape</a:t>
            </a:r>
            <a:r>
              <a:rPr lang="en-US" dirty="0">
                <a:latin typeface="Consolas" panose="020B0609020204030204" pitchFamily="49" charset="0"/>
              </a:rPr>
              <a:t>[0]):</a:t>
            </a:r>
          </a:p>
          <a:p>
            <a:r>
              <a:rPr lang="en-US" dirty="0">
                <a:latin typeface="Consolas" panose="020B0609020204030204" pitchFamily="49" charset="0"/>
              </a:rPr>
              <a:t>   p = {}</a:t>
            </a:r>
          </a:p>
          <a:p>
            <a:r>
              <a:rPr lang="en-US" dirty="0">
                <a:latin typeface="Consolas" panose="020B0609020204030204" pitchFamily="49" charset="0"/>
              </a:rPr>
              <a:t> </a:t>
            </a:r>
          </a:p>
          <a:p>
            <a:r>
              <a:rPr lang="en-US" dirty="0">
                <a:solidFill>
                  <a:schemeClr val="bg1">
                    <a:lumMod val="75000"/>
                  </a:schemeClr>
                </a:solidFill>
                <a:latin typeface="Consolas" panose="020B0609020204030204" pitchFamily="49" charset="0"/>
              </a:rPr>
              <a:t>   # </a:t>
            </a:r>
            <a:r>
              <a:rPr lang="ru-RU" dirty="0">
                <a:solidFill>
                  <a:schemeClr val="bg1">
                    <a:lumMod val="75000"/>
                  </a:schemeClr>
                </a:solidFill>
                <a:latin typeface="Consolas" panose="020B0609020204030204" pitchFamily="49" charset="0"/>
              </a:rPr>
              <a:t>для каждого возможного класса</a:t>
            </a:r>
          </a:p>
          <a:p>
            <a:r>
              <a:rPr lang="ru-RU" dirty="0">
                <a:latin typeface="Consolas" panose="020B0609020204030204" pitchFamily="49" charset="0"/>
              </a:rPr>
              <a:t>   </a:t>
            </a:r>
            <a:r>
              <a:rPr lang="en-US" dirty="0">
                <a:latin typeface="Consolas" panose="020B0609020204030204" pitchFamily="49" charset="0"/>
              </a:rPr>
              <a:t>for cl in </a:t>
            </a:r>
            <a:r>
              <a:rPr lang="en-US" dirty="0" err="1">
                <a:latin typeface="Consolas" panose="020B0609020204030204" pitchFamily="49" charset="0"/>
              </a:rPr>
              <a:t>np.unique</a:t>
            </a:r>
            <a:r>
              <a:rPr lang="en-US" dirty="0">
                <a:latin typeface="Consolas" panose="020B0609020204030204" pitchFamily="49" charset="0"/>
              </a:rPr>
              <a:t>(</a:t>
            </a:r>
            <a:r>
              <a:rPr lang="en-US" dirty="0" err="1">
                <a:latin typeface="Consolas" panose="020B0609020204030204" pitchFamily="49" charset="0"/>
              </a:rPr>
              <a:t>y_train</a:t>
            </a:r>
            <a:r>
              <a:rPr lang="en-US" dirty="0">
                <a:latin typeface="Consolas" panose="020B0609020204030204" pitchFamily="49" charset="0"/>
              </a:rPr>
              <a:t>):</a:t>
            </a:r>
          </a:p>
          <a:p>
            <a:r>
              <a:rPr lang="en-US" dirty="0">
                <a:latin typeface="Consolas" panose="020B0609020204030204" pitchFamily="49" charset="0"/>
              </a:rPr>
              <a:t> </a:t>
            </a:r>
            <a:endParaRPr lang="en-US" dirty="0">
              <a:solidFill>
                <a:schemeClr val="bg1">
                  <a:lumMod val="75000"/>
                </a:schemeClr>
              </a:solidFill>
              <a:latin typeface="Consolas" panose="020B0609020204030204" pitchFamily="49" charset="0"/>
            </a:endParaRPr>
          </a:p>
          <a:p>
            <a:r>
              <a:rPr lang="en-US" dirty="0">
                <a:solidFill>
                  <a:schemeClr val="bg1">
                    <a:lumMod val="75000"/>
                  </a:schemeClr>
                </a:solidFill>
                <a:latin typeface="Consolas" panose="020B0609020204030204" pitchFamily="49" charset="0"/>
              </a:rPr>
              <a:t>       # </a:t>
            </a:r>
            <a:r>
              <a:rPr lang="ru-RU" dirty="0">
                <a:solidFill>
                  <a:schemeClr val="bg1">
                    <a:lumMod val="75000"/>
                  </a:schemeClr>
                </a:solidFill>
                <a:latin typeface="Consolas" panose="020B0609020204030204" pitchFamily="49" charset="0"/>
              </a:rPr>
              <a:t>априорная вероятность взятого ранее класса</a:t>
            </a:r>
          </a:p>
          <a:p>
            <a:r>
              <a:rPr lang="ru-RU" dirty="0">
                <a:latin typeface="Consolas" panose="020B0609020204030204" pitchFamily="49" charset="0"/>
              </a:rPr>
              <a:t>       </a:t>
            </a:r>
            <a:r>
              <a:rPr lang="en-US" dirty="0">
                <a:latin typeface="Consolas" panose="020B0609020204030204" pitchFamily="49" charset="0"/>
              </a:rPr>
              <a:t>p[cl] = </a:t>
            </a:r>
            <a:r>
              <a:rPr lang="en-US" dirty="0" err="1">
                <a:latin typeface="Consolas" panose="020B0609020204030204" pitchFamily="49" charset="0"/>
              </a:rPr>
              <a:t>probs.iloc</a:t>
            </a:r>
            <a:r>
              <a:rPr lang="en-US" dirty="0">
                <a:latin typeface="Consolas" panose="020B0609020204030204" pitchFamily="49" charset="0"/>
              </a:rPr>
              <a:t>[cl]</a:t>
            </a:r>
          </a:p>
          <a:p>
            <a:r>
              <a:rPr lang="en-US" dirty="0">
                <a:latin typeface="Consolas" panose="020B0609020204030204" pitchFamily="49" charset="0"/>
              </a:rPr>
              <a:t> </a:t>
            </a:r>
            <a:endParaRPr lang="en-US" dirty="0">
              <a:solidFill>
                <a:schemeClr val="bg1">
                  <a:lumMod val="75000"/>
                </a:schemeClr>
              </a:solidFill>
              <a:latin typeface="Consolas" panose="020B0609020204030204" pitchFamily="49" charset="0"/>
            </a:endParaRPr>
          </a:p>
          <a:p>
            <a:r>
              <a:rPr lang="en-US" dirty="0">
                <a:solidFill>
                  <a:schemeClr val="bg1">
                    <a:lumMod val="75000"/>
                  </a:schemeClr>
                </a:solidFill>
                <a:latin typeface="Consolas" panose="020B0609020204030204" pitchFamily="49" charset="0"/>
              </a:rPr>
              <a:t>       # </a:t>
            </a:r>
            <a:r>
              <a:rPr lang="ru-RU" dirty="0">
                <a:solidFill>
                  <a:schemeClr val="bg1">
                    <a:lumMod val="75000"/>
                  </a:schemeClr>
                </a:solidFill>
                <a:latin typeface="Consolas" panose="020B0609020204030204" pitchFamily="49" charset="0"/>
              </a:rPr>
              <a:t>для каждого столбца в </a:t>
            </a:r>
            <a:r>
              <a:rPr lang="ru-RU" dirty="0" err="1">
                <a:solidFill>
                  <a:schemeClr val="bg1">
                    <a:lumMod val="75000"/>
                  </a:schemeClr>
                </a:solidFill>
                <a:latin typeface="Consolas" panose="020B0609020204030204" pitchFamily="49" charset="0"/>
              </a:rPr>
              <a:t>датасете</a:t>
            </a:r>
            <a:endParaRPr lang="ru-RU" dirty="0">
              <a:solidFill>
                <a:schemeClr val="bg1">
                  <a:lumMod val="75000"/>
                </a:schemeClr>
              </a:solidFill>
              <a:latin typeface="Consolas" panose="020B0609020204030204" pitchFamily="49" charset="0"/>
            </a:endParaRPr>
          </a:p>
          <a:p>
            <a:r>
              <a:rPr lang="ru-RU" dirty="0">
                <a:latin typeface="Consolas" panose="020B0609020204030204" pitchFamily="49" charset="0"/>
              </a:rPr>
              <a:t>       </a:t>
            </a:r>
            <a:r>
              <a:rPr lang="en-US" dirty="0">
                <a:latin typeface="Consolas" panose="020B0609020204030204" pitchFamily="49" charset="0"/>
              </a:rPr>
              <a:t>for index, </a:t>
            </a:r>
            <a:r>
              <a:rPr lang="en-US" dirty="0" err="1">
                <a:latin typeface="Consolas" panose="020B0609020204030204" pitchFamily="49" charset="0"/>
              </a:rPr>
              <a:t>param</a:t>
            </a:r>
            <a:r>
              <a:rPr lang="en-US" dirty="0">
                <a:latin typeface="Consolas" panose="020B0609020204030204" pitchFamily="49" charset="0"/>
              </a:rPr>
              <a:t> in enumerate(</a:t>
            </a:r>
            <a:r>
              <a:rPr lang="en-US" dirty="0" err="1">
                <a:latin typeface="Consolas" panose="020B0609020204030204" pitchFamily="49" charset="0"/>
              </a:rPr>
              <a:t>X_val.iloc</a:t>
            </a:r>
            <a:r>
              <a:rPr lang="en-US" dirty="0">
                <a:latin typeface="Consolas" panose="020B0609020204030204" pitchFamily="49" charset="0"/>
              </a:rPr>
              <a:t>[</a:t>
            </a:r>
            <a:r>
              <a:rPr lang="en-US" dirty="0" err="1">
                <a:latin typeface="Consolas" panose="020B0609020204030204" pitchFamily="49" charset="0"/>
              </a:rPr>
              <a:t>elem</a:t>
            </a:r>
            <a:r>
              <a:rPr lang="en-US" dirty="0">
                <a:latin typeface="Consolas" panose="020B0609020204030204" pitchFamily="49" charset="0"/>
              </a:rPr>
              <a:t>]):</a:t>
            </a:r>
          </a:p>
          <a:p>
            <a:r>
              <a:rPr lang="en-US" dirty="0">
                <a:latin typeface="Consolas" panose="020B0609020204030204" pitchFamily="49" charset="0"/>
              </a:rPr>
              <a:t> </a:t>
            </a:r>
          </a:p>
          <a:p>
            <a:r>
              <a:rPr lang="en-US" dirty="0">
                <a:solidFill>
                  <a:schemeClr val="bg1">
                    <a:lumMod val="75000"/>
                  </a:schemeClr>
                </a:solidFill>
                <a:latin typeface="Consolas" panose="020B0609020204030204" pitchFamily="49" charset="0"/>
              </a:rPr>
              <a:t>           # </a:t>
            </a:r>
            <a:r>
              <a:rPr lang="ru-RU" dirty="0">
                <a:solidFill>
                  <a:schemeClr val="bg1">
                    <a:lumMod val="75000"/>
                  </a:schemeClr>
                </a:solidFill>
                <a:latin typeface="Consolas" panose="020B0609020204030204" pitchFamily="49" charset="0"/>
              </a:rPr>
              <a:t>умножаем вероятность того, что данное значение столбца</a:t>
            </a:r>
          </a:p>
          <a:p>
            <a:r>
              <a:rPr lang="ru-RU" dirty="0">
                <a:solidFill>
                  <a:schemeClr val="bg1">
                    <a:lumMod val="75000"/>
                  </a:schemeClr>
                </a:solidFill>
                <a:latin typeface="Consolas" panose="020B0609020204030204" pitchFamily="49" charset="0"/>
              </a:rPr>
              <a:t>           # будет принадлежать распределению для выбранного класса</a:t>
            </a:r>
          </a:p>
          <a:p>
            <a:r>
              <a:rPr lang="ru-RU" dirty="0">
                <a:latin typeface="Consolas" panose="020B0609020204030204" pitchFamily="49" charset="0"/>
              </a:rPr>
              <a:t>           </a:t>
            </a:r>
            <a:r>
              <a:rPr lang="en-US" dirty="0">
                <a:latin typeface="Consolas" panose="020B0609020204030204" pitchFamily="49" charset="0"/>
              </a:rPr>
              <a:t>p[cl] *= norm.pdf(</a:t>
            </a:r>
            <a:r>
              <a:rPr lang="en-US" dirty="0" err="1">
                <a:latin typeface="Consolas" panose="020B0609020204030204" pitchFamily="49" charset="0"/>
              </a:rPr>
              <a:t>param</a:t>
            </a:r>
            <a:r>
              <a:rPr lang="en-US" dirty="0">
                <a:latin typeface="Consolas" panose="020B0609020204030204" pitchFamily="49" charset="0"/>
              </a:rPr>
              <a:t>, </a:t>
            </a:r>
            <a:r>
              <a:rPr lang="en-US" dirty="0" err="1">
                <a:latin typeface="Consolas" panose="020B0609020204030204" pitchFamily="49" charset="0"/>
              </a:rPr>
              <a:t>means.iloc</a:t>
            </a:r>
            <a:r>
              <a:rPr lang="en-US" dirty="0">
                <a:latin typeface="Consolas" panose="020B0609020204030204" pitchFamily="49" charset="0"/>
              </a:rPr>
              <a:t>[cl, index], </a:t>
            </a:r>
            <a:r>
              <a:rPr lang="en-US" dirty="0" err="1">
                <a:latin typeface="Consolas" panose="020B0609020204030204" pitchFamily="49" charset="0"/>
              </a:rPr>
              <a:t>stds.iloc</a:t>
            </a:r>
            <a:r>
              <a:rPr lang="en-US" dirty="0">
                <a:latin typeface="Consolas" panose="020B0609020204030204" pitchFamily="49" charset="0"/>
              </a:rPr>
              <a:t>[cl, index])</a:t>
            </a:r>
          </a:p>
          <a:p>
            <a:r>
              <a:rPr lang="en-US" dirty="0">
                <a:latin typeface="Consolas" panose="020B0609020204030204" pitchFamily="49" charset="0"/>
              </a:rPr>
              <a:t>  </a:t>
            </a:r>
          </a:p>
          <a:p>
            <a:r>
              <a:rPr lang="en-US" dirty="0">
                <a:latin typeface="Consolas" panose="020B0609020204030204" pitchFamily="49" charset="0"/>
              </a:rPr>
              <a:t>   </a:t>
            </a:r>
            <a:r>
              <a:rPr lang="en-US" dirty="0" err="1">
                <a:latin typeface="Consolas" panose="020B0609020204030204" pitchFamily="49" charset="0"/>
              </a:rPr>
              <a:t>y_pred.append</a:t>
            </a:r>
            <a:r>
              <a:rPr lang="en-US" dirty="0">
                <a:latin typeface="Consolas" panose="020B0609020204030204" pitchFamily="49" charset="0"/>
              </a:rPr>
              <a:t>(</a:t>
            </a:r>
            <a:r>
              <a:rPr lang="en-US" dirty="0" err="1">
                <a:latin typeface="Consolas" panose="020B0609020204030204" pitchFamily="49" charset="0"/>
              </a:rPr>
              <a:t>pd.Series</a:t>
            </a:r>
            <a:r>
              <a:rPr lang="en-US" dirty="0">
                <a:latin typeface="Consolas" panose="020B0609020204030204" pitchFamily="49" charset="0"/>
              </a:rPr>
              <a:t>(p).</a:t>
            </a:r>
            <a:r>
              <a:rPr lang="en-US" dirty="0" err="1">
                <a:latin typeface="Consolas" panose="020B0609020204030204" pitchFamily="49" charset="0"/>
              </a:rPr>
              <a:t>values.argmax</a:t>
            </a:r>
            <a:r>
              <a:rPr lang="en-US" dirty="0">
                <a:latin typeface="Consolas" panose="020B0609020204030204" pitchFamily="49" charset="0"/>
              </a:rPr>
              <a:t>())</a:t>
            </a:r>
          </a:p>
        </p:txBody>
      </p:sp>
    </p:spTree>
    <p:extLst>
      <p:ext uri="{BB962C8B-B14F-4D97-AF65-F5344CB8AC3E}">
        <p14:creationId xmlns:p14="http://schemas.microsoft.com/office/powerpoint/2010/main" val="278173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Реализация метода</a:t>
            </a:r>
          </a:p>
        </p:txBody>
      </p:sp>
      <p:sp>
        <p:nvSpPr>
          <p:cNvPr id="10" name="Прямоугольник 9"/>
          <p:cNvSpPr/>
          <p:nvPr/>
        </p:nvSpPr>
        <p:spPr>
          <a:xfrm>
            <a:off x="709126" y="1530220"/>
            <a:ext cx="10580915" cy="42081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bg1">
                    <a:lumMod val="85000"/>
                  </a:schemeClr>
                </a:solidFill>
                <a:latin typeface="Consolas" panose="020B0609020204030204" pitchFamily="49" charset="0"/>
              </a:rPr>
              <a:t>### </a:t>
            </a:r>
            <a:r>
              <a:rPr lang="ru-RU" dirty="0">
                <a:solidFill>
                  <a:schemeClr val="bg1">
                    <a:lumMod val="85000"/>
                  </a:schemeClr>
                </a:solidFill>
                <a:latin typeface="Consolas" panose="020B0609020204030204" pitchFamily="49" charset="0"/>
              </a:rPr>
              <a:t>Посмотрим точность нашего предсказания несколькими методами</a:t>
            </a:r>
          </a:p>
          <a:p>
            <a:r>
              <a:rPr lang="ru-RU" dirty="0">
                <a:solidFill>
                  <a:schemeClr val="bg1">
                    <a:lumMod val="85000"/>
                  </a:schemeClr>
                </a:solidFill>
                <a:latin typeface="Consolas" panose="020B0609020204030204" pitchFamily="49" charset="0"/>
              </a:rPr>
              <a:t># ручной классификатор</a:t>
            </a:r>
          </a:p>
          <a:p>
            <a:r>
              <a:rPr lang="en-US" dirty="0">
                <a:latin typeface="Consolas" panose="020B0609020204030204" pitchFamily="49" charset="0"/>
              </a:rPr>
              <a:t>from </a:t>
            </a:r>
            <a:r>
              <a:rPr lang="en-US" dirty="0" err="1">
                <a:latin typeface="Consolas" panose="020B0609020204030204" pitchFamily="49" charset="0"/>
              </a:rPr>
              <a:t>sklearn.metrics</a:t>
            </a:r>
            <a:r>
              <a:rPr lang="en-US" dirty="0">
                <a:latin typeface="Consolas" panose="020B0609020204030204" pitchFamily="49" charset="0"/>
              </a:rPr>
              <a:t> import </a:t>
            </a:r>
            <a:r>
              <a:rPr lang="en-US" dirty="0" err="1">
                <a:latin typeface="Consolas" panose="020B0609020204030204" pitchFamily="49" charset="0"/>
              </a:rPr>
              <a:t>accuracy_score</a:t>
            </a:r>
            <a:endParaRPr lang="en-US" dirty="0">
              <a:latin typeface="Consolas" panose="020B0609020204030204" pitchFamily="49" charset="0"/>
            </a:endParaRPr>
          </a:p>
          <a:p>
            <a:r>
              <a:rPr lang="en-US" dirty="0">
                <a:latin typeface="Consolas" panose="020B0609020204030204" pitchFamily="49" charset="0"/>
              </a:rPr>
              <a:t>accuracy1 = </a:t>
            </a:r>
            <a:r>
              <a:rPr lang="en-US" dirty="0" err="1">
                <a:latin typeface="Consolas" panose="020B0609020204030204" pitchFamily="49" charset="0"/>
              </a:rPr>
              <a:t>accuracy_score</a:t>
            </a:r>
            <a:r>
              <a:rPr lang="en-US" dirty="0">
                <a:latin typeface="Consolas" panose="020B0609020204030204" pitchFamily="49" charset="0"/>
              </a:rPr>
              <a:t>(</a:t>
            </a:r>
            <a:r>
              <a:rPr lang="en-US" dirty="0" err="1">
                <a:latin typeface="Consolas" panose="020B0609020204030204" pitchFamily="49" charset="0"/>
              </a:rPr>
              <a:t>y_val</a:t>
            </a:r>
            <a:r>
              <a:rPr lang="en-US" dirty="0">
                <a:latin typeface="Consolas" panose="020B0609020204030204" pitchFamily="49" charset="0"/>
              </a:rPr>
              <a:t>, </a:t>
            </a:r>
            <a:r>
              <a:rPr lang="en-US" dirty="0" err="1">
                <a:latin typeface="Consolas" panose="020B0609020204030204" pitchFamily="49" charset="0"/>
              </a:rPr>
              <a:t>y_pred</a:t>
            </a:r>
            <a:r>
              <a:rPr lang="en-US" dirty="0">
                <a:latin typeface="Consolas" panose="020B0609020204030204" pitchFamily="49" charset="0"/>
              </a:rPr>
              <a:t>)</a:t>
            </a:r>
          </a:p>
          <a:p>
            <a:r>
              <a:rPr lang="en-US" dirty="0">
                <a:solidFill>
                  <a:schemeClr val="bg1">
                    <a:lumMod val="85000"/>
                  </a:schemeClr>
                </a:solidFill>
                <a:latin typeface="Consolas" panose="020B0609020204030204" pitchFamily="49" charset="0"/>
              </a:rPr>
              <a:t> </a:t>
            </a:r>
          </a:p>
          <a:p>
            <a:r>
              <a:rPr lang="en-US" dirty="0">
                <a:solidFill>
                  <a:schemeClr val="bg1">
                    <a:lumMod val="85000"/>
                  </a:schemeClr>
                </a:solidFill>
                <a:latin typeface="Consolas" panose="020B0609020204030204" pitchFamily="49" charset="0"/>
              </a:rPr>
              <a:t># </a:t>
            </a:r>
            <a:r>
              <a:rPr lang="ru-RU" dirty="0">
                <a:solidFill>
                  <a:schemeClr val="bg1">
                    <a:lumMod val="85000"/>
                  </a:schemeClr>
                </a:solidFill>
                <a:latin typeface="Consolas" panose="020B0609020204030204" pitchFamily="49" charset="0"/>
              </a:rPr>
              <a:t>классификатор из библиотеки </a:t>
            </a:r>
            <a:r>
              <a:rPr lang="en-US" dirty="0" err="1">
                <a:solidFill>
                  <a:schemeClr val="bg1">
                    <a:lumMod val="85000"/>
                  </a:schemeClr>
                </a:solidFill>
                <a:latin typeface="Consolas" panose="020B0609020204030204" pitchFamily="49" charset="0"/>
              </a:rPr>
              <a:t>sklearn</a:t>
            </a:r>
            <a:endParaRPr lang="en-US" dirty="0">
              <a:solidFill>
                <a:schemeClr val="bg1">
                  <a:lumMod val="85000"/>
                </a:schemeClr>
              </a:solidFill>
              <a:latin typeface="Consolas" panose="020B0609020204030204" pitchFamily="49" charset="0"/>
            </a:endParaRPr>
          </a:p>
          <a:p>
            <a:r>
              <a:rPr lang="en-US" dirty="0">
                <a:latin typeface="Consolas" panose="020B0609020204030204" pitchFamily="49" charset="0"/>
              </a:rPr>
              <a:t>from </a:t>
            </a:r>
            <a:r>
              <a:rPr lang="en-US" dirty="0" err="1">
                <a:latin typeface="Consolas" panose="020B0609020204030204" pitchFamily="49" charset="0"/>
              </a:rPr>
              <a:t>sklearn.naive_bayes</a:t>
            </a:r>
            <a:r>
              <a:rPr lang="en-US" dirty="0">
                <a:latin typeface="Consolas" panose="020B0609020204030204" pitchFamily="49" charset="0"/>
              </a:rPr>
              <a:t> import </a:t>
            </a:r>
            <a:r>
              <a:rPr lang="en-US" dirty="0" err="1">
                <a:latin typeface="Consolas" panose="020B0609020204030204" pitchFamily="49" charset="0"/>
              </a:rPr>
              <a:t>GaussianNB</a:t>
            </a:r>
            <a:endParaRPr lang="en-US" dirty="0">
              <a:latin typeface="Consolas" panose="020B0609020204030204" pitchFamily="49" charset="0"/>
            </a:endParaRPr>
          </a:p>
          <a:p>
            <a:r>
              <a:rPr lang="en-US" dirty="0">
                <a:latin typeface="Consolas" panose="020B0609020204030204" pitchFamily="49" charset="0"/>
              </a:rPr>
              <a:t>model = </a:t>
            </a:r>
            <a:r>
              <a:rPr lang="en-US" dirty="0" err="1">
                <a:latin typeface="Consolas" panose="020B0609020204030204" pitchFamily="49" charset="0"/>
              </a:rPr>
              <a:t>GaussianNB</a:t>
            </a:r>
            <a:r>
              <a:rPr lang="en-US" dirty="0">
                <a:latin typeface="Consolas" panose="020B0609020204030204" pitchFamily="49" charset="0"/>
              </a:rPr>
              <a:t>()</a:t>
            </a:r>
          </a:p>
          <a:p>
            <a:r>
              <a:rPr lang="en-US" dirty="0" err="1">
                <a:latin typeface="Consolas" panose="020B0609020204030204" pitchFamily="49" charset="0"/>
              </a:rPr>
              <a:t>model.fit</a:t>
            </a:r>
            <a:r>
              <a:rPr lang="en-US" dirty="0">
                <a:latin typeface="Consolas" panose="020B0609020204030204" pitchFamily="49" charset="0"/>
              </a:rPr>
              <a:t>(</a:t>
            </a:r>
            <a:r>
              <a:rPr lang="en-US" dirty="0" err="1">
                <a:latin typeface="Consolas" panose="020B0609020204030204" pitchFamily="49" charset="0"/>
              </a:rPr>
              <a:t>X_train</a:t>
            </a:r>
            <a:r>
              <a:rPr lang="en-US" dirty="0">
                <a:latin typeface="Consolas" panose="020B0609020204030204" pitchFamily="49" charset="0"/>
              </a:rPr>
              <a:t>, </a:t>
            </a:r>
            <a:r>
              <a:rPr lang="en-US" dirty="0" err="1">
                <a:latin typeface="Consolas" panose="020B0609020204030204" pitchFamily="49" charset="0"/>
              </a:rPr>
              <a:t>y_train</a:t>
            </a:r>
            <a:r>
              <a:rPr lang="en-US" dirty="0">
                <a:latin typeface="Consolas" panose="020B0609020204030204" pitchFamily="49" charset="0"/>
              </a:rPr>
              <a:t>)</a:t>
            </a:r>
          </a:p>
          <a:p>
            <a:r>
              <a:rPr lang="en-US" dirty="0">
                <a:latin typeface="Consolas" panose="020B0609020204030204" pitchFamily="49" charset="0"/>
              </a:rPr>
              <a:t>accuracy2 = </a:t>
            </a:r>
            <a:r>
              <a:rPr lang="en-US" dirty="0" err="1">
                <a:latin typeface="Consolas" panose="020B0609020204030204" pitchFamily="49" charset="0"/>
              </a:rPr>
              <a:t>accuracy_score</a:t>
            </a:r>
            <a:r>
              <a:rPr lang="en-US" dirty="0">
                <a:latin typeface="Consolas" panose="020B0609020204030204" pitchFamily="49" charset="0"/>
              </a:rPr>
              <a:t>(</a:t>
            </a:r>
            <a:r>
              <a:rPr lang="en-US" dirty="0" err="1">
                <a:latin typeface="Consolas" panose="020B0609020204030204" pitchFamily="49" charset="0"/>
              </a:rPr>
              <a:t>y_val</a:t>
            </a:r>
            <a:r>
              <a:rPr lang="en-US" dirty="0">
                <a:latin typeface="Consolas" panose="020B0609020204030204" pitchFamily="49" charset="0"/>
              </a:rPr>
              <a:t>, </a:t>
            </a:r>
            <a:r>
              <a:rPr lang="en-US" dirty="0" err="1">
                <a:latin typeface="Consolas" panose="020B0609020204030204" pitchFamily="49" charset="0"/>
              </a:rPr>
              <a:t>model.predict</a:t>
            </a:r>
            <a:r>
              <a:rPr lang="en-US" dirty="0">
                <a:latin typeface="Consolas" panose="020B0609020204030204" pitchFamily="49" charset="0"/>
              </a:rPr>
              <a:t>(</a:t>
            </a:r>
            <a:r>
              <a:rPr lang="en-US" dirty="0" err="1">
                <a:latin typeface="Consolas" panose="020B0609020204030204" pitchFamily="49" charset="0"/>
              </a:rPr>
              <a:t>X_val</a:t>
            </a:r>
            <a:r>
              <a:rPr lang="en-US" dirty="0">
                <a:latin typeface="Consolas" panose="020B0609020204030204" pitchFamily="49" charset="0"/>
              </a:rPr>
              <a:t>))</a:t>
            </a:r>
          </a:p>
          <a:p>
            <a:r>
              <a:rPr lang="en-US" dirty="0">
                <a:latin typeface="Consolas" panose="020B0609020204030204" pitchFamily="49" charset="0"/>
              </a:rPr>
              <a:t> </a:t>
            </a:r>
          </a:p>
          <a:p>
            <a:r>
              <a:rPr lang="en-US" dirty="0">
                <a:latin typeface="Consolas" panose="020B0609020204030204" pitchFamily="49" charset="0"/>
              </a:rPr>
              <a:t>print(accuracy1)</a:t>
            </a:r>
          </a:p>
          <a:p>
            <a:r>
              <a:rPr lang="en-US" dirty="0">
                <a:latin typeface="Consolas" panose="020B0609020204030204" pitchFamily="49" charset="0"/>
              </a:rPr>
              <a:t>print(accuracy2)</a:t>
            </a:r>
            <a:endParaRPr lang="ru-RU" dirty="0">
              <a:latin typeface="Consolas" panose="020B0609020204030204" pitchFamily="49" charset="0"/>
            </a:endParaRPr>
          </a:p>
        </p:txBody>
      </p:sp>
      <p:pic>
        <p:nvPicPr>
          <p:cNvPr id="2" name="Рисунок 1"/>
          <p:cNvPicPr>
            <a:picLocks noChangeAspect="1"/>
          </p:cNvPicPr>
          <p:nvPr/>
        </p:nvPicPr>
        <p:blipFill>
          <a:blip r:embed="rId4"/>
          <a:stretch>
            <a:fillRect/>
          </a:stretch>
        </p:blipFill>
        <p:spPr>
          <a:xfrm>
            <a:off x="4264831" y="5971593"/>
            <a:ext cx="2915852" cy="576116"/>
          </a:xfrm>
          <a:prstGeom prst="rect">
            <a:avLst/>
          </a:prstGeom>
        </p:spPr>
      </p:pic>
    </p:spTree>
    <p:extLst>
      <p:ext uri="{BB962C8B-B14F-4D97-AF65-F5344CB8AC3E}">
        <p14:creationId xmlns:p14="http://schemas.microsoft.com/office/powerpoint/2010/main" val="30245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pic>
        <p:nvPicPr>
          <p:cNvPr id="7" name="Рисунок 6"/>
          <p:cNvPicPr>
            <a:picLocks noChangeAspect="1"/>
          </p:cNvPicPr>
          <p:nvPr/>
        </p:nvPicPr>
        <p:blipFill>
          <a:blip r:embed="rId4"/>
          <a:stretch>
            <a:fillRect/>
          </a:stretch>
        </p:blipFill>
        <p:spPr>
          <a:xfrm>
            <a:off x="226256" y="715711"/>
            <a:ext cx="8096650" cy="5899693"/>
          </a:xfrm>
          <a:prstGeom prst="rect">
            <a:avLst/>
          </a:prstGeom>
        </p:spPr>
      </p:pic>
    </p:spTree>
    <p:extLst>
      <p:ext uri="{BB962C8B-B14F-4D97-AF65-F5344CB8AC3E}">
        <p14:creationId xmlns:p14="http://schemas.microsoft.com/office/powerpoint/2010/main" val="3017432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pic>
        <p:nvPicPr>
          <p:cNvPr id="2" name="Рисунок 1"/>
          <p:cNvPicPr>
            <a:picLocks noChangeAspect="1"/>
          </p:cNvPicPr>
          <p:nvPr/>
        </p:nvPicPr>
        <p:blipFill>
          <a:blip r:embed="rId4"/>
          <a:stretch>
            <a:fillRect/>
          </a:stretch>
        </p:blipFill>
        <p:spPr>
          <a:xfrm>
            <a:off x="2857291" y="2435290"/>
            <a:ext cx="6564585" cy="3862873"/>
          </a:xfrm>
          <a:prstGeom prst="rect">
            <a:avLst/>
          </a:prstGeom>
        </p:spPr>
      </p:pic>
      <p:sp>
        <p:nvSpPr>
          <p:cNvPr id="8" name="TextBox 7"/>
          <p:cNvSpPr txBox="1"/>
          <p:nvPr/>
        </p:nvSpPr>
        <p:spPr>
          <a:xfrm>
            <a:off x="635670" y="448900"/>
            <a:ext cx="11556329" cy="1661993"/>
          </a:xfrm>
          <a:prstGeom prst="rect">
            <a:avLst/>
          </a:prstGeom>
        </p:spPr>
        <p:txBody>
          <a:bodyPr wrap="square" lIns="0" tIns="0" rIns="0" bIns="0" rtlCol="0" anchor="t">
            <a:spAutoFit/>
          </a:bodyPr>
          <a:lstStyle/>
          <a:p>
            <a:r>
              <a:rPr lang="ru-RU" sz="3600" dirty="0">
                <a:solidFill>
                  <a:srgbClr val="004AAD"/>
                </a:solidFill>
                <a:latin typeface="Bookman Old Style" panose="02050604050505020204" pitchFamily="18" charset="0"/>
              </a:rPr>
              <a:t>Сравнение результатов метода </a:t>
            </a:r>
            <a:r>
              <a:rPr lang="en-US" sz="3600" dirty="0">
                <a:solidFill>
                  <a:srgbClr val="004AAD"/>
                </a:solidFill>
                <a:latin typeface="Bookman Old Style" panose="02050604050505020204" pitchFamily="18" charset="0"/>
              </a:rPr>
              <a:t>k</a:t>
            </a:r>
            <a:r>
              <a:rPr lang="ru-RU" sz="3600" dirty="0">
                <a:solidFill>
                  <a:srgbClr val="004AAD"/>
                </a:solidFill>
                <a:latin typeface="Bookman Old Style" panose="02050604050505020204" pitchFamily="18" charset="0"/>
              </a:rPr>
              <a:t>-ближайших соседей и наивного байесовского классификатора</a:t>
            </a:r>
          </a:p>
        </p:txBody>
      </p:sp>
    </p:spTree>
    <p:extLst>
      <p:ext uri="{BB962C8B-B14F-4D97-AF65-F5344CB8AC3E}">
        <p14:creationId xmlns:p14="http://schemas.microsoft.com/office/powerpoint/2010/main" val="2651979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Плюсы и минусы</a:t>
            </a:r>
          </a:p>
        </p:txBody>
      </p:sp>
      <p:sp>
        <p:nvSpPr>
          <p:cNvPr id="2" name="Прямоугольник 1"/>
          <p:cNvSpPr/>
          <p:nvPr/>
        </p:nvSpPr>
        <p:spPr>
          <a:xfrm>
            <a:off x="635670" y="1582341"/>
            <a:ext cx="10215832" cy="3416320"/>
          </a:xfrm>
          <a:prstGeom prst="rect">
            <a:avLst/>
          </a:prstGeom>
        </p:spPr>
        <p:txBody>
          <a:bodyPr wrap="square">
            <a:spAutoFit/>
          </a:bodyPr>
          <a:lstStyle/>
          <a:p>
            <a:r>
              <a:rPr lang="ru-RU" b="1" dirty="0">
                <a:latin typeface="Bookman Old Style" panose="02050604050505020204" pitchFamily="18" charset="0"/>
              </a:rPr>
              <a:t>Плюсы</a:t>
            </a:r>
          </a:p>
          <a:p>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Алгоритм легко и быстро предсказывает класс тестового набора данных. Он также хорошо справляется с </a:t>
            </a:r>
            <a:r>
              <a:rPr lang="ru-RU" dirty="0" err="1">
                <a:latin typeface="Bookman Old Style" panose="02050604050505020204" pitchFamily="18" charset="0"/>
              </a:rPr>
              <a:t>многоклассовым</a:t>
            </a:r>
            <a:r>
              <a:rPr lang="ru-RU" dirty="0">
                <a:latin typeface="Bookman Old Style" panose="02050604050505020204" pitchFamily="18" charset="0"/>
              </a:rPr>
              <a:t> прогнозированием.</a:t>
            </a:r>
          </a:p>
          <a:p>
            <a:pPr marL="285750" indent="-285750">
              <a:buFont typeface="Arial" panose="020B0604020202020204" pitchFamily="34" charset="0"/>
              <a:buChar char="•"/>
            </a:pPr>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Производительность наивного байесовского классификатора лучше, чем у других простых алгоритмов, таких как логистическая регрессия. Более того, вам требуется меньше обучающих данных.</a:t>
            </a:r>
          </a:p>
          <a:p>
            <a:pPr marL="285750" indent="-285750">
              <a:buFont typeface="Arial" panose="020B0604020202020204" pitchFamily="34" charset="0"/>
              <a:buChar char="•"/>
            </a:pPr>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Он хорошо работает с категориальными признаками(по сравнению с числовыми). Для числовых признаков предполагается нормальное распределение, что может быть серьезным допущением в точности нашего алгоритма.</a:t>
            </a:r>
          </a:p>
        </p:txBody>
      </p:sp>
    </p:spTree>
    <p:extLst>
      <p:ext uri="{BB962C8B-B14F-4D97-AF65-F5344CB8AC3E}">
        <p14:creationId xmlns:p14="http://schemas.microsoft.com/office/powerpoint/2010/main" val="1041268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Плюсы и минусы</a:t>
            </a:r>
          </a:p>
        </p:txBody>
      </p:sp>
      <p:sp>
        <p:nvSpPr>
          <p:cNvPr id="2" name="Прямоугольник 1"/>
          <p:cNvSpPr/>
          <p:nvPr/>
        </p:nvSpPr>
        <p:spPr>
          <a:xfrm>
            <a:off x="635670" y="1582341"/>
            <a:ext cx="10215832" cy="3139321"/>
          </a:xfrm>
          <a:prstGeom prst="rect">
            <a:avLst/>
          </a:prstGeom>
        </p:spPr>
        <p:txBody>
          <a:bodyPr wrap="square">
            <a:spAutoFit/>
          </a:bodyPr>
          <a:lstStyle/>
          <a:p>
            <a:r>
              <a:rPr lang="ru-RU" b="1" dirty="0">
                <a:latin typeface="Bookman Old Style" panose="02050604050505020204" pitchFamily="18" charset="0"/>
              </a:rPr>
              <a:t>Минусы</a:t>
            </a:r>
          </a:p>
          <a:p>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Если переменная имеет категорию (в тестовом наборе данных), которая не наблюдалась в обучающем наборе данных, то модель присвоит 0 (нулевую) вероятность и не сможет сделать предсказание. Это часто называют нулевой частотой. Чтобы решить эту проблему, мы можем использовать технику сглаживания. </a:t>
            </a:r>
          </a:p>
          <a:p>
            <a:pPr marL="285750" indent="-285750">
              <a:buFont typeface="Arial" panose="020B0604020202020204" pitchFamily="34" charset="0"/>
              <a:buChar char="•"/>
            </a:pPr>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Значения спрогнозированных вероятностей, возвращенные методом </a:t>
            </a:r>
            <a:r>
              <a:rPr lang="ru-RU" dirty="0" err="1">
                <a:latin typeface="Bookman Old Style" panose="02050604050505020204" pitchFamily="18" charset="0"/>
              </a:rPr>
              <a:t>predict_proba</a:t>
            </a:r>
            <a:r>
              <a:rPr lang="en-US" dirty="0">
                <a:latin typeface="Bookman Old Style" panose="02050604050505020204" pitchFamily="18" charset="0"/>
              </a:rPr>
              <a:t> (</a:t>
            </a:r>
            <a:r>
              <a:rPr lang="en-US" dirty="0" err="1">
                <a:latin typeface="Bookman Old Style" panose="02050604050505020204" pitchFamily="18" charset="0"/>
              </a:rPr>
              <a:t>sklearn</a:t>
            </a:r>
            <a:r>
              <a:rPr lang="en-US" dirty="0">
                <a:latin typeface="Bookman Old Style" panose="02050604050505020204" pitchFamily="18" charset="0"/>
              </a:rPr>
              <a:t>)</a:t>
            </a:r>
            <a:r>
              <a:rPr lang="ru-RU" dirty="0">
                <a:latin typeface="Bookman Old Style" panose="02050604050505020204" pitchFamily="18" charset="0"/>
              </a:rPr>
              <a:t>, не всегда являются достаточно точными.</a:t>
            </a:r>
          </a:p>
          <a:p>
            <a:endParaRPr lang="ru-RU" dirty="0">
              <a:latin typeface="Bookman Old Style" panose="02050604050505020204" pitchFamily="18" charset="0"/>
            </a:endParaRPr>
          </a:p>
        </p:txBody>
      </p:sp>
      <p:pic>
        <p:nvPicPr>
          <p:cNvPr id="3" name="Рисунок 2"/>
          <p:cNvPicPr>
            <a:picLocks noChangeAspect="1"/>
          </p:cNvPicPr>
          <p:nvPr/>
        </p:nvPicPr>
        <p:blipFill>
          <a:blip r:embed="rId4"/>
          <a:stretch>
            <a:fillRect/>
          </a:stretch>
        </p:blipFill>
        <p:spPr>
          <a:xfrm>
            <a:off x="936657" y="4646936"/>
            <a:ext cx="6810375" cy="1800225"/>
          </a:xfrm>
          <a:prstGeom prst="rect">
            <a:avLst/>
          </a:prstGeom>
        </p:spPr>
      </p:pic>
    </p:spTree>
    <p:extLst>
      <p:ext uri="{BB962C8B-B14F-4D97-AF65-F5344CB8AC3E}">
        <p14:creationId xmlns:p14="http://schemas.microsoft.com/office/powerpoint/2010/main" val="177767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В каких областях использовать?</a:t>
            </a:r>
          </a:p>
        </p:txBody>
      </p:sp>
      <p:sp>
        <p:nvSpPr>
          <p:cNvPr id="2" name="Прямоугольник 1"/>
          <p:cNvSpPr/>
          <p:nvPr/>
        </p:nvSpPr>
        <p:spPr>
          <a:xfrm>
            <a:off x="635670" y="1582341"/>
            <a:ext cx="10215832" cy="5355312"/>
          </a:xfrm>
          <a:prstGeom prst="rect">
            <a:avLst/>
          </a:prstGeom>
        </p:spPr>
        <p:txBody>
          <a:bodyPr wrap="square">
            <a:spAutoFit/>
          </a:bodyPr>
          <a:lstStyle/>
          <a:p>
            <a:r>
              <a:rPr lang="ru-RU" dirty="0">
                <a:latin typeface="Bookman Old Style" panose="02050604050505020204" pitchFamily="18" charset="0"/>
              </a:rPr>
              <a:t>Данный алгоритм хорошо известен благодаря функции </a:t>
            </a:r>
            <a:r>
              <a:rPr lang="ru-RU" dirty="0" err="1">
                <a:latin typeface="Bookman Old Style" panose="02050604050505020204" pitchFamily="18" charset="0"/>
              </a:rPr>
              <a:t>многоклассового</a:t>
            </a:r>
            <a:r>
              <a:rPr lang="ru-RU" dirty="0">
                <a:latin typeface="Bookman Old Style" panose="02050604050505020204" pitchFamily="18" charset="0"/>
              </a:rPr>
              <a:t> прогнозирования. Мы можем предсказать вероятность нескольких классов целевой переменной.</a:t>
            </a:r>
          </a:p>
          <a:p>
            <a:endParaRPr lang="ru-RU" dirty="0">
              <a:latin typeface="Bookman Old Style" panose="02050604050505020204" pitchFamily="18" charset="0"/>
            </a:endParaRPr>
          </a:p>
          <a:p>
            <a:r>
              <a:rPr lang="ru-RU" dirty="0">
                <a:latin typeface="Bookman Old Style" panose="02050604050505020204" pitchFamily="18" charset="0"/>
              </a:rPr>
              <a:t>Таким образом, идеальные области для применения наивного байесовского классификатора это:</a:t>
            </a:r>
            <a:endParaRPr lang="en-US" dirty="0">
              <a:latin typeface="Bookman Old Style" panose="02050604050505020204" pitchFamily="18" charset="0"/>
            </a:endParaRPr>
          </a:p>
          <a:p>
            <a:endParaRPr lang="en-US" dirty="0">
              <a:latin typeface="Bookman Old Style" panose="02050604050505020204" pitchFamily="18" charset="0"/>
            </a:endParaRPr>
          </a:p>
          <a:p>
            <a:r>
              <a:rPr lang="ru-RU" b="1" dirty="0">
                <a:latin typeface="Bookman Old Style" panose="02050604050505020204" pitchFamily="18" charset="0"/>
              </a:rPr>
              <a:t>Система рекомендаций</a:t>
            </a:r>
            <a:r>
              <a:rPr lang="ru-RU" dirty="0">
                <a:latin typeface="Bookman Old Style" panose="02050604050505020204" pitchFamily="18" charset="0"/>
              </a:rPr>
              <a:t>. </a:t>
            </a:r>
            <a:endParaRPr lang="en-US" dirty="0">
              <a:latin typeface="Bookman Old Style" panose="02050604050505020204" pitchFamily="18" charset="0"/>
            </a:endParaRPr>
          </a:p>
          <a:p>
            <a:r>
              <a:rPr lang="ru-RU" dirty="0">
                <a:latin typeface="Bookman Old Style" panose="02050604050505020204" pitchFamily="18" charset="0"/>
              </a:rPr>
              <a:t>Цель – предсказание того, понравится ли пользователю данный ресурс/продукт или нет.</a:t>
            </a:r>
            <a:endParaRPr lang="en-US" dirty="0">
              <a:latin typeface="Bookman Old Style" panose="02050604050505020204" pitchFamily="18" charset="0"/>
            </a:endParaRPr>
          </a:p>
          <a:p>
            <a:endParaRPr lang="en-US" dirty="0">
              <a:latin typeface="Bookman Old Style" panose="02050604050505020204" pitchFamily="18" charset="0"/>
            </a:endParaRPr>
          </a:p>
          <a:p>
            <a:r>
              <a:rPr lang="ru-RU" b="1" dirty="0">
                <a:latin typeface="Bookman Old Style" panose="02050604050505020204" pitchFamily="18" charset="0"/>
              </a:rPr>
              <a:t>Фильтрация спама и классификация текста</a:t>
            </a:r>
            <a:r>
              <a:rPr lang="ru-RU" dirty="0">
                <a:latin typeface="Bookman Old Style" panose="02050604050505020204" pitchFamily="18" charset="0"/>
              </a:rPr>
              <a:t>. </a:t>
            </a:r>
            <a:endParaRPr lang="en-US" dirty="0">
              <a:latin typeface="Bookman Old Style" panose="02050604050505020204" pitchFamily="18" charset="0"/>
            </a:endParaRPr>
          </a:p>
          <a:p>
            <a:r>
              <a:rPr lang="ru-RU" dirty="0">
                <a:latin typeface="Bookman Old Style" panose="02050604050505020204" pitchFamily="18" charset="0"/>
              </a:rPr>
              <a:t>Наивный байесовский классификатор в основном используются для классификации текстов (благодаря правилу независимости) и имеет более высокую точность по сравнению с другими алгоритмами. В результате он широко используется в фильтрации спама (в электронной почте) и анализе настроений (к примеру, социальных сетей, для выявления положительных и отрицательных настроений клиентов).</a:t>
            </a:r>
          </a:p>
          <a:p>
            <a:endParaRPr lang="ru-RU" dirty="0">
              <a:latin typeface="Bookman Old Style" panose="02050604050505020204" pitchFamily="18" charset="0"/>
            </a:endParaRPr>
          </a:p>
        </p:txBody>
      </p:sp>
    </p:spTree>
    <p:extLst>
      <p:ext uri="{BB962C8B-B14F-4D97-AF65-F5344CB8AC3E}">
        <p14:creationId xmlns:p14="http://schemas.microsoft.com/office/powerpoint/2010/main" val="281118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2" name="Прямоугольник 1"/>
          <p:cNvSpPr/>
          <p:nvPr/>
        </p:nvSpPr>
        <p:spPr>
          <a:xfrm>
            <a:off x="635670" y="1582341"/>
            <a:ext cx="10215832" cy="1754326"/>
          </a:xfrm>
          <a:prstGeom prst="rect">
            <a:avLst/>
          </a:prstGeom>
        </p:spPr>
        <p:txBody>
          <a:bodyPr wrap="square">
            <a:spAutoFit/>
          </a:bodyPr>
          <a:lstStyle/>
          <a:p>
            <a:r>
              <a:rPr lang="ru-RU" b="1" dirty="0">
                <a:latin typeface="Bookman Old Style" panose="02050604050505020204" pitchFamily="18" charset="0"/>
              </a:rPr>
              <a:t>Метод опорных векторов </a:t>
            </a:r>
            <a:r>
              <a:rPr lang="ru-RU" dirty="0">
                <a:latin typeface="Bookman Old Style" panose="02050604050505020204" pitchFamily="18" charset="0"/>
              </a:rPr>
              <a:t>(англ. </a:t>
            </a:r>
            <a:r>
              <a:rPr lang="ru-RU" dirty="0" err="1">
                <a:latin typeface="Bookman Old Style" panose="02050604050505020204" pitchFamily="18" charset="0"/>
              </a:rPr>
              <a:t>support</a:t>
            </a:r>
            <a:r>
              <a:rPr lang="ru-RU" dirty="0">
                <a:latin typeface="Bookman Old Style" panose="02050604050505020204" pitchFamily="18" charset="0"/>
              </a:rPr>
              <a:t> </a:t>
            </a:r>
            <a:r>
              <a:rPr lang="ru-RU" dirty="0" err="1">
                <a:latin typeface="Bookman Old Style" panose="02050604050505020204" pitchFamily="18" charset="0"/>
              </a:rPr>
              <a:t>vector</a:t>
            </a:r>
            <a:r>
              <a:rPr lang="ru-RU" dirty="0">
                <a:latin typeface="Bookman Old Style" panose="02050604050505020204" pitchFamily="18" charset="0"/>
              </a:rPr>
              <a:t> </a:t>
            </a:r>
            <a:r>
              <a:rPr lang="ru-RU" dirty="0" err="1">
                <a:latin typeface="Bookman Old Style" panose="02050604050505020204" pitchFamily="18" charset="0"/>
              </a:rPr>
              <a:t>machine</a:t>
            </a:r>
            <a:r>
              <a:rPr lang="ru-RU" dirty="0">
                <a:latin typeface="Bookman Old Style" panose="02050604050505020204" pitchFamily="18" charset="0"/>
              </a:rPr>
              <a:t>, SVM) </a:t>
            </a:r>
          </a:p>
          <a:p>
            <a:endParaRPr lang="ru-RU" dirty="0">
              <a:latin typeface="Bookman Old Style" panose="02050604050505020204" pitchFamily="18" charset="0"/>
            </a:endParaRPr>
          </a:p>
          <a:p>
            <a:r>
              <a:rPr lang="ru-RU" dirty="0">
                <a:latin typeface="Bookman Old Style" panose="02050604050505020204" pitchFamily="18" charset="0"/>
              </a:rPr>
              <a:t>Основная идея метода заключается в построении гиперплоскости, разделяющей объекты выборки оптимальным способом. Алгоритм работает в предположении, что чем больше расстояние (зазор) между разделяющей гиперплоскостью и объектами разделяемых классов, тем меньше будет средняя ошибка классификатора.</a:t>
            </a:r>
          </a:p>
        </p:txBody>
      </p:sp>
    </p:spTree>
    <p:extLst>
      <p:ext uri="{BB962C8B-B14F-4D97-AF65-F5344CB8AC3E}">
        <p14:creationId xmlns:p14="http://schemas.microsoft.com/office/powerpoint/2010/main" val="2036241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2" name="Прямоугольник 1"/>
          <p:cNvSpPr/>
          <p:nvPr/>
        </p:nvSpPr>
        <p:spPr>
          <a:xfrm>
            <a:off x="635670" y="1582341"/>
            <a:ext cx="10215832" cy="2585323"/>
          </a:xfrm>
          <a:prstGeom prst="rect">
            <a:avLst/>
          </a:prstGeom>
        </p:spPr>
        <p:txBody>
          <a:bodyPr wrap="square">
            <a:spAutoFit/>
          </a:bodyPr>
          <a:lstStyle/>
          <a:p>
            <a:r>
              <a:rPr lang="ru-RU" b="1" dirty="0">
                <a:latin typeface="Bookman Old Style" panose="02050604050505020204" pitchFamily="18" charset="0"/>
              </a:rPr>
              <a:t>Идея метода</a:t>
            </a:r>
          </a:p>
          <a:p>
            <a:endParaRPr lang="ru-RU" dirty="0">
              <a:latin typeface="Bookman Old Style" panose="02050604050505020204" pitchFamily="18" charset="0"/>
            </a:endParaRPr>
          </a:p>
          <a:p>
            <a:r>
              <a:rPr lang="ru-RU" dirty="0">
                <a:latin typeface="Bookman Old Style" panose="02050604050505020204" pitchFamily="18" charset="0"/>
              </a:rPr>
              <a:t>Идею метода удобно проиллюстрировать на следующем простом примере: даны точки на плоскости, разбитые на два класса (рис. 1). Проведем линию, разделяющую эти два класса (красная линия на рис. 1). Далее, все новые точки (не из обучающей выборки) автоматически классифицируются следующим образом:</a:t>
            </a:r>
          </a:p>
          <a:p>
            <a:endParaRPr lang="ru-RU" dirty="0">
              <a:latin typeface="Bookman Old Style" panose="02050604050505020204" pitchFamily="18" charset="0"/>
            </a:endParaRPr>
          </a:p>
          <a:p>
            <a:r>
              <a:rPr lang="ru-RU" dirty="0">
                <a:latin typeface="Bookman Old Style" panose="02050604050505020204" pitchFamily="18" charset="0"/>
              </a:rPr>
              <a:t>точка выше прямой попадает в класс A,</a:t>
            </a:r>
          </a:p>
          <a:p>
            <a:r>
              <a:rPr lang="ru-RU" dirty="0">
                <a:latin typeface="Bookman Old Style" panose="02050604050505020204" pitchFamily="18" charset="0"/>
              </a:rPr>
              <a:t>точка ниже прямой — в класс B.</a:t>
            </a:r>
          </a:p>
        </p:txBody>
      </p:sp>
      <p:pic>
        <p:nvPicPr>
          <p:cNvPr id="3" name="Рисунок 2"/>
          <p:cNvPicPr>
            <a:picLocks noChangeAspect="1"/>
          </p:cNvPicPr>
          <p:nvPr/>
        </p:nvPicPr>
        <p:blipFill>
          <a:blip r:embed="rId4"/>
          <a:stretch>
            <a:fillRect/>
          </a:stretch>
        </p:blipFill>
        <p:spPr>
          <a:xfrm>
            <a:off x="5903750" y="3355290"/>
            <a:ext cx="3398870" cy="2983623"/>
          </a:xfrm>
          <a:prstGeom prst="rect">
            <a:avLst/>
          </a:prstGeom>
        </p:spPr>
      </p:pic>
    </p:spTree>
    <p:extLst>
      <p:ext uri="{BB962C8B-B14F-4D97-AF65-F5344CB8AC3E}">
        <p14:creationId xmlns:p14="http://schemas.microsoft.com/office/powerpoint/2010/main" val="1623834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2" name="Прямоугольник 1"/>
          <p:cNvSpPr/>
          <p:nvPr/>
        </p:nvSpPr>
        <p:spPr>
          <a:xfrm>
            <a:off x="635670" y="1582341"/>
            <a:ext cx="10215832" cy="1754326"/>
          </a:xfrm>
          <a:prstGeom prst="rect">
            <a:avLst/>
          </a:prstGeom>
        </p:spPr>
        <p:txBody>
          <a:bodyPr wrap="square">
            <a:spAutoFit/>
          </a:bodyPr>
          <a:lstStyle/>
          <a:p>
            <a:r>
              <a:rPr lang="ru-RU" dirty="0">
                <a:latin typeface="Bookman Old Style" panose="02050604050505020204" pitchFamily="18" charset="0"/>
              </a:rPr>
              <a:t>Такую прямую назовем разделяющей прямой. Однако, в пространствах высоких размерностей прямая уже не будет разделять наши классы, так как понятие «ниже прямой» или «выше прямой» теряет всякий смысл. Поэтому вместо прямых необходимо рассматривать гиперплоскости — пространства, размерность которых на единицу меньше, чем размерность исходного пространства. В , например, гиперплоскость — это обычная двумерная плоскость.</a:t>
            </a:r>
          </a:p>
        </p:txBody>
      </p:sp>
      <p:pic>
        <p:nvPicPr>
          <p:cNvPr id="7" name="Рисунок 6"/>
          <p:cNvPicPr>
            <a:picLocks noChangeAspect="1"/>
          </p:cNvPicPr>
          <p:nvPr/>
        </p:nvPicPr>
        <p:blipFill>
          <a:blip r:embed="rId4"/>
          <a:stretch>
            <a:fillRect/>
          </a:stretch>
        </p:blipFill>
        <p:spPr>
          <a:xfrm>
            <a:off x="460990" y="3495675"/>
            <a:ext cx="4048125" cy="3362325"/>
          </a:xfrm>
          <a:prstGeom prst="rect">
            <a:avLst/>
          </a:prstGeom>
        </p:spPr>
      </p:pic>
      <p:sp>
        <p:nvSpPr>
          <p:cNvPr id="8" name="Прямоугольник 7"/>
          <p:cNvSpPr/>
          <p:nvPr/>
        </p:nvSpPr>
        <p:spPr>
          <a:xfrm>
            <a:off x="5026090" y="3731444"/>
            <a:ext cx="6096000" cy="646331"/>
          </a:xfrm>
          <a:prstGeom prst="rect">
            <a:avLst/>
          </a:prstGeom>
        </p:spPr>
        <p:txBody>
          <a:bodyPr>
            <a:spAutoFit/>
          </a:bodyPr>
          <a:lstStyle/>
          <a:p>
            <a:r>
              <a:rPr lang="ru-RU" dirty="0">
                <a:latin typeface="Bookman Old Style" panose="02050604050505020204" pitchFamily="18" charset="0"/>
              </a:rPr>
              <a:t>В нашем примере существует несколько прямых, разделяющих два класса </a:t>
            </a:r>
          </a:p>
        </p:txBody>
      </p:sp>
    </p:spTree>
    <p:extLst>
      <p:ext uri="{BB962C8B-B14F-4D97-AF65-F5344CB8AC3E}">
        <p14:creationId xmlns:p14="http://schemas.microsoft.com/office/powerpoint/2010/main" val="170122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pic>
        <p:nvPicPr>
          <p:cNvPr id="7" name="Рисунок 6"/>
          <p:cNvPicPr>
            <a:picLocks noChangeAspect="1"/>
          </p:cNvPicPr>
          <p:nvPr/>
        </p:nvPicPr>
        <p:blipFill>
          <a:blip r:embed="rId4"/>
          <a:stretch>
            <a:fillRect/>
          </a:stretch>
        </p:blipFill>
        <p:spPr>
          <a:xfrm>
            <a:off x="395675" y="1631002"/>
            <a:ext cx="4048125" cy="3362325"/>
          </a:xfrm>
          <a:prstGeom prst="rect">
            <a:avLst/>
          </a:prstGeom>
        </p:spPr>
      </p:pic>
      <p:sp>
        <p:nvSpPr>
          <p:cNvPr id="8" name="Прямоугольник 7"/>
          <p:cNvSpPr/>
          <p:nvPr/>
        </p:nvSpPr>
        <p:spPr>
          <a:xfrm>
            <a:off x="4942114" y="1725362"/>
            <a:ext cx="6096000" cy="3693319"/>
          </a:xfrm>
          <a:prstGeom prst="rect">
            <a:avLst/>
          </a:prstGeom>
        </p:spPr>
        <p:txBody>
          <a:bodyPr>
            <a:spAutoFit/>
          </a:bodyPr>
          <a:lstStyle/>
          <a:p>
            <a:r>
              <a:rPr lang="ru-RU" dirty="0">
                <a:latin typeface="Bookman Old Style" panose="02050604050505020204" pitchFamily="18" charset="0"/>
              </a:rPr>
              <a:t>С точки зрения точности классификации лучше всего выбрать прямую, расстояние от которой до каждого класса максимально. Другими словами, выберем ту прямую, которая разделяет классы наилучшим образом (красная прямая). Такая прямая, а в общем случае — гиперплоскость, называется оптимальной разделяющей гиперплоскостью.</a:t>
            </a:r>
          </a:p>
          <a:p>
            <a:endParaRPr lang="ru-RU" dirty="0">
              <a:latin typeface="Bookman Old Style" panose="02050604050505020204" pitchFamily="18" charset="0"/>
            </a:endParaRPr>
          </a:p>
          <a:p>
            <a:r>
              <a:rPr lang="ru-RU" dirty="0">
                <a:latin typeface="Bookman Old Style" panose="02050604050505020204" pitchFamily="18" charset="0"/>
              </a:rPr>
              <a:t>Вектора, лежащие ближе всех к разделяющей гиперплоскости, называются опорными векторами (</a:t>
            </a:r>
            <a:r>
              <a:rPr lang="ru-RU" dirty="0" err="1">
                <a:latin typeface="Bookman Old Style" panose="02050604050505020204" pitchFamily="18" charset="0"/>
              </a:rPr>
              <a:t>support</a:t>
            </a:r>
            <a:r>
              <a:rPr lang="ru-RU" dirty="0">
                <a:latin typeface="Bookman Old Style" panose="02050604050505020204" pitchFamily="18" charset="0"/>
              </a:rPr>
              <a:t> </a:t>
            </a:r>
            <a:r>
              <a:rPr lang="ru-RU" dirty="0" err="1">
                <a:latin typeface="Bookman Old Style" panose="02050604050505020204" pitchFamily="18" charset="0"/>
              </a:rPr>
              <a:t>vectors</a:t>
            </a:r>
            <a:r>
              <a:rPr lang="ru-RU" dirty="0">
                <a:latin typeface="Bookman Old Style" panose="02050604050505020204" pitchFamily="18" charset="0"/>
              </a:rPr>
              <a:t>). На рисунке они помечены красным.</a:t>
            </a:r>
          </a:p>
        </p:txBody>
      </p:sp>
    </p:spTree>
    <p:extLst>
      <p:ext uri="{BB962C8B-B14F-4D97-AF65-F5344CB8AC3E}">
        <p14:creationId xmlns:p14="http://schemas.microsoft.com/office/powerpoint/2010/main" val="2707462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pic>
        <p:nvPicPr>
          <p:cNvPr id="1026" name="Picture 2" descr="https://scikit-learn.ru/wp-content/uploads/2021/10/image-7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5794" y="1399073"/>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29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10"/>
          <p:cNvSpPr/>
          <p:nvPr/>
        </p:nvSpPr>
        <p:spPr>
          <a:xfrm>
            <a:off x="576769" y="2030309"/>
            <a:ext cx="10974529" cy="2862322"/>
          </a:xfrm>
          <a:prstGeom prst="rect">
            <a:avLst/>
          </a:prstGeom>
        </p:spPr>
        <p:txBody>
          <a:bodyPr wrap="square">
            <a:spAutoFit/>
          </a:bodyPr>
          <a:lstStyle/>
          <a:p>
            <a:r>
              <a:rPr lang="ru-RU" dirty="0">
                <a:latin typeface="Bookman Old Style" panose="02050604050505020204" pitchFamily="18" charset="0"/>
              </a:rPr>
              <a:t>Пусть имеется обучающая выборка:   </a:t>
            </a:r>
            <a:br>
              <a:rPr lang="ru-RU" dirty="0">
                <a:latin typeface="Bookman Old Style" panose="02050604050505020204" pitchFamily="18" charset="0"/>
              </a:rPr>
            </a:br>
            <a:br>
              <a:rPr lang="ru-RU" dirty="0">
                <a:latin typeface="Bookman Old Style" panose="02050604050505020204" pitchFamily="18" charset="0"/>
              </a:rPr>
            </a:br>
            <a:r>
              <a:rPr lang="ru-RU" dirty="0">
                <a:latin typeface="Bookman Old Style" panose="02050604050505020204" pitchFamily="18" charset="0"/>
              </a:rPr>
              <a:t>Метод опорных векторов строит классифицирующую функцию F в виде                                        ,</a:t>
            </a:r>
          </a:p>
          <a:p>
            <a:br>
              <a:rPr lang="ru-RU" dirty="0">
                <a:latin typeface="Bookman Old Style" panose="02050604050505020204" pitchFamily="18" charset="0"/>
              </a:rPr>
            </a:br>
            <a:r>
              <a:rPr lang="ru-RU" dirty="0">
                <a:latin typeface="Bookman Old Style" panose="02050604050505020204" pitchFamily="18" charset="0"/>
              </a:rPr>
              <a:t>где          — скалярное произведение, w — нормальный вектор к разделяющей гиперплоскости, b — вспомогательный параметр. </a:t>
            </a:r>
          </a:p>
          <a:p>
            <a:r>
              <a:rPr lang="ru-RU" dirty="0">
                <a:latin typeface="Bookman Old Style" panose="02050604050505020204" pitchFamily="18" charset="0"/>
              </a:rPr>
              <a:t>Те объекты, для которых F(x) = 1 попадают в один класс, а объекты с F(x) = -1 — в другой. Выбор именно такой функции неслучаен: любая гиперплоскость может быть задана в виде                                    для некоторых w и b. </a:t>
            </a:r>
          </a:p>
        </p:txBody>
      </p:sp>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3" name="Прямоугольник 2"/>
          <p:cNvSpPr/>
          <p:nvPr/>
        </p:nvSpPr>
        <p:spPr>
          <a:xfrm>
            <a:off x="632132" y="1493609"/>
            <a:ext cx="4219425" cy="369332"/>
          </a:xfrm>
          <a:prstGeom prst="rect">
            <a:avLst/>
          </a:prstGeom>
        </p:spPr>
        <p:txBody>
          <a:bodyPr wrap="none">
            <a:spAutoFit/>
          </a:bodyPr>
          <a:lstStyle/>
          <a:p>
            <a:r>
              <a:rPr lang="ru-RU" b="1" dirty="0">
                <a:latin typeface="Bookman Old Style" panose="02050604050505020204" pitchFamily="18" charset="0"/>
              </a:rPr>
              <a:t>Формальная постановка задачи</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https://habrastorage.org/r/w1560/storage/habraeffect/ec/0f/ec0fd2147020136102f199d84731533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327" y="2071397"/>
            <a:ext cx="5189449" cy="28924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https://habrastorage.org/r/w1560/storage/habraeffect/9e/39/9e39396ca18b921d9afbef6d92607ddb.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1339" y="2920210"/>
            <a:ext cx="2694961" cy="2759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habrastorage.org/r/w1560/storage/habraeffect/bc/aa/bcaa9f6be3acdb74579d883fa63c21f3.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9506" y="3363568"/>
            <a:ext cx="512956" cy="34881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https://habrastorage.org/r/w1560/storage/habraeffect/bb/77/bb77637fa821ab46507330ed645ceb33.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7888" y="4527130"/>
            <a:ext cx="1925781" cy="33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968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 name="Рисунок 1"/>
          <p:cNvPicPr>
            <a:picLocks noChangeAspect="1"/>
          </p:cNvPicPr>
          <p:nvPr/>
        </p:nvPicPr>
        <p:blipFill>
          <a:blip r:embed="rId4"/>
          <a:stretch>
            <a:fillRect/>
          </a:stretch>
        </p:blipFill>
        <p:spPr>
          <a:xfrm>
            <a:off x="4210531" y="2294942"/>
            <a:ext cx="3724275" cy="3238500"/>
          </a:xfrm>
          <a:prstGeom prst="rect">
            <a:avLst/>
          </a:prstGeom>
        </p:spPr>
      </p:pic>
      <p:sp>
        <p:nvSpPr>
          <p:cNvPr id="7" name="Прямоугольник 6"/>
          <p:cNvSpPr/>
          <p:nvPr/>
        </p:nvSpPr>
        <p:spPr>
          <a:xfrm>
            <a:off x="637169" y="1758568"/>
            <a:ext cx="10195672" cy="646331"/>
          </a:xfrm>
          <a:prstGeom prst="rect">
            <a:avLst/>
          </a:prstGeom>
        </p:spPr>
        <p:txBody>
          <a:bodyPr wrap="square">
            <a:spAutoFit/>
          </a:bodyPr>
          <a:lstStyle/>
          <a:p>
            <a:r>
              <a:rPr lang="ru-RU" dirty="0">
                <a:latin typeface="Bookman Old Style" panose="02050604050505020204" pitchFamily="18" charset="0"/>
              </a:rPr>
              <a:t>Таким образом, нужно выбрать такие w и b которые максимизируют расстояние до каждого класса.</a:t>
            </a:r>
          </a:p>
        </p:txBody>
      </p:sp>
    </p:spTree>
    <p:extLst>
      <p:ext uri="{BB962C8B-B14F-4D97-AF65-F5344CB8AC3E}">
        <p14:creationId xmlns:p14="http://schemas.microsoft.com/office/powerpoint/2010/main" val="2631388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Прямоугольник 7"/>
          <p:cNvSpPr/>
          <p:nvPr/>
        </p:nvSpPr>
        <p:spPr>
          <a:xfrm>
            <a:off x="635669" y="1187564"/>
            <a:ext cx="10719685" cy="5078313"/>
          </a:xfrm>
          <a:prstGeom prst="rect">
            <a:avLst/>
          </a:prstGeom>
        </p:spPr>
        <p:txBody>
          <a:bodyPr wrap="square">
            <a:spAutoFit/>
          </a:bodyPr>
          <a:lstStyle/>
          <a:p>
            <a:r>
              <a:rPr lang="ru-RU" b="1" dirty="0">
                <a:latin typeface="Bookman Old Style" panose="02050604050505020204" pitchFamily="18" charset="0"/>
              </a:rPr>
              <a:t>Преимущества</a:t>
            </a:r>
            <a:r>
              <a:rPr lang="ru-RU" dirty="0">
                <a:latin typeface="Bookman Old Style" panose="02050604050505020204" pitchFamily="18" charset="0"/>
              </a:rPr>
              <a:t>:</a:t>
            </a:r>
          </a:p>
          <a:p>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Эффективен в пространствах больших размеров.</a:t>
            </a:r>
          </a:p>
          <a:p>
            <a:pPr marL="285750" indent="-285750">
              <a:buFont typeface="Arial" panose="020B0604020202020204" pitchFamily="34" charset="0"/>
              <a:buChar char="•"/>
            </a:pPr>
            <a:r>
              <a:rPr lang="ru-RU" dirty="0">
                <a:latin typeface="Bookman Old Style" panose="02050604050505020204" pitchFamily="18" charset="0"/>
              </a:rPr>
              <a:t>Эффективен в случаях, когда количество измерений превышает количество образцов.</a:t>
            </a:r>
          </a:p>
          <a:p>
            <a:pPr marL="285750" indent="-285750">
              <a:buFont typeface="Arial" panose="020B0604020202020204" pitchFamily="34" charset="0"/>
              <a:buChar char="•"/>
            </a:pPr>
            <a:r>
              <a:rPr lang="ru-RU" dirty="0">
                <a:latin typeface="Bookman Old Style" panose="02050604050505020204" pitchFamily="18" charset="0"/>
              </a:rPr>
              <a:t>Принцип оптимальной разделяющей гиперплоскости приводит к максимизации ширины разделяющей полосы, а следовательно, к более уверенной классификации</a:t>
            </a:r>
          </a:p>
          <a:p>
            <a:pPr marL="285750" indent="-285750">
              <a:buFont typeface="Arial" panose="020B0604020202020204" pitchFamily="34" charset="0"/>
              <a:buChar char="•"/>
            </a:pPr>
            <a:r>
              <a:rPr lang="ru-RU" dirty="0">
                <a:latin typeface="Bookman Old Style" panose="02050604050505020204" pitchFamily="18" charset="0"/>
              </a:rPr>
              <a:t>Использует подмножество обучающих точек в функции принятия решений (называемых опорными векторами), поэтому это также эффективно с точки зрения памяти.</a:t>
            </a:r>
          </a:p>
          <a:p>
            <a:endParaRPr lang="en-US" dirty="0">
              <a:latin typeface="Bookman Old Style" panose="02050604050505020204" pitchFamily="18" charset="0"/>
            </a:endParaRPr>
          </a:p>
          <a:p>
            <a:r>
              <a:rPr lang="ru-RU" dirty="0">
                <a:latin typeface="Bookman Old Style" panose="02050604050505020204" pitchFamily="18" charset="0"/>
              </a:rPr>
              <a:t>К </a:t>
            </a:r>
            <a:r>
              <a:rPr lang="ru-RU" b="1" dirty="0">
                <a:latin typeface="Bookman Old Style" panose="02050604050505020204" pitchFamily="18" charset="0"/>
              </a:rPr>
              <a:t>недостаткам</a:t>
            </a:r>
            <a:r>
              <a:rPr lang="ru-RU" dirty="0">
                <a:latin typeface="Bookman Old Style" panose="02050604050505020204" pitchFamily="18" charset="0"/>
              </a:rPr>
              <a:t> опорных векторных машин можно отнести:</a:t>
            </a:r>
          </a:p>
          <a:p>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Если количество функций намного превышает количество выборок, стоит избегать чрезмерной подгонки при выборе функций ядра.</a:t>
            </a:r>
          </a:p>
          <a:p>
            <a:pPr marL="285750" indent="-285750">
              <a:buFont typeface="Arial" panose="020B0604020202020204" pitchFamily="34" charset="0"/>
              <a:buChar char="•"/>
            </a:pPr>
            <a:r>
              <a:rPr lang="ru-RU" dirty="0">
                <a:latin typeface="Bookman Old Style" panose="02050604050505020204" pitchFamily="18" charset="0"/>
              </a:rPr>
              <a:t>Неустойчивость к шуму: выбросы в исходных данных становятся опорными объектами-нарушителями и напрямую влияют на построение разделяющей гиперплоскости</a:t>
            </a:r>
          </a:p>
          <a:p>
            <a:pPr marL="285750" indent="-285750">
              <a:buFont typeface="Arial" panose="020B0604020202020204" pitchFamily="34" charset="0"/>
              <a:buChar char="•"/>
            </a:pPr>
            <a:r>
              <a:rPr lang="ru-RU" dirty="0">
                <a:latin typeface="Bookman Old Style" panose="02050604050505020204" pitchFamily="18" charset="0"/>
              </a:rPr>
              <a:t>Нет отбора признаков</a:t>
            </a:r>
          </a:p>
        </p:txBody>
      </p:sp>
    </p:spTree>
    <p:extLst>
      <p:ext uri="{BB962C8B-B14F-4D97-AF65-F5344CB8AC3E}">
        <p14:creationId xmlns:p14="http://schemas.microsoft.com/office/powerpoint/2010/main" val="2991324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Метод опорных векторов</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3" name="Прямоугольник 2"/>
          <p:cNvSpPr/>
          <p:nvPr/>
        </p:nvSpPr>
        <p:spPr>
          <a:xfrm>
            <a:off x="635670" y="1749404"/>
            <a:ext cx="3507122"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Bookman Old Style" panose="02050604050505020204" pitchFamily="18" charset="0"/>
              </a:rPr>
              <a:t>from </a:t>
            </a:r>
            <a:r>
              <a:rPr lang="en-US" dirty="0" err="1">
                <a:latin typeface="Bookman Old Style" panose="02050604050505020204" pitchFamily="18" charset="0"/>
              </a:rPr>
              <a:t>sklearn</a:t>
            </a:r>
            <a:r>
              <a:rPr lang="en-US" dirty="0">
                <a:latin typeface="Bookman Old Style" panose="02050604050505020204" pitchFamily="18" charset="0"/>
              </a:rPr>
              <a:t> import </a:t>
            </a:r>
            <a:r>
              <a:rPr lang="en-US" dirty="0" err="1">
                <a:latin typeface="Bookman Old Style" panose="02050604050505020204" pitchFamily="18" charset="0"/>
              </a:rPr>
              <a:t>svm</a:t>
            </a:r>
            <a:endParaRPr lang="ru-RU" dirty="0">
              <a:latin typeface="Bookman Old Style" panose="02050604050505020204" pitchFamily="18" charset="0"/>
            </a:endParaRPr>
          </a:p>
          <a:p>
            <a:r>
              <a:rPr lang="en-US" dirty="0">
                <a:latin typeface="Bookman Old Style" panose="02050604050505020204" pitchFamily="18" charset="0"/>
              </a:rPr>
              <a:t>X= …</a:t>
            </a:r>
          </a:p>
          <a:p>
            <a:r>
              <a:rPr lang="en-US" dirty="0">
                <a:latin typeface="Bookman Old Style" panose="02050604050505020204" pitchFamily="18" charset="0"/>
              </a:rPr>
              <a:t>y = …</a:t>
            </a:r>
            <a:endParaRPr lang="ru-RU" dirty="0">
              <a:latin typeface="Bookman Old Style" panose="02050604050505020204" pitchFamily="18" charset="0"/>
            </a:endParaRPr>
          </a:p>
          <a:p>
            <a:endParaRPr lang="en-US" dirty="0">
              <a:latin typeface="Bookman Old Style" panose="02050604050505020204" pitchFamily="18" charset="0"/>
            </a:endParaRPr>
          </a:p>
          <a:p>
            <a:r>
              <a:rPr lang="en-US" dirty="0" err="1">
                <a:latin typeface="Bookman Old Style" panose="02050604050505020204" pitchFamily="18" charset="0"/>
              </a:rPr>
              <a:t>clf</a:t>
            </a:r>
            <a:r>
              <a:rPr lang="en-US" dirty="0">
                <a:latin typeface="Bookman Old Style" panose="02050604050505020204" pitchFamily="18" charset="0"/>
              </a:rPr>
              <a:t> = </a:t>
            </a:r>
            <a:r>
              <a:rPr lang="en-US" dirty="0" err="1">
                <a:latin typeface="Bookman Old Style" panose="02050604050505020204" pitchFamily="18" charset="0"/>
              </a:rPr>
              <a:t>svm.SVC</a:t>
            </a:r>
            <a:r>
              <a:rPr lang="en-US" dirty="0">
                <a:latin typeface="Bookman Old Style" panose="02050604050505020204" pitchFamily="18" charset="0"/>
              </a:rPr>
              <a:t>()</a:t>
            </a:r>
          </a:p>
          <a:p>
            <a:r>
              <a:rPr lang="en-US" dirty="0" err="1">
                <a:latin typeface="Bookman Old Style" panose="02050604050505020204" pitchFamily="18" charset="0"/>
              </a:rPr>
              <a:t>clf.fit</a:t>
            </a:r>
            <a:r>
              <a:rPr lang="en-US" dirty="0">
                <a:latin typeface="Bookman Old Style" panose="02050604050505020204" pitchFamily="18" charset="0"/>
              </a:rPr>
              <a:t>(X, y)</a:t>
            </a:r>
          </a:p>
          <a:p>
            <a:r>
              <a:rPr lang="en-US" dirty="0">
                <a:latin typeface="Bookman Old Style" panose="02050604050505020204" pitchFamily="18" charset="0"/>
              </a:rPr>
              <a:t>SVC()</a:t>
            </a:r>
            <a:endParaRPr lang="ru-RU" dirty="0">
              <a:latin typeface="Bookman Old Style" panose="02050604050505020204" pitchFamily="18" charset="0"/>
            </a:endParaRPr>
          </a:p>
        </p:txBody>
      </p:sp>
      <p:pic>
        <p:nvPicPr>
          <p:cNvPr id="7" name="Рисунок 6"/>
          <p:cNvPicPr>
            <a:picLocks noChangeAspect="1"/>
          </p:cNvPicPr>
          <p:nvPr/>
        </p:nvPicPr>
        <p:blipFill>
          <a:blip r:embed="rId4"/>
          <a:stretch>
            <a:fillRect/>
          </a:stretch>
        </p:blipFill>
        <p:spPr>
          <a:xfrm>
            <a:off x="4717503" y="1607525"/>
            <a:ext cx="5238750" cy="3381375"/>
          </a:xfrm>
          <a:prstGeom prst="rect">
            <a:avLst/>
          </a:prstGeom>
        </p:spPr>
      </p:pic>
      <p:sp>
        <p:nvSpPr>
          <p:cNvPr id="9" name="Прямоугольник 8"/>
          <p:cNvSpPr/>
          <p:nvPr/>
        </p:nvSpPr>
        <p:spPr>
          <a:xfrm>
            <a:off x="645454" y="4342569"/>
            <a:ext cx="3264035" cy="646331"/>
          </a:xfrm>
          <a:prstGeom prst="rect">
            <a:avLst/>
          </a:prstGeom>
        </p:spPr>
        <p:txBody>
          <a:bodyPr wrap="none">
            <a:spAutoFit/>
          </a:bodyPr>
          <a:lstStyle/>
          <a:p>
            <a:r>
              <a:rPr lang="ru-RU" dirty="0">
                <a:latin typeface="Bookman Old Style" panose="02050604050505020204" pitchFamily="18" charset="0"/>
              </a:rPr>
              <a:t>Добавление к задаче </a:t>
            </a:r>
          </a:p>
          <a:p>
            <a:r>
              <a:rPr lang="ru-RU" dirty="0">
                <a:latin typeface="Bookman Old Style" panose="02050604050505020204" pitchFamily="18" charset="0"/>
              </a:rPr>
              <a:t>о классификации Ирисов:</a:t>
            </a:r>
          </a:p>
        </p:txBody>
      </p:sp>
    </p:spTree>
    <p:extLst>
      <p:ext uri="{BB962C8B-B14F-4D97-AF65-F5344CB8AC3E}">
        <p14:creationId xmlns:p14="http://schemas.microsoft.com/office/powerpoint/2010/main" val="156164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3270</TotalTime>
  <Words>1683</Words>
  <Application>Microsoft Office PowerPoint</Application>
  <PresentationFormat>Широкоэкранный</PresentationFormat>
  <Paragraphs>191</Paragraphs>
  <Slides>26</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26</vt:i4>
      </vt:variant>
    </vt:vector>
  </HeadingPairs>
  <TitlesOfParts>
    <vt:vector size="33" baseType="lpstr">
      <vt:lpstr>Arial</vt:lpstr>
      <vt:lpstr>AvantGardeGothicCTT</vt:lpstr>
      <vt:lpstr>Bookman Old Style</vt:lpstr>
      <vt:lpstr>Calibri</vt:lpstr>
      <vt:lpstr>Calibri Light</vt:lpstr>
      <vt:lpstr>Consolas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Учетная запись Майкрософт</dc:creator>
  <cp:lastModifiedBy>Дементьева Кристина</cp:lastModifiedBy>
  <cp:revision>55</cp:revision>
  <dcterms:created xsi:type="dcterms:W3CDTF">2023-08-23T05:44:28Z</dcterms:created>
  <dcterms:modified xsi:type="dcterms:W3CDTF">2025-09-23T09:14:29Z</dcterms:modified>
</cp:coreProperties>
</file>