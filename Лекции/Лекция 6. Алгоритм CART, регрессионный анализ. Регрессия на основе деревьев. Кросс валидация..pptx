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331" r:id="rId3"/>
    <p:sldId id="333" r:id="rId4"/>
    <p:sldId id="334" r:id="rId5"/>
    <p:sldId id="321" r:id="rId6"/>
    <p:sldId id="335" r:id="rId7"/>
    <p:sldId id="336" r:id="rId8"/>
    <p:sldId id="276" r:id="rId9"/>
    <p:sldId id="337" r:id="rId10"/>
    <p:sldId id="338" r:id="rId11"/>
    <p:sldId id="339" r:id="rId12"/>
    <p:sldId id="340" r:id="rId13"/>
    <p:sldId id="341" r:id="rId14"/>
    <p:sldId id="342" r:id="rId15"/>
    <p:sldId id="344" r:id="rId16"/>
    <p:sldId id="345" r:id="rId17"/>
    <p:sldId id="343"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B7DE"/>
    <a:srgbClr val="A9DD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7" autoAdjust="0"/>
  </p:normalViewPr>
  <p:slideViewPr>
    <p:cSldViewPr snapToGrid="0">
      <p:cViewPr varScale="1">
        <p:scale>
          <a:sx n="31" d="100"/>
          <a:sy n="31" d="100"/>
        </p:scale>
        <p:origin x="618" y="2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97C6D7-BF3B-42FC-91F0-99BFD321B0AA}" type="datetimeFigureOut">
              <a:rPr lang="ru-RU" smtClean="0"/>
              <a:t>11.10.2025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69BB3-D495-4F17-A4D7-5AE572FCE6CA}" type="slidenum">
              <a:rPr lang="ru-RU" smtClean="0"/>
              <a:t>‹#›</a:t>
            </a:fld>
            <a:endParaRPr lang="ru-RU"/>
          </a:p>
        </p:txBody>
      </p:sp>
    </p:spTree>
    <p:extLst>
      <p:ext uri="{BB962C8B-B14F-4D97-AF65-F5344CB8AC3E}">
        <p14:creationId xmlns:p14="http://schemas.microsoft.com/office/powerpoint/2010/main" val="16321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712B4C39-779B-456F-B6F7-709D0BC5EA86}" type="datetimeFigureOut">
              <a:rPr lang="ru-RU" smtClean="0"/>
              <a:t>11.10.2025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1617539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11.10.2025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114116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12B4C39-779B-456F-B6F7-709D0BC5EA86}" type="datetimeFigureOut">
              <a:rPr lang="ru-RU" smtClean="0"/>
              <a:t>11.10.2025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690172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712B4C39-779B-456F-B6F7-709D0BC5EA86}" type="datetimeFigureOut">
              <a:rPr lang="ru-RU" smtClean="0"/>
              <a:t>11.10.2025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87195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712B4C39-779B-456F-B6F7-709D0BC5EA86}" type="datetimeFigureOut">
              <a:rPr lang="ru-RU" smtClean="0"/>
              <a:t>11.10.2025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248213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712B4C39-779B-456F-B6F7-709D0BC5EA86}" type="datetimeFigureOut">
              <a:rPr lang="ru-RU" smtClean="0"/>
              <a:t>11.10.2025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84764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12B4C39-779B-456F-B6F7-709D0BC5EA86}" type="datetimeFigureOut">
              <a:rPr lang="ru-RU" smtClean="0"/>
              <a:t>11.10.2025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24842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12B4C39-779B-456F-B6F7-709D0BC5EA86}" type="datetimeFigureOut">
              <a:rPr lang="ru-RU" smtClean="0"/>
              <a:t>11.10.2025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1176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12B4C39-779B-456F-B6F7-709D0BC5EA86}" type="datetimeFigureOut">
              <a:rPr lang="ru-RU" smtClean="0"/>
              <a:t>11.10.2025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394333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11.10.2025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743647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11.10.2025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42951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2B4C39-779B-456F-B6F7-709D0BC5EA86}" type="datetimeFigureOut">
              <a:rPr lang="ru-RU" smtClean="0"/>
              <a:t>11.10.2025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DAFC8-B654-4173-BA48-78DA0FDD1ECD}" type="slidenum">
              <a:rPr lang="ru-RU" smtClean="0"/>
              <a:t>‹#›</a:t>
            </a:fld>
            <a:endParaRPr lang="ru-RU"/>
          </a:p>
        </p:txBody>
      </p:sp>
    </p:spTree>
    <p:extLst>
      <p:ext uri="{BB962C8B-B14F-4D97-AF65-F5344CB8AC3E}">
        <p14:creationId xmlns:p14="http://schemas.microsoft.com/office/powerpoint/2010/main" val="3507657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111642">
            <a:off x="7442248" y="879012"/>
            <a:ext cx="5859056" cy="5658577"/>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rcRect/>
            <a:stretch>
              <a:fillRect r="-18832"/>
            </a:stretch>
          </a:blipFill>
        </p:spPr>
      </p:sp>
      <p:sp>
        <p:nvSpPr>
          <p:cNvPr id="4" name="Freeform 4"/>
          <p:cNvSpPr/>
          <p:nvPr/>
        </p:nvSpPr>
        <p:spPr>
          <a:xfrm>
            <a:off x="2878961" y="6172200"/>
            <a:ext cx="6484879" cy="685800"/>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rcRect/>
            <a:stretch>
              <a:fillRect b="-202028"/>
            </a:stretch>
          </a:blipFill>
        </p:spPr>
      </p:sp>
      <p:sp>
        <p:nvSpPr>
          <p:cNvPr id="5" name="TextBox 5"/>
          <p:cNvSpPr txBox="1"/>
          <p:nvPr/>
        </p:nvSpPr>
        <p:spPr>
          <a:xfrm>
            <a:off x="616540" y="976354"/>
            <a:ext cx="5696501" cy="3170099"/>
          </a:xfrm>
          <a:prstGeom prst="rect">
            <a:avLst/>
          </a:prstGeom>
        </p:spPr>
        <p:txBody>
          <a:bodyPr lIns="0" tIns="0" rIns="0" bIns="0" rtlCol="0" anchor="t">
            <a:spAutoFit/>
          </a:bodyPr>
          <a:lstStyle/>
          <a:p>
            <a:r>
              <a:rPr lang="ru-RU" sz="5400" dirty="0">
                <a:solidFill>
                  <a:srgbClr val="004AAD"/>
                </a:solidFill>
                <a:latin typeface="Bookman Old Style" panose="02050604050505020204" pitchFamily="18" charset="0"/>
              </a:rPr>
              <a:t>Методы машинного обучения.</a:t>
            </a:r>
            <a:endParaRPr lang="en-US" sz="5400" dirty="0">
              <a:solidFill>
                <a:srgbClr val="004AAD"/>
              </a:solidFill>
              <a:latin typeface="Bookman Old Style" panose="02050604050505020204" pitchFamily="18" charset="0"/>
            </a:endParaRPr>
          </a:p>
          <a:p>
            <a:r>
              <a:rPr lang="ru-RU" sz="4400" dirty="0">
                <a:solidFill>
                  <a:srgbClr val="004AAD"/>
                </a:solidFill>
                <a:latin typeface="Bookman Old Style" panose="02050604050505020204" pitchFamily="18" charset="0"/>
              </a:rPr>
              <a:t>Лекция №6</a:t>
            </a:r>
            <a:endParaRPr lang="en-US" sz="4400" dirty="0">
              <a:solidFill>
                <a:srgbClr val="004AAD"/>
              </a:solidFill>
              <a:latin typeface="Bookman Old Style" panose="02050604050505020204" pitchFamily="18" charset="0"/>
            </a:endParaRPr>
          </a:p>
        </p:txBody>
      </p:sp>
      <p:sp>
        <p:nvSpPr>
          <p:cNvPr id="6" name="TextBox 6"/>
          <p:cNvSpPr txBox="1"/>
          <p:nvPr/>
        </p:nvSpPr>
        <p:spPr>
          <a:xfrm>
            <a:off x="616540" y="4654773"/>
            <a:ext cx="6826676" cy="923330"/>
          </a:xfrm>
          <a:prstGeom prst="rect">
            <a:avLst/>
          </a:prstGeom>
        </p:spPr>
        <p:txBody>
          <a:bodyPr wrap="square" lIns="0" tIns="0" rIns="0" bIns="0" rtlCol="0" anchor="t">
            <a:spAutoFit/>
          </a:bodyPr>
          <a:lstStyle/>
          <a:p>
            <a:r>
              <a:rPr lang="ru-RU" sz="2800" dirty="0">
                <a:solidFill>
                  <a:srgbClr val="2BB4D4"/>
                </a:solidFill>
                <a:latin typeface="Bookman Old Style" panose="02050604050505020204" pitchFamily="18" charset="0"/>
              </a:rPr>
              <a:t>Дементьева Кристина Игоревна, </a:t>
            </a:r>
            <a:endParaRPr lang="en-US" sz="2800" dirty="0">
              <a:solidFill>
                <a:srgbClr val="2BB4D4"/>
              </a:solidFill>
              <a:latin typeface="Bookman Old Style" panose="02050604050505020204" pitchFamily="18" charset="0"/>
            </a:endParaRPr>
          </a:p>
          <a:p>
            <a:r>
              <a:rPr lang="ru-RU" sz="1600" dirty="0">
                <a:solidFill>
                  <a:srgbClr val="2BB4D4"/>
                </a:solidFill>
                <a:latin typeface="Bookman Old Style" panose="02050604050505020204" pitchFamily="18" charset="0"/>
              </a:rPr>
              <a:t>Старший преподаватель кафедры Прикладной математики и кибернетики СибГУТИ</a:t>
            </a:r>
            <a:endParaRPr lang="en-US" sz="1600" dirty="0">
              <a:solidFill>
                <a:srgbClr val="2BB4D4"/>
              </a:solidFill>
              <a:latin typeface="Bookman Old Style" panose="02050604050505020204" pitchFamily="18" charset="0"/>
            </a:endParaRPr>
          </a:p>
        </p:txBody>
      </p:sp>
      <p:sp>
        <p:nvSpPr>
          <p:cNvPr id="8" name="TextBox 8"/>
          <p:cNvSpPr txBox="1"/>
          <p:nvPr/>
        </p:nvSpPr>
        <p:spPr>
          <a:xfrm>
            <a:off x="604142" y="6220147"/>
            <a:ext cx="3234585" cy="294953"/>
          </a:xfrm>
          <a:prstGeom prst="rect">
            <a:avLst/>
          </a:prstGeom>
        </p:spPr>
        <p:txBody>
          <a:bodyPr lIns="0" tIns="0" rIns="0" bIns="0" rtlCol="0" anchor="t">
            <a:spAutoFit/>
          </a:bodyPr>
          <a:lstStyle/>
          <a:p>
            <a:pPr>
              <a:lnSpc>
                <a:spcPts val="2333"/>
              </a:lnSpc>
            </a:pPr>
            <a:r>
              <a:rPr lang="en-US" sz="1666" spc="83" dirty="0">
                <a:solidFill>
                  <a:srgbClr val="A9DDE9"/>
                </a:solidFill>
                <a:latin typeface="Bookman Old Style" panose="02050604050505020204" pitchFamily="18" charset="0"/>
              </a:rPr>
              <a:t>kirsten-frost@mail.ru</a:t>
            </a:r>
          </a:p>
        </p:txBody>
      </p:sp>
      <p:sp>
        <p:nvSpPr>
          <p:cNvPr id="9" name="TextBox 8"/>
          <p:cNvSpPr txBox="1"/>
          <p:nvPr/>
        </p:nvSpPr>
        <p:spPr>
          <a:xfrm rot="16200000">
            <a:off x="9979003" y="3011534"/>
            <a:ext cx="3666388"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Bookman Old Style" panose="02050604050505020204" pitchFamily="18" charset="0"/>
              </a:rPr>
              <a:t>Методы машинного обучения</a:t>
            </a:r>
          </a:p>
        </p:txBody>
      </p:sp>
    </p:spTree>
    <p:extLst>
      <p:ext uri="{BB962C8B-B14F-4D97-AF65-F5344CB8AC3E}">
        <p14:creationId xmlns:p14="http://schemas.microsoft.com/office/powerpoint/2010/main" val="2836898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Регрессионный анализ</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4" name="Прямоугольник 13"/>
          <p:cNvSpPr/>
          <p:nvPr/>
        </p:nvSpPr>
        <p:spPr>
          <a:xfrm>
            <a:off x="635670" y="1588495"/>
            <a:ext cx="10187840" cy="3693319"/>
          </a:xfrm>
          <a:prstGeom prst="rect">
            <a:avLst/>
          </a:prstGeom>
        </p:spPr>
        <p:txBody>
          <a:bodyPr wrap="square">
            <a:spAutoFit/>
          </a:bodyPr>
          <a:lstStyle/>
          <a:p>
            <a:r>
              <a:rPr lang="ru-RU" b="1" dirty="0">
                <a:latin typeface="Bookman Old Style" panose="02050604050505020204" pitchFamily="18" charset="0"/>
              </a:rPr>
              <a:t>Регрессионный анализ </a:t>
            </a:r>
            <a:r>
              <a:rPr lang="ru-RU" dirty="0">
                <a:latin typeface="Bookman Old Style" panose="02050604050505020204" pitchFamily="18" charset="0"/>
              </a:rPr>
              <a:t>— набор статистических методов исследования влияния одной или нескольких независимых переменных </a:t>
            </a:r>
            <a:r>
              <a:rPr lang="en-US" dirty="0">
                <a:latin typeface="Bookman Old Style" panose="02050604050505020204" pitchFamily="18" charset="0"/>
              </a:rPr>
              <a:t>X</a:t>
            </a:r>
            <a:r>
              <a:rPr lang="en-US" baseline="-25000" dirty="0">
                <a:latin typeface="Bookman Old Style" panose="02050604050505020204" pitchFamily="18" charset="0"/>
              </a:rPr>
              <a:t>1</a:t>
            </a:r>
            <a:r>
              <a:rPr lang="en-US" dirty="0">
                <a:latin typeface="Bookman Old Style" panose="02050604050505020204" pitchFamily="18" charset="0"/>
              </a:rPr>
              <a:t>, X</a:t>
            </a:r>
            <a:r>
              <a:rPr lang="en-US" baseline="-25000" dirty="0">
                <a:latin typeface="Bookman Old Style" panose="02050604050505020204" pitchFamily="18" charset="0"/>
              </a:rPr>
              <a:t>2</a:t>
            </a:r>
            <a:r>
              <a:rPr lang="en-US" dirty="0">
                <a:latin typeface="Bookman Old Style" panose="02050604050505020204" pitchFamily="18" charset="0"/>
              </a:rPr>
              <a:t>, X</a:t>
            </a:r>
            <a:r>
              <a:rPr lang="en-US" baseline="-25000" dirty="0">
                <a:latin typeface="Bookman Old Style" panose="02050604050505020204" pitchFamily="18" charset="0"/>
              </a:rPr>
              <a:t>3</a:t>
            </a:r>
            <a:r>
              <a:rPr lang="en-US" dirty="0">
                <a:latin typeface="Bookman Old Style" panose="02050604050505020204" pitchFamily="18" charset="0"/>
              </a:rPr>
              <a:t>… </a:t>
            </a:r>
            <a:r>
              <a:rPr lang="ru-RU" dirty="0">
                <a:latin typeface="Bookman Old Style" panose="02050604050505020204" pitchFamily="18" charset="0"/>
              </a:rPr>
              <a:t>на зависимую переменную Y. </a:t>
            </a:r>
            <a:endParaRPr lang="en-US" dirty="0">
              <a:latin typeface="Bookman Old Style" panose="02050604050505020204" pitchFamily="18" charset="0"/>
            </a:endParaRPr>
          </a:p>
          <a:p>
            <a:endParaRPr lang="en-US" dirty="0">
              <a:latin typeface="Bookman Old Style" panose="02050604050505020204" pitchFamily="18" charset="0"/>
            </a:endParaRPr>
          </a:p>
          <a:p>
            <a:r>
              <a:rPr lang="ru-RU" dirty="0">
                <a:latin typeface="Bookman Old Style" panose="02050604050505020204" pitchFamily="18" charset="0"/>
              </a:rPr>
              <a:t>Независимые переменные иначе называют регрессорами или предикторами, а зависимые переменные — </a:t>
            </a:r>
            <a:r>
              <a:rPr lang="ru-RU" dirty="0" err="1">
                <a:latin typeface="Bookman Old Style" panose="02050604050505020204" pitchFamily="18" charset="0"/>
              </a:rPr>
              <a:t>критериальными</a:t>
            </a:r>
            <a:r>
              <a:rPr lang="ru-RU" dirty="0">
                <a:latin typeface="Bookman Old Style" panose="02050604050505020204" pitchFamily="18" charset="0"/>
              </a:rPr>
              <a:t> или регрессантами. Терминология зависимых и независимых переменных отражает лишь математическую зависимость переменных (Корреляция), а не причинно-следственные отношения. Наиболее распространённый вид регрессионного анализа — линейная регрессия, когда находят линейную функцию, которая, согласно определённым математическим критериям, наиболее соответствует данным. Например, в методе наименьших квадратов вычисляется прямая (или гиперплоскость), сумма квадратов между которой и данными минимальна.</a:t>
            </a:r>
          </a:p>
        </p:txBody>
      </p:sp>
    </p:spTree>
    <p:extLst>
      <p:ext uri="{BB962C8B-B14F-4D97-AF65-F5344CB8AC3E}">
        <p14:creationId xmlns:p14="http://schemas.microsoft.com/office/powerpoint/2010/main" val="3825747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Регрессионный анализ</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4" name="Прямоугольник 13"/>
          <p:cNvSpPr/>
          <p:nvPr/>
        </p:nvSpPr>
        <p:spPr>
          <a:xfrm>
            <a:off x="635670" y="1588495"/>
            <a:ext cx="10187840" cy="4247317"/>
          </a:xfrm>
          <a:prstGeom prst="rect">
            <a:avLst/>
          </a:prstGeom>
        </p:spPr>
        <p:txBody>
          <a:bodyPr wrap="square">
            <a:spAutoFit/>
          </a:bodyPr>
          <a:lstStyle/>
          <a:p>
            <a:r>
              <a:rPr lang="ru-RU" b="1" dirty="0">
                <a:latin typeface="Bookman Old Style" panose="02050604050505020204" pitchFamily="18" charset="0"/>
              </a:rPr>
              <a:t>Цели регрессионного анализа</a:t>
            </a:r>
            <a:endParaRPr lang="en-US" b="1" dirty="0">
              <a:latin typeface="Bookman Old Style" panose="02050604050505020204" pitchFamily="18" charset="0"/>
            </a:endParaRPr>
          </a:p>
          <a:p>
            <a:endParaRPr lang="ru-RU" b="1"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Определение степени детерминированности вариации </a:t>
            </a:r>
            <a:r>
              <a:rPr lang="ru-RU" dirty="0" err="1">
                <a:latin typeface="Bookman Old Style" panose="02050604050505020204" pitchFamily="18" charset="0"/>
              </a:rPr>
              <a:t>критериальной</a:t>
            </a:r>
            <a:r>
              <a:rPr lang="ru-RU" dirty="0">
                <a:latin typeface="Bookman Old Style" panose="02050604050505020204" pitchFamily="18" charset="0"/>
              </a:rPr>
              <a:t> (зависимой) переменной предикторами (независимыми переменными)</a:t>
            </a:r>
          </a:p>
          <a:p>
            <a:pPr marL="285750" indent="-285750">
              <a:buFont typeface="Arial" panose="020B0604020202020204" pitchFamily="34" charset="0"/>
              <a:buChar char="•"/>
            </a:pPr>
            <a:r>
              <a:rPr lang="ru-RU" dirty="0">
                <a:latin typeface="Bookman Old Style" panose="02050604050505020204" pitchFamily="18" charset="0"/>
              </a:rPr>
              <a:t>Предсказание значения зависимой переменной с помощью независимой(-ых)</a:t>
            </a:r>
          </a:p>
          <a:p>
            <a:pPr marL="285750" indent="-285750">
              <a:buFont typeface="Arial" panose="020B0604020202020204" pitchFamily="34" charset="0"/>
              <a:buChar char="•"/>
            </a:pPr>
            <a:r>
              <a:rPr lang="ru-RU" dirty="0">
                <a:latin typeface="Bookman Old Style" panose="02050604050505020204" pitchFamily="18" charset="0"/>
              </a:rPr>
              <a:t>Определение вклада отдельных независимых переменных в вариацию зависимой</a:t>
            </a:r>
            <a:endParaRPr lang="en-US" dirty="0">
              <a:latin typeface="Bookman Old Style" panose="02050604050505020204" pitchFamily="18" charset="0"/>
            </a:endParaRPr>
          </a:p>
          <a:p>
            <a:pPr marL="285750" indent="-285750">
              <a:buFont typeface="Arial" panose="020B0604020202020204" pitchFamily="34" charset="0"/>
              <a:buChar char="•"/>
            </a:pPr>
            <a:endParaRPr lang="en-US" dirty="0">
              <a:latin typeface="Bookman Old Style" panose="02050604050505020204" pitchFamily="18" charset="0"/>
            </a:endParaRPr>
          </a:p>
          <a:p>
            <a:pPr marL="285750" indent="-285750">
              <a:buFont typeface="Arial" panose="020B0604020202020204" pitchFamily="34" charset="0"/>
              <a:buChar char="•"/>
            </a:pPr>
            <a:endParaRPr lang="en-US" dirty="0">
              <a:latin typeface="Bookman Old Style" panose="02050604050505020204" pitchFamily="18" charset="0"/>
            </a:endParaRPr>
          </a:p>
          <a:p>
            <a:r>
              <a:rPr lang="ru-RU" b="1" dirty="0">
                <a:latin typeface="Bookman Old Style" panose="02050604050505020204" pitchFamily="18" charset="0"/>
              </a:rPr>
              <a:t>Примеры задач регрессии:</a:t>
            </a:r>
          </a:p>
          <a:p>
            <a:pPr marL="285750" indent="-285750">
              <a:buFont typeface="Arial" panose="020B0604020202020204" pitchFamily="34" charset="0"/>
              <a:buChar char="•"/>
            </a:pPr>
            <a:r>
              <a:rPr lang="ru-RU" dirty="0">
                <a:latin typeface="Bookman Old Style" panose="02050604050505020204" pitchFamily="18" charset="0"/>
              </a:rPr>
              <a:t>прогнозирование цен на дома по таким атрибутам, как количество комнат, расположение и размер;</a:t>
            </a:r>
          </a:p>
          <a:p>
            <a:pPr marL="285750" indent="-285750">
              <a:buFont typeface="Arial" panose="020B0604020202020204" pitchFamily="34" charset="0"/>
              <a:buChar char="•"/>
            </a:pPr>
            <a:r>
              <a:rPr lang="ru-RU" dirty="0">
                <a:latin typeface="Bookman Old Style" panose="02050604050505020204" pitchFamily="18" charset="0"/>
              </a:rPr>
              <a:t>прогнозирование будущей цены акций на основе исторических данных и текущих тенденций рынка;</a:t>
            </a:r>
          </a:p>
          <a:p>
            <a:pPr marL="285750" indent="-285750">
              <a:buFont typeface="Arial" panose="020B0604020202020204" pitchFamily="34" charset="0"/>
              <a:buChar char="•"/>
            </a:pPr>
            <a:r>
              <a:rPr lang="ru-RU" dirty="0">
                <a:latin typeface="Bookman Old Style" panose="02050604050505020204" pitchFamily="18" charset="0"/>
              </a:rPr>
              <a:t>прогнозирование продаж товара в зависимости от рекламного бюджета;</a:t>
            </a:r>
          </a:p>
          <a:p>
            <a:pPr marL="285750" indent="-285750">
              <a:buFont typeface="Arial" panose="020B0604020202020204" pitchFamily="34" charset="0"/>
              <a:buChar char="•"/>
            </a:pPr>
            <a:r>
              <a:rPr lang="ru-RU" dirty="0">
                <a:latin typeface="Bookman Old Style" panose="02050604050505020204" pitchFamily="18" charset="0"/>
              </a:rPr>
              <a:t>прогнозирование заработной платы, размера кредита, и т.п.</a:t>
            </a:r>
          </a:p>
        </p:txBody>
      </p:sp>
    </p:spTree>
    <p:extLst>
      <p:ext uri="{BB962C8B-B14F-4D97-AF65-F5344CB8AC3E}">
        <p14:creationId xmlns:p14="http://schemas.microsoft.com/office/powerpoint/2010/main" val="229580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7" end="7"/>
                                            </p:txEl>
                                          </p:spTgt>
                                        </p:tgtEl>
                                        <p:attrNameLst>
                                          <p:attrName>style.visibility</p:attrName>
                                        </p:attrNameLst>
                                      </p:cBhvr>
                                      <p:to>
                                        <p:strVal val="visible"/>
                                      </p:to>
                                    </p:set>
                                    <p:animEffect transition="in" filter="fade">
                                      <p:cBhvr>
                                        <p:cTn id="7" dur="500"/>
                                        <p:tgtEl>
                                          <p:spTgt spid="14">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8" end="8"/>
                                            </p:txEl>
                                          </p:spTgt>
                                        </p:tgtEl>
                                        <p:attrNameLst>
                                          <p:attrName>style.visibility</p:attrName>
                                        </p:attrNameLst>
                                      </p:cBhvr>
                                      <p:to>
                                        <p:strVal val="visible"/>
                                      </p:to>
                                    </p:set>
                                    <p:animEffect transition="in" filter="fade">
                                      <p:cBhvr>
                                        <p:cTn id="10" dur="500"/>
                                        <p:tgtEl>
                                          <p:spTgt spid="14">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xEl>
                                              <p:pRg st="9" end="9"/>
                                            </p:txEl>
                                          </p:spTgt>
                                        </p:tgtEl>
                                        <p:attrNameLst>
                                          <p:attrName>style.visibility</p:attrName>
                                        </p:attrNameLst>
                                      </p:cBhvr>
                                      <p:to>
                                        <p:strVal val="visible"/>
                                      </p:to>
                                    </p:set>
                                    <p:animEffect transition="in" filter="fade">
                                      <p:cBhvr>
                                        <p:cTn id="13" dur="500"/>
                                        <p:tgtEl>
                                          <p:spTgt spid="14">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xEl>
                                              <p:pRg st="10" end="10"/>
                                            </p:txEl>
                                          </p:spTgt>
                                        </p:tgtEl>
                                        <p:attrNameLst>
                                          <p:attrName>style.visibility</p:attrName>
                                        </p:attrNameLst>
                                      </p:cBhvr>
                                      <p:to>
                                        <p:strVal val="visible"/>
                                      </p:to>
                                    </p:set>
                                    <p:animEffect transition="in" filter="fade">
                                      <p:cBhvr>
                                        <p:cTn id="16" dur="500"/>
                                        <p:tgtEl>
                                          <p:spTgt spid="14">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xEl>
                                              <p:pRg st="11" end="11"/>
                                            </p:txEl>
                                          </p:spTgt>
                                        </p:tgtEl>
                                        <p:attrNameLst>
                                          <p:attrName>style.visibility</p:attrName>
                                        </p:attrNameLst>
                                      </p:cBhvr>
                                      <p:to>
                                        <p:strVal val="visible"/>
                                      </p:to>
                                    </p:set>
                                    <p:animEffect transition="in" filter="fade">
                                      <p:cBhvr>
                                        <p:cTn id="19" dur="500"/>
                                        <p:tgtEl>
                                          <p:spTgt spid="1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Регрессионный анализ</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Прямоугольник 14"/>
          <p:cNvSpPr/>
          <p:nvPr/>
        </p:nvSpPr>
        <p:spPr>
          <a:xfrm>
            <a:off x="635670" y="1577007"/>
            <a:ext cx="10111024" cy="2585323"/>
          </a:xfrm>
          <a:prstGeom prst="rect">
            <a:avLst/>
          </a:prstGeom>
        </p:spPr>
        <p:txBody>
          <a:bodyPr wrap="square">
            <a:spAutoFit/>
          </a:bodyPr>
          <a:lstStyle/>
          <a:p>
            <a:r>
              <a:rPr lang="ru-RU" dirty="0">
                <a:latin typeface="Bookman Old Style" panose="02050604050505020204" pitchFamily="18" charset="0"/>
              </a:rPr>
              <a:t>На практике линия регрессии чаще всего ищется в виде линейной функции </a:t>
            </a:r>
          </a:p>
          <a:p>
            <a:endParaRPr lang="ru-RU" dirty="0">
              <a:latin typeface="Bookman Old Style" panose="02050604050505020204" pitchFamily="18" charset="0"/>
            </a:endParaRPr>
          </a:p>
          <a:p>
            <a:endParaRPr lang="ru-RU" dirty="0">
              <a:latin typeface="Bookman Old Style" panose="02050604050505020204" pitchFamily="18" charset="0"/>
            </a:endParaRPr>
          </a:p>
          <a:p>
            <a:endParaRPr lang="ru-RU" dirty="0">
              <a:latin typeface="Bookman Old Style" panose="02050604050505020204" pitchFamily="18" charset="0"/>
            </a:endParaRPr>
          </a:p>
          <a:p>
            <a:r>
              <a:rPr lang="ru-RU" dirty="0">
                <a:latin typeface="Bookman Old Style" panose="02050604050505020204" pitchFamily="18" charset="0"/>
              </a:rPr>
              <a:t>(линейная регрессия), наилучшим образом приближающей искомую кривую. Делается это с помощью метода наименьших квадратов, когда минимизируется сумма квадратов отклонений реально наблюдаемых </a:t>
            </a:r>
            <a:r>
              <a:rPr lang="en-US" dirty="0">
                <a:latin typeface="Bookman Old Style" panose="02050604050505020204" pitchFamily="18" charset="0"/>
              </a:rPr>
              <a:t>Y </a:t>
            </a:r>
            <a:r>
              <a:rPr lang="ru-RU" dirty="0">
                <a:latin typeface="Bookman Old Style" panose="02050604050505020204" pitchFamily="18" charset="0"/>
              </a:rPr>
              <a:t>от их оценок </a:t>
            </a:r>
            <a:r>
              <a:rPr lang="en-US" dirty="0" err="1">
                <a:latin typeface="Bookman Old Style" panose="02050604050505020204" pitchFamily="18" charset="0"/>
              </a:rPr>
              <a:t>Y_pred</a:t>
            </a:r>
            <a:r>
              <a:rPr lang="en-US" dirty="0">
                <a:latin typeface="Bookman Old Style" panose="02050604050505020204" pitchFamily="18" charset="0"/>
              </a:rPr>
              <a:t>.</a:t>
            </a:r>
            <a:endParaRPr lang="ru-RU" dirty="0">
              <a:latin typeface="Bookman Old Style" panose="02050604050505020204" pitchFamily="18" charset="0"/>
            </a:endParaRPr>
          </a:p>
          <a:p>
            <a:r>
              <a:rPr lang="ru-RU" dirty="0">
                <a:latin typeface="Bookman Old Style" panose="02050604050505020204" pitchFamily="18" charset="0"/>
              </a:rPr>
              <a:t>(имеются в виду оценки с помощью прямой линии, претендующей на то, чтобы представлять искомую регрессионную зависимость):</a:t>
            </a:r>
          </a:p>
        </p:txBody>
      </p:sp>
      <p:pic>
        <p:nvPicPr>
          <p:cNvPr id="16" name="Рисунок 15"/>
          <p:cNvPicPr>
            <a:picLocks noChangeAspect="1"/>
          </p:cNvPicPr>
          <p:nvPr/>
        </p:nvPicPr>
        <p:blipFill rotWithShape="1">
          <a:blip r:embed="rId4"/>
          <a:srcRect t="10578"/>
          <a:stretch/>
        </p:blipFill>
        <p:spPr>
          <a:xfrm>
            <a:off x="2783798" y="2026380"/>
            <a:ext cx="6070951" cy="650822"/>
          </a:xfrm>
          <a:prstGeom prst="rect">
            <a:avLst/>
          </a:prstGeom>
        </p:spPr>
      </p:pic>
      <p:pic>
        <p:nvPicPr>
          <p:cNvPr id="17" name="Рисунок 16"/>
          <p:cNvPicPr>
            <a:picLocks noChangeAspect="1"/>
          </p:cNvPicPr>
          <p:nvPr/>
        </p:nvPicPr>
        <p:blipFill rotWithShape="1">
          <a:blip r:embed="rId5"/>
          <a:srcRect t="11632" b="11153"/>
          <a:stretch/>
        </p:blipFill>
        <p:spPr>
          <a:xfrm>
            <a:off x="4491032" y="4189445"/>
            <a:ext cx="2400300" cy="625152"/>
          </a:xfrm>
          <a:prstGeom prst="rect">
            <a:avLst/>
          </a:prstGeom>
        </p:spPr>
      </p:pic>
      <p:sp>
        <p:nvSpPr>
          <p:cNvPr id="20" name="Прямоугольник 19"/>
          <p:cNvSpPr/>
          <p:nvPr/>
        </p:nvSpPr>
        <p:spPr>
          <a:xfrm>
            <a:off x="4354286" y="5188057"/>
            <a:ext cx="6096000" cy="369332"/>
          </a:xfrm>
          <a:prstGeom prst="rect">
            <a:avLst/>
          </a:prstGeom>
        </p:spPr>
        <p:txBody>
          <a:bodyPr>
            <a:spAutoFit/>
          </a:bodyPr>
          <a:lstStyle/>
          <a:p>
            <a:r>
              <a:rPr lang="en-US" dirty="0">
                <a:latin typeface="Bookman Old Style" panose="02050604050505020204" pitchFamily="18" charset="0"/>
              </a:rPr>
              <a:t>(M — </a:t>
            </a:r>
            <a:r>
              <a:rPr lang="ru-RU" dirty="0">
                <a:latin typeface="Bookman Old Style" panose="02050604050505020204" pitchFamily="18" charset="0"/>
              </a:rPr>
              <a:t>объём выборки)</a:t>
            </a:r>
          </a:p>
        </p:txBody>
      </p:sp>
    </p:spTree>
    <p:extLst>
      <p:ext uri="{BB962C8B-B14F-4D97-AF65-F5344CB8AC3E}">
        <p14:creationId xmlns:p14="http://schemas.microsoft.com/office/powerpoint/2010/main" val="364081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Алгоритм </a:t>
            </a:r>
            <a:r>
              <a:rPr lang="en-US" sz="4800" dirty="0">
                <a:solidFill>
                  <a:srgbClr val="004AAD"/>
                </a:solidFill>
                <a:latin typeface="Bookman Old Style" panose="02050604050505020204" pitchFamily="18" charset="0"/>
              </a:rPr>
              <a:t>CART</a:t>
            </a:r>
            <a:endParaRPr lang="ru-RU" sz="4800" dirty="0">
              <a:solidFill>
                <a:srgbClr val="004AAD"/>
              </a:solidFill>
              <a:latin typeface="Bookman Old Style" panose="02050604050505020204" pitchFamily="18" charset="0"/>
            </a:endParaRP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 name="Прямоугольник 1"/>
          <p:cNvSpPr/>
          <p:nvPr/>
        </p:nvSpPr>
        <p:spPr>
          <a:xfrm>
            <a:off x="635669" y="1443841"/>
            <a:ext cx="10794331" cy="4801314"/>
          </a:xfrm>
          <a:prstGeom prst="rect">
            <a:avLst/>
          </a:prstGeom>
        </p:spPr>
        <p:txBody>
          <a:bodyPr wrap="square">
            <a:spAutoFit/>
          </a:bodyPr>
          <a:lstStyle/>
          <a:p>
            <a:r>
              <a:rPr lang="ru-RU" b="1" dirty="0">
                <a:latin typeface="Bookman Old Style" panose="02050604050505020204" pitchFamily="18" charset="0"/>
              </a:rPr>
              <a:t>CART (</a:t>
            </a:r>
            <a:r>
              <a:rPr lang="ru-RU" b="1" dirty="0" err="1">
                <a:latin typeface="Bookman Old Style" panose="02050604050505020204" pitchFamily="18" charset="0"/>
              </a:rPr>
              <a:t>classification</a:t>
            </a:r>
            <a:r>
              <a:rPr lang="ru-RU" b="1" dirty="0">
                <a:latin typeface="Bookman Old Style" panose="02050604050505020204" pitchFamily="18" charset="0"/>
              </a:rPr>
              <a:t> </a:t>
            </a:r>
            <a:r>
              <a:rPr lang="ru-RU" b="1" dirty="0" err="1">
                <a:latin typeface="Bookman Old Style" panose="02050604050505020204" pitchFamily="18" charset="0"/>
              </a:rPr>
              <a:t>and</a:t>
            </a:r>
            <a:r>
              <a:rPr lang="ru-RU" b="1" dirty="0">
                <a:latin typeface="Bookman Old Style" panose="02050604050505020204" pitchFamily="18" charset="0"/>
              </a:rPr>
              <a:t> </a:t>
            </a:r>
            <a:r>
              <a:rPr lang="ru-RU" b="1" dirty="0" err="1">
                <a:latin typeface="Bookman Old Style" panose="02050604050505020204" pitchFamily="18" charset="0"/>
              </a:rPr>
              <a:t>regression</a:t>
            </a:r>
            <a:r>
              <a:rPr lang="ru-RU" b="1" dirty="0">
                <a:latin typeface="Bookman Old Style" panose="02050604050505020204" pitchFamily="18" charset="0"/>
              </a:rPr>
              <a:t> </a:t>
            </a:r>
            <a:r>
              <a:rPr lang="ru-RU" b="1" dirty="0" err="1">
                <a:latin typeface="Bookman Old Style" panose="02050604050505020204" pitchFamily="18" charset="0"/>
              </a:rPr>
              <a:t>trees</a:t>
            </a:r>
            <a:r>
              <a:rPr lang="ru-RU" b="1" dirty="0">
                <a:latin typeface="Bookman Old Style" panose="02050604050505020204" pitchFamily="18" charset="0"/>
              </a:rPr>
              <a:t>) </a:t>
            </a:r>
            <a:r>
              <a:rPr lang="ru-RU" dirty="0">
                <a:latin typeface="Bookman Old Style" panose="02050604050505020204" pitchFamily="18" charset="0"/>
              </a:rPr>
              <a:t>– это аббревиатура, обозначающая методы классификации и регрессии с использованием дерева решений. Это методика обучения, основанная на деревьях решений, которая возвращает классификационные или регрессионные деревья. </a:t>
            </a:r>
            <a:endParaRPr lang="en-US" dirty="0">
              <a:latin typeface="Bookman Old Style" panose="02050604050505020204" pitchFamily="18" charset="0"/>
            </a:endParaRPr>
          </a:p>
          <a:p>
            <a:endParaRPr lang="en-US" dirty="0">
              <a:latin typeface="Bookman Old Style" panose="02050604050505020204" pitchFamily="18" charset="0"/>
            </a:endParaRPr>
          </a:p>
          <a:p>
            <a:r>
              <a:rPr lang="ru-RU" dirty="0">
                <a:latin typeface="Bookman Old Style" panose="02050604050505020204" pitchFamily="18" charset="0"/>
              </a:rPr>
              <a:t>Дерево классификаций – это подвид дерева решений. Результатом работы дерева классификаций является класс.</a:t>
            </a:r>
          </a:p>
          <a:p>
            <a:endParaRPr lang="ru-RU" dirty="0">
              <a:latin typeface="Bookman Old Style" panose="02050604050505020204" pitchFamily="18" charset="0"/>
            </a:endParaRPr>
          </a:p>
          <a:p>
            <a:r>
              <a:rPr lang="ru-RU" dirty="0">
                <a:latin typeface="Bookman Old Style" panose="02050604050505020204" pitchFamily="18" charset="0"/>
              </a:rPr>
              <a:t>Например, возьмем набор данных о пациенте. Можно попытаться предсказать, будет ли у пациента рак. </a:t>
            </a:r>
          </a:p>
          <a:p>
            <a:endParaRPr lang="ru-RU" dirty="0">
              <a:latin typeface="Bookman Old Style" panose="02050604050505020204" pitchFamily="18" charset="0"/>
            </a:endParaRPr>
          </a:p>
          <a:p>
            <a:r>
              <a:rPr lang="ru-RU" dirty="0">
                <a:latin typeface="Bookman Old Style" panose="02050604050505020204" pitchFamily="18" charset="0"/>
              </a:rPr>
              <a:t>Что такое дерево регрессий? Дерево классификаций на выходе имеет класс, а дерево регрессий числовую или непрерывную величину, например, время госпитализации или цену смартфона.</a:t>
            </a:r>
          </a:p>
          <a:p>
            <a:endParaRPr lang="ru-RU" dirty="0">
              <a:latin typeface="Bookman Old Style" panose="02050604050505020204" pitchFamily="18" charset="0"/>
            </a:endParaRPr>
          </a:p>
          <a:p>
            <a:r>
              <a:rPr lang="ru-RU" dirty="0">
                <a:latin typeface="Bookman Old Style" panose="02050604050505020204" pitchFamily="18" charset="0"/>
              </a:rPr>
              <a:t>Деревья </a:t>
            </a:r>
            <a:r>
              <a:rPr lang="ru-RU" b="1" dirty="0">
                <a:latin typeface="Bookman Old Style" panose="02050604050505020204" pitchFamily="18" charset="0"/>
              </a:rPr>
              <a:t>классификаций</a:t>
            </a:r>
            <a:r>
              <a:rPr lang="ru-RU" dirty="0">
                <a:latin typeface="Bookman Old Style" panose="02050604050505020204" pitchFamily="18" charset="0"/>
              </a:rPr>
              <a:t> выводят </a:t>
            </a:r>
            <a:r>
              <a:rPr lang="ru-RU" b="1" dirty="0">
                <a:latin typeface="Bookman Old Style" panose="02050604050505020204" pitchFamily="18" charset="0"/>
              </a:rPr>
              <a:t>классы</a:t>
            </a:r>
            <a:r>
              <a:rPr lang="ru-RU" dirty="0">
                <a:latin typeface="Bookman Old Style" panose="02050604050505020204" pitchFamily="18" charset="0"/>
              </a:rPr>
              <a:t>, деревья </a:t>
            </a:r>
            <a:r>
              <a:rPr lang="ru-RU" b="1" dirty="0">
                <a:solidFill>
                  <a:schemeClr val="accent1">
                    <a:lumMod val="75000"/>
                  </a:schemeClr>
                </a:solidFill>
                <a:latin typeface="Bookman Old Style" panose="02050604050505020204" pitchFamily="18" charset="0"/>
              </a:rPr>
              <a:t>регрессий</a:t>
            </a:r>
            <a:r>
              <a:rPr lang="ru-RU" dirty="0">
                <a:solidFill>
                  <a:schemeClr val="accent1">
                    <a:lumMod val="75000"/>
                  </a:schemeClr>
                </a:solidFill>
                <a:latin typeface="Bookman Old Style" panose="02050604050505020204" pitchFamily="18" charset="0"/>
              </a:rPr>
              <a:t> </a:t>
            </a:r>
            <a:r>
              <a:rPr lang="ru-RU" dirty="0">
                <a:latin typeface="Bookman Old Style" panose="02050604050505020204" pitchFamily="18" charset="0"/>
              </a:rPr>
              <a:t>– </a:t>
            </a:r>
            <a:r>
              <a:rPr lang="ru-RU" b="1" dirty="0">
                <a:solidFill>
                  <a:schemeClr val="accent1">
                    <a:lumMod val="75000"/>
                  </a:schemeClr>
                </a:solidFill>
                <a:latin typeface="Bookman Old Style" panose="02050604050505020204" pitchFamily="18" charset="0"/>
              </a:rPr>
              <a:t>числа</a:t>
            </a:r>
            <a:r>
              <a:rPr lang="ru-RU" dirty="0">
                <a:latin typeface="Bookman Old Style" panose="02050604050505020204" pitchFamily="18" charset="0"/>
              </a:rPr>
              <a:t>.</a:t>
            </a:r>
          </a:p>
          <a:p>
            <a:endParaRPr lang="ru-RU" dirty="0">
              <a:latin typeface="Bookman Old Style" panose="02050604050505020204" pitchFamily="18" charset="0"/>
            </a:endParaRPr>
          </a:p>
        </p:txBody>
      </p:sp>
      <p:sp>
        <p:nvSpPr>
          <p:cNvPr id="3" name="Прямоугольник 2"/>
          <p:cNvSpPr/>
          <p:nvPr/>
        </p:nvSpPr>
        <p:spPr>
          <a:xfrm>
            <a:off x="3048000" y="612845"/>
            <a:ext cx="6096000" cy="369332"/>
          </a:xfrm>
          <a:prstGeom prst="rect">
            <a:avLst/>
          </a:prstGeom>
        </p:spPr>
        <p:txBody>
          <a:bodyPr>
            <a:spAutoFit/>
          </a:bodyPr>
          <a:lstStyle/>
          <a:p>
            <a:endParaRPr lang="ru-RU" dirty="0"/>
          </a:p>
        </p:txBody>
      </p:sp>
    </p:spTree>
    <p:extLst>
      <p:ext uri="{BB962C8B-B14F-4D97-AF65-F5344CB8AC3E}">
        <p14:creationId xmlns:p14="http://schemas.microsoft.com/office/powerpoint/2010/main" val="1561645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Переобучение</a:t>
            </a:r>
          </a:p>
        </p:txBody>
      </p:sp>
      <p:sp>
        <p:nvSpPr>
          <p:cNvPr id="2" name="Прямоугольник 1"/>
          <p:cNvSpPr/>
          <p:nvPr/>
        </p:nvSpPr>
        <p:spPr>
          <a:xfrm>
            <a:off x="635670" y="1293665"/>
            <a:ext cx="10729016" cy="5632311"/>
          </a:xfrm>
          <a:prstGeom prst="rect">
            <a:avLst/>
          </a:prstGeom>
        </p:spPr>
        <p:txBody>
          <a:bodyPr wrap="square">
            <a:spAutoFit/>
          </a:bodyPr>
          <a:lstStyle/>
          <a:p>
            <a:r>
              <a:rPr lang="ru-RU" b="1" dirty="0">
                <a:latin typeface="Bookman Old Style" panose="02050604050505020204" pitchFamily="18" charset="0"/>
              </a:rPr>
              <a:t>Переобучение</a:t>
            </a:r>
            <a:r>
              <a:rPr lang="ru-RU" dirty="0">
                <a:latin typeface="Bookman Old Style" panose="02050604050505020204" pitchFamily="18" charset="0"/>
              </a:rPr>
              <a:t> (</a:t>
            </a:r>
            <a:r>
              <a:rPr lang="ru-RU" dirty="0" err="1">
                <a:latin typeface="Bookman Old Style" panose="02050604050505020204" pitchFamily="18" charset="0"/>
              </a:rPr>
              <a:t>переподгонка</a:t>
            </a:r>
            <a:r>
              <a:rPr lang="ru-RU" dirty="0">
                <a:latin typeface="Bookman Old Style" panose="02050604050505020204" pitchFamily="18" charset="0"/>
              </a:rPr>
              <a:t>, </a:t>
            </a:r>
            <a:r>
              <a:rPr lang="ru-RU" i="1" dirty="0">
                <a:latin typeface="Bookman Old Style" panose="02050604050505020204" pitchFamily="18" charset="0"/>
              </a:rPr>
              <a:t>пере</a:t>
            </a:r>
            <a:r>
              <a:rPr lang="ru-RU" dirty="0">
                <a:latin typeface="Bookman Old Style" panose="02050604050505020204" pitchFamily="18" charset="0"/>
              </a:rPr>
              <a:t>- в значении «слишком», англ. </a:t>
            </a:r>
            <a:r>
              <a:rPr lang="ru-RU" dirty="0" err="1">
                <a:latin typeface="Bookman Old Style" panose="02050604050505020204" pitchFamily="18" charset="0"/>
              </a:rPr>
              <a:t>overfitting</a:t>
            </a:r>
            <a:r>
              <a:rPr lang="ru-RU" dirty="0">
                <a:latin typeface="Bookman Old Style" panose="02050604050505020204" pitchFamily="18" charset="0"/>
              </a:rPr>
              <a:t>) в машинном обучении и статистике — явление, когда построенная модель хорошо объясняет примеры из обучающей выборки, но относительно плохо работает на примерах, не участвовавших в обучении (на примерах из тестовой выборки).</a:t>
            </a:r>
          </a:p>
          <a:p>
            <a:endParaRPr lang="ru-RU" dirty="0">
              <a:latin typeface="Bookman Old Style" panose="02050604050505020204" pitchFamily="18" charset="0"/>
            </a:endParaRPr>
          </a:p>
          <a:p>
            <a:r>
              <a:rPr lang="ru-RU" dirty="0">
                <a:latin typeface="Bookman Old Style" panose="02050604050505020204" pitchFamily="18" charset="0"/>
              </a:rPr>
              <a:t>При построении модели («в процессе обучения») в обучающей выборке обнаруживаются некоторые случайные закономерности, которые отсутствуют в генеральной совокупности.</a:t>
            </a:r>
          </a:p>
          <a:p>
            <a:endParaRPr lang="ru-RU" dirty="0">
              <a:latin typeface="Bookman Old Style" panose="02050604050505020204" pitchFamily="18" charset="0"/>
            </a:endParaRPr>
          </a:p>
          <a:p>
            <a:r>
              <a:rPr lang="ru-RU" dirty="0">
                <a:latin typeface="Bookman Old Style" panose="02050604050505020204" pitchFamily="18" charset="0"/>
              </a:rPr>
              <a:t>Модель запоминает огромное количество всех возможных примеров вместо того, чтобы научиться подмечать особенности.</a:t>
            </a:r>
          </a:p>
          <a:p>
            <a:endParaRPr lang="ru-RU" dirty="0">
              <a:latin typeface="Bookman Old Style" panose="02050604050505020204" pitchFamily="18" charset="0"/>
            </a:endParaRPr>
          </a:p>
          <a:p>
            <a:r>
              <a:rPr lang="ru-RU" dirty="0">
                <a:latin typeface="Bookman Old Style" panose="02050604050505020204" pitchFamily="18" charset="0"/>
              </a:rPr>
              <a:t>Даже тогда, когда обученная модель не имеет чрезмерного количества параметров, можно ожидать, что эффективность её на новых данных будет ниже, чем на данных, использовавшихся для обучения. </a:t>
            </a:r>
          </a:p>
          <a:p>
            <a:endParaRPr lang="ru-RU" dirty="0">
              <a:latin typeface="Bookman Old Style" panose="02050604050505020204" pitchFamily="18" charset="0"/>
            </a:endParaRPr>
          </a:p>
          <a:p>
            <a:r>
              <a:rPr lang="ru-RU" dirty="0">
                <a:latin typeface="Bookman Old Style" panose="02050604050505020204" pitchFamily="18" charset="0"/>
              </a:rPr>
              <a:t>Способы борьбы с переобучением зависят от метода моделирования и способа построения модели. </a:t>
            </a:r>
          </a:p>
          <a:p>
            <a:r>
              <a:rPr lang="ru-RU" b="1" i="1" dirty="0">
                <a:latin typeface="Bookman Old Style" panose="02050604050505020204" pitchFamily="18" charset="0"/>
              </a:rPr>
              <a:t>Для дерева принятия решений - можно обрезать некоторые его ветки в процессе построения.</a:t>
            </a:r>
          </a:p>
        </p:txBody>
      </p:sp>
    </p:spTree>
    <p:extLst>
      <p:ext uri="{BB962C8B-B14F-4D97-AF65-F5344CB8AC3E}">
        <p14:creationId xmlns:p14="http://schemas.microsoft.com/office/powerpoint/2010/main" val="354121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Переобучение</a:t>
            </a:r>
          </a:p>
        </p:txBody>
      </p:sp>
      <p:sp>
        <p:nvSpPr>
          <p:cNvPr id="2" name="Прямоугольник 1"/>
          <p:cNvSpPr/>
          <p:nvPr/>
        </p:nvSpPr>
        <p:spPr>
          <a:xfrm>
            <a:off x="635670" y="1293665"/>
            <a:ext cx="10729016" cy="2585323"/>
          </a:xfrm>
          <a:prstGeom prst="rect">
            <a:avLst/>
          </a:prstGeom>
        </p:spPr>
        <p:txBody>
          <a:bodyPr wrap="square">
            <a:spAutoFit/>
          </a:bodyPr>
          <a:lstStyle/>
          <a:p>
            <a:r>
              <a:rPr lang="ru-RU" b="1" dirty="0">
                <a:latin typeface="Bookman Old Style" panose="02050604050505020204" pitchFamily="18" charset="0"/>
              </a:rPr>
              <a:t>Методы предотвращения переобучения</a:t>
            </a:r>
          </a:p>
          <a:p>
            <a:endParaRPr lang="ru-RU" dirty="0">
              <a:latin typeface="Bookman Old Style" panose="02050604050505020204" pitchFamily="18" charset="0"/>
            </a:endParaRPr>
          </a:p>
          <a:p>
            <a:pPr marL="285750" indent="-285750">
              <a:buFont typeface="Arial" panose="020B0604020202020204" pitchFamily="34" charset="0"/>
              <a:buChar char="•"/>
            </a:pPr>
            <a:r>
              <a:rPr lang="ru-RU" dirty="0">
                <a:latin typeface="Bookman Old Style" panose="02050604050505020204" pitchFamily="18" charset="0"/>
              </a:rPr>
              <a:t>перекрёстная проверка,</a:t>
            </a:r>
          </a:p>
          <a:p>
            <a:pPr marL="285750" indent="-285750">
              <a:buFont typeface="Arial" panose="020B0604020202020204" pitchFamily="34" charset="0"/>
              <a:buChar char="•"/>
            </a:pPr>
            <a:r>
              <a:rPr lang="ru-RU" dirty="0">
                <a:latin typeface="Bookman Old Style" panose="02050604050505020204" pitchFamily="18" charset="0"/>
              </a:rPr>
              <a:t>ранняя остановка, </a:t>
            </a:r>
          </a:p>
          <a:p>
            <a:pPr marL="285750" indent="-285750">
              <a:buFont typeface="Arial" panose="020B0604020202020204" pitchFamily="34" charset="0"/>
              <a:buChar char="•"/>
            </a:pPr>
            <a:r>
              <a:rPr lang="ru-RU" dirty="0">
                <a:latin typeface="Bookman Old Style" panose="02050604050505020204" pitchFamily="18" charset="0"/>
              </a:rPr>
              <a:t>априорная вероятность</a:t>
            </a:r>
          </a:p>
          <a:p>
            <a:pPr marL="285750" indent="-285750">
              <a:buFont typeface="Arial" panose="020B0604020202020204" pitchFamily="34" charset="0"/>
              <a:buChar char="•"/>
            </a:pPr>
            <a:endParaRPr lang="ru-RU" dirty="0">
              <a:latin typeface="Bookman Old Style" panose="02050604050505020204" pitchFamily="18" charset="0"/>
            </a:endParaRPr>
          </a:p>
          <a:p>
            <a:r>
              <a:rPr lang="ru-RU" dirty="0">
                <a:latin typeface="Bookman Old Style" panose="02050604050505020204" pitchFamily="18" charset="0"/>
              </a:rPr>
              <a:t>Эти методы могут указать, когда дальнейшее обучение больше не ведёт к улучшению оценок параметров. </a:t>
            </a:r>
          </a:p>
          <a:p>
            <a:pPr marL="285750" indent="-285750">
              <a:buFont typeface="Arial" panose="020B0604020202020204" pitchFamily="34" charset="0"/>
              <a:buChar char="•"/>
            </a:pPr>
            <a:endParaRPr lang="ru-RU" dirty="0">
              <a:latin typeface="Bookman Old Style" panose="02050604050505020204" pitchFamily="18" charset="0"/>
            </a:endParaRPr>
          </a:p>
        </p:txBody>
      </p:sp>
    </p:spTree>
    <p:extLst>
      <p:ext uri="{BB962C8B-B14F-4D97-AF65-F5344CB8AC3E}">
        <p14:creationId xmlns:p14="http://schemas.microsoft.com/office/powerpoint/2010/main" val="3150492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Кросс </a:t>
            </a:r>
            <a:r>
              <a:rPr lang="ru-RU" sz="4800" dirty="0" err="1">
                <a:solidFill>
                  <a:srgbClr val="004AAD"/>
                </a:solidFill>
                <a:latin typeface="Bookman Old Style" panose="02050604050505020204" pitchFamily="18" charset="0"/>
              </a:rPr>
              <a:t>валидация</a:t>
            </a:r>
            <a:endParaRPr lang="ru-RU" sz="4800" dirty="0">
              <a:solidFill>
                <a:srgbClr val="004AAD"/>
              </a:solidFill>
              <a:latin typeface="Bookman Old Style" panose="02050604050505020204" pitchFamily="18" charset="0"/>
            </a:endParaRPr>
          </a:p>
        </p:txBody>
      </p:sp>
      <p:sp>
        <p:nvSpPr>
          <p:cNvPr id="2" name="Прямоугольник 1"/>
          <p:cNvSpPr/>
          <p:nvPr/>
        </p:nvSpPr>
        <p:spPr>
          <a:xfrm>
            <a:off x="635670" y="1620236"/>
            <a:ext cx="10729016" cy="4247317"/>
          </a:xfrm>
          <a:prstGeom prst="rect">
            <a:avLst/>
          </a:prstGeom>
        </p:spPr>
        <p:txBody>
          <a:bodyPr wrap="square">
            <a:spAutoFit/>
          </a:bodyPr>
          <a:lstStyle/>
          <a:p>
            <a:r>
              <a:rPr lang="ru-RU" b="1" dirty="0">
                <a:latin typeface="Bookman Old Style" panose="02050604050505020204" pitchFamily="18" charset="0"/>
              </a:rPr>
              <a:t>Перекрёстная </a:t>
            </a:r>
            <a:r>
              <a:rPr lang="ru-RU" b="1" dirty="0" err="1">
                <a:latin typeface="Bookman Old Style" panose="02050604050505020204" pitchFamily="18" charset="0"/>
              </a:rPr>
              <a:t>прове́рка</a:t>
            </a:r>
            <a:r>
              <a:rPr lang="ru-RU" b="1" dirty="0">
                <a:latin typeface="Bookman Old Style" panose="02050604050505020204" pitchFamily="18" charset="0"/>
              </a:rPr>
              <a:t> (кросс-проверка, </a:t>
            </a:r>
            <a:r>
              <a:rPr lang="ru-RU" b="1" dirty="0" err="1">
                <a:latin typeface="Bookman Old Style" panose="02050604050505020204" pitchFamily="18" charset="0"/>
              </a:rPr>
              <a:t>кроссвалидация</a:t>
            </a:r>
            <a:r>
              <a:rPr lang="ru-RU" b="1" dirty="0">
                <a:latin typeface="Bookman Old Style" panose="02050604050505020204" pitchFamily="18" charset="0"/>
              </a:rPr>
              <a:t>, скользящий контроль; англ. </a:t>
            </a:r>
            <a:r>
              <a:rPr lang="ru-RU" b="1" dirty="0" err="1">
                <a:latin typeface="Bookman Old Style" panose="02050604050505020204" pitchFamily="18" charset="0"/>
              </a:rPr>
              <a:t>cross-validation</a:t>
            </a:r>
            <a:r>
              <a:rPr lang="ru-RU" b="1" dirty="0">
                <a:latin typeface="Bookman Old Style" panose="02050604050505020204" pitchFamily="18" charset="0"/>
              </a:rPr>
              <a:t>) </a:t>
            </a:r>
            <a:r>
              <a:rPr lang="ru-RU" dirty="0">
                <a:latin typeface="Bookman Old Style" panose="02050604050505020204" pitchFamily="18" charset="0"/>
              </a:rPr>
              <a:t>— метод оценки аналитической модели и её поведения на независимых данных. При оценке модели имеющиеся в наличии данные разбиваются на k частей. Затем на k−1 частях данных производится обучение модели, а оставшаяся часть данных используется для тестирования. Процедура повторяется k раз; </a:t>
            </a:r>
            <a:endParaRPr lang="en-US" dirty="0">
              <a:latin typeface="Bookman Old Style" panose="02050604050505020204" pitchFamily="18" charset="0"/>
            </a:endParaRPr>
          </a:p>
          <a:p>
            <a:r>
              <a:rPr lang="ru-RU" dirty="0">
                <a:latin typeface="Bookman Old Style" panose="02050604050505020204" pitchFamily="18" charset="0"/>
              </a:rPr>
              <a:t>в итоге каждая из k частей данных используется для тестирования. В результате получается оценка эффективности выбранной модели с наиболее равномерным использованием имеющихся данных.</a:t>
            </a:r>
            <a:endParaRPr lang="en-US" dirty="0">
              <a:latin typeface="Bookman Old Style" panose="02050604050505020204" pitchFamily="18" charset="0"/>
            </a:endParaRPr>
          </a:p>
          <a:p>
            <a:endParaRPr lang="en-US" b="1" dirty="0">
              <a:latin typeface="Bookman Old Style" panose="02050604050505020204" pitchFamily="18" charset="0"/>
            </a:endParaRPr>
          </a:p>
          <a:p>
            <a:endParaRPr lang="en-US" b="1" dirty="0">
              <a:latin typeface="Bookman Old Style" panose="02050604050505020204" pitchFamily="18" charset="0"/>
            </a:endParaRPr>
          </a:p>
          <a:p>
            <a:r>
              <a:rPr lang="ru-RU" b="1" dirty="0">
                <a:latin typeface="Bookman Old Style" panose="02050604050505020204" pitchFamily="18" charset="0"/>
              </a:rPr>
              <a:t>Перекрёстная проверка </a:t>
            </a:r>
            <a:r>
              <a:rPr lang="ru-RU" dirty="0">
                <a:latin typeface="Bookman Old Style" panose="02050604050505020204" pitchFamily="18" charset="0"/>
              </a:rPr>
              <a:t>является наиболее сложной и одновременно оригинальной частью алгоритма CART. Она представляет собой путь выбора окончательного дерева, при условии, что набор данных имеет небольшой объем или же записи набора данных настолько специфические, что разделить набор на обучающую и тестовую выборку не представляется возможным</a:t>
            </a:r>
          </a:p>
        </p:txBody>
      </p:sp>
    </p:spTree>
    <p:extLst>
      <p:ext uri="{BB962C8B-B14F-4D97-AF65-F5344CB8AC3E}">
        <p14:creationId xmlns:p14="http://schemas.microsoft.com/office/powerpoint/2010/main" val="307000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Прогнозы площади лесных пожаров</a:t>
            </a:r>
          </a:p>
        </p:txBody>
      </p:sp>
      <p:pic>
        <p:nvPicPr>
          <p:cNvPr id="3" name="Рисунок 2"/>
          <p:cNvPicPr>
            <a:picLocks noChangeAspect="1"/>
          </p:cNvPicPr>
          <p:nvPr/>
        </p:nvPicPr>
        <p:blipFill>
          <a:blip r:embed="rId4"/>
          <a:stretch>
            <a:fillRect/>
          </a:stretch>
        </p:blipFill>
        <p:spPr>
          <a:xfrm>
            <a:off x="279979" y="3034009"/>
            <a:ext cx="7924800" cy="3362325"/>
          </a:xfrm>
          <a:prstGeom prst="rect">
            <a:avLst/>
          </a:prstGeom>
        </p:spPr>
      </p:pic>
      <p:sp>
        <p:nvSpPr>
          <p:cNvPr id="7" name="Прямоугольник 6"/>
          <p:cNvSpPr/>
          <p:nvPr/>
        </p:nvSpPr>
        <p:spPr>
          <a:xfrm>
            <a:off x="279979" y="1787621"/>
            <a:ext cx="8633927" cy="646331"/>
          </a:xfrm>
          <a:prstGeom prst="rect">
            <a:avLst/>
          </a:prstGeom>
        </p:spPr>
        <p:txBody>
          <a:bodyPr wrap="square">
            <a:spAutoFit/>
          </a:bodyPr>
          <a:lstStyle/>
          <a:p>
            <a:r>
              <a:rPr lang="ru-RU" b="1" dirty="0">
                <a:latin typeface="Bookman Old Style" panose="02050604050505020204" pitchFamily="18" charset="0"/>
              </a:rPr>
              <a:t>Задача</a:t>
            </a:r>
            <a:r>
              <a:rPr lang="ru-RU" dirty="0">
                <a:latin typeface="Bookman Old Style" panose="02050604050505020204" pitchFamily="18" charset="0"/>
              </a:rPr>
              <a:t>: по числовым характеристикам, таким как дата, температура воздуха, осадки и др. сделать прогноз о площади лесного пожара</a:t>
            </a:r>
          </a:p>
        </p:txBody>
      </p:sp>
      <p:sp>
        <p:nvSpPr>
          <p:cNvPr id="9" name="Прямоугольник 8"/>
          <p:cNvSpPr/>
          <p:nvPr/>
        </p:nvSpPr>
        <p:spPr>
          <a:xfrm>
            <a:off x="8394690" y="2982839"/>
            <a:ext cx="3091543" cy="3693319"/>
          </a:xfrm>
          <a:prstGeom prst="rect">
            <a:avLst/>
          </a:prstGeom>
        </p:spPr>
        <p:txBody>
          <a:bodyPr wrap="square">
            <a:spAutoFit/>
          </a:bodyPr>
          <a:lstStyle/>
          <a:p>
            <a:r>
              <a:rPr lang="en-US" b="1" dirty="0">
                <a:latin typeface="Bookman Old Style" panose="02050604050505020204" pitchFamily="18" charset="0"/>
              </a:rPr>
              <a:t>month</a:t>
            </a:r>
            <a:r>
              <a:rPr lang="ru-RU" dirty="0">
                <a:latin typeface="Bookman Old Style" panose="02050604050505020204" pitchFamily="18" charset="0"/>
              </a:rPr>
              <a:t> – месяц</a:t>
            </a:r>
          </a:p>
          <a:p>
            <a:r>
              <a:rPr lang="en-US" b="1" dirty="0">
                <a:latin typeface="Bookman Old Style" panose="02050604050505020204" pitchFamily="18" charset="0"/>
              </a:rPr>
              <a:t>day</a:t>
            </a:r>
            <a:r>
              <a:rPr lang="ru-RU" dirty="0">
                <a:latin typeface="Bookman Old Style" panose="02050604050505020204" pitchFamily="18" charset="0"/>
              </a:rPr>
              <a:t> – день</a:t>
            </a:r>
          </a:p>
          <a:p>
            <a:r>
              <a:rPr lang="en-US" b="1" dirty="0">
                <a:latin typeface="Bookman Old Style" panose="02050604050505020204" pitchFamily="18" charset="0"/>
              </a:rPr>
              <a:t>FFMC</a:t>
            </a:r>
            <a:r>
              <a:rPr lang="ru-RU" dirty="0">
                <a:latin typeface="Bookman Old Style" panose="02050604050505020204" pitchFamily="18" charset="0"/>
              </a:rPr>
              <a:t> - </a:t>
            </a:r>
            <a:r>
              <a:rPr lang="en-US" dirty="0">
                <a:latin typeface="Bookman Old Style" panose="02050604050505020204" pitchFamily="18" charset="0"/>
              </a:rPr>
              <a:t>	</a:t>
            </a:r>
            <a:endParaRPr lang="ru-RU" dirty="0">
              <a:latin typeface="Bookman Old Style" panose="02050604050505020204" pitchFamily="18" charset="0"/>
            </a:endParaRPr>
          </a:p>
          <a:p>
            <a:r>
              <a:rPr lang="en-US" b="1" dirty="0">
                <a:latin typeface="Bookman Old Style" panose="02050604050505020204" pitchFamily="18" charset="0"/>
              </a:rPr>
              <a:t>DMC</a:t>
            </a:r>
            <a:r>
              <a:rPr lang="ru-RU" dirty="0">
                <a:latin typeface="Bookman Old Style" panose="02050604050505020204" pitchFamily="18" charset="0"/>
              </a:rPr>
              <a:t> - </a:t>
            </a:r>
            <a:r>
              <a:rPr lang="en-US" dirty="0">
                <a:latin typeface="Bookman Old Style" panose="02050604050505020204" pitchFamily="18" charset="0"/>
              </a:rPr>
              <a:t>	</a:t>
            </a:r>
            <a:r>
              <a:rPr lang="ru-RU" dirty="0">
                <a:latin typeface="Bookman Old Style" panose="02050604050505020204" pitchFamily="18" charset="0"/>
              </a:rPr>
              <a:t>     индексы</a:t>
            </a:r>
          </a:p>
          <a:p>
            <a:r>
              <a:rPr lang="en-US" b="1" dirty="0">
                <a:latin typeface="Bookman Old Style" panose="02050604050505020204" pitchFamily="18" charset="0"/>
              </a:rPr>
              <a:t>DC</a:t>
            </a:r>
            <a:r>
              <a:rPr lang="ru-RU" dirty="0">
                <a:latin typeface="Bookman Old Style" panose="02050604050505020204" pitchFamily="18" charset="0"/>
              </a:rPr>
              <a:t> -           нормы </a:t>
            </a:r>
            <a:r>
              <a:rPr lang="en-US" dirty="0">
                <a:latin typeface="Bookman Old Style" panose="02050604050505020204" pitchFamily="18" charset="0"/>
              </a:rPr>
              <a:t>	</a:t>
            </a:r>
            <a:endParaRPr lang="ru-RU" dirty="0">
              <a:latin typeface="Bookman Old Style" panose="02050604050505020204" pitchFamily="18" charset="0"/>
            </a:endParaRPr>
          </a:p>
          <a:p>
            <a:r>
              <a:rPr lang="en-US" b="1" dirty="0">
                <a:latin typeface="Bookman Old Style" panose="02050604050505020204" pitchFamily="18" charset="0"/>
              </a:rPr>
              <a:t>ISI</a:t>
            </a:r>
            <a:r>
              <a:rPr lang="ru-RU" dirty="0">
                <a:latin typeface="Bookman Old Style" panose="02050604050505020204" pitchFamily="18" charset="0"/>
              </a:rPr>
              <a:t> - </a:t>
            </a:r>
            <a:r>
              <a:rPr lang="en-US" dirty="0">
                <a:latin typeface="Bookman Old Style" panose="02050604050505020204" pitchFamily="18" charset="0"/>
              </a:rPr>
              <a:t>	</a:t>
            </a:r>
            <a:r>
              <a:rPr lang="ru-RU" dirty="0">
                <a:latin typeface="Bookman Old Style" panose="02050604050505020204" pitchFamily="18" charset="0"/>
              </a:rPr>
              <a:t>   засухи и др.</a:t>
            </a:r>
          </a:p>
          <a:p>
            <a:r>
              <a:rPr lang="en-US" b="1" dirty="0">
                <a:latin typeface="Bookman Old Style" panose="02050604050505020204" pitchFamily="18" charset="0"/>
              </a:rPr>
              <a:t>temp</a:t>
            </a:r>
            <a:r>
              <a:rPr lang="ru-RU" dirty="0">
                <a:latin typeface="Bookman Old Style" panose="02050604050505020204" pitchFamily="18" charset="0"/>
              </a:rPr>
              <a:t> - температура</a:t>
            </a:r>
            <a:r>
              <a:rPr lang="en-US" dirty="0">
                <a:latin typeface="Bookman Old Style" panose="02050604050505020204" pitchFamily="18" charset="0"/>
              </a:rPr>
              <a:t>	</a:t>
            </a:r>
            <a:endParaRPr lang="ru-RU" dirty="0">
              <a:latin typeface="Bookman Old Style" panose="02050604050505020204" pitchFamily="18" charset="0"/>
            </a:endParaRPr>
          </a:p>
          <a:p>
            <a:r>
              <a:rPr lang="en-US" b="1" dirty="0">
                <a:latin typeface="Bookman Old Style" panose="02050604050505020204" pitchFamily="18" charset="0"/>
              </a:rPr>
              <a:t>RH</a:t>
            </a:r>
            <a:r>
              <a:rPr lang="ru-RU" dirty="0">
                <a:latin typeface="Bookman Old Style" panose="02050604050505020204" pitchFamily="18" charset="0"/>
              </a:rPr>
              <a:t> – относительная влажность воздуха</a:t>
            </a:r>
            <a:r>
              <a:rPr lang="en-US" dirty="0">
                <a:latin typeface="Bookman Old Style" panose="02050604050505020204" pitchFamily="18" charset="0"/>
              </a:rPr>
              <a:t>	</a:t>
            </a:r>
            <a:endParaRPr lang="ru-RU" dirty="0">
              <a:latin typeface="Bookman Old Style" panose="02050604050505020204" pitchFamily="18" charset="0"/>
            </a:endParaRPr>
          </a:p>
          <a:p>
            <a:r>
              <a:rPr lang="en-US" b="1" dirty="0">
                <a:latin typeface="Bookman Old Style" panose="02050604050505020204" pitchFamily="18" charset="0"/>
              </a:rPr>
              <a:t>wind</a:t>
            </a:r>
            <a:r>
              <a:rPr lang="ru-RU" dirty="0">
                <a:latin typeface="Bookman Old Style" panose="02050604050505020204" pitchFamily="18" charset="0"/>
              </a:rPr>
              <a:t> – скорость ветра</a:t>
            </a:r>
          </a:p>
          <a:p>
            <a:r>
              <a:rPr lang="en-US" b="1" dirty="0">
                <a:latin typeface="Bookman Old Style" panose="02050604050505020204" pitchFamily="18" charset="0"/>
              </a:rPr>
              <a:t>rain</a:t>
            </a:r>
            <a:r>
              <a:rPr lang="ru-RU" dirty="0">
                <a:latin typeface="Bookman Old Style" panose="02050604050505020204" pitchFamily="18" charset="0"/>
              </a:rPr>
              <a:t> – дождь </a:t>
            </a:r>
            <a:r>
              <a:rPr lang="en-US" dirty="0">
                <a:latin typeface="Bookman Old Style" panose="02050604050505020204" pitchFamily="18" charset="0"/>
              </a:rPr>
              <a:t>	</a:t>
            </a:r>
            <a:endParaRPr lang="ru-RU" dirty="0">
              <a:latin typeface="Bookman Old Style" panose="02050604050505020204" pitchFamily="18" charset="0"/>
            </a:endParaRPr>
          </a:p>
          <a:p>
            <a:r>
              <a:rPr lang="en-US" b="1" dirty="0">
                <a:latin typeface="Bookman Old Style" panose="02050604050505020204" pitchFamily="18" charset="0"/>
              </a:rPr>
              <a:t>area</a:t>
            </a:r>
            <a:r>
              <a:rPr lang="ru-RU" b="1" dirty="0">
                <a:latin typeface="Bookman Old Style" panose="02050604050505020204" pitchFamily="18" charset="0"/>
              </a:rPr>
              <a:t> – </a:t>
            </a:r>
            <a:r>
              <a:rPr lang="ru-RU" dirty="0">
                <a:latin typeface="Bookman Old Style" panose="02050604050505020204" pitchFamily="18" charset="0"/>
              </a:rPr>
              <a:t>площадь воспламенения</a:t>
            </a:r>
          </a:p>
        </p:txBody>
      </p:sp>
      <p:sp>
        <p:nvSpPr>
          <p:cNvPr id="10" name="Правая фигурная скобка 9"/>
          <p:cNvSpPr/>
          <p:nvPr/>
        </p:nvSpPr>
        <p:spPr>
          <a:xfrm>
            <a:off x="9349273" y="3610947"/>
            <a:ext cx="223935" cy="1026367"/>
          </a:xfrm>
          <a:prstGeom prst="rightBrace">
            <a:avLst>
              <a:gd name="adj1" fmla="val 8333"/>
              <a:gd name="adj2" fmla="val 3727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Tree>
    <p:extLst>
      <p:ext uri="{BB962C8B-B14F-4D97-AF65-F5344CB8AC3E}">
        <p14:creationId xmlns:p14="http://schemas.microsoft.com/office/powerpoint/2010/main" val="2971794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Прогнозы площади лесных пожаров</a:t>
            </a:r>
          </a:p>
        </p:txBody>
      </p:sp>
      <p:sp>
        <p:nvSpPr>
          <p:cNvPr id="7" name="Прямоугольник 6"/>
          <p:cNvSpPr/>
          <p:nvPr/>
        </p:nvSpPr>
        <p:spPr>
          <a:xfrm>
            <a:off x="724677" y="1787621"/>
            <a:ext cx="8633927" cy="369332"/>
          </a:xfrm>
          <a:prstGeom prst="rect">
            <a:avLst/>
          </a:prstGeom>
        </p:spPr>
        <p:txBody>
          <a:bodyPr wrap="square">
            <a:spAutoFit/>
          </a:bodyPr>
          <a:lstStyle/>
          <a:p>
            <a:r>
              <a:rPr lang="ru-RU" dirty="0">
                <a:latin typeface="Bookman Old Style" panose="02050604050505020204" pitchFamily="18" charset="0"/>
              </a:rPr>
              <a:t>Размер данных:</a:t>
            </a:r>
          </a:p>
        </p:txBody>
      </p:sp>
      <p:pic>
        <p:nvPicPr>
          <p:cNvPr id="2" name="Рисунок 1"/>
          <p:cNvPicPr>
            <a:picLocks noChangeAspect="1"/>
          </p:cNvPicPr>
          <p:nvPr/>
        </p:nvPicPr>
        <p:blipFill>
          <a:blip r:embed="rId4"/>
          <a:stretch>
            <a:fillRect/>
          </a:stretch>
        </p:blipFill>
        <p:spPr>
          <a:xfrm>
            <a:off x="724677" y="2336152"/>
            <a:ext cx="4638675" cy="1028700"/>
          </a:xfrm>
          <a:prstGeom prst="rect">
            <a:avLst/>
          </a:prstGeom>
        </p:spPr>
      </p:pic>
    </p:spTree>
    <p:extLst>
      <p:ext uri="{BB962C8B-B14F-4D97-AF65-F5344CB8AC3E}">
        <p14:creationId xmlns:p14="http://schemas.microsoft.com/office/powerpoint/2010/main" val="3174279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Прогнозы площади лесных пожаров</a:t>
            </a:r>
          </a:p>
        </p:txBody>
      </p:sp>
      <p:pic>
        <p:nvPicPr>
          <p:cNvPr id="8" name="Рисунок 7"/>
          <p:cNvPicPr>
            <a:picLocks noChangeAspect="1"/>
          </p:cNvPicPr>
          <p:nvPr/>
        </p:nvPicPr>
        <p:blipFill>
          <a:blip r:embed="rId4"/>
          <a:stretch>
            <a:fillRect/>
          </a:stretch>
        </p:blipFill>
        <p:spPr>
          <a:xfrm>
            <a:off x="3228392" y="1210976"/>
            <a:ext cx="6018050" cy="5647024"/>
          </a:xfrm>
          <a:prstGeom prst="rect">
            <a:avLst/>
          </a:prstGeom>
        </p:spPr>
      </p:pic>
      <p:sp>
        <p:nvSpPr>
          <p:cNvPr id="3" name="Прямоугольник 2"/>
          <p:cNvSpPr/>
          <p:nvPr/>
        </p:nvSpPr>
        <p:spPr>
          <a:xfrm>
            <a:off x="635670" y="3849822"/>
            <a:ext cx="2448106" cy="369332"/>
          </a:xfrm>
          <a:prstGeom prst="rect">
            <a:avLst/>
          </a:prstGeom>
        </p:spPr>
        <p:txBody>
          <a:bodyPr wrap="none">
            <a:spAutoFit/>
          </a:bodyPr>
          <a:lstStyle/>
          <a:p>
            <a:r>
              <a:rPr lang="en-US" dirty="0">
                <a:latin typeface="Bookman Old Style" panose="02050604050505020204" pitchFamily="18" charset="0"/>
              </a:rPr>
              <a:t>Density - </a:t>
            </a:r>
            <a:r>
              <a:rPr lang="ru-RU" dirty="0">
                <a:latin typeface="Bookman Old Style" panose="02050604050505020204" pitchFamily="18" charset="0"/>
              </a:rPr>
              <a:t>плотность</a:t>
            </a:r>
          </a:p>
        </p:txBody>
      </p:sp>
    </p:spTree>
    <p:extLst>
      <p:ext uri="{BB962C8B-B14F-4D97-AF65-F5344CB8AC3E}">
        <p14:creationId xmlns:p14="http://schemas.microsoft.com/office/powerpoint/2010/main" val="1631695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Прогнозы площади лесных пожаров</a:t>
            </a:r>
          </a:p>
        </p:txBody>
      </p:sp>
      <p:pic>
        <p:nvPicPr>
          <p:cNvPr id="2" name="Рисунок 1"/>
          <p:cNvPicPr>
            <a:picLocks noChangeAspect="1"/>
          </p:cNvPicPr>
          <p:nvPr/>
        </p:nvPicPr>
        <p:blipFill>
          <a:blip r:embed="rId4"/>
          <a:stretch>
            <a:fillRect/>
          </a:stretch>
        </p:blipFill>
        <p:spPr>
          <a:xfrm>
            <a:off x="1339243" y="1186528"/>
            <a:ext cx="10060699" cy="5671472"/>
          </a:xfrm>
          <a:prstGeom prst="rect">
            <a:avLst/>
          </a:prstGeom>
        </p:spPr>
      </p:pic>
    </p:spTree>
    <p:extLst>
      <p:ext uri="{BB962C8B-B14F-4D97-AF65-F5344CB8AC3E}">
        <p14:creationId xmlns:p14="http://schemas.microsoft.com/office/powerpoint/2010/main" val="3068023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Прогнозы площади лесных пожаров</a:t>
            </a:r>
          </a:p>
        </p:txBody>
      </p:sp>
      <p:sp>
        <p:nvSpPr>
          <p:cNvPr id="3" name="Прямоугольник 2"/>
          <p:cNvSpPr/>
          <p:nvPr/>
        </p:nvSpPr>
        <p:spPr>
          <a:xfrm>
            <a:off x="635670" y="1527502"/>
            <a:ext cx="6699270" cy="369332"/>
          </a:xfrm>
          <a:prstGeom prst="rect">
            <a:avLst/>
          </a:prstGeom>
        </p:spPr>
        <p:txBody>
          <a:bodyPr wrap="none">
            <a:spAutoFit/>
          </a:bodyPr>
          <a:lstStyle/>
          <a:p>
            <a:r>
              <a:rPr lang="ru-RU" dirty="0">
                <a:latin typeface="Bookman Old Style" panose="02050604050505020204" pitchFamily="18" charset="0"/>
              </a:rPr>
              <a:t>График зависимости между площадью и температурой</a:t>
            </a:r>
          </a:p>
        </p:txBody>
      </p:sp>
      <p:pic>
        <p:nvPicPr>
          <p:cNvPr id="7" name="Рисунок 6"/>
          <p:cNvPicPr>
            <a:picLocks noChangeAspect="1"/>
          </p:cNvPicPr>
          <p:nvPr/>
        </p:nvPicPr>
        <p:blipFill>
          <a:blip r:embed="rId4"/>
          <a:stretch>
            <a:fillRect/>
          </a:stretch>
        </p:blipFill>
        <p:spPr>
          <a:xfrm>
            <a:off x="635670" y="2010650"/>
            <a:ext cx="8461677" cy="1138166"/>
          </a:xfrm>
          <a:prstGeom prst="rect">
            <a:avLst/>
          </a:prstGeom>
        </p:spPr>
      </p:pic>
      <p:pic>
        <p:nvPicPr>
          <p:cNvPr id="8" name="Рисунок 7"/>
          <p:cNvPicPr>
            <a:picLocks noChangeAspect="1"/>
          </p:cNvPicPr>
          <p:nvPr/>
        </p:nvPicPr>
        <p:blipFill rotWithShape="1">
          <a:blip r:embed="rId5"/>
          <a:srcRect t="4264"/>
          <a:stretch/>
        </p:blipFill>
        <p:spPr>
          <a:xfrm>
            <a:off x="3080650" y="3070165"/>
            <a:ext cx="4127575" cy="3787835"/>
          </a:xfrm>
          <a:prstGeom prst="rect">
            <a:avLst/>
          </a:prstGeom>
        </p:spPr>
      </p:pic>
    </p:spTree>
    <p:extLst>
      <p:ext uri="{BB962C8B-B14F-4D97-AF65-F5344CB8AC3E}">
        <p14:creationId xmlns:p14="http://schemas.microsoft.com/office/powerpoint/2010/main" val="1231647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Прогнозы площади лесных пожаров</a:t>
            </a:r>
          </a:p>
        </p:txBody>
      </p:sp>
      <p:sp>
        <p:nvSpPr>
          <p:cNvPr id="3" name="Прямоугольник 2"/>
          <p:cNvSpPr/>
          <p:nvPr/>
        </p:nvSpPr>
        <p:spPr>
          <a:xfrm>
            <a:off x="635670" y="1527502"/>
            <a:ext cx="9233618" cy="369332"/>
          </a:xfrm>
          <a:prstGeom prst="rect">
            <a:avLst/>
          </a:prstGeom>
        </p:spPr>
        <p:txBody>
          <a:bodyPr wrap="none">
            <a:spAutoFit/>
          </a:bodyPr>
          <a:lstStyle/>
          <a:p>
            <a:r>
              <a:rPr lang="ru-RU" dirty="0">
                <a:latin typeface="Bookman Old Style" panose="02050604050505020204" pitchFamily="18" charset="0"/>
              </a:rPr>
              <a:t>Замена строковых данных ограниченного количества на числовые значения</a:t>
            </a:r>
          </a:p>
        </p:txBody>
      </p:sp>
      <p:pic>
        <p:nvPicPr>
          <p:cNvPr id="2" name="Рисунок 1"/>
          <p:cNvPicPr>
            <a:picLocks noChangeAspect="1"/>
          </p:cNvPicPr>
          <p:nvPr/>
        </p:nvPicPr>
        <p:blipFill>
          <a:blip r:embed="rId4">
            <a:clrChange>
              <a:clrFrom>
                <a:srgbClr val="FFFFFF"/>
              </a:clrFrom>
              <a:clrTo>
                <a:srgbClr val="FFFFFF">
                  <a:alpha val="0"/>
                </a:srgbClr>
              </a:clrTo>
            </a:clrChange>
          </a:blip>
          <a:stretch>
            <a:fillRect/>
          </a:stretch>
        </p:blipFill>
        <p:spPr>
          <a:xfrm>
            <a:off x="123080" y="2204898"/>
            <a:ext cx="11504451" cy="1575336"/>
          </a:xfrm>
          <a:prstGeom prst="rect">
            <a:avLst/>
          </a:prstGeom>
        </p:spPr>
      </p:pic>
      <p:pic>
        <p:nvPicPr>
          <p:cNvPr id="9" name="Рисунок 8"/>
          <p:cNvPicPr>
            <a:picLocks noChangeAspect="1"/>
          </p:cNvPicPr>
          <p:nvPr/>
        </p:nvPicPr>
        <p:blipFill>
          <a:blip r:embed="rId5"/>
          <a:stretch>
            <a:fillRect/>
          </a:stretch>
        </p:blipFill>
        <p:spPr>
          <a:xfrm>
            <a:off x="123080" y="4733976"/>
            <a:ext cx="10308544" cy="1194283"/>
          </a:xfrm>
          <a:prstGeom prst="rect">
            <a:avLst/>
          </a:prstGeom>
        </p:spPr>
      </p:pic>
      <p:sp>
        <p:nvSpPr>
          <p:cNvPr id="10" name="Прямоугольник 9"/>
          <p:cNvSpPr/>
          <p:nvPr/>
        </p:nvSpPr>
        <p:spPr>
          <a:xfrm>
            <a:off x="635670" y="4010660"/>
            <a:ext cx="5774338" cy="369332"/>
          </a:xfrm>
          <a:prstGeom prst="rect">
            <a:avLst/>
          </a:prstGeom>
        </p:spPr>
        <p:txBody>
          <a:bodyPr wrap="none">
            <a:spAutoFit/>
          </a:bodyPr>
          <a:lstStyle/>
          <a:p>
            <a:r>
              <a:rPr lang="ru-RU" dirty="0">
                <a:latin typeface="Bookman Old Style" panose="02050604050505020204" pitchFamily="18" charset="0"/>
              </a:rPr>
              <a:t>Разделение выборки на обучающую и тестовую</a:t>
            </a:r>
          </a:p>
        </p:txBody>
      </p:sp>
    </p:spTree>
    <p:extLst>
      <p:ext uri="{BB962C8B-B14F-4D97-AF65-F5344CB8AC3E}">
        <p14:creationId xmlns:p14="http://schemas.microsoft.com/office/powerpoint/2010/main" val="1979524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E3524-91B3-4BB1-F31D-D57BC6E354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92687D-F2D3-4C4E-2DE0-FE8F12AF82BE}"/>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EEA28ACE-B482-EC21-36D9-B7BF6254A4A6}"/>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E215BCE8-59A7-840A-1967-02E572B408C3}"/>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Как оценить результат?</a:t>
            </a:r>
          </a:p>
        </p:txBody>
      </p:sp>
      <p:sp>
        <p:nvSpPr>
          <p:cNvPr id="3" name="Прямоугольник 2">
            <a:extLst>
              <a:ext uri="{FF2B5EF4-FFF2-40B4-BE49-F238E27FC236}">
                <a16:creationId xmlns:a16="http://schemas.microsoft.com/office/drawing/2014/main" id="{5E830718-6DD4-9271-E9A5-5DBCDF2D99C2}"/>
              </a:ext>
            </a:extLst>
          </p:cNvPr>
          <p:cNvSpPr/>
          <p:nvPr/>
        </p:nvSpPr>
        <p:spPr>
          <a:xfrm>
            <a:off x="3542684" y="1527502"/>
            <a:ext cx="184731" cy="584775"/>
          </a:xfrm>
          <a:prstGeom prst="rect">
            <a:avLst/>
          </a:prstGeom>
        </p:spPr>
        <p:txBody>
          <a:bodyPr wrap="none">
            <a:spAutoFit/>
          </a:bodyPr>
          <a:lstStyle/>
          <a:p>
            <a:pPr algn="ctr"/>
            <a:endParaRPr lang="ru-RU" sz="3200" dirty="0">
              <a:latin typeface="Bookman Old Style" panose="02050604050505020204" pitchFamily="18" charset="0"/>
            </a:endParaRPr>
          </a:p>
        </p:txBody>
      </p:sp>
      <p:sp>
        <p:nvSpPr>
          <p:cNvPr id="9" name="TextBox 8">
            <a:extLst>
              <a:ext uri="{FF2B5EF4-FFF2-40B4-BE49-F238E27FC236}">
                <a16:creationId xmlns:a16="http://schemas.microsoft.com/office/drawing/2014/main" id="{2AD89098-A98C-3755-76C2-E7EC9B18DFF2}"/>
              </a:ext>
            </a:extLst>
          </p:cNvPr>
          <p:cNvSpPr txBox="1"/>
          <p:nvPr/>
        </p:nvSpPr>
        <p:spPr>
          <a:xfrm>
            <a:off x="1196502" y="2057992"/>
            <a:ext cx="9390099" cy="1569660"/>
          </a:xfrm>
          <a:prstGeom prst="rect">
            <a:avLst/>
          </a:prstGeom>
          <a:noFill/>
        </p:spPr>
        <p:txBody>
          <a:bodyPr wrap="square">
            <a:spAutoFit/>
          </a:bodyPr>
          <a:lstStyle/>
          <a:p>
            <a:pPr algn="ctr"/>
            <a:r>
              <a:rPr lang="ru-RU" sz="3200" dirty="0">
                <a:latin typeface="Bookman Old Style" panose="02050604050505020204" pitchFamily="18" charset="0"/>
              </a:rPr>
              <a:t>Результат регрессии – вещественное число. </a:t>
            </a:r>
          </a:p>
          <a:p>
            <a:pPr algn="ctr"/>
            <a:r>
              <a:rPr lang="ru-RU" sz="3200" dirty="0">
                <a:latin typeface="Bookman Old Style" panose="02050604050505020204" pitchFamily="18" charset="0"/>
              </a:rPr>
              <a:t>Как сравнить вещественный и целый результат? </a:t>
            </a:r>
          </a:p>
        </p:txBody>
      </p:sp>
    </p:spTree>
    <p:extLst>
      <p:ext uri="{BB962C8B-B14F-4D97-AF65-F5344CB8AC3E}">
        <p14:creationId xmlns:p14="http://schemas.microsoft.com/office/powerpoint/2010/main" val="2126669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956A-2449-58F6-CA65-04974CC633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B1D39C-608F-8F18-DB18-3D798F1CF0A5}"/>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3970D817-CEF9-1FCF-FFB1-45AF8E7547AA}"/>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D1CF2D7C-0D7D-F0BD-8BC9-DBE6E73AA292}"/>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Как оценить результат?</a:t>
            </a:r>
          </a:p>
        </p:txBody>
      </p:sp>
      <p:sp>
        <p:nvSpPr>
          <p:cNvPr id="3" name="Прямоугольник 2">
            <a:extLst>
              <a:ext uri="{FF2B5EF4-FFF2-40B4-BE49-F238E27FC236}">
                <a16:creationId xmlns:a16="http://schemas.microsoft.com/office/drawing/2014/main" id="{7AC697CF-1FD7-03C7-4597-94F780BF427A}"/>
              </a:ext>
            </a:extLst>
          </p:cNvPr>
          <p:cNvSpPr/>
          <p:nvPr/>
        </p:nvSpPr>
        <p:spPr>
          <a:xfrm>
            <a:off x="3542684" y="1527502"/>
            <a:ext cx="184731" cy="584775"/>
          </a:xfrm>
          <a:prstGeom prst="rect">
            <a:avLst/>
          </a:prstGeom>
        </p:spPr>
        <p:txBody>
          <a:bodyPr wrap="none">
            <a:spAutoFit/>
          </a:bodyPr>
          <a:lstStyle/>
          <a:p>
            <a:pPr algn="ctr"/>
            <a:endParaRPr lang="ru-RU" sz="3200" dirty="0">
              <a:latin typeface="Bookman Old Style" panose="02050604050505020204" pitchFamily="18" charset="0"/>
            </a:endParaRPr>
          </a:p>
        </p:txBody>
      </p:sp>
      <p:sp>
        <p:nvSpPr>
          <p:cNvPr id="9" name="TextBox 8">
            <a:extLst>
              <a:ext uri="{FF2B5EF4-FFF2-40B4-BE49-F238E27FC236}">
                <a16:creationId xmlns:a16="http://schemas.microsoft.com/office/drawing/2014/main" id="{02020D43-BE3F-3431-7B82-1D19F63BB5A3}"/>
              </a:ext>
            </a:extLst>
          </p:cNvPr>
          <p:cNvSpPr txBox="1"/>
          <p:nvPr/>
        </p:nvSpPr>
        <p:spPr>
          <a:xfrm>
            <a:off x="1196502" y="2057992"/>
            <a:ext cx="9883302" cy="4031873"/>
          </a:xfrm>
          <a:prstGeom prst="rect">
            <a:avLst/>
          </a:prstGeom>
          <a:noFill/>
        </p:spPr>
        <p:txBody>
          <a:bodyPr wrap="square">
            <a:spAutoFit/>
          </a:bodyPr>
          <a:lstStyle/>
          <a:p>
            <a:r>
              <a:rPr lang="ru-RU" sz="3200" dirty="0">
                <a:latin typeface="Bookman Old Style" panose="02050604050505020204" pitchFamily="18" charset="0"/>
              </a:rPr>
              <a:t>Стратегия 1: </a:t>
            </a:r>
          </a:p>
          <a:p>
            <a:r>
              <a:rPr lang="ru-RU" sz="3200" dirty="0">
                <a:latin typeface="Bookman Old Style" panose="02050604050505020204" pitchFamily="18" charset="0"/>
              </a:rPr>
              <a:t>Использовать методы ошибки </a:t>
            </a:r>
            <a:r>
              <a:rPr lang="en-US" sz="3200" dirty="0">
                <a:latin typeface="Bookman Old Style" panose="02050604050505020204" pitchFamily="18" charset="0"/>
              </a:rPr>
              <a:t>MAE MSE </a:t>
            </a:r>
            <a:r>
              <a:rPr lang="ru-RU" sz="3200" dirty="0">
                <a:latin typeface="Bookman Old Style" panose="02050604050505020204" pitchFamily="18" charset="0"/>
              </a:rPr>
              <a:t>и др.</a:t>
            </a:r>
          </a:p>
          <a:p>
            <a:endParaRPr lang="ru-RU" sz="3200" dirty="0">
              <a:latin typeface="Bookman Old Style" panose="02050604050505020204" pitchFamily="18" charset="0"/>
            </a:endParaRPr>
          </a:p>
          <a:p>
            <a:r>
              <a:rPr lang="ru-RU" sz="3200" dirty="0">
                <a:latin typeface="Bookman Old Style" panose="02050604050505020204" pitchFamily="18" charset="0"/>
              </a:rPr>
              <a:t>Стратегия 2: </a:t>
            </a:r>
          </a:p>
          <a:p>
            <a:r>
              <a:rPr lang="ru-RU" sz="3200" dirty="0">
                <a:latin typeface="Bookman Old Style" panose="02050604050505020204" pitchFamily="18" charset="0"/>
              </a:rPr>
              <a:t>Подсчитывать сколько предсказанных значений отличаются от настоящих в заданном диапазоне</a:t>
            </a:r>
          </a:p>
          <a:p>
            <a:pPr algn="ctr"/>
            <a:endParaRPr lang="ru-RU" sz="3200" dirty="0">
              <a:latin typeface="Bookman Old Style" panose="02050604050505020204" pitchFamily="18" charset="0"/>
            </a:endParaRPr>
          </a:p>
        </p:txBody>
      </p:sp>
    </p:spTree>
    <p:extLst>
      <p:ext uri="{BB962C8B-B14F-4D97-AF65-F5344CB8AC3E}">
        <p14:creationId xmlns:p14="http://schemas.microsoft.com/office/powerpoint/2010/main" val="2167548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Оценка результата </a:t>
            </a:r>
          </a:p>
        </p:txBody>
      </p:sp>
      <p:sp>
        <p:nvSpPr>
          <p:cNvPr id="3" name="Прямоугольник 2"/>
          <p:cNvSpPr/>
          <p:nvPr/>
        </p:nvSpPr>
        <p:spPr>
          <a:xfrm>
            <a:off x="635670" y="1527502"/>
            <a:ext cx="5700600" cy="369332"/>
          </a:xfrm>
          <a:prstGeom prst="rect">
            <a:avLst/>
          </a:prstGeom>
        </p:spPr>
        <p:txBody>
          <a:bodyPr wrap="none">
            <a:spAutoFit/>
          </a:bodyPr>
          <a:lstStyle/>
          <a:p>
            <a:r>
              <a:rPr lang="ru-RU" dirty="0">
                <a:latin typeface="Bookman Old Style" panose="02050604050505020204" pitchFamily="18" charset="0"/>
              </a:rPr>
              <a:t>Построение модели и предсказание результата</a:t>
            </a:r>
          </a:p>
        </p:txBody>
      </p:sp>
      <p:pic>
        <p:nvPicPr>
          <p:cNvPr id="7" name="Рисунок 6"/>
          <p:cNvPicPr>
            <a:picLocks noChangeAspect="1"/>
          </p:cNvPicPr>
          <p:nvPr/>
        </p:nvPicPr>
        <p:blipFill rotWithShape="1">
          <a:blip r:embed="rId4"/>
          <a:srcRect b="19451"/>
          <a:stretch/>
        </p:blipFill>
        <p:spPr>
          <a:xfrm>
            <a:off x="635670" y="2236773"/>
            <a:ext cx="7620000" cy="1542126"/>
          </a:xfrm>
          <a:prstGeom prst="rect">
            <a:avLst/>
          </a:prstGeom>
        </p:spPr>
      </p:pic>
      <p:pic>
        <p:nvPicPr>
          <p:cNvPr id="8" name="Рисунок 7"/>
          <p:cNvPicPr>
            <a:picLocks noChangeAspect="1"/>
          </p:cNvPicPr>
          <p:nvPr/>
        </p:nvPicPr>
        <p:blipFill>
          <a:blip r:embed="rId5"/>
          <a:stretch>
            <a:fillRect/>
          </a:stretch>
        </p:blipFill>
        <p:spPr>
          <a:xfrm>
            <a:off x="635670" y="3823563"/>
            <a:ext cx="4276725" cy="295275"/>
          </a:xfrm>
          <a:prstGeom prst="rect">
            <a:avLst/>
          </a:prstGeom>
        </p:spPr>
      </p:pic>
      <p:pic>
        <p:nvPicPr>
          <p:cNvPr id="11" name="Рисунок 10"/>
          <p:cNvPicPr>
            <a:picLocks noChangeAspect="1"/>
          </p:cNvPicPr>
          <p:nvPr/>
        </p:nvPicPr>
        <p:blipFill>
          <a:blip r:embed="rId6"/>
          <a:stretch>
            <a:fillRect/>
          </a:stretch>
        </p:blipFill>
        <p:spPr>
          <a:xfrm>
            <a:off x="635670" y="4163502"/>
            <a:ext cx="5219700" cy="2324100"/>
          </a:xfrm>
          <a:prstGeom prst="rect">
            <a:avLst/>
          </a:prstGeom>
        </p:spPr>
      </p:pic>
      <p:pic>
        <p:nvPicPr>
          <p:cNvPr id="12" name="Рисунок 11"/>
          <p:cNvPicPr>
            <a:picLocks noChangeAspect="1"/>
          </p:cNvPicPr>
          <p:nvPr/>
        </p:nvPicPr>
        <p:blipFill>
          <a:blip r:embed="rId7"/>
          <a:stretch>
            <a:fillRect/>
          </a:stretch>
        </p:blipFill>
        <p:spPr>
          <a:xfrm>
            <a:off x="635670" y="6487602"/>
            <a:ext cx="2409825" cy="285750"/>
          </a:xfrm>
          <a:prstGeom prst="rect">
            <a:avLst/>
          </a:prstGeom>
        </p:spPr>
      </p:pic>
    </p:spTree>
    <p:extLst>
      <p:ext uri="{BB962C8B-B14F-4D97-AF65-F5344CB8AC3E}">
        <p14:creationId xmlns:p14="http://schemas.microsoft.com/office/powerpoint/2010/main" val="314406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5307</TotalTime>
  <Words>938</Words>
  <Application>Microsoft Office PowerPoint</Application>
  <PresentationFormat>Широкоэкранный</PresentationFormat>
  <Paragraphs>116</Paragraphs>
  <Slides>17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17</vt:i4>
      </vt:variant>
    </vt:vector>
  </HeadingPairs>
  <TitlesOfParts>
    <vt:vector size="23" baseType="lpstr">
      <vt:lpstr>Arial</vt:lpstr>
      <vt:lpstr>AvantGardeGothicCTT</vt:lpstr>
      <vt:lpstr>Bookman Old Style</vt:lpstr>
      <vt:lpstr>Calibri</vt:lpstr>
      <vt:lpstr>Calibri Light</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Учетная запись Майкрософт</dc:creator>
  <cp:lastModifiedBy>Дементьева Кристина</cp:lastModifiedBy>
  <cp:revision>105</cp:revision>
  <dcterms:created xsi:type="dcterms:W3CDTF">2023-08-23T05:44:28Z</dcterms:created>
  <dcterms:modified xsi:type="dcterms:W3CDTF">2025-10-11T04:09:59Z</dcterms:modified>
</cp:coreProperties>
</file>